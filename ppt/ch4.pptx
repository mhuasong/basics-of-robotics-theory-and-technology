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mov" ContentType="video/quicktime"/>
  <Default Extension="wmf" ContentType="image/x-wmf"/>
  <Default Extension="rels" ContentType="application/vnd.openxmlformats-package.relationships+xml"/>
  <Default Extension="xml" ContentType="application/xml"/>
  <Default Extension="wav" ContentType="audio/x-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notesSlides/notesSlide15.xml" ContentType="application/vnd.openxmlformats-officedocument.presentationml.notesSlide+xml"/>
  <Override PartName="/ppt/tags/tag45.xml" ContentType="application/vnd.openxmlformats-officedocument.presentationml.tags+xml"/>
  <Override PartName="/ppt/notesSlides/notesSlide16.xml" ContentType="application/vnd.openxmlformats-officedocument.presentationml.notesSlide+xml"/>
  <Override PartName="/ppt/tags/tag46.xml" ContentType="application/vnd.openxmlformats-officedocument.presentationml.tags+xml"/>
  <Override PartName="/ppt/notesSlides/notesSlide17.xml" ContentType="application/vnd.openxmlformats-officedocument.presentationml.notesSlide+xml"/>
  <Override PartName="/ppt/tags/tag47.xml" ContentType="application/vnd.openxmlformats-officedocument.presentationml.tags+xml"/>
  <Override PartName="/ppt/notesSlides/notesSlide18.xml" ContentType="application/vnd.openxmlformats-officedocument.presentationml.notesSlide+xml"/>
  <Override PartName="/ppt/tags/tag4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9.xml" ContentType="application/vnd.openxmlformats-officedocument.presentationml.tags+xml"/>
  <Override PartName="/ppt/notesSlides/notesSlide26.xml" ContentType="application/vnd.openxmlformats-officedocument.presentationml.notesSlide+xml"/>
  <Override PartName="/ppt/tags/tag50.xml" ContentType="application/vnd.openxmlformats-officedocument.presentationml.tags+xml"/>
  <Override PartName="/ppt/notesSlides/notesSlide27.xml" ContentType="application/vnd.openxmlformats-officedocument.presentationml.notesSlide+xml"/>
  <Override PartName="/ppt/tags/tag51.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79"/>
  </p:notesMasterIdLst>
  <p:handoutMasterIdLst>
    <p:handoutMasterId r:id="rId80"/>
  </p:handoutMasterIdLst>
  <p:sldIdLst>
    <p:sldId id="467" r:id="rId3"/>
    <p:sldId id="466" r:id="rId4"/>
    <p:sldId id="401" r:id="rId5"/>
    <p:sldId id="402" r:id="rId6"/>
    <p:sldId id="403" r:id="rId7"/>
    <p:sldId id="284" r:id="rId8"/>
    <p:sldId id="404" r:id="rId9"/>
    <p:sldId id="405" r:id="rId10"/>
    <p:sldId id="406" r:id="rId11"/>
    <p:sldId id="407" r:id="rId12"/>
    <p:sldId id="408" r:id="rId13"/>
    <p:sldId id="409" r:id="rId14"/>
    <p:sldId id="410" r:id="rId15"/>
    <p:sldId id="411" r:id="rId16"/>
    <p:sldId id="412" r:id="rId17"/>
    <p:sldId id="413" r:id="rId18"/>
    <p:sldId id="414" r:id="rId19"/>
    <p:sldId id="415" r:id="rId20"/>
    <p:sldId id="416" r:id="rId21"/>
    <p:sldId id="417" r:id="rId22"/>
    <p:sldId id="418" r:id="rId23"/>
    <p:sldId id="419" r:id="rId24"/>
    <p:sldId id="420" r:id="rId25"/>
    <p:sldId id="421" r:id="rId26"/>
    <p:sldId id="422" r:id="rId27"/>
    <p:sldId id="423" r:id="rId28"/>
    <p:sldId id="424" r:id="rId29"/>
    <p:sldId id="425" r:id="rId30"/>
    <p:sldId id="468" r:id="rId31"/>
    <p:sldId id="426" r:id="rId32"/>
    <p:sldId id="427" r:id="rId33"/>
    <p:sldId id="428" r:id="rId34"/>
    <p:sldId id="429" r:id="rId35"/>
    <p:sldId id="430" r:id="rId36"/>
    <p:sldId id="442" r:id="rId37"/>
    <p:sldId id="443" r:id="rId38"/>
    <p:sldId id="444" r:id="rId39"/>
    <p:sldId id="446" r:id="rId40"/>
    <p:sldId id="448" r:id="rId41"/>
    <p:sldId id="445" r:id="rId42"/>
    <p:sldId id="447" r:id="rId43"/>
    <p:sldId id="450" r:id="rId44"/>
    <p:sldId id="449" r:id="rId45"/>
    <p:sldId id="452" r:id="rId46"/>
    <p:sldId id="451" r:id="rId47"/>
    <p:sldId id="457" r:id="rId48"/>
    <p:sldId id="453" r:id="rId49"/>
    <p:sldId id="455" r:id="rId50"/>
    <p:sldId id="456" r:id="rId51"/>
    <p:sldId id="458" r:id="rId52"/>
    <p:sldId id="454" r:id="rId53"/>
    <p:sldId id="459" r:id="rId54"/>
    <p:sldId id="461" r:id="rId55"/>
    <p:sldId id="460" r:id="rId56"/>
    <p:sldId id="462" r:id="rId57"/>
    <p:sldId id="431" r:id="rId58"/>
    <p:sldId id="463" r:id="rId59"/>
    <p:sldId id="464" r:id="rId60"/>
    <p:sldId id="465" r:id="rId61"/>
    <p:sldId id="432" r:id="rId62"/>
    <p:sldId id="433" r:id="rId63"/>
    <p:sldId id="435" r:id="rId64"/>
    <p:sldId id="436" r:id="rId65"/>
    <p:sldId id="437" r:id="rId66"/>
    <p:sldId id="438" r:id="rId67"/>
    <p:sldId id="439" r:id="rId68"/>
    <p:sldId id="440" r:id="rId69"/>
    <p:sldId id="441" r:id="rId70"/>
    <p:sldId id="469" r:id="rId71"/>
    <p:sldId id="471" r:id="rId72"/>
    <p:sldId id="472" r:id="rId73"/>
    <p:sldId id="473" r:id="rId74"/>
    <p:sldId id="470" r:id="rId75"/>
    <p:sldId id="434" r:id="rId76"/>
    <p:sldId id="474" r:id="rId77"/>
    <p:sldId id="399" r:id="rId78"/>
  </p:sldIdLst>
  <p:sldSz cx="9144000" cy="5143500" type="screen16x9"/>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4">
          <p15:clr>
            <a:srgbClr val="A4A3A4"/>
          </p15:clr>
        </p15:guide>
        <p15:guide id="2" pos="281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5B0"/>
    <a:srgbClr val="FFFFFF"/>
    <a:srgbClr val="558ED5"/>
    <a:srgbClr val="268099"/>
    <a:srgbClr val="005CA8"/>
    <a:srgbClr val="4EE5FA"/>
    <a:srgbClr val="0060A8"/>
    <a:srgbClr val="19C3FF"/>
    <a:srgbClr val="00C0A9"/>
    <a:srgbClr val="00A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7959" autoAdjust="0"/>
  </p:normalViewPr>
  <p:slideViewPr>
    <p:cSldViewPr>
      <p:cViewPr varScale="1">
        <p:scale>
          <a:sx n="113" d="100"/>
          <a:sy n="113" d="100"/>
        </p:scale>
        <p:origin x="762" y="96"/>
      </p:cViewPr>
      <p:guideLst>
        <p:guide orient="horz" pos="1594"/>
        <p:guide pos="2815"/>
      </p:guideLst>
    </p:cSldViewPr>
  </p:slideViewPr>
  <p:notesTextViewPr>
    <p:cViewPr>
      <p:scale>
        <a:sx n="100" d="100"/>
        <a:sy n="100" d="100"/>
      </p:scale>
      <p:origin x="0" y="-1272"/>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85.wmf"/><Relationship Id="rId2" Type="http://schemas.openxmlformats.org/officeDocument/2006/relationships/image" Target="../media/image284.wmf"/><Relationship Id="rId1" Type="http://schemas.openxmlformats.org/officeDocument/2006/relationships/image" Target="../media/image283.wmf"/><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1.emf"/><Relationship Id="rId1" Type="http://schemas.openxmlformats.org/officeDocument/2006/relationships/image" Target="../media/image29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2026/5/25</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extLst>
      <p:ext uri="{BB962C8B-B14F-4D97-AF65-F5344CB8AC3E}">
        <p14:creationId xmlns:p14="http://schemas.microsoft.com/office/powerpoint/2010/main" val="871075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a:t>
            </a:fld>
            <a:endParaRPr lang="zh-CN" altLang="en-US"/>
          </a:p>
        </p:txBody>
      </p:sp>
    </p:spTree>
    <p:extLst>
      <p:ext uri="{BB962C8B-B14F-4D97-AF65-F5344CB8AC3E}">
        <p14:creationId xmlns:p14="http://schemas.microsoft.com/office/powerpoint/2010/main" val="3189826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extLst>
      <p:ext uri="{BB962C8B-B14F-4D97-AF65-F5344CB8AC3E}">
        <p14:creationId xmlns:p14="http://schemas.microsoft.com/office/powerpoint/2010/main" val="3375534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What: </a:t>
            </a:r>
            <a:r>
              <a:rPr lang="zh-CN" altLang="en-US" sz="1200" b="0" i="0" kern="1200" dirty="0" smtClean="0">
                <a:solidFill>
                  <a:schemeClr val="tx1"/>
                </a:solidFill>
                <a:effectLst/>
                <a:latin typeface="+mn-lt"/>
                <a:ea typeface="+mn-ea"/>
                <a:cs typeface="+mn-cs"/>
              </a:rPr>
              <a:t>界定问题，搞清楚问题到底是什么</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机器人运动学主要研究在不考虑作用于机器人的力和力矩的情况下，机器人在笛卡尔空间</a:t>
            </a:r>
            <a:r>
              <a:rPr lang="en-US" altLang="zh-CN" dirty="0" smtClean="0"/>
              <a:t>(</a:t>
            </a:r>
            <a:r>
              <a:rPr lang="zh-CN" altLang="en-US" dirty="0" smtClean="0"/>
              <a:t>固定参考坐标系</a:t>
            </a:r>
            <a:r>
              <a:rPr lang="en-US" altLang="zh-CN" dirty="0" smtClean="0"/>
              <a:t>)</a:t>
            </a:r>
            <a:r>
              <a:rPr lang="zh-CN" altLang="en-US" dirty="0" smtClean="0"/>
              <a:t>的位形与关节空间</a:t>
            </a:r>
            <a:r>
              <a:rPr lang="en-US" altLang="zh-CN" dirty="0" smtClean="0"/>
              <a:t>(</a:t>
            </a:r>
            <a:r>
              <a:rPr lang="zh-CN" altLang="en-US" dirty="0" smtClean="0"/>
              <a:t>相对坐标系</a:t>
            </a:r>
            <a:r>
              <a:rPr lang="en-US" altLang="zh-CN" dirty="0" smtClean="0"/>
              <a:t>)</a:t>
            </a:r>
            <a:r>
              <a:rPr lang="zh-CN" altLang="en-US" dirty="0" smtClean="0"/>
              <a:t>位形的计算问题：正解与逆解</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effectLst/>
                <a:latin typeface="+mn-lt"/>
                <a:ea typeface="+mn-ea"/>
                <a:cs typeface="+mn-cs"/>
              </a:rPr>
              <a:t>动力学</a:t>
            </a:r>
            <a:r>
              <a:rPr lang="zh-CN" altLang="zh-CN" sz="1200" kern="1200" dirty="0" smtClean="0">
                <a:solidFill>
                  <a:schemeClr val="tx1"/>
                </a:solidFill>
                <a:effectLst/>
                <a:latin typeface="+mn-lt"/>
                <a:ea typeface="+mn-ea"/>
                <a:cs typeface="+mn-cs"/>
              </a:rPr>
              <a:t>对引起机器人运动的力和力矩进行分析</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同样地，机器人动力学也有正逆解之分。</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why</a:t>
            </a:r>
            <a:r>
              <a:rPr lang="zh-CN" altLang="en-US" dirty="0" smtClean="0"/>
              <a:t>：分析问题的本质原因是什么</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为何机器人的性能不好，到底是什么原因产生的？</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哪些作业对动力学及控制比较重要？</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a:lnSpc>
                <a:spcPct val="120000"/>
              </a:lnSpc>
            </a:pPr>
            <a:r>
              <a:rPr lang="zh-CN" altLang="en-US" sz="2000" b="1" dirty="0" smtClean="0">
                <a:solidFill>
                  <a:srgbClr val="002060"/>
                </a:solidFill>
                <a:latin typeface="宋体" panose="02010600030101010101" pitchFamily="2" charset="-122"/>
              </a:rPr>
              <a:t>正动力学问题</a:t>
            </a:r>
            <a:r>
              <a:rPr lang="zh-CN" altLang="en-US" sz="1200" dirty="0" smtClean="0">
                <a:solidFill>
                  <a:schemeClr val="tx1">
                    <a:lumMod val="65000"/>
                    <a:lumOff val="35000"/>
                  </a:schemeClr>
                </a:solidFill>
                <a:latin typeface="宋体" panose="02010600030101010101" pitchFamily="2" charset="-122"/>
              </a:rPr>
              <a:t>的求解，主要用于机器人的运动仿真，判别运动过程中其加速度是否连续，系统是否鲁棒稳定。</a:t>
            </a:r>
            <a:endParaRPr lang="en-US" altLang="zh-CN" sz="1200" dirty="0" smtClean="0">
              <a:solidFill>
                <a:schemeClr val="tx1">
                  <a:lumMod val="65000"/>
                  <a:lumOff val="35000"/>
                </a:schemeClr>
              </a:solidFill>
              <a:latin typeface="宋体" panose="02010600030101010101" pitchFamily="2" charset="-122"/>
            </a:endParaRPr>
          </a:p>
          <a:p>
            <a:pPr>
              <a:lnSpc>
                <a:spcPct val="120000"/>
              </a:lnSpc>
            </a:pPr>
            <a:r>
              <a:rPr lang="zh-CN" altLang="en-US" sz="1200" dirty="0" smtClean="0">
                <a:solidFill>
                  <a:schemeClr val="tx1">
                    <a:lumMod val="65000"/>
                    <a:lumOff val="35000"/>
                  </a:schemeClr>
                </a:solidFill>
                <a:latin typeface="宋体" panose="02010600030101010101" pitchFamily="2" charset="-122"/>
              </a:rPr>
              <a:t>研究</a:t>
            </a:r>
            <a:r>
              <a:rPr lang="zh-CN" altLang="en-US" sz="2000" b="1" dirty="0" smtClean="0">
                <a:solidFill>
                  <a:srgbClr val="002060"/>
                </a:solidFill>
                <a:latin typeface="宋体" panose="02010600030101010101" pitchFamily="2" charset="-122"/>
              </a:rPr>
              <a:t>逆动力学问题</a:t>
            </a:r>
            <a:r>
              <a:rPr lang="zh-CN" altLang="en-US" sz="1200" dirty="0" smtClean="0">
                <a:solidFill>
                  <a:schemeClr val="tx1">
                    <a:lumMod val="65000"/>
                    <a:lumOff val="35000"/>
                  </a:schemeClr>
                </a:solidFill>
                <a:latin typeface="宋体" panose="02010600030101010101" pitchFamily="2" charset="-122"/>
              </a:rPr>
              <a:t>，可以将这个力</a:t>
            </a:r>
            <a:r>
              <a:rPr lang="en-US" altLang="zh-CN" sz="1200" dirty="0" smtClean="0">
                <a:solidFill>
                  <a:schemeClr val="tx1">
                    <a:lumMod val="65000"/>
                    <a:lumOff val="35000"/>
                  </a:schemeClr>
                </a:solidFill>
                <a:latin typeface="宋体" panose="02010600030101010101" pitchFamily="2" charset="-122"/>
              </a:rPr>
              <a:t>/</a:t>
            </a:r>
            <a:r>
              <a:rPr lang="zh-CN" altLang="en-US" sz="1200" dirty="0" smtClean="0">
                <a:solidFill>
                  <a:schemeClr val="tx1">
                    <a:lumMod val="65000"/>
                    <a:lumOff val="35000"/>
                  </a:schemeClr>
                </a:solidFill>
                <a:latin typeface="宋体" panose="02010600030101010101" pitchFamily="2" charset="-122"/>
              </a:rPr>
              <a:t>力矩作为控制目标，实现机器人精确的运动控制，改善其动力学特性。</a:t>
            </a:r>
            <a:endParaRPr lang="zh-CN" altLang="en-US" sz="1200" dirty="0" smtClean="0">
              <a:solidFill>
                <a:schemeClr val="tx1">
                  <a:lumMod val="65000"/>
                  <a:lumOff val="35000"/>
                </a:schemeClr>
              </a:solidFill>
              <a:latin typeface="宋体" panose="02010600030101010101" pitchFamily="2" charset="-122"/>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how</a:t>
            </a:r>
            <a:r>
              <a:rPr lang="zh-CN" altLang="en-US" dirty="0" smtClean="0"/>
              <a:t>：解决问题的方法有哪些？</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动力学特性的数学量，通常采用矢量、张量、矩阵（坐标系变换）以及旋量等进行表达。而建立机器人的动力学模型，可采用的力学原理有能量守恒定理、达郎贝尔原理、虚功原理、拉格朗日方程、动量矩定理、哈密尔顿原理、牛顿</a:t>
            </a:r>
            <a:r>
              <a:rPr lang="en-US" altLang="zh-CN" dirty="0" smtClean="0"/>
              <a:t>-</a:t>
            </a:r>
            <a:r>
              <a:rPr lang="zh-CN" altLang="en-US" dirty="0" smtClean="0"/>
              <a:t>欧拉方程、凯恩方程等方法，具体采用哪种方法，可以结合不同的机构特征进行选择。</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拉格朗日方程</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牛顿</a:t>
            </a:r>
            <a:r>
              <a:rPr lang="en-US" altLang="zh-CN" dirty="0" smtClean="0"/>
              <a:t>-</a:t>
            </a:r>
            <a:r>
              <a:rPr lang="zh-CN" altLang="en-US" dirty="0" smtClean="0"/>
              <a:t>欧拉方程</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数值解如何解？</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Application: </a:t>
            </a:r>
            <a:r>
              <a:rPr lang="zh-CN" altLang="en-US" dirty="0" smtClean="0"/>
              <a:t>如何去实际应用？</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extLst>
      <p:ext uri="{BB962C8B-B14F-4D97-AF65-F5344CB8AC3E}">
        <p14:creationId xmlns:p14="http://schemas.microsoft.com/office/powerpoint/2010/main" val="2720392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已知各关节的驱动力及力矩，在给定状态变量</a:t>
                </a:r>
                <a:r>
                  <a:rPr lang="en-US"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en-US" altLang="zh-CN" sz="1200" kern="1200" dirty="0">
                    <a:solidFill>
                      <a:schemeClr val="tx1"/>
                    </a:solidFill>
                    <a:effectLst/>
                    <a:latin typeface="+mn-lt"/>
                    <a:ea typeface="+mn-ea"/>
                    <a:cs typeface="+mn-cs"/>
                  </a:rPr>
                  <a:t>,</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前提下，计算它会得到什么样的加速度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，即为机器人</a:t>
                </a:r>
                <a:r>
                  <a:rPr lang="zh-CN" altLang="zh-CN" sz="1200" b="1" kern="1200" dirty="0">
                    <a:solidFill>
                      <a:schemeClr val="tx1"/>
                    </a:solidFill>
                    <a:effectLst/>
                    <a:latin typeface="+mn-lt"/>
                    <a:ea typeface="+mn-ea"/>
                    <a:cs typeface="+mn-cs"/>
                  </a:rPr>
                  <a:t>正动力学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这可以从牛顿第二定律定义的质点运动方程出发，利用拉格朗日方程、牛顿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欧拉方程、凯恩方程等方法进行求解。正动力学问题的求解，主要用于机器人的运动仿真，判别运动过程中其加速度是否连续，系统是否鲁棒稳定。正动力学一般公式可以如式（</a:t>
                </a:r>
                <a:r>
                  <a:rPr lang="en-US" altLang="zh-CN" sz="1200" kern="1200" dirty="0">
                    <a:solidFill>
                      <a:schemeClr val="tx1"/>
                    </a:solidFill>
                    <a:effectLst/>
                    <a:latin typeface="+mn-lt"/>
                    <a:ea typeface="+mn-ea"/>
                    <a:cs typeface="+mn-cs"/>
                  </a:rPr>
                  <a:t>4-1</a:t>
                </a:r>
                <a:r>
                  <a:rPr lang="zh-CN" altLang="zh-CN" sz="1200" kern="1200" dirty="0">
                    <a:solidFill>
                      <a:schemeClr val="tx1"/>
                    </a:solidFill>
                    <a:effectLst/>
                    <a:latin typeface="+mn-lt"/>
                    <a:ea typeface="+mn-ea"/>
                    <a:cs typeface="+mn-cs"/>
                  </a:rPr>
                  <a:t>）表达。</a:t>
                </a:r>
              </a:p>
              <a:p>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𝑀</m:t>
                        </m:r>
                      </m:e>
                      <m:sup>
                        <m:r>
                          <a:rPr lang="en-US" altLang="zh-CN" sz="1200" i="1" kern="1200">
                            <a:solidFill>
                              <a:schemeClr val="tx1"/>
                            </a:solidFill>
                            <a:effectLst/>
                            <a:latin typeface="Cambria Math" panose="02040503050406030204" pitchFamily="18" charset="0"/>
                            <a:ea typeface="+mn-ea"/>
                            <a:cs typeface="+mn-cs"/>
                          </a:rPr>
                          <m:t>−1</m:t>
                        </m:r>
                      </m:sup>
                    </m:sSup>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e>
                    </m:d>
                  </m:oMath>
                </a14:m>
                <a:r>
                  <a:rPr lang="en-US" altLang="zh-CN" sz="1200" kern="1200" dirty="0">
                    <a:solidFill>
                      <a:schemeClr val="tx1"/>
                    </a:solidFill>
                    <a:effectLst/>
                    <a:latin typeface="+mn-lt"/>
                    <a:ea typeface="+mn-ea"/>
                    <a:cs typeface="+mn-cs"/>
                  </a:rPr>
                  <a:t> (4-1)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(4-1)</a:t>
                </a:r>
                <a:r>
                  <a:rPr lang="zh-CN" altLang="zh-CN" sz="1200" kern="1200" dirty="0">
                    <a:solidFill>
                      <a:schemeClr val="tx1"/>
                    </a:solidFill>
                    <a:effectLst/>
                    <a:latin typeface="+mn-lt"/>
                    <a:ea typeface="+mn-ea"/>
                    <a:cs typeface="+mn-cs"/>
                  </a:rPr>
                  <a:t>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𝑛</m:t>
                        </m:r>
                      </m:sup>
                    </m:sSup>
                  </m:oMath>
                </a14:m>
                <a:r>
                  <a:rPr lang="zh-CN" altLang="zh-CN" sz="1200" kern="1200" dirty="0">
                    <a:solidFill>
                      <a:schemeClr val="tx1"/>
                    </a:solidFill>
                    <a:effectLst/>
                    <a:latin typeface="+mn-lt"/>
                    <a:ea typeface="+mn-ea"/>
                    <a:cs typeface="+mn-cs"/>
                  </a:rPr>
                  <a:t>表示关节变量，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𝑛</m:t>
                        </m:r>
                      </m:sup>
                    </m:sSup>
                  </m:oMath>
                </a14:m>
                <a:r>
                  <a:rPr lang="zh-CN" altLang="zh-CN" sz="1200" kern="1200" dirty="0">
                    <a:solidFill>
                      <a:schemeClr val="tx1"/>
                    </a:solidFill>
                    <a:effectLst/>
                    <a:latin typeface="+mn-lt"/>
                    <a:ea typeface="+mn-ea"/>
                    <a:cs typeface="+mn-cs"/>
                  </a:rPr>
                  <a:t>表示关节力和关节力矩，</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𝑛𝑥𝑛</m:t>
                        </m:r>
                      </m:sup>
                    </m:sSup>
                  </m:oMath>
                </a14:m>
                <a:r>
                  <a:rPr lang="zh-CN" altLang="zh-CN" sz="1200" kern="1200" dirty="0">
                    <a:solidFill>
                      <a:schemeClr val="tx1"/>
                    </a:solidFill>
                    <a:effectLst/>
                    <a:latin typeface="+mn-lt"/>
                    <a:ea typeface="+mn-ea"/>
                    <a:cs typeface="+mn-cs"/>
                  </a:rPr>
                  <a:t>是一个对称且正定的质量矩阵，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𝑛𝑥𝑛</m:t>
                        </m:r>
                      </m:sup>
                    </m:sSup>
                  </m:oMath>
                </a14:m>
                <a:r>
                  <a:rPr lang="zh-CN" altLang="zh-CN" sz="1200" kern="1200" dirty="0">
                    <a:solidFill>
                      <a:schemeClr val="tx1"/>
                    </a:solidFill>
                    <a:effectLst/>
                    <a:latin typeface="+mn-lt"/>
                    <a:ea typeface="+mn-ea"/>
                    <a:cs typeface="+mn-cs"/>
                  </a:rPr>
                  <a:t>是将向心力、科氏力、重力、和摩檫力等集合在一起的力向量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而当机器人期望的轨迹（关节角度、速度、加速度）已知，需要计算电机驱动各关节所需要的驱动力或力矩，则为机器人</a:t>
                </a:r>
                <a:r>
                  <a:rPr lang="zh-CN" altLang="zh-CN" sz="1200" b="1" kern="1200" dirty="0">
                    <a:solidFill>
                      <a:schemeClr val="tx1"/>
                    </a:solidFill>
                    <a:effectLst/>
                    <a:latin typeface="+mn-lt"/>
                    <a:ea typeface="+mn-ea"/>
                    <a:cs typeface="+mn-cs"/>
                  </a:rPr>
                  <a:t>动力学逆解</a:t>
                </a:r>
                <a:r>
                  <a:rPr lang="zh-CN" altLang="zh-CN" sz="1200" kern="1200" dirty="0">
                    <a:solidFill>
                      <a:schemeClr val="tx1"/>
                    </a:solidFill>
                    <a:effectLst/>
                    <a:latin typeface="+mn-lt"/>
                    <a:ea typeface="+mn-ea"/>
                    <a:cs typeface="+mn-cs"/>
                  </a:rPr>
                  <a:t>。当然这个力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力矩是经过减速机之后的综合输出力矩，研究动力学逆问题，可以将这个力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力矩作为控制目标，实现机器人精确的运动控制，改善其动力学特性。逆动力学一般公式可以如式（</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）表达。</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oMath>
                </a14:m>
                <a:r>
                  <a:rPr lang="en-US" altLang="zh-CN" sz="1200" kern="1200" dirty="0">
                    <a:solidFill>
                      <a:schemeClr val="tx1"/>
                    </a:solidFill>
                    <a:effectLst/>
                    <a:latin typeface="+mn-lt"/>
                    <a:ea typeface="+mn-ea"/>
                    <a:cs typeface="+mn-cs"/>
                  </a:rPr>
                  <a:t> (4-2)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动力学特性的数学量，通常采用矢量、张量、矩阵（坐标系变换）以及旋量等进行表达。而建立机器人的动力学模型，可采用的力学原理有能量守恒定理、达郎贝尔原理、虚功原理、拉格朗日方程、动量矩定理、哈密尔顿原理、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欧拉方程、凯恩方程等方法，具体采用哪种方法，可以结合不同的机构特征进行选择。</a:t>
                </a:r>
              </a:p>
              <a:p>
                <a:r>
                  <a:rPr lang="zh-CN" altLang="zh-CN" sz="1200" kern="1200" dirty="0">
                    <a:solidFill>
                      <a:schemeClr val="tx1"/>
                    </a:solidFill>
                    <a:effectLst/>
                    <a:latin typeface="+mn-lt"/>
                    <a:ea typeface="+mn-ea"/>
                    <a:cs typeface="+mn-cs"/>
                  </a:rPr>
                  <a:t>拉格朗日方程一般通过机器人的动能和势能进行推导，其对于结构简单的机器人来说，例如三自由度及以下的机器人动力学分析较为简洁和有效。而对于自由度较多、机构复杂的机器人来说，采用牛顿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欧拉公式，进行迭代计算可能更有优势。牛顿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欧拉方程建立在牛顿第二定律基础上，通过力、力矩、动量、动量矩、运动旋量、力旋量等物理量来描述刚体的动力学性能。</a:t>
                </a: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已知各关节的驱动力及力矩，在给定状态变量</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前提下，计算它会得到什么样的加速度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，即为机器人</a:t>
                </a:r>
                <a:r>
                  <a:rPr lang="zh-CN" altLang="zh-CN" sz="1200" b="1" kern="1200" dirty="0">
                    <a:solidFill>
                      <a:schemeClr val="tx1"/>
                    </a:solidFill>
                    <a:effectLst/>
                    <a:latin typeface="+mn-lt"/>
                    <a:ea typeface="+mn-ea"/>
                    <a:cs typeface="+mn-cs"/>
                  </a:rPr>
                  <a:t>正动力学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这可以从牛顿第二定律定义的质点运动方程出发，利用拉格朗日方程、牛顿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欧拉方程、凯恩方程等方法进行求解。正动力学问题的求解，主要用于机器人的运动仿真，判别运动过程中其加速度是否连续，系统是否鲁棒稳定。正动力学一般公式可以如式（</a:t>
                </a:r>
                <a:r>
                  <a:rPr lang="en-US" altLang="zh-CN" sz="1200" kern="1200" dirty="0">
                    <a:solidFill>
                      <a:schemeClr val="tx1"/>
                    </a:solidFill>
                    <a:effectLst/>
                    <a:latin typeface="+mn-lt"/>
                    <a:ea typeface="+mn-ea"/>
                    <a:cs typeface="+mn-cs"/>
                  </a:rPr>
                  <a:t>4-1</a:t>
                </a:r>
                <a:r>
                  <a:rPr lang="zh-CN" altLang="zh-CN" sz="1200" kern="1200" dirty="0">
                    <a:solidFill>
                      <a:schemeClr val="tx1"/>
                    </a:solidFill>
                    <a:effectLst/>
                    <a:latin typeface="+mn-lt"/>
                    <a:ea typeface="+mn-ea"/>
                    <a:cs typeface="+mn-cs"/>
                  </a:rPr>
                  <a:t>）表达。</a:t>
                </a:r>
              </a:p>
              <a:p>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𝜏−ℎ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(4-1)</a:t>
                </a:r>
                <a:r>
                  <a:rPr lang="zh-CN" altLang="zh-CN" sz="1200" kern="1200" dirty="0">
                    <a:solidFill>
                      <a:schemeClr val="tx1"/>
                    </a:solidFill>
                    <a:effectLst/>
                    <a:latin typeface="+mn-lt"/>
                    <a:ea typeface="+mn-ea"/>
                    <a:cs typeface="+mn-cs"/>
                  </a:rPr>
                  <a:t>中，</a:t>
                </a:r>
                <a:r>
                  <a:rPr lang="en-US" altLang="zh-CN" sz="1200" i="0" kern="1200">
                    <a:solidFill>
                      <a:schemeClr val="tx1"/>
                    </a:solidFill>
                    <a:effectLst/>
                    <a:latin typeface="+mn-lt"/>
                    <a:ea typeface="+mn-ea"/>
                    <a:cs typeface="+mn-cs"/>
                  </a:rPr>
                  <a:t>𝜃∈ℝ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表示关节变量，</a:t>
                </a:r>
                <a:r>
                  <a:rPr lang="en-US" altLang="zh-CN" sz="1200" i="0" kern="1200">
                    <a:solidFill>
                      <a:schemeClr val="tx1"/>
                    </a:solidFill>
                    <a:effectLst/>
                    <a:latin typeface="+mn-lt"/>
                    <a:ea typeface="+mn-ea"/>
                    <a:cs typeface="+mn-cs"/>
                  </a:rPr>
                  <a:t>𝜏∈ℝ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表示关节力和关节力矩，</a:t>
                </a:r>
                <a:r>
                  <a:rPr lang="en-US" altLang="zh-CN" sz="1200" i="0" kern="1200">
                    <a:solidFill>
                      <a:schemeClr val="tx1"/>
                    </a:solidFill>
                    <a:effectLst/>
                    <a:latin typeface="+mn-lt"/>
                    <a:ea typeface="+mn-ea"/>
                    <a:cs typeface="+mn-cs"/>
                  </a:rPr>
                  <a:t>𝑀(𝜃)∈ℝ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𝑛𝑥𝑛</a:t>
                </a:r>
                <a:r>
                  <a:rPr lang="zh-CN" altLang="zh-CN" sz="1200" kern="1200" dirty="0">
                    <a:solidFill>
                      <a:schemeClr val="tx1"/>
                    </a:solidFill>
                    <a:effectLst/>
                    <a:latin typeface="+mn-lt"/>
                    <a:ea typeface="+mn-ea"/>
                    <a:cs typeface="+mn-cs"/>
                  </a:rPr>
                  <a:t>是一个对称且正定的质量矩阵，</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𝑛𝑥𝑛</a:t>
                </a:r>
                <a:r>
                  <a:rPr lang="zh-CN" altLang="zh-CN" sz="1200" kern="1200" dirty="0">
                    <a:solidFill>
                      <a:schemeClr val="tx1"/>
                    </a:solidFill>
                    <a:effectLst/>
                    <a:latin typeface="+mn-lt"/>
                    <a:ea typeface="+mn-ea"/>
                    <a:cs typeface="+mn-cs"/>
                  </a:rPr>
                  <a:t>是将向心力、科氏力、重力、和摩檫力等集合在一起的力向量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而当机器人期望的轨迹（关节角度、速度、加速度）已知，需要计算电机驱动各关节所需要的驱动力或力矩，则为机器人</a:t>
                </a:r>
                <a:r>
                  <a:rPr lang="zh-CN" altLang="zh-CN" sz="1200" b="1" kern="1200" dirty="0">
                    <a:solidFill>
                      <a:schemeClr val="tx1"/>
                    </a:solidFill>
                    <a:effectLst/>
                    <a:latin typeface="+mn-lt"/>
                    <a:ea typeface="+mn-ea"/>
                    <a:cs typeface="+mn-cs"/>
                  </a:rPr>
                  <a:t>动力学逆解</a:t>
                </a:r>
                <a:r>
                  <a:rPr lang="zh-CN" altLang="zh-CN" sz="1200" kern="1200" dirty="0">
                    <a:solidFill>
                      <a:schemeClr val="tx1"/>
                    </a:solidFill>
                    <a:effectLst/>
                    <a:latin typeface="+mn-lt"/>
                    <a:ea typeface="+mn-ea"/>
                    <a:cs typeface="+mn-cs"/>
                  </a:rPr>
                  <a:t>。当然这个力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力矩是经过减速机之后的综合输出力矩，研究动力学逆问题，可以将这个力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力矩作为控制目标，实现机器人精确的运动控制，改善其动力学特性。逆动力学一般公式可以如式（</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）表达。</a:t>
                </a:r>
              </a:p>
              <a:p>
                <a:r>
                  <a:rPr lang="en-US" altLang="zh-CN" sz="1200" i="0" kern="1200">
                    <a:solidFill>
                      <a:schemeClr val="tx1"/>
                    </a:solidFill>
                    <a:effectLst/>
                    <a:latin typeface="+mn-lt"/>
                    <a:ea typeface="+mn-ea"/>
                    <a:cs typeface="+mn-cs"/>
                  </a:rPr>
                  <a:t>𝜏=𝑀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动力学特性的数学量，通常采用矢量、张量、矩阵（坐标系变换）以及旋量等进行表达。而建立机器人的动力学模型，可采用的力学原理有能量守恒定理、达郎贝尔原理、虚功原理、拉格朗日方程、动量矩定理、哈密尔顿原理、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欧拉方程、凯恩方程等方法，具体采用哪种方法，可以结合不同的机构特征进行选择。</a:t>
                </a:r>
              </a:p>
              <a:p>
                <a:r>
                  <a:rPr lang="zh-CN" altLang="zh-CN" sz="1200" kern="1200" dirty="0">
                    <a:solidFill>
                      <a:schemeClr val="tx1"/>
                    </a:solidFill>
                    <a:effectLst/>
                    <a:latin typeface="+mn-lt"/>
                    <a:ea typeface="+mn-ea"/>
                    <a:cs typeface="+mn-cs"/>
                  </a:rPr>
                  <a:t>拉格朗日方程一般通过机器人的动能和势能进行推导，其对于结构简单的机器人来说，例如三自由度及以下的机器人动力学分析较为简洁和有效。而对于自由度较多、机构复杂的机器人来说，采用牛顿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欧拉公式，进行迭代计算可能更有优势。牛顿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欧拉方程建立在牛顿第二定律基础上，通过力、力矩、动量、动量矩、运动旋量、力旋量等物理量来描述刚体的动力学性能。</a:t>
                </a: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extLst>
      <p:ext uri="{BB962C8B-B14F-4D97-AF65-F5344CB8AC3E}">
        <p14:creationId xmlns:p14="http://schemas.microsoft.com/office/powerpoint/2010/main" val="3794271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日地拉格朗日L2点是1772年法国数学家拉格朗日推导证明出：卫星受太阳、地球两大天体引力作用，能保持相对静止编号为L2的那个点。</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经典力学，最初的表述形式由牛顿建立，它着重分析位移，速度，加速度，力等矢量间的关系，又称为矢量力学。</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牛顿第二定律</a:t>
                </a:r>
                <a:r>
                  <a:rPr lang="en-US" altLang="zh-CN" sz="1200" b="0" i="0" kern="1200" dirty="0" smtClean="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物体在受到合外力的作用会产生加速度，加速度的方向和合外力的方向相同，加速度的大小与合外力的大小成正比，与物体的惯性质量成反比。</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sz="1200" i="1" smtClean="0">
                          <a:latin typeface="Cambria Math" panose="02040503050406030204" pitchFamily="18" charset="0"/>
                        </a:rPr>
                        <m:t>𝑓</m:t>
                      </m:r>
                      <m:r>
                        <a:rPr lang="zh-CN" altLang="en-US" sz="1200" i="0">
                          <a:latin typeface="Cambria Math" panose="02040503050406030204" pitchFamily="18" charset="0"/>
                        </a:rPr>
                        <m:t>−</m:t>
                      </m:r>
                      <m:r>
                        <a:rPr lang="zh-CN" altLang="en-US" sz="1200" i="1">
                          <a:latin typeface="Cambria Math" panose="02040503050406030204" pitchFamily="18" charset="0"/>
                        </a:rPr>
                        <m:t>𝑚𝑔</m:t>
                      </m:r>
                      <m:r>
                        <a:rPr lang="zh-CN" altLang="en-US" sz="1200" i="0">
                          <a:latin typeface="Cambria Math" panose="02040503050406030204" pitchFamily="18" charset="0"/>
                        </a:rPr>
                        <m:t>=</m:t>
                      </m:r>
                      <m:r>
                        <a:rPr lang="zh-CN" altLang="en-US" sz="1200" i="1">
                          <a:latin typeface="Cambria Math" panose="02040503050406030204" pitchFamily="18" charset="0"/>
                        </a:rPr>
                        <m:t>𝑚</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𝑥</m:t>
                          </m:r>
                        </m:e>
                      </m:acc>
                    </m:oMath>
                  </m:oMathPara>
                </a14:m>
                <a:endParaRPr lang="zh-CN"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1778</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Lagrange</a:t>
                </a:r>
                <a:r>
                  <a:rPr lang="zh-CN" altLang="zh-CN" sz="1200" kern="1200" dirty="0" smtClean="0">
                    <a:solidFill>
                      <a:schemeClr val="tx1"/>
                    </a:solidFill>
                    <a:effectLst/>
                    <a:latin typeface="+mn-lt"/>
                    <a:ea typeface="+mn-ea"/>
                    <a:cs typeface="+mn-cs"/>
                  </a:rPr>
                  <a:t>出版了《分析力学》一书，引入广义坐标，运用达郎贝尔原理得到的力学方程，把力学体系的运动方程从以力为基本概念的牛顿形式，改变为以能量为基本概念的分析力学形式。</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r>
                  <a:rPr lang="zh-CN" altLang="zh-CN" sz="1200" kern="1200" dirty="0" smtClean="0">
                    <a:solidFill>
                      <a:schemeClr val="tx1"/>
                    </a:solidFill>
                    <a:effectLst/>
                    <a:latin typeface="+mn-lt"/>
                    <a:ea typeface="+mn-ea"/>
                    <a:cs typeface="+mn-cs"/>
                  </a:rPr>
                  <a:t>如果用拉格朗日力学来推导，则系统的动能表示为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，势能表示为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𝑚𝑔𝑥</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对应的拉格朗日函数则为：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ℒ</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𝒦</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𝒫</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e>
                      </m:d>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𝑚</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𝑚𝑔𝑥</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对应的拉格朗日运动方程为：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𝑓</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𝑑𝑡</m:t>
                          </m:r>
                        </m:den>
                      </m:f>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ℒ</m:t>
                          </m:r>
                        </m:num>
                        <m:den>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ℒ</m:t>
                          </m:r>
                        </m:num>
                        <m:den>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den>
                      </m:f>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𝑥</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𝑚𝑔</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由此可知，牛顿方程和拉格朗日方程推导的结果是一致的。</a:t>
                </a:r>
                <a:endParaRPr lang="zh-CN" altLang="en-US" dirty="0" smtClean="0"/>
              </a:p>
              <a:p>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日地拉格朗日L2点是1772年法国数学家拉格朗日推导证明出：卫星受太阳、地球两大天体引力作用，能保持相对静止编号为L2的那个点。</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经典力学，最初的表述形式由牛顿建立，它着重分析位移，速度，加速度，力等矢量间的关系，又称为矢量力学。</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牛顿第二定律</a:t>
                </a:r>
                <a:r>
                  <a:rPr lang="en-US" altLang="zh-CN" sz="1200" b="0" i="0" kern="1200" dirty="0" smtClean="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物体在受到合外力的作用会产生加速度，加速度的方向和合外力的方向相同，加速度的大小与合外力的大小成正比，与物体的惯性质量成反比。</a:t>
                </a:r>
                <a:endParaRPr lang="en-US" altLang="zh-CN"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r>
                  <a:rPr lang="zh-CN" altLang="zh-CN" sz="1200" kern="1200" dirty="0" smtClean="0">
                    <a:solidFill>
                      <a:schemeClr val="tx1"/>
                    </a:solidFill>
                    <a:effectLst/>
                    <a:latin typeface="+mn-lt"/>
                    <a:ea typeface="+mn-ea"/>
                    <a:cs typeface="+mn-cs"/>
                  </a:rPr>
                  <a:t>如果用拉格朗日力学来推导，则系统的动能表示为</a:t>
                </a:r>
                <a:r>
                  <a:rPr lang="en-US" altLang="zh-CN" sz="1200" i="0" kern="1200">
                    <a:solidFill>
                      <a:schemeClr val="tx1"/>
                    </a:solidFill>
                    <a:effectLst/>
                    <a:latin typeface="+mn-lt"/>
                    <a:ea typeface="+mn-ea"/>
                    <a:cs typeface="+mn-cs"/>
                  </a:rPr>
                  <a:t>𝑚𝑥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，势能表示为</a:t>
                </a:r>
                <a:r>
                  <a:rPr lang="en-US" altLang="zh-CN" sz="1200" i="0" kern="1200">
                    <a:solidFill>
                      <a:schemeClr val="tx1"/>
                    </a:solidFill>
                    <a:effectLst/>
                    <a:latin typeface="+mn-lt"/>
                    <a:ea typeface="+mn-ea"/>
                    <a:cs typeface="+mn-cs"/>
                  </a:rPr>
                  <a:t>𝑚𝑔𝑥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对应的拉格朗日函数则为：</a:t>
                </a:r>
              </a:p>
              <a:p>
                <a:r>
                  <a:rPr lang="en-US" altLang="zh-CN" sz="1200" i="0" kern="1200">
                    <a:solidFill>
                      <a:schemeClr val="tx1"/>
                    </a:solidFill>
                    <a:effectLst/>
                    <a:latin typeface="+mn-lt"/>
                    <a:ea typeface="+mn-ea"/>
                    <a:cs typeface="+mn-cs"/>
                  </a:rPr>
                  <a:t>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)=𝒦</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)−𝒫</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 𝑚𝑥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−𝑚𝑔𝑥</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对应的拉格朗日运动方程为：</a:t>
                </a:r>
              </a:p>
              <a:p>
                <a:r>
                  <a:rPr lang="en-US" altLang="zh-CN" sz="1200" i="0" kern="1200">
                    <a:solidFill>
                      <a:schemeClr val="tx1"/>
                    </a:solidFill>
                    <a:effectLst/>
                    <a:latin typeface="+mn-lt"/>
                    <a:ea typeface="+mn-ea"/>
                    <a:cs typeface="+mn-cs"/>
                  </a:rPr>
                  <a:t>𝑓=𝑑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𝑑𝑡</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𝜕𝑥=𝑚𝑥</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+𝑚𝑔</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由此可知，牛顿方程和拉格朗日方程推导的结果是一致的。</a:t>
                </a:r>
                <a:endParaRPr lang="zh-CN" altLang="en-US"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extLst>
      <p:ext uri="{BB962C8B-B14F-4D97-AF65-F5344CB8AC3E}">
        <p14:creationId xmlns:p14="http://schemas.microsoft.com/office/powerpoint/2010/main" val="793719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我们从</a:t>
                </a:r>
                <a:r>
                  <a:rPr lang="en-US" altLang="zh-CN" sz="1200" kern="1200" dirty="0" smtClean="0">
                    <a:solidFill>
                      <a:schemeClr val="tx1"/>
                    </a:solidFill>
                    <a:effectLst/>
                    <a:latin typeface="+mn-lt"/>
                    <a:ea typeface="+mn-ea"/>
                    <a:cs typeface="+mn-cs"/>
                  </a:rPr>
                  <a:t>2R</a:t>
                </a:r>
                <a:r>
                  <a:rPr lang="zh-CN" altLang="en-US" sz="1200" kern="1200" dirty="0" smtClean="0">
                    <a:solidFill>
                      <a:schemeClr val="tx1"/>
                    </a:solidFill>
                    <a:effectLst/>
                    <a:latin typeface="+mn-lt"/>
                    <a:ea typeface="+mn-ea"/>
                    <a:cs typeface="+mn-cs"/>
                  </a:rPr>
                  <a:t>机械臂开始推导一般串联机械臂的</a:t>
                </a:r>
                <a:r>
                  <a:rPr lang="en-US" altLang="zh-CN" sz="1200" kern="1200" dirty="0" smtClean="0">
                    <a:solidFill>
                      <a:schemeClr val="tx1"/>
                    </a:solidFill>
                    <a:effectLst/>
                    <a:latin typeface="+mn-lt"/>
                    <a:ea typeface="+mn-ea"/>
                    <a:cs typeface="+mn-cs"/>
                  </a:rPr>
                  <a:t>Lagrange</a:t>
                </a:r>
                <a:r>
                  <a:rPr lang="zh-CN" altLang="en-US" sz="1200" kern="1200" dirty="0" smtClean="0">
                    <a:solidFill>
                      <a:schemeClr val="tx1"/>
                    </a:solidFill>
                    <a:effectLst/>
                    <a:latin typeface="+mn-lt"/>
                    <a:ea typeface="+mn-ea"/>
                    <a:cs typeface="+mn-cs"/>
                  </a:rPr>
                  <a:t>动力学一般方程</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为了保持模型的简明，将连杆的质量集中在连杆末端，点质量分别为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，两连杆旋转轴到质点的距离分别为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。根据参考图</a:t>
                </a:r>
                <a:r>
                  <a:rPr lang="en-US" altLang="zh-CN" sz="1200" kern="1200" dirty="0">
                    <a:solidFill>
                      <a:schemeClr val="tx1"/>
                    </a:solidFill>
                    <a:effectLst/>
                    <a:latin typeface="+mn-lt"/>
                    <a:ea typeface="+mn-ea"/>
                    <a:cs typeface="+mn-cs"/>
                  </a:rPr>
                  <a:t>4.1(a)</a:t>
                </a:r>
                <a:r>
                  <a:rPr lang="zh-CN" altLang="zh-CN" sz="1200" kern="1200" dirty="0">
                    <a:solidFill>
                      <a:schemeClr val="tx1"/>
                    </a:solidFill>
                    <a:effectLst/>
                    <a:latin typeface="+mn-lt"/>
                    <a:ea typeface="+mn-ea"/>
                    <a:cs typeface="+mn-cs"/>
                  </a:rPr>
                  <a:t>中定义的基座坐标系，分别定义旋转角度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，计算连杆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质心的位置和速度</a:t>
                </a:r>
                <a:r>
                  <a:rPr lang="zh-CN" altLang="zh-CN" sz="1200" kern="1200" dirty="0" smtClean="0">
                    <a:solidFill>
                      <a:schemeClr val="tx1"/>
                    </a:solidFill>
                    <a:effectLst/>
                    <a:latin typeface="+mn-lt"/>
                    <a:ea typeface="+mn-ea"/>
                    <a:cs typeface="+mn-cs"/>
                  </a:rPr>
                  <a:t>公式</a:t>
                </a:r>
                <a:r>
                  <a:rPr lang="zh-CN" altLang="en-US" sz="1200" kern="1200" dirty="0" smtClean="0">
                    <a:solidFill>
                      <a:schemeClr val="tx1"/>
                    </a:solidFill>
                    <a:effectLst/>
                    <a:latin typeface="+mn-lt"/>
                    <a:ea typeface="+mn-ea"/>
                    <a:cs typeface="+mn-cs"/>
                  </a:rPr>
                  <a:t>，见右上框</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计算连杆</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质心的位置和速度公式</a:t>
                </a:r>
                <a:r>
                  <a:rPr lang="zh-CN" altLang="en-US" sz="1200" kern="1200" dirty="0" smtClean="0">
                    <a:solidFill>
                      <a:schemeClr val="tx1"/>
                    </a:solidFill>
                    <a:effectLst/>
                    <a:latin typeface="+mn-lt"/>
                    <a:ea typeface="+mn-ea"/>
                    <a:cs typeface="+mn-cs"/>
                  </a:rPr>
                  <a:t>，见右下框</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将关节坐标</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选作广义坐标，广义力</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则对应于关节力矩。拉格朗日函数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ℒ</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如下：</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ℒ</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nary>
                      <m:naryPr>
                        <m:chr m:val="∑"/>
                        <m:limLoc m:val="undOvr"/>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𝒦</m:t>
                            </m:r>
                          </m:e>
                          <m:sub>
                            <m:r>
                              <a:rPr lang="en-US" altLang="zh-CN" sz="1200" i="1" kern="1200">
                                <a:solidFill>
                                  <a:schemeClr val="tx1"/>
                                </a:solidFill>
                                <a:effectLst/>
                                <a:latin typeface="Cambria Math" panose="02040503050406030204" pitchFamily="18" charset="0"/>
                                <a:ea typeface="+mn-ea"/>
                                <a:cs typeface="+mn-cs"/>
                              </a:rPr>
                              <m:t>𝑖</m:t>
                            </m:r>
                          </m:sub>
                        </m:sSub>
                      </m:e>
                    </m:nary>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𝒫</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en-US" altLang="zh-CN" sz="1200" kern="1200" dirty="0" smtClean="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我们从</a:t>
                </a:r>
                <a:r>
                  <a:rPr lang="en-US" altLang="zh-CN" sz="1200" kern="1200" dirty="0" smtClean="0">
                    <a:solidFill>
                      <a:schemeClr val="tx1"/>
                    </a:solidFill>
                    <a:effectLst/>
                    <a:latin typeface="+mn-lt"/>
                    <a:ea typeface="+mn-ea"/>
                    <a:cs typeface="+mn-cs"/>
                  </a:rPr>
                  <a:t>2R</a:t>
                </a:r>
                <a:r>
                  <a:rPr lang="zh-CN" altLang="en-US" sz="1200" kern="1200" dirty="0" smtClean="0">
                    <a:solidFill>
                      <a:schemeClr val="tx1"/>
                    </a:solidFill>
                    <a:effectLst/>
                    <a:latin typeface="+mn-lt"/>
                    <a:ea typeface="+mn-ea"/>
                    <a:cs typeface="+mn-cs"/>
                  </a:rPr>
                  <a:t>机械臂开始推导一般串联机械臂的</a:t>
                </a:r>
                <a:r>
                  <a:rPr lang="en-US" altLang="zh-CN" sz="1200" kern="1200" dirty="0" smtClean="0">
                    <a:solidFill>
                      <a:schemeClr val="tx1"/>
                    </a:solidFill>
                    <a:effectLst/>
                    <a:latin typeface="+mn-lt"/>
                    <a:ea typeface="+mn-ea"/>
                    <a:cs typeface="+mn-cs"/>
                  </a:rPr>
                  <a:t>Lagrange</a:t>
                </a:r>
                <a:r>
                  <a:rPr lang="zh-CN" altLang="en-US" sz="1200" kern="1200" dirty="0" smtClean="0">
                    <a:solidFill>
                      <a:schemeClr val="tx1"/>
                    </a:solidFill>
                    <a:effectLst/>
                    <a:latin typeface="+mn-lt"/>
                    <a:ea typeface="+mn-ea"/>
                    <a:cs typeface="+mn-cs"/>
                  </a:rPr>
                  <a:t>动力学一般方程</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为了保持模型的简明，将连杆的质量集中在连杆末端，点质量分别为</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，两连杆旋转轴到质点的距离分别为</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。根据参考图</a:t>
                </a:r>
                <a:r>
                  <a:rPr lang="en-US" altLang="zh-CN" sz="1200" kern="1200" dirty="0">
                    <a:solidFill>
                      <a:schemeClr val="tx1"/>
                    </a:solidFill>
                    <a:effectLst/>
                    <a:latin typeface="+mn-lt"/>
                    <a:ea typeface="+mn-ea"/>
                    <a:cs typeface="+mn-cs"/>
                  </a:rPr>
                  <a:t>4.1(a)</a:t>
                </a:r>
                <a:r>
                  <a:rPr lang="zh-CN" altLang="zh-CN" sz="1200" kern="1200" dirty="0">
                    <a:solidFill>
                      <a:schemeClr val="tx1"/>
                    </a:solidFill>
                    <a:effectLst/>
                    <a:latin typeface="+mn-lt"/>
                    <a:ea typeface="+mn-ea"/>
                    <a:cs typeface="+mn-cs"/>
                  </a:rPr>
                  <a:t>中定义的基座坐标系，分别定义旋转角度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，计算连杆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质心的位置和速度</a:t>
                </a:r>
                <a:r>
                  <a:rPr lang="zh-CN" altLang="zh-CN" sz="1200" kern="1200" dirty="0" smtClean="0">
                    <a:solidFill>
                      <a:schemeClr val="tx1"/>
                    </a:solidFill>
                    <a:effectLst/>
                    <a:latin typeface="+mn-lt"/>
                    <a:ea typeface="+mn-ea"/>
                    <a:cs typeface="+mn-cs"/>
                  </a:rPr>
                  <a:t>公式</a:t>
                </a:r>
                <a:r>
                  <a:rPr lang="zh-CN" altLang="en-US" sz="1200" kern="1200" dirty="0" smtClean="0">
                    <a:solidFill>
                      <a:schemeClr val="tx1"/>
                    </a:solidFill>
                    <a:effectLst/>
                    <a:latin typeface="+mn-lt"/>
                    <a:ea typeface="+mn-ea"/>
                    <a:cs typeface="+mn-cs"/>
                  </a:rPr>
                  <a:t>，见右上框</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计算连杆</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质心的位置和速度公式</a:t>
                </a:r>
                <a:r>
                  <a:rPr lang="zh-CN" altLang="en-US" sz="1200" kern="1200" dirty="0" smtClean="0">
                    <a:solidFill>
                      <a:schemeClr val="tx1"/>
                    </a:solidFill>
                    <a:effectLst/>
                    <a:latin typeface="+mn-lt"/>
                    <a:ea typeface="+mn-ea"/>
                    <a:cs typeface="+mn-cs"/>
                  </a:rPr>
                  <a:t>，见右下框</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将关节坐标</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选作广义坐标，广义力</a:t>
                </a:r>
                <a:r>
                  <a:rPr lang="en-US" altLang="zh-CN" sz="1200" i="0" kern="1200">
                    <a:solidFill>
                      <a:schemeClr val="tx1"/>
                    </a:solidFill>
                    <a:effectLst/>
                    <a:latin typeface="+mn-lt"/>
                    <a:ea typeface="+mn-ea"/>
                    <a:cs typeface="+mn-cs"/>
                  </a:rPr>
                  <a:t>𝜏=(𝜏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则对应于关节力矩。拉格朗日函数</a:t>
                </a:r>
                <a:r>
                  <a:rPr lang="en-US" altLang="zh-CN" sz="1200" i="0" kern="1200">
                    <a:solidFill>
                      <a:schemeClr val="tx1"/>
                    </a:solidFill>
                    <a:effectLst/>
                    <a:latin typeface="+mn-lt"/>
                    <a:ea typeface="+mn-ea"/>
                    <a:cs typeface="+mn-cs"/>
                  </a:rPr>
                  <a:t>ℒ(𝜃,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如下：</a:t>
                </a:r>
              </a:p>
              <a:p>
                <a:r>
                  <a:rPr lang="en-US" altLang="zh-CN" sz="1200" i="0" kern="1200">
                    <a:solidFill>
                      <a:schemeClr val="tx1"/>
                    </a:solidFill>
                    <a:effectLst/>
                    <a:latin typeface="+mn-lt"/>
                    <a:ea typeface="+mn-ea"/>
                    <a:cs typeface="+mn-cs"/>
                  </a:rPr>
                  <a:t>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〗−𝒫</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(4-6)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en-US" altLang="zh-CN" sz="1200" kern="1200" dirty="0" smtClean="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extLst>
      <p:ext uri="{BB962C8B-B14F-4D97-AF65-F5344CB8AC3E}">
        <p14:creationId xmlns:p14="http://schemas.microsoft.com/office/powerpoint/2010/main" val="130288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其中，连杆的动能项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𝒦</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𝒦</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smtClean="0">
                    <a:solidFill>
                      <a:schemeClr val="tx1"/>
                    </a:solidFill>
                    <a:effectLst/>
                    <a:latin typeface="+mn-lt"/>
                    <a:ea typeface="+mn-ea"/>
                    <a:cs typeface="+mn-cs"/>
                  </a:rPr>
                  <a:t>计算</a:t>
                </a:r>
                <a:r>
                  <a:rPr lang="zh-CN" altLang="en-US" sz="1200" kern="1200" dirty="0" smtClean="0">
                    <a:solidFill>
                      <a:schemeClr val="tx1"/>
                    </a:solidFill>
                    <a:effectLst/>
                    <a:latin typeface="+mn-lt"/>
                    <a:ea typeface="+mn-ea"/>
                    <a:cs typeface="+mn-cs"/>
                  </a:rPr>
                  <a:t>公式见右框，</a:t>
                </a:r>
                <a:r>
                  <a:rPr lang="zh-CN" altLang="zh-CN" sz="1200" kern="1200" dirty="0" smtClean="0">
                    <a:solidFill>
                      <a:schemeClr val="tx1"/>
                    </a:solidFill>
                    <a:effectLst/>
                    <a:latin typeface="+mn-lt"/>
                    <a:ea typeface="+mn-ea"/>
                    <a:cs typeface="+mn-cs"/>
                  </a:rPr>
                  <a:t>连杆的势能项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𝒫</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𝒫</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en-US" sz="1200" kern="1200" dirty="0" smtClean="0">
                    <a:solidFill>
                      <a:schemeClr val="tx1"/>
                    </a:solidFill>
                    <a:effectLst/>
                    <a:latin typeface="+mn-lt"/>
                    <a:ea typeface="+mn-ea"/>
                    <a:cs typeface="+mn-cs"/>
                  </a:rPr>
                  <a:t>也</a:t>
                </a:r>
                <a:r>
                  <a:rPr lang="zh-CN" altLang="zh-CN" sz="1200" kern="1200" dirty="0" smtClean="0">
                    <a:solidFill>
                      <a:schemeClr val="tx1"/>
                    </a:solidFill>
                    <a:effectLst/>
                    <a:latin typeface="+mn-lt"/>
                    <a:ea typeface="+mn-ea"/>
                    <a:cs typeface="+mn-cs"/>
                  </a:rPr>
                  <a:t>可以计算</a:t>
                </a:r>
                <a:r>
                  <a:rPr lang="zh-CN" altLang="en-US" sz="1200" kern="1200" dirty="0" smtClean="0">
                    <a:solidFill>
                      <a:schemeClr val="tx1"/>
                    </a:solidFill>
                    <a:effectLst/>
                    <a:latin typeface="+mn-lt"/>
                    <a:ea typeface="+mn-ea"/>
                    <a:cs typeface="+mn-cs"/>
                  </a:rPr>
                  <a:t>出来。</a:t>
                </a:r>
                <a:endParaRPr lang="en-US" altLang="zh-CN" sz="1200" kern="1200" dirty="0" smtClean="0">
                  <a:solidFill>
                    <a:schemeClr val="tx1"/>
                  </a:solidFill>
                  <a:effectLst/>
                  <a:latin typeface="+mn-lt"/>
                  <a:ea typeface="+mn-ea"/>
                  <a:cs typeface="+mn-cs"/>
                </a:endParaRPr>
              </a:p>
              <a:p>
                <a14:m>
                  <m:oMath xmlns:m="http://schemas.openxmlformats.org/officeDocument/2006/math">
                    <m:r>
                      <a:rPr lang="en-US" altLang="zh-CN" sz="1200" i="1" kern="1200" smtClean="0">
                        <a:solidFill>
                          <a:schemeClr val="tx1"/>
                        </a:solidFill>
                        <a:effectLst/>
                        <a:latin typeface="Cambria Math" panose="02040503050406030204" pitchFamily="18" charset="0"/>
                        <a:ea typeface="+mn-ea"/>
                        <a:cs typeface="+mn-cs"/>
                      </a:rPr>
                      <m:t>ℒ</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nary>
                      <m:naryPr>
                        <m:chr m:val="∑"/>
                        <m:limLoc m:val="undOvr"/>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𝒦</m:t>
                            </m:r>
                          </m:e>
                          <m:sub>
                            <m:r>
                              <a:rPr lang="en-US" altLang="zh-CN" sz="1200" i="1" kern="1200">
                                <a:solidFill>
                                  <a:schemeClr val="tx1"/>
                                </a:solidFill>
                                <a:effectLst/>
                                <a:latin typeface="Cambria Math" panose="02040503050406030204" pitchFamily="18" charset="0"/>
                                <a:ea typeface="+mn-ea"/>
                                <a:cs typeface="+mn-cs"/>
                              </a:rPr>
                              <m:t>𝑖</m:t>
                            </m:r>
                          </m:sub>
                        </m:sSub>
                      </m:e>
                    </m:nary>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𝒫</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(4-6)</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(4-10)</a:t>
                </a:r>
                <a:r>
                  <a:rPr lang="zh-CN" altLang="zh-CN" sz="1200" kern="1200" dirty="0">
                    <a:solidFill>
                      <a:schemeClr val="tx1"/>
                    </a:solidFill>
                    <a:effectLst/>
                    <a:latin typeface="+mn-lt"/>
                    <a:ea typeface="+mn-ea"/>
                    <a:cs typeface="+mn-cs"/>
                  </a:rPr>
                  <a:t>带入</a:t>
                </a:r>
                <a:r>
                  <a:rPr lang="en-US" altLang="zh-CN" sz="1200" kern="1200" dirty="0">
                    <a:solidFill>
                      <a:schemeClr val="tx1"/>
                    </a:solidFill>
                    <a:effectLst/>
                    <a:latin typeface="+mn-lt"/>
                    <a:ea typeface="+mn-ea"/>
                    <a:cs typeface="+mn-cs"/>
                  </a:rPr>
                  <a:t>(4-6)</a:t>
                </a:r>
                <a:r>
                  <a:rPr lang="zh-CN" altLang="zh-CN" sz="1200" kern="1200" dirty="0">
                    <a:solidFill>
                      <a:schemeClr val="tx1"/>
                    </a:solidFill>
                    <a:effectLst/>
                    <a:latin typeface="+mn-lt"/>
                    <a:ea typeface="+mn-ea"/>
                    <a:cs typeface="+mn-cs"/>
                  </a:rPr>
                  <a:t>中，计算</a:t>
                </a:r>
                <a:r>
                  <a:rPr lang="en-US" altLang="zh-CN" sz="1200" kern="1200" dirty="0">
                    <a:solidFill>
                      <a:schemeClr val="tx1"/>
                    </a:solidFill>
                    <a:effectLst/>
                    <a:latin typeface="+mn-lt"/>
                    <a:ea typeface="+mn-ea"/>
                    <a:cs typeface="+mn-cs"/>
                  </a:rPr>
                  <a:t>2R</a:t>
                </a:r>
                <a:r>
                  <a:rPr lang="zh-CN" altLang="zh-CN" sz="1200" kern="1200" dirty="0">
                    <a:solidFill>
                      <a:schemeClr val="tx1"/>
                    </a:solidFill>
                    <a:effectLst/>
                    <a:latin typeface="+mn-lt"/>
                    <a:ea typeface="+mn-ea"/>
                    <a:cs typeface="+mn-cs"/>
                  </a:rPr>
                  <a:t>平面机械臂的拉格朗日方程如式</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𝑑𝑡</m:t>
                        </m:r>
                      </m:den>
                    </m:f>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ℒ</m:t>
                        </m:r>
                      </m:num>
                      <m:den>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acc>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ℒ</m:t>
                        </m:r>
                      </m:num>
                      <m:den>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den>
                    </m:f>
                    <m:r>
                      <a:rPr lang="en-US" altLang="zh-CN" sz="1200" kern="1200">
                        <a:solidFill>
                          <a:schemeClr val="tx1"/>
                        </a:solidFill>
                        <a:effectLst/>
                        <a:latin typeface="Cambria Math" panose="02040503050406030204" pitchFamily="18" charset="0"/>
                        <a:ea typeface="+mn-ea"/>
                        <a:cs typeface="+mn-cs"/>
                      </a:rPr>
                      <m:t> ,  </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 2</m:t>
                    </m:r>
                  </m:oMath>
                </a14:m>
                <a:r>
                  <a:rPr lang="en-US" altLang="zh-CN" sz="1200" kern="1200" dirty="0">
                    <a:solidFill>
                      <a:schemeClr val="tx1"/>
                    </a:solidFill>
                    <a:effectLst/>
                    <a:latin typeface="+mn-lt"/>
                    <a:ea typeface="+mn-ea"/>
                    <a:cs typeface="+mn-cs"/>
                  </a:rPr>
                  <a:t>                  (4-11</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公式</a:t>
                </a:r>
                <a:r>
                  <a:rPr lang="en-US" altLang="zh-CN" sz="1200" kern="1200" dirty="0" smtClean="0">
                    <a:solidFill>
                      <a:schemeClr val="tx1"/>
                    </a:solidFill>
                    <a:effectLst/>
                    <a:latin typeface="+mn-lt"/>
                    <a:ea typeface="+mn-ea"/>
                    <a:cs typeface="+mn-cs"/>
                  </a:rPr>
                  <a:t>(4-11)</a:t>
                </a:r>
                <a:r>
                  <a:rPr lang="zh-CN" altLang="zh-CN" sz="1200" kern="1200" dirty="0" smtClean="0">
                    <a:solidFill>
                      <a:schemeClr val="tx1"/>
                    </a:solidFill>
                    <a:effectLst/>
                    <a:latin typeface="+mn-lt"/>
                    <a:ea typeface="+mn-ea"/>
                    <a:cs typeface="+mn-cs"/>
                  </a:rPr>
                  <a:t>的显示表达为</a:t>
                </a:r>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2</m:t>
                        </m:r>
                      </m:sub>
                    </m:sSub>
                    <m:r>
                      <a:rPr lang="zh-CN" altLang="en-US" sz="1200" i="1" kern="1200" smtClean="0">
                        <a:solidFill>
                          <a:schemeClr val="tx1"/>
                        </a:solidFill>
                        <a:effectLst/>
                        <a:latin typeface="Cambria Math" panose="02040503050406030204" pitchFamily="18" charset="0"/>
                        <a:ea typeface="+mn-ea"/>
                        <a:cs typeface="+mn-cs"/>
                      </a:rPr>
                      <m:t>，</m:t>
                    </m:r>
                  </m:oMath>
                </a14:m>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其中，连杆的动能项</a:t>
                </a:r>
                <a:r>
                  <a:rPr lang="en-US" altLang="zh-CN" sz="1200" i="0" kern="1200">
                    <a:solidFill>
                      <a:schemeClr val="tx1"/>
                    </a:solidFill>
                    <a:effectLst/>
                    <a:latin typeface="+mn-lt"/>
                    <a:ea typeface="+mn-ea"/>
                    <a:cs typeface="+mn-cs"/>
                  </a:rPr>
                  <a:t>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计算</a:t>
                </a:r>
                <a:r>
                  <a:rPr lang="zh-CN" altLang="en-US" sz="1200" kern="1200" dirty="0" smtClean="0">
                    <a:solidFill>
                      <a:schemeClr val="tx1"/>
                    </a:solidFill>
                    <a:effectLst/>
                    <a:latin typeface="+mn-lt"/>
                    <a:ea typeface="+mn-ea"/>
                    <a:cs typeface="+mn-cs"/>
                  </a:rPr>
                  <a:t>公式见右框，</a:t>
                </a:r>
                <a:r>
                  <a:rPr lang="zh-CN" altLang="zh-CN" sz="1200" kern="1200" dirty="0" smtClean="0">
                    <a:solidFill>
                      <a:schemeClr val="tx1"/>
                    </a:solidFill>
                    <a:effectLst/>
                    <a:latin typeface="+mn-lt"/>
                    <a:ea typeface="+mn-ea"/>
                    <a:cs typeface="+mn-cs"/>
                  </a:rPr>
                  <a:t>连杆的势能项</a:t>
                </a:r>
                <a:r>
                  <a:rPr lang="en-US" altLang="zh-CN" sz="1200" i="0" kern="1200">
                    <a:solidFill>
                      <a:schemeClr val="tx1"/>
                    </a:solidFill>
                    <a:effectLst/>
                    <a:latin typeface="+mn-lt"/>
                    <a:ea typeface="+mn-ea"/>
                    <a:cs typeface="+mn-cs"/>
                  </a:rPr>
                  <a:t>𝒫</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𝒫</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en-US" sz="1200" kern="1200" dirty="0" smtClean="0">
                    <a:solidFill>
                      <a:schemeClr val="tx1"/>
                    </a:solidFill>
                    <a:effectLst/>
                    <a:latin typeface="+mn-lt"/>
                    <a:ea typeface="+mn-ea"/>
                    <a:cs typeface="+mn-cs"/>
                  </a:rPr>
                  <a:t>也</a:t>
                </a:r>
                <a:r>
                  <a:rPr lang="zh-CN" altLang="zh-CN" sz="1200" kern="1200" dirty="0" smtClean="0">
                    <a:solidFill>
                      <a:schemeClr val="tx1"/>
                    </a:solidFill>
                    <a:effectLst/>
                    <a:latin typeface="+mn-lt"/>
                    <a:ea typeface="+mn-ea"/>
                    <a:cs typeface="+mn-cs"/>
                  </a:rPr>
                  <a:t>可以计算</a:t>
                </a:r>
                <a:r>
                  <a:rPr lang="zh-CN" altLang="en-US" sz="1200" kern="1200" dirty="0" smtClean="0">
                    <a:solidFill>
                      <a:schemeClr val="tx1"/>
                    </a:solidFill>
                    <a:effectLst/>
                    <a:latin typeface="+mn-lt"/>
                    <a:ea typeface="+mn-ea"/>
                    <a:cs typeface="+mn-cs"/>
                  </a:rPr>
                  <a:t>出来。</a:t>
                </a:r>
                <a:endParaRPr lang="en-US" altLang="zh-CN" sz="1200" kern="1200" dirty="0" smtClean="0">
                  <a:solidFill>
                    <a:schemeClr val="tx1"/>
                  </a:solidFill>
                  <a:effectLst/>
                  <a:latin typeface="+mn-lt"/>
                  <a:ea typeface="+mn-ea"/>
                  <a:cs typeface="+mn-cs"/>
                </a:endParaRPr>
              </a:p>
              <a:p>
                <a:r>
                  <a:rPr lang="en-US" altLang="zh-CN" sz="1200" i="0" kern="1200" smtClean="0">
                    <a:solidFill>
                      <a:schemeClr val="tx1"/>
                    </a:solidFill>
                    <a:effectLst/>
                    <a:latin typeface="+mn-lt"/>
                    <a:ea typeface="+mn-ea"/>
                    <a:cs typeface="+mn-cs"/>
                  </a:rPr>
                  <a:t>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〗−𝒫</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(4-6)</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(4-8)</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(4-10)</a:t>
                </a:r>
                <a:r>
                  <a:rPr lang="zh-CN" altLang="zh-CN" sz="1200" kern="1200" dirty="0">
                    <a:solidFill>
                      <a:schemeClr val="tx1"/>
                    </a:solidFill>
                    <a:effectLst/>
                    <a:latin typeface="+mn-lt"/>
                    <a:ea typeface="+mn-ea"/>
                    <a:cs typeface="+mn-cs"/>
                  </a:rPr>
                  <a:t>带入</a:t>
                </a:r>
                <a:r>
                  <a:rPr lang="en-US" altLang="zh-CN" sz="1200" kern="1200" dirty="0">
                    <a:solidFill>
                      <a:schemeClr val="tx1"/>
                    </a:solidFill>
                    <a:effectLst/>
                    <a:latin typeface="+mn-lt"/>
                    <a:ea typeface="+mn-ea"/>
                    <a:cs typeface="+mn-cs"/>
                  </a:rPr>
                  <a:t>(4-6)</a:t>
                </a:r>
                <a:r>
                  <a:rPr lang="zh-CN" altLang="zh-CN" sz="1200" kern="1200" dirty="0">
                    <a:solidFill>
                      <a:schemeClr val="tx1"/>
                    </a:solidFill>
                    <a:effectLst/>
                    <a:latin typeface="+mn-lt"/>
                    <a:ea typeface="+mn-ea"/>
                    <a:cs typeface="+mn-cs"/>
                  </a:rPr>
                  <a:t>中，计算</a:t>
                </a:r>
                <a:r>
                  <a:rPr lang="en-US" altLang="zh-CN" sz="1200" kern="1200" dirty="0">
                    <a:solidFill>
                      <a:schemeClr val="tx1"/>
                    </a:solidFill>
                    <a:effectLst/>
                    <a:latin typeface="+mn-lt"/>
                    <a:ea typeface="+mn-ea"/>
                    <a:cs typeface="+mn-cs"/>
                  </a:rPr>
                  <a:t>2R</a:t>
                </a:r>
                <a:r>
                  <a:rPr lang="zh-CN" altLang="zh-CN" sz="1200" kern="1200" dirty="0">
                    <a:solidFill>
                      <a:schemeClr val="tx1"/>
                    </a:solidFill>
                    <a:effectLst/>
                    <a:latin typeface="+mn-lt"/>
                    <a:ea typeface="+mn-ea"/>
                    <a:cs typeface="+mn-cs"/>
                  </a:rPr>
                  <a:t>平面机械臂的拉格朗日方程如式</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a:t>
                </a:r>
              </a:p>
              <a:p>
                <a:r>
                  <a:rPr lang="en-US" altLang="zh-CN" sz="1200" i="0" kern="1200">
                    <a:solidFill>
                      <a:schemeClr val="tx1"/>
                    </a:solidFill>
                    <a:effectLst/>
                    <a:latin typeface="+mn-lt"/>
                    <a:ea typeface="+mn-ea"/>
                    <a:cs typeface="+mn-cs"/>
                  </a:rPr>
                  <a:t>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𝑑𝑡</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  𝑖=1, 2</a:t>
                </a:r>
                <a:r>
                  <a:rPr lang="en-US" altLang="zh-CN" sz="1200" kern="1200" dirty="0">
                    <a:solidFill>
                      <a:schemeClr val="tx1"/>
                    </a:solidFill>
                    <a:effectLst/>
                    <a:latin typeface="+mn-lt"/>
                    <a:ea typeface="+mn-ea"/>
                    <a:cs typeface="+mn-cs"/>
                  </a:rPr>
                  <a:t>                  (4-11</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公式</a:t>
                </a:r>
                <a:r>
                  <a:rPr lang="en-US" altLang="zh-CN" sz="1200" kern="1200" dirty="0" smtClean="0">
                    <a:solidFill>
                      <a:schemeClr val="tx1"/>
                    </a:solidFill>
                    <a:effectLst/>
                    <a:latin typeface="+mn-lt"/>
                    <a:ea typeface="+mn-ea"/>
                    <a:cs typeface="+mn-cs"/>
                  </a:rPr>
                  <a:t>(4-11)</a:t>
                </a:r>
                <a:r>
                  <a:rPr lang="zh-CN" altLang="zh-CN" sz="1200" kern="1200" dirty="0" smtClean="0">
                    <a:solidFill>
                      <a:schemeClr val="tx1"/>
                    </a:solidFill>
                    <a:effectLst/>
                    <a:latin typeface="+mn-lt"/>
                    <a:ea typeface="+mn-ea"/>
                    <a:cs typeface="+mn-cs"/>
                  </a:rPr>
                  <a:t>的显示表达为</a:t>
                </a:r>
                <a:r>
                  <a:rPr lang="en-US" altLang="zh-CN" sz="1200" i="0" kern="1200">
                    <a:solidFill>
                      <a:schemeClr val="tx1"/>
                    </a:solidFill>
                    <a:effectLst/>
                    <a:latin typeface="+mn-lt"/>
                    <a:ea typeface="+mn-ea"/>
                    <a:cs typeface="+mn-cs"/>
                  </a:rPr>
                  <a:t>𝜏</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en-US" sz="1200" i="0" kern="1200" smtClean="0">
                    <a:solidFill>
                      <a:schemeClr val="tx1"/>
                    </a:solidFill>
                    <a:effectLst/>
                    <a:latin typeface="Cambria Math" panose="02040503050406030204" pitchFamily="18" charset="0"/>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extLst>
      <p:ext uri="{BB962C8B-B14F-4D97-AF65-F5344CB8AC3E}">
        <p14:creationId xmlns:p14="http://schemas.microsoft.com/office/powerpoint/2010/main" val="3002393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各项进行合并整理，给出拉格朗日动力学方程关节空间的一般表达形式，如下：</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r>
                      <a:rPr lang="en-US" altLang="zh-CN" sz="1200" b="1" i="1" kern="1200">
                        <a:solidFill>
                          <a:schemeClr val="tx1"/>
                        </a:solidFill>
                        <a:effectLst/>
                        <a:latin typeface="Cambria Math" panose="02040503050406030204" pitchFamily="18" charset="0"/>
                        <a:ea typeface="+mn-ea"/>
                        <a:cs typeface="+mn-cs"/>
                      </a:rPr>
                      <m:t>𝒈</m:t>
                    </m:r>
                    <m:r>
                      <a:rPr lang="en-US" altLang="zh-CN" sz="1200" b="1"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b="1"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(4-12)</a:t>
                </a:r>
                <a:endParaRPr lang="en-US" altLang="zh-CN" sz="1200" i="1" kern="1200" dirty="0" smtClean="0">
                  <a:solidFill>
                    <a:schemeClr val="tx1"/>
                  </a:solidFill>
                  <a:effectLst/>
                  <a:latin typeface="Cambria Math" panose="02040503050406030204" pitchFamily="18" charset="0"/>
                  <a:ea typeface="+mn-ea"/>
                  <a:cs typeface="+mn-cs"/>
                </a:endParaRPr>
              </a:p>
              <a:p>
                <a14:m>
                  <m:oMath xmlns:m="http://schemas.openxmlformats.org/officeDocument/2006/math">
                    <m:r>
                      <a:rPr lang="en-US" altLang="zh-CN" sz="1200" i="1" kern="1200" smtClean="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为对称正定的质量矩阵，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𝑐</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oMath>
                </a14:m>
                <a:r>
                  <a:rPr lang="zh-CN" altLang="zh-CN" sz="1200" kern="1200" dirty="0">
                    <a:solidFill>
                      <a:schemeClr val="tx1"/>
                    </a:solidFill>
                    <a:effectLst/>
                    <a:latin typeface="+mn-lt"/>
                    <a:ea typeface="+mn-ea"/>
                    <a:cs typeface="+mn-cs"/>
                  </a:rPr>
                  <a:t>为包含向心力和科氏力的向量，</a:t>
                </a:r>
                <a14:m>
                  <m:oMath xmlns:m="http://schemas.openxmlformats.org/officeDocument/2006/math">
                    <m:r>
                      <a:rPr lang="en-US" altLang="zh-CN" sz="1200" b="1" i="1" kern="1200">
                        <a:solidFill>
                          <a:schemeClr val="tx1"/>
                        </a:solidFill>
                        <a:effectLst/>
                        <a:latin typeface="Cambria Math" panose="02040503050406030204" pitchFamily="18" charset="0"/>
                        <a:ea typeface="+mn-ea"/>
                        <a:cs typeface="+mn-cs"/>
                      </a:rPr>
                      <m:t>𝒈</m:t>
                    </m:r>
                    <m:d>
                      <m:dPr>
                        <m:ctrlPr>
                          <a:rPr lang="zh-CN" altLang="zh-CN" sz="1200" b="1"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为包含重力矩的向量。</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对于公式</a:t>
                </a:r>
                <a:r>
                  <a:rPr lang="en-US" altLang="zh-CN" sz="1200" kern="1200" dirty="0">
                    <a:solidFill>
                      <a:schemeClr val="tx1"/>
                    </a:solidFill>
                    <a:effectLst/>
                    <a:latin typeface="+mn-lt"/>
                    <a:ea typeface="+mn-ea"/>
                    <a:cs typeface="+mn-cs"/>
                  </a:rPr>
                  <a:t>(4-4)</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11</m:t>
                                  </m:r>
                                </m:sub>
                              </m:sSub>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12</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21</m:t>
                                  </m:r>
                                </m:sub>
                              </m:sSub>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22</m:t>
                                  </m:r>
                                </m:sub>
                              </m:sSub>
                            </m:e>
                          </m:mr>
                        </m:m>
                      </m:e>
                    </m:d>
                  </m:oMath>
                </a14:m>
                <a:r>
                  <a:rPr lang="zh-CN" altLang="zh-CN" sz="1200" kern="1200" dirty="0">
                    <a:solidFill>
                      <a:schemeClr val="tx1"/>
                    </a:solidFill>
                    <a:effectLst/>
                    <a:latin typeface="+mn-lt"/>
                    <a:ea typeface="+mn-ea"/>
                    <a:cs typeface="+mn-cs"/>
                  </a:rPr>
                  <a:t>，可以看出，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𝑖𝑖</m:t>
                        </m:r>
                      </m:sub>
                    </m:sSub>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acc>
                  </m:oMath>
                </a14:m>
                <a:r>
                  <a:rPr lang="zh-CN" altLang="zh-CN" sz="1200" kern="1200" dirty="0">
                    <a:solidFill>
                      <a:schemeClr val="tx1"/>
                    </a:solidFill>
                    <a:effectLst/>
                    <a:latin typeface="+mn-lt"/>
                    <a:ea typeface="+mn-ea"/>
                    <a:cs typeface="+mn-cs"/>
                  </a:rPr>
                  <a:t>为加速度施加在关节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上的惯性力，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11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22</m:t>
                        </m:r>
                      </m:sub>
                    </m:sSub>
                  </m:oMath>
                </a14:m>
                <a:r>
                  <a:rPr lang="zh-CN" altLang="zh-CN" sz="1200" kern="1200" dirty="0">
                    <a:solidFill>
                      <a:schemeClr val="tx1"/>
                    </a:solidFill>
                    <a:effectLst/>
                    <a:latin typeface="+mn-lt"/>
                    <a:ea typeface="+mn-ea"/>
                    <a:cs typeface="+mn-cs"/>
                  </a:rPr>
                  <a:t>对应的是关节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的有效惯量，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𝑖𝑗</m:t>
                        </m:r>
                      </m:sub>
                    </m:sSub>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𝑗</m:t>
                            </m:r>
                          </m:sub>
                        </m:sSub>
                      </m:e>
                    </m:acc>
                  </m:oMath>
                </a14:m>
                <a:r>
                  <a:rPr lang="zh-CN" altLang="zh-CN" sz="1200" kern="1200" dirty="0">
                    <a:solidFill>
                      <a:schemeClr val="tx1"/>
                    </a:solidFill>
                    <a:effectLst/>
                    <a:latin typeface="+mn-lt"/>
                    <a:ea typeface="+mn-ea"/>
                    <a:cs typeface="+mn-cs"/>
                  </a:rPr>
                  <a:t>为关节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的加速度在关节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上产生的耦合力，</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𝑖𝑗</m:t>
                        </m:r>
                      </m:sub>
                    </m:sSub>
                  </m:oMath>
                </a14:m>
                <a:r>
                  <a:rPr lang="zh-CN" altLang="zh-CN" sz="1200" kern="1200" dirty="0">
                    <a:solidFill>
                      <a:schemeClr val="tx1"/>
                    </a:solidFill>
                    <a:effectLst/>
                    <a:latin typeface="+mn-lt"/>
                    <a:ea typeface="+mn-ea"/>
                    <a:cs typeface="+mn-cs"/>
                  </a:rPr>
                  <a:t>对应的是关节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对关节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的耦合惯量。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𝑐</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oMath>
                </a14:m>
                <a:r>
                  <a:rPr lang="zh-CN" altLang="zh-CN" sz="1200" kern="1200" dirty="0">
                    <a:solidFill>
                      <a:schemeClr val="tx1"/>
                    </a:solidFill>
                    <a:effectLst/>
                    <a:latin typeface="+mn-lt"/>
                    <a:ea typeface="+mn-ea"/>
                    <a:cs typeface="+mn-cs"/>
                  </a:rPr>
                  <a:t>中包含</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acc>
                      </m:e>
                      <m:sup>
                        <m:r>
                          <a:rPr lang="en-US" altLang="zh-CN" sz="1200" i="1" kern="1200">
                            <a:solidFill>
                              <a:schemeClr val="tx1"/>
                            </a:solidFill>
                            <a:effectLst/>
                            <a:latin typeface="Cambria Math" panose="02040503050406030204" pitchFamily="18" charset="0"/>
                            <a:ea typeface="+mn-ea"/>
                            <a:cs typeface="+mn-cs"/>
                          </a:rPr>
                          <m:t>2</m:t>
                        </m:r>
                      </m:sup>
                    </m:sSup>
                  </m:oMath>
                </a14:m>
                <a:r>
                  <a:rPr lang="zh-CN" altLang="zh-CN" sz="1200" kern="1200" dirty="0">
                    <a:solidFill>
                      <a:schemeClr val="tx1"/>
                    </a:solidFill>
                    <a:effectLst/>
                    <a:latin typeface="+mn-lt"/>
                    <a:ea typeface="+mn-ea"/>
                    <a:cs typeface="+mn-cs"/>
                  </a:rPr>
                  <a:t>的二次项为关节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的速度在关节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上产生的向心力，而包含</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acc>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𝑗</m:t>
                            </m:r>
                          </m:sub>
                        </m:sSub>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j</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的二次项为科氏力。</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4-4</a:t>
                </a:r>
                <a:r>
                  <a:rPr lang="zh-CN" altLang="zh-CN" sz="1200" kern="1200" dirty="0">
                    <a:solidFill>
                      <a:schemeClr val="tx1"/>
                    </a:solidFill>
                    <a:effectLst/>
                    <a:latin typeface="+mn-lt"/>
                    <a:ea typeface="+mn-ea"/>
                    <a:cs typeface="+mn-cs"/>
                  </a:rPr>
                  <a:t>）即为拉格朗日逆动力学公式，拉格朗日正动力学公式可表达为：</a:t>
                </a:r>
              </a:p>
              <a:p>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𝑀</m:t>
                        </m:r>
                      </m:e>
                      <m:sup>
                        <m:r>
                          <a:rPr lang="en-US" altLang="zh-CN" sz="1200" i="1" kern="1200">
                            <a:solidFill>
                              <a:schemeClr val="tx1"/>
                            </a:solidFill>
                            <a:effectLst/>
                            <a:latin typeface="Cambria Math" panose="02040503050406030204" pitchFamily="18" charset="0"/>
                            <a:ea typeface="+mn-ea"/>
                            <a:cs typeface="+mn-cs"/>
                          </a:rPr>
                          <m:t>−1</m:t>
                        </m:r>
                      </m:sup>
                    </m:sSup>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r>
                      <a:rPr lang="en-US" altLang="zh-CN" sz="1200" i="1" kern="1200">
                        <a:solidFill>
                          <a:schemeClr val="tx1"/>
                        </a:solidFill>
                        <a:effectLst/>
                        <a:latin typeface="Cambria Math" panose="02040503050406030204" pitchFamily="18" charset="0"/>
                        <a:ea typeface="+mn-ea"/>
                        <a:cs typeface="+mn-cs"/>
                      </a:rPr>
                      <m:t>+</m:t>
                    </m:r>
                    <m:r>
                      <a:rPr lang="en-US" altLang="zh-CN" sz="1200" b="1" i="1" kern="1200">
                        <a:solidFill>
                          <a:schemeClr val="tx1"/>
                        </a:solidFill>
                        <a:effectLst/>
                        <a:latin typeface="Cambria Math" panose="02040503050406030204" pitchFamily="18" charset="0"/>
                        <a:ea typeface="+mn-ea"/>
                        <a:cs typeface="+mn-cs"/>
                      </a:rPr>
                      <m:t>𝒈</m:t>
                    </m:r>
                    <m:r>
                      <a:rPr lang="en-US" altLang="zh-CN" sz="1200" b="1"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b="1"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en-US" altLang="zh-CN" sz="1200" i="0" kern="1200" smtClean="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为对称正定的质量矩阵，</a:t>
                </a:r>
                <a:r>
                  <a:rPr lang="en-US" altLang="zh-CN" sz="1200" i="0" kern="1200">
                    <a:solidFill>
                      <a:schemeClr val="tx1"/>
                    </a:solidFill>
                    <a:effectLst/>
                    <a:latin typeface="+mn-lt"/>
                    <a:ea typeface="+mn-ea"/>
                    <a:cs typeface="+mn-cs"/>
                  </a:rPr>
                  <a:t>𝑐</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为包含向心力和科氏力的向量，</a:t>
                </a:r>
                <a:r>
                  <a:rPr lang="en-US" altLang="zh-CN" sz="1200" b="1" i="0" kern="1200">
                    <a:solidFill>
                      <a:schemeClr val="tx1"/>
                    </a:solidFill>
                    <a:effectLst/>
                    <a:latin typeface="+mn-lt"/>
                    <a:ea typeface="+mn-ea"/>
                    <a:cs typeface="+mn-cs"/>
                  </a:rPr>
                  <a:t>𝒈</a:t>
                </a:r>
                <a:r>
                  <a:rPr lang="zh-CN" altLang="zh-CN" sz="1200" b="1"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en-US" altLang="zh-CN" sz="1200" b="1"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为包含重力矩的向量。</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对于公式</a:t>
                </a:r>
                <a:r>
                  <a:rPr lang="en-US" altLang="zh-CN" sz="1200" kern="1200" dirty="0">
                    <a:solidFill>
                      <a:schemeClr val="tx1"/>
                    </a:solidFill>
                    <a:effectLst/>
                    <a:latin typeface="+mn-lt"/>
                    <a:ea typeface="+mn-ea"/>
                    <a:cs typeface="+mn-cs"/>
                  </a:rPr>
                  <a:t>(4-4)</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11&amp;𝑀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21&amp;𝑀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22 )]</a:t>
                </a:r>
                <a:r>
                  <a:rPr lang="zh-CN" altLang="zh-CN" sz="1200" kern="1200" dirty="0">
                    <a:solidFill>
                      <a:schemeClr val="tx1"/>
                    </a:solidFill>
                    <a:effectLst/>
                    <a:latin typeface="+mn-lt"/>
                    <a:ea typeface="+mn-ea"/>
                    <a:cs typeface="+mn-cs"/>
                  </a:rPr>
                  <a:t>，可以看出，</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为加速度施加在关节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上的惯性力，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对应的是关节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的有效惯量，</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的加速度在关节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上产生的耦合力，</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𝑖𝑗</a:t>
                </a:r>
                <a:r>
                  <a:rPr lang="zh-CN" altLang="zh-CN" sz="1200" kern="1200" dirty="0">
                    <a:solidFill>
                      <a:schemeClr val="tx1"/>
                    </a:solidFill>
                    <a:effectLst/>
                    <a:latin typeface="+mn-lt"/>
                    <a:ea typeface="+mn-ea"/>
                    <a:cs typeface="+mn-cs"/>
                  </a:rPr>
                  <a:t>对应的是关节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对关节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的耦合惯量。</a:t>
                </a:r>
                <a:r>
                  <a:rPr lang="en-US" altLang="zh-CN" sz="1200" i="0" kern="1200">
                    <a:solidFill>
                      <a:schemeClr val="tx1"/>
                    </a:solidFill>
                    <a:effectLst/>
                    <a:latin typeface="+mn-lt"/>
                    <a:ea typeface="+mn-ea"/>
                    <a:cs typeface="+mn-cs"/>
                  </a:rPr>
                  <a:t>𝑐</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中包含</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的二次项为关节</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的速度在关节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上产生的向心力，而包含</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(𝑖≠j)</a:t>
                </a:r>
                <a:r>
                  <a:rPr lang="zh-CN" altLang="zh-CN" sz="1200" kern="1200" dirty="0">
                    <a:solidFill>
                      <a:schemeClr val="tx1"/>
                    </a:solidFill>
                    <a:effectLst/>
                    <a:latin typeface="+mn-lt"/>
                    <a:ea typeface="+mn-ea"/>
                    <a:cs typeface="+mn-cs"/>
                  </a:rPr>
                  <a:t>的二次项为科氏力。</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4-4</a:t>
                </a:r>
                <a:r>
                  <a:rPr lang="zh-CN" altLang="zh-CN" sz="1200" kern="1200" dirty="0">
                    <a:solidFill>
                      <a:schemeClr val="tx1"/>
                    </a:solidFill>
                    <a:effectLst/>
                    <a:latin typeface="+mn-lt"/>
                    <a:ea typeface="+mn-ea"/>
                    <a:cs typeface="+mn-cs"/>
                  </a:rPr>
                  <a:t>）即为拉格朗日逆动力学公式，拉格朗日正动力学公式可表达为：</a:t>
                </a:r>
              </a:p>
              <a:p>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𝜏−ℎ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)=𝑐</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b="1" i="0" kern="1200">
                    <a:solidFill>
                      <a:schemeClr val="tx1"/>
                    </a:solidFill>
                    <a:effectLst/>
                    <a:latin typeface="+mn-lt"/>
                    <a:ea typeface="+mn-ea"/>
                    <a:cs typeface="+mn-cs"/>
                  </a:rPr>
                  <a:t>𝒈(</a:t>
                </a:r>
                <a:r>
                  <a:rPr lang="en-US" altLang="zh-CN" sz="1200" i="0" kern="1200">
                    <a:solidFill>
                      <a:schemeClr val="tx1"/>
                    </a:solidFill>
                    <a:effectLst/>
                    <a:latin typeface="+mn-lt"/>
                    <a:ea typeface="+mn-ea"/>
                    <a:cs typeface="+mn-cs"/>
                  </a:rPr>
                  <a:t>𝜃</a:t>
                </a:r>
                <a:r>
                  <a:rPr lang="en-US" altLang="zh-CN" sz="1200" b="1"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extLst>
      <p:ext uri="{BB962C8B-B14F-4D97-AF65-F5344CB8AC3E}">
        <p14:creationId xmlns:p14="http://schemas.microsoft.com/office/powerpoint/2010/main" val="879623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71450" indent="-171450">
              <a:lnSpc>
                <a:spcPct val="150000"/>
              </a:lnSpc>
              <a:buFont typeface="Wingdings" panose="05000000000000000000" pitchFamily="2" charset="2"/>
              <a:buChar char="u"/>
            </a:pPr>
            <a:r>
              <a:rPr lang="zh-CN" altLang="en-US" sz="1200" dirty="0" smtClean="0">
                <a:latin typeface="Arial" panose="020B0604020202020204" pitchFamily="34" charset="0"/>
                <a:ea typeface="微软雅黑" panose="020B0503020204020204" charset="-122"/>
                <a:sym typeface="+mn-ea"/>
              </a:rPr>
              <a:t>依据牛顿第二运动定律，建立的力平衡方程称为牛顿方程；而欧拉方程建立在角动量定理的基础上，用绕质心旋转角速度、角加速度去描述这个三维空间旋转运动。将两个公式组合起来去解决机器人的正逆动力学求解的方程被称为牛顿</a:t>
            </a:r>
            <a:r>
              <a:rPr lang="en-US" altLang="zh-CN" sz="1200" dirty="0" smtClean="0">
                <a:latin typeface="Arial" panose="020B0604020202020204" pitchFamily="34" charset="0"/>
                <a:ea typeface="微软雅黑" panose="020B0503020204020204" charset="-122"/>
                <a:sym typeface="+mn-ea"/>
              </a:rPr>
              <a:t>-</a:t>
            </a:r>
            <a:r>
              <a:rPr lang="zh-CN" altLang="en-US" sz="1200" dirty="0" smtClean="0">
                <a:latin typeface="Arial" panose="020B0604020202020204" pitchFamily="34" charset="0"/>
                <a:ea typeface="微软雅黑" panose="020B0503020204020204" charset="-122"/>
                <a:sym typeface="+mn-ea"/>
              </a:rPr>
              <a:t>欧拉方程。</a:t>
            </a:r>
            <a:endParaRPr lang="en-US" altLang="zh-CN" sz="12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u"/>
            </a:pPr>
            <a:r>
              <a:rPr lang="zh-CN" altLang="en-US" sz="1200" dirty="0" smtClean="0">
                <a:latin typeface="Arial" panose="020B0604020202020204" pitchFamily="34" charset="0"/>
                <a:ea typeface="微软雅黑" panose="020B0503020204020204" charset="-122"/>
              </a:rPr>
              <a:t>我们先介绍</a:t>
            </a:r>
            <a:r>
              <a:rPr lang="zh-CN" altLang="zh-CN" sz="1200" dirty="0" smtClean="0">
                <a:latin typeface="Arial" panose="020B0604020202020204" pitchFamily="34" charset="0"/>
                <a:ea typeface="微软雅黑" panose="020B0503020204020204" charset="-122"/>
              </a:rPr>
              <a:t>基于矢量三角形法的递归牛顿</a:t>
            </a:r>
            <a:r>
              <a:rPr lang="en-US" altLang="zh-CN" sz="1200" dirty="0" smtClean="0">
                <a:latin typeface="Arial" panose="020B0604020202020204" pitchFamily="34" charset="0"/>
                <a:ea typeface="微软雅黑" panose="020B0503020204020204" charset="-122"/>
              </a:rPr>
              <a:t>-</a:t>
            </a:r>
            <a:r>
              <a:rPr lang="zh-CN" altLang="zh-CN" sz="1200" dirty="0" smtClean="0">
                <a:latin typeface="Arial" panose="020B0604020202020204" pitchFamily="34" charset="0"/>
                <a:ea typeface="微软雅黑" panose="020B0503020204020204" charset="-122"/>
              </a:rPr>
              <a:t>欧拉动力学方法</a:t>
            </a:r>
            <a:r>
              <a:rPr lang="en-US" altLang="zh-CN" sz="1200" dirty="0" smtClean="0">
                <a:latin typeface="Arial" panose="020B0604020202020204" pitchFamily="34" charset="0"/>
                <a:ea typeface="微软雅黑" panose="020B0503020204020204" charset="-122"/>
              </a:rPr>
              <a:t>(RNEA)</a:t>
            </a:r>
            <a:endParaRPr lang="zh-CN" altLang="en-US" sz="1200" dirty="0" smtClean="0">
              <a:latin typeface="Arial" panose="020B0604020202020204" pitchFamily="34" charset="0"/>
              <a:ea typeface="微软雅黑" panose="020B0503020204020204" charset="-122"/>
              <a:sym typeface="+mn-ea"/>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extLst>
      <p:ext uri="{BB962C8B-B14F-4D97-AF65-F5344CB8AC3E}">
        <p14:creationId xmlns:p14="http://schemas.microsoft.com/office/powerpoint/2010/main" val="415970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回顾线速度，线加速度；角速度，角加速度的定义以及惯性张量。</a:t>
                </a:r>
                <a:endParaRPr lang="en-US" altLang="zh-CN" dirty="0" smtClean="0"/>
              </a:p>
              <a:p>
                <a:endParaRPr lang="en-US" altLang="zh-CN" dirty="0" smtClean="0"/>
              </a:p>
              <a:p>
                <a:r>
                  <a:rPr lang="zh-CN" altLang="en-US" dirty="0" smtClean="0"/>
                  <a:t>由于实际的机器人是含有重量的，因此在转动的过程中，需要考虑机器人的惯性张量（表征物体质量分布）。</a:t>
                </a:r>
                <a:endParaRPr lang="en-US" altLang="zh-CN" dirty="0" smtClean="0"/>
              </a:p>
              <a:p>
                <a:r>
                  <a:rPr lang="zh-CN" altLang="zh-CN" sz="1200" kern="1200" dirty="0" smtClean="0">
                    <a:solidFill>
                      <a:schemeClr val="tx1"/>
                    </a:solidFill>
                    <a:effectLst/>
                    <a:latin typeface="+mn-lt"/>
                    <a:ea typeface="+mn-ea"/>
                    <a:cs typeface="+mn-cs"/>
                  </a:rPr>
                  <a:t>假设刚性连杆的质量为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𝑐</m:t>
                        </m:r>
                      </m:sub>
                    </m:sSub>
                  </m:oMath>
                </a14:m>
                <a:r>
                  <a:rPr lang="zh-CN" altLang="zh-CN" sz="1200" kern="1200" dirty="0">
                    <a:solidFill>
                      <a:schemeClr val="tx1"/>
                    </a:solidFill>
                    <a:effectLst/>
                    <a:latin typeface="+mn-lt"/>
                    <a:ea typeface="+mn-ea"/>
                    <a:cs typeface="+mn-cs"/>
                  </a:rPr>
                  <a:t>作用在连杆质心上使它做直线运动，其线加速度为</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𝑐</m:t>
                            </m:r>
                          </m:sub>
                        </m:sSub>
                      </m:e>
                    </m:acc>
                  </m:oMath>
                </a14:m>
                <a:r>
                  <a:rPr lang="zh-CN" altLang="zh-CN" sz="1200" kern="1200" dirty="0">
                    <a:solidFill>
                      <a:schemeClr val="tx1"/>
                    </a:solidFill>
                    <a:effectLst/>
                    <a:latin typeface="+mn-lt"/>
                    <a:ea typeface="+mn-ea"/>
                    <a:cs typeface="+mn-cs"/>
                  </a:rPr>
                  <a:t>，依据牛顿第二运动定律，建立的力平衡方程称为牛顿方程：</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𝑐</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𝑐</m:t>
                            </m:r>
                          </m:sub>
                        </m:sSub>
                      </m:e>
                    </m:acc>
                  </m:oMath>
                </a14:m>
                <a:r>
                  <a:rPr lang="en-US" altLang="zh-CN" sz="1200" kern="1200" dirty="0">
                    <a:solidFill>
                      <a:schemeClr val="tx1"/>
                    </a:solidFill>
                    <a:effectLst/>
                    <a:latin typeface="+mn-lt"/>
                    <a:ea typeface="+mn-ea"/>
                    <a:cs typeface="+mn-cs"/>
                  </a:rPr>
                  <a:t>                         (4-14)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而欧拉方程建立在角动量定理的基础上，用于对刚体转动进行描述。对于绕质心旋转角速度为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，角加速度为</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oMath>
                </a14:m>
                <a:r>
                  <a:rPr lang="zh-CN" altLang="zh-CN" sz="1200" kern="1200" dirty="0">
                    <a:solidFill>
                      <a:schemeClr val="tx1"/>
                    </a:solidFill>
                    <a:effectLst/>
                    <a:latin typeface="+mn-lt"/>
                    <a:ea typeface="+mn-ea"/>
                    <a:cs typeface="+mn-cs"/>
                  </a:rPr>
                  <a:t>的刚体，描述其在三维空间旋转运动，欧拉方程如下：</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𝑐</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𝑐</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𝑐</m:t>
                        </m:r>
                      </m:sub>
                    </m:sSub>
                    <m:r>
                      <a:rPr lang="en-US" altLang="zh-CN" sz="1200" i="1" kern="1200">
                        <a:solidFill>
                          <a:schemeClr val="tx1"/>
                        </a:solidFill>
                        <a:effectLst/>
                        <a:latin typeface="Cambria Math" panose="02040503050406030204" pitchFamily="18" charset="0"/>
                        <a:ea typeface="+mn-ea"/>
                        <a:cs typeface="+mn-cs"/>
                      </a:rPr>
                      <m:t>𝜔</m:t>
                    </m:r>
                  </m:oMath>
                </a14:m>
                <a:r>
                  <a:rPr lang="en-US" altLang="zh-CN" sz="1200" kern="1200" dirty="0">
                    <a:solidFill>
                      <a:schemeClr val="tx1"/>
                    </a:solidFill>
                    <a:effectLst/>
                    <a:latin typeface="+mn-lt"/>
                    <a:ea typeface="+mn-ea"/>
                    <a:cs typeface="+mn-cs"/>
                  </a:rPr>
                  <a:t>                    (4-15)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𝑐</m:t>
                        </m:r>
                      </m:sub>
                    </m:sSub>
                  </m:oMath>
                </a14:m>
                <a:r>
                  <a:rPr lang="zh-CN" altLang="zh-CN" sz="1200" kern="1200" dirty="0">
                    <a:solidFill>
                      <a:schemeClr val="tx1"/>
                    </a:solidFill>
                    <a:effectLst/>
                    <a:latin typeface="+mn-lt"/>
                    <a:ea typeface="+mn-ea"/>
                    <a:cs typeface="+mn-cs"/>
                  </a:rPr>
                  <a:t>为作用在刚体质心上的外力矩，</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𝑐</m:t>
                        </m:r>
                      </m:sub>
                    </m:sSub>
                  </m:oMath>
                </a14:m>
                <a:r>
                  <a:rPr lang="zh-CN" altLang="zh-CN" sz="1200" kern="1200" dirty="0">
                    <a:solidFill>
                      <a:schemeClr val="tx1"/>
                    </a:solidFill>
                    <a:effectLst/>
                    <a:latin typeface="+mn-lt"/>
                    <a:ea typeface="+mn-ea"/>
                    <a:cs typeface="+mn-cs"/>
                  </a:rPr>
                  <a:t>为刚体在质心坐标系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𝐶</m:t>
                        </m:r>
                      </m:e>
                    </m:d>
                  </m:oMath>
                </a14:m>
                <a:r>
                  <a:rPr lang="zh-CN" altLang="zh-CN" sz="1200" kern="1200" dirty="0">
                    <a:solidFill>
                      <a:schemeClr val="tx1"/>
                    </a:solidFill>
                    <a:effectLst/>
                    <a:latin typeface="+mn-lt"/>
                    <a:ea typeface="+mn-ea"/>
                    <a:cs typeface="+mn-cs"/>
                  </a:rPr>
                  <a:t>中的惯性张量，质心坐标系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𝐶</m:t>
                        </m:r>
                      </m:e>
                    </m:d>
                  </m:oMath>
                </a14:m>
                <a:r>
                  <a:rPr lang="zh-CN" altLang="zh-CN" sz="1200" kern="1200" dirty="0">
                    <a:solidFill>
                      <a:schemeClr val="tx1"/>
                    </a:solidFill>
                    <a:effectLst/>
                    <a:latin typeface="+mn-lt"/>
                    <a:ea typeface="+mn-ea"/>
                    <a:cs typeface="+mn-cs"/>
                  </a:rPr>
                  <a:t>的原点位于刚体的质心。</a:t>
                </a:r>
              </a:p>
              <a:p>
                <a:r>
                  <a:rPr lang="zh-CN" altLang="zh-CN" sz="1200" kern="1200" dirty="0">
                    <a:solidFill>
                      <a:schemeClr val="tx1"/>
                    </a:solidFill>
                    <a:effectLst/>
                    <a:latin typeface="+mn-lt"/>
                    <a:ea typeface="+mn-ea"/>
                    <a:cs typeface="+mn-cs"/>
                  </a:rPr>
                  <a:t>以上两个公式组合起来被称为</a:t>
                </a:r>
                <a:r>
                  <a:rPr lang="zh-CN" altLang="zh-CN" sz="1200" b="1" kern="1200" dirty="0">
                    <a:solidFill>
                      <a:schemeClr val="tx1"/>
                    </a:solidFill>
                    <a:effectLst/>
                    <a:latin typeface="+mn-lt"/>
                    <a:ea typeface="+mn-ea"/>
                    <a:cs typeface="+mn-cs"/>
                  </a:rPr>
                  <a:t>牛顿</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欧拉方程</a:t>
                </a:r>
                <a:r>
                  <a:rPr lang="zh-CN" altLang="zh-CN" sz="1200" kern="1200" dirty="0">
                    <a:solidFill>
                      <a:schemeClr val="tx1"/>
                    </a:solidFill>
                    <a:effectLst/>
                    <a:latin typeface="+mn-lt"/>
                    <a:ea typeface="+mn-ea"/>
                    <a:cs typeface="+mn-cs"/>
                  </a:rPr>
                  <a:t>。</a:t>
                </a:r>
                <a:endParaRPr lang="en-US" altLang="zh-CN" dirty="0" smtClean="0"/>
              </a:p>
              <a:p>
                <a:endParaRPr lang="en-US" altLang="zh-CN" dirty="0" smtClean="0"/>
              </a:p>
              <a:p>
                <a:r>
                  <a:rPr lang="zh-CN" altLang="en-US" dirty="0" smtClean="0"/>
                  <a:t>逆动力学：已知各关节的转速、转动加速度，先求连杆的角速度、角加速度传递，接着求连杆线速度与线加速度，代入牛顿方程求出连杆惯性力；连杆角速度、角加速度求出后，代入欧拉方程求出连杆力矩。然后利用力平衡、力矩平衡原理，从末端开始推导出各关节的力或力矩。</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回顾线速度，线加速度；角速度，角加速度的定义以及惯性张量。</a:t>
                </a:r>
                <a:endParaRPr lang="en-US" altLang="zh-CN" dirty="0" smtClean="0"/>
              </a:p>
              <a:p>
                <a:endParaRPr lang="en-US" altLang="zh-CN" dirty="0" smtClean="0"/>
              </a:p>
              <a:p>
                <a:r>
                  <a:rPr lang="zh-CN" altLang="en-US" dirty="0" smtClean="0"/>
                  <a:t>由于实际的机器人是含有重量的，因此在转动的过程中，需要考虑机器人的惯性张量（表征物体质量分布）</a:t>
                </a:r>
                <a:r>
                  <a:rPr lang="zh-CN" altLang="en-US" dirty="0" smtClean="0"/>
                  <a:t>。</a:t>
                </a:r>
                <a:endParaRPr lang="en-US" altLang="zh-CN" dirty="0" smtClean="0"/>
              </a:p>
              <a:p>
                <a:r>
                  <a:rPr lang="zh-CN" altLang="zh-CN" sz="1200" kern="1200" dirty="0" smtClean="0">
                    <a:solidFill>
                      <a:schemeClr val="tx1"/>
                    </a:solidFill>
                    <a:effectLst/>
                    <a:latin typeface="+mn-lt"/>
                    <a:ea typeface="+mn-ea"/>
                    <a:cs typeface="+mn-cs"/>
                  </a:rPr>
                  <a:t>假设刚性连杆的质量为</a:t>
                </a:r>
                <a:r>
                  <a:rPr lang="en-US" altLang="zh-CN" sz="1200" i="0" kern="1200">
                    <a:solidFill>
                      <a:schemeClr val="tx1"/>
                    </a:solidFill>
                    <a:effectLst/>
                    <a:latin typeface="+mn-lt"/>
                    <a:ea typeface="+mn-ea"/>
                    <a:cs typeface="+mn-cs"/>
                  </a:rPr>
                  <a:t>𝑚</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a:t>
                </a:r>
                <a:r>
                  <a:rPr lang="en-US" altLang="zh-CN" sz="1200" i="0" kern="1200">
                    <a:solidFill>
                      <a:schemeClr val="tx1"/>
                    </a:solidFill>
                    <a:effectLst/>
                    <a:latin typeface="+mn-lt"/>
                    <a:ea typeface="+mn-ea"/>
                    <a:cs typeface="+mn-cs"/>
                  </a:rPr>
                  <a:t>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a:t>
                </a:r>
                <a:r>
                  <a:rPr lang="zh-CN" altLang="zh-CN" sz="1200" kern="1200" dirty="0">
                    <a:solidFill>
                      <a:schemeClr val="tx1"/>
                    </a:solidFill>
                    <a:effectLst/>
                    <a:latin typeface="+mn-lt"/>
                    <a:ea typeface="+mn-ea"/>
                    <a:cs typeface="+mn-cs"/>
                  </a:rPr>
                  <a:t>作用在连杆质心上使它做直线运动，其线加速度为</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 </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，依据牛顿第二运动定律，建立的力平衡方程称为牛顿方程：</a:t>
                </a:r>
              </a:p>
              <a:p>
                <a:r>
                  <a:rPr lang="en-US" altLang="zh-CN" sz="1200" i="0" kern="1200">
                    <a:solidFill>
                      <a:schemeClr val="tx1"/>
                    </a:solidFill>
                    <a:effectLst/>
                    <a:latin typeface="+mn-lt"/>
                    <a:ea typeface="+mn-ea"/>
                    <a:cs typeface="+mn-cs"/>
                  </a:rPr>
                  <a:t>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 </a:t>
                </a:r>
                <a:r>
                  <a:rPr lang="zh-CN"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(4-14)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而欧拉方程建立在角动量定理的基础上，用于对刚体转动进行描述。对于绕质心旋转角速度为</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，角加速度为</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的刚体，描述其在三维空间旋转运动，欧拉方程如下：</a:t>
                </a:r>
              </a:p>
              <a:p>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 𝜔</a:t>
                </a:r>
                <a:r>
                  <a:rPr lang="en-US" altLang="zh-CN" sz="1200" kern="1200" dirty="0">
                    <a:solidFill>
                      <a:schemeClr val="tx1"/>
                    </a:solidFill>
                    <a:effectLst/>
                    <a:latin typeface="+mn-lt"/>
                    <a:ea typeface="+mn-ea"/>
                    <a:cs typeface="+mn-cs"/>
                  </a:rPr>
                  <a:t>                    (4-15)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a:t>
                </a:r>
                <a:r>
                  <a:rPr lang="zh-CN" altLang="zh-CN" sz="1200" kern="1200" dirty="0">
                    <a:solidFill>
                      <a:schemeClr val="tx1"/>
                    </a:solidFill>
                    <a:effectLst/>
                    <a:latin typeface="+mn-lt"/>
                    <a:ea typeface="+mn-ea"/>
                    <a:cs typeface="+mn-cs"/>
                  </a:rPr>
                  <a:t>为作用在刚体质心上的外力矩，</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a:t>
                </a:r>
                <a:r>
                  <a:rPr lang="zh-CN" altLang="zh-CN" sz="1200" kern="1200" dirty="0">
                    <a:solidFill>
                      <a:schemeClr val="tx1"/>
                    </a:solidFill>
                    <a:effectLst/>
                    <a:latin typeface="+mn-lt"/>
                    <a:ea typeface="+mn-ea"/>
                    <a:cs typeface="+mn-cs"/>
                  </a:rPr>
                  <a:t>为刚体在质心坐标系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kern="1200" dirty="0">
                    <a:solidFill>
                      <a:schemeClr val="tx1"/>
                    </a:solidFill>
                    <a:effectLst/>
                    <a:latin typeface="+mn-lt"/>
                    <a:ea typeface="+mn-ea"/>
                    <a:cs typeface="+mn-cs"/>
                  </a:rPr>
                  <a:t>中的惯性张量，质心坐标系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kern="1200" dirty="0">
                    <a:solidFill>
                      <a:schemeClr val="tx1"/>
                    </a:solidFill>
                    <a:effectLst/>
                    <a:latin typeface="+mn-lt"/>
                    <a:ea typeface="+mn-ea"/>
                    <a:cs typeface="+mn-cs"/>
                  </a:rPr>
                  <a:t>的原点位于刚体的质心。</a:t>
                </a:r>
              </a:p>
              <a:p>
                <a:r>
                  <a:rPr lang="zh-CN" altLang="zh-CN" sz="1200" kern="1200" dirty="0">
                    <a:solidFill>
                      <a:schemeClr val="tx1"/>
                    </a:solidFill>
                    <a:effectLst/>
                    <a:latin typeface="+mn-lt"/>
                    <a:ea typeface="+mn-ea"/>
                    <a:cs typeface="+mn-cs"/>
                  </a:rPr>
                  <a:t>以上两个公式组合起来被称为</a:t>
                </a:r>
                <a:r>
                  <a:rPr lang="zh-CN" altLang="zh-CN" sz="1200" b="1" kern="1200" dirty="0">
                    <a:solidFill>
                      <a:schemeClr val="tx1"/>
                    </a:solidFill>
                    <a:effectLst/>
                    <a:latin typeface="+mn-lt"/>
                    <a:ea typeface="+mn-ea"/>
                    <a:cs typeface="+mn-cs"/>
                  </a:rPr>
                  <a:t>牛顿</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欧拉方程</a:t>
                </a:r>
                <a:r>
                  <a:rPr lang="zh-CN" altLang="zh-CN" sz="1200" kern="1200" dirty="0">
                    <a:solidFill>
                      <a:schemeClr val="tx1"/>
                    </a:solidFill>
                    <a:effectLst/>
                    <a:latin typeface="+mn-lt"/>
                    <a:ea typeface="+mn-ea"/>
                    <a:cs typeface="+mn-cs"/>
                  </a:rPr>
                  <a:t>。</a:t>
                </a:r>
                <a:endParaRPr lang="en-US" altLang="zh-CN" dirty="0" smtClean="0"/>
              </a:p>
              <a:p>
                <a:endParaRPr lang="en-US" altLang="zh-CN" dirty="0" smtClean="0"/>
              </a:p>
              <a:p>
                <a:r>
                  <a:rPr lang="zh-CN" altLang="en-US" dirty="0" smtClean="0"/>
                  <a:t>逆动力学：已知各关节的转速、转动加速度，先求连杆的角速度、角加速度传递，接着求连杆线速度与线加速度，代入牛顿方程求出连杆惯性力；连杆角速度、角加速度求出后，代入欧拉方程求出连杆力矩。然后利用力平衡、力矩平衡原理，从末端开始推导出各关节的力或力矩。</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extLst>
      <p:ext uri="{BB962C8B-B14F-4D97-AF65-F5344CB8AC3E}">
        <p14:creationId xmlns:p14="http://schemas.microsoft.com/office/powerpoint/2010/main" val="1456655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结合牛顿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a:t>
                </a:r>
                <a:r>
                  <a:rPr lang="en-US" altLang="zh-CN" sz="1200" kern="1200" dirty="0">
                    <a:solidFill>
                      <a:schemeClr val="tx1"/>
                    </a:solidFill>
                    <a:effectLst/>
                    <a:latin typeface="+mn-lt"/>
                    <a:ea typeface="+mn-ea"/>
                    <a:cs typeface="+mn-cs"/>
                  </a:rPr>
                  <a:t>Walker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Orin</a:t>
                </a:r>
                <a:r>
                  <a:rPr lang="zh-CN" altLang="zh-CN" sz="1200" kern="1200" dirty="0">
                    <a:solidFill>
                      <a:schemeClr val="tx1"/>
                    </a:solidFill>
                    <a:effectLst/>
                    <a:latin typeface="+mn-lt"/>
                    <a:ea typeface="+mn-ea"/>
                    <a:cs typeface="+mn-cs"/>
                  </a:rPr>
                  <a:t>于</a:t>
                </a:r>
                <a:r>
                  <a:rPr lang="en-US" altLang="zh-CN" sz="1200" kern="1200" dirty="0">
                    <a:solidFill>
                      <a:schemeClr val="tx1"/>
                    </a:solidFill>
                    <a:effectLst/>
                    <a:latin typeface="+mn-lt"/>
                    <a:ea typeface="+mn-ea"/>
                    <a:cs typeface="+mn-cs"/>
                  </a:rPr>
                  <a:t>1982</a:t>
                </a:r>
                <a:r>
                  <a:rPr lang="zh-CN" altLang="zh-CN" sz="1200" kern="1200" dirty="0">
                    <a:solidFill>
                      <a:schemeClr val="tx1"/>
                    </a:solidFill>
                    <a:effectLst/>
                    <a:latin typeface="+mn-lt"/>
                    <a:ea typeface="+mn-ea"/>
                    <a:cs typeface="+mn-cs"/>
                  </a:rPr>
                  <a:t>年提出了一种逆动力学计算方法，采用递归的形式进行计算关节所需力和力矩，被称为</a:t>
                </a:r>
                <a:r>
                  <a:rPr lang="zh-CN" altLang="zh-CN" sz="1200" b="1" kern="1200" dirty="0">
                    <a:solidFill>
                      <a:schemeClr val="tx1"/>
                    </a:solidFill>
                    <a:effectLst/>
                    <a:latin typeface="+mn-lt"/>
                    <a:ea typeface="+mn-ea"/>
                    <a:cs typeface="+mn-cs"/>
                  </a:rPr>
                  <a:t>递归牛顿</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欧拉算法</a:t>
                </a:r>
                <a:r>
                  <a:rPr lang="en-US" altLang="zh-CN" sz="1200" b="1" i="1" kern="1200" dirty="0">
                    <a:solidFill>
                      <a:schemeClr val="tx1"/>
                    </a:solidFill>
                    <a:effectLst/>
                    <a:latin typeface="+mn-lt"/>
                    <a:ea typeface="+mn-ea"/>
                    <a:cs typeface="+mn-cs"/>
                  </a:rPr>
                  <a:t>(RNEA: Recursive Newton–Euler Algorithm)</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RNEA</a:t>
                </a:r>
                <a:r>
                  <a:rPr lang="zh-CN" altLang="zh-CN" sz="1200" kern="1200" dirty="0">
                    <a:solidFill>
                      <a:schemeClr val="tx1"/>
                    </a:solidFill>
                    <a:effectLst/>
                    <a:latin typeface="+mn-lt"/>
                    <a:ea typeface="+mn-ea"/>
                    <a:cs typeface="+mn-cs"/>
                  </a:rPr>
                  <a:t>算法步骤分为三步：</a:t>
                </a:r>
                <a:r>
                  <a:rPr lang="en-US" altLang="zh-CN" sz="1200" b="1" kern="1200" dirty="0">
                    <a:solidFill>
                      <a:schemeClr val="tx1"/>
                    </a:solidFill>
                    <a:effectLst/>
                    <a:latin typeface="+mn-lt"/>
                    <a:ea typeface="+mn-ea"/>
                    <a:cs typeface="+mn-cs"/>
                  </a:rPr>
                  <a:t>I. </a:t>
                </a:r>
                <a:r>
                  <a:rPr lang="zh-CN" altLang="zh-CN" sz="1200" kern="1200" dirty="0">
                    <a:solidFill>
                      <a:schemeClr val="tx1"/>
                    </a:solidFill>
                    <a:effectLst/>
                    <a:latin typeface="+mn-lt"/>
                    <a:ea typeface="+mn-ea"/>
                    <a:cs typeface="+mn-cs"/>
                  </a:rPr>
                  <a:t>计算连杆质心速度和加速度，从基坐标开始，从连杆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向外递推至连杆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II. </a:t>
                </a:r>
                <a:r>
                  <a:rPr lang="zh-CN" altLang="zh-CN" sz="1200" kern="1200" dirty="0">
                    <a:solidFill>
                      <a:schemeClr val="tx1"/>
                    </a:solidFill>
                    <a:effectLst/>
                    <a:latin typeface="+mn-lt"/>
                    <a:ea typeface="+mn-ea"/>
                    <a:cs typeface="+mn-cs"/>
                  </a:rPr>
                  <a:t>计算作用在每根连杆上的力和力矩；</a:t>
                </a:r>
                <a:r>
                  <a:rPr lang="en-US" altLang="zh-CN" sz="1200" b="1" kern="1200" dirty="0">
                    <a:solidFill>
                      <a:schemeClr val="tx1"/>
                    </a:solidFill>
                    <a:effectLst/>
                    <a:latin typeface="+mn-lt"/>
                    <a:ea typeface="+mn-ea"/>
                    <a:cs typeface="+mn-cs"/>
                  </a:rPr>
                  <a:t>III. </a:t>
                </a:r>
                <a:r>
                  <a:rPr lang="zh-CN" altLang="zh-CN" sz="1200" kern="1200" dirty="0">
                    <a:solidFill>
                      <a:schemeClr val="tx1"/>
                    </a:solidFill>
                    <a:effectLst/>
                    <a:latin typeface="+mn-lt"/>
                    <a:ea typeface="+mn-ea"/>
                    <a:cs typeface="+mn-cs"/>
                  </a:rPr>
                  <a:t>计算关节的力和力矩，根据达郎贝尔原理建立连杆的力平衡方程和力矩平衡方程向内递推。</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结合牛顿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a:t>
                </a:r>
                <a:r>
                  <a:rPr lang="en-US" altLang="zh-CN" sz="1200" kern="1200" dirty="0">
                    <a:solidFill>
                      <a:schemeClr val="tx1"/>
                    </a:solidFill>
                    <a:effectLst/>
                    <a:latin typeface="+mn-lt"/>
                    <a:ea typeface="+mn-ea"/>
                    <a:cs typeface="+mn-cs"/>
                  </a:rPr>
                  <a:t>Walker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Orin</a:t>
                </a:r>
                <a:r>
                  <a:rPr lang="zh-CN" altLang="zh-CN" sz="1200" kern="1200" dirty="0">
                    <a:solidFill>
                      <a:schemeClr val="tx1"/>
                    </a:solidFill>
                    <a:effectLst/>
                    <a:latin typeface="+mn-lt"/>
                    <a:ea typeface="+mn-ea"/>
                    <a:cs typeface="+mn-cs"/>
                  </a:rPr>
                  <a:t>于</a:t>
                </a:r>
                <a:r>
                  <a:rPr lang="en-US" altLang="zh-CN" sz="1200" kern="1200" dirty="0">
                    <a:solidFill>
                      <a:schemeClr val="tx1"/>
                    </a:solidFill>
                    <a:effectLst/>
                    <a:latin typeface="+mn-lt"/>
                    <a:ea typeface="+mn-ea"/>
                    <a:cs typeface="+mn-cs"/>
                  </a:rPr>
                  <a:t>1982</a:t>
                </a:r>
                <a:r>
                  <a:rPr lang="zh-CN" altLang="zh-CN" sz="1200" kern="1200" dirty="0">
                    <a:solidFill>
                      <a:schemeClr val="tx1"/>
                    </a:solidFill>
                    <a:effectLst/>
                    <a:latin typeface="+mn-lt"/>
                    <a:ea typeface="+mn-ea"/>
                    <a:cs typeface="+mn-cs"/>
                  </a:rPr>
                  <a:t>年提出了一种逆动力学计算方法，采用递归的形式进行计算关节所需力和力矩，被称为</a:t>
                </a:r>
                <a:r>
                  <a:rPr lang="zh-CN" altLang="zh-CN" sz="1200" b="1" kern="1200" dirty="0">
                    <a:solidFill>
                      <a:schemeClr val="tx1"/>
                    </a:solidFill>
                    <a:effectLst/>
                    <a:latin typeface="+mn-lt"/>
                    <a:ea typeface="+mn-ea"/>
                    <a:cs typeface="+mn-cs"/>
                  </a:rPr>
                  <a:t>递归牛顿</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欧拉算法</a:t>
                </a:r>
                <a:r>
                  <a:rPr lang="en-US" altLang="zh-CN" sz="1200" b="1" i="1" kern="1200" dirty="0">
                    <a:solidFill>
                      <a:schemeClr val="tx1"/>
                    </a:solidFill>
                    <a:effectLst/>
                    <a:latin typeface="+mn-lt"/>
                    <a:ea typeface="+mn-ea"/>
                    <a:cs typeface="+mn-cs"/>
                  </a:rPr>
                  <a:t>(RNEA: Recursive Newton–Euler Algorithm)</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RNEA</a:t>
                </a:r>
                <a:r>
                  <a:rPr lang="zh-CN" altLang="zh-CN" sz="1200" kern="1200" dirty="0">
                    <a:solidFill>
                      <a:schemeClr val="tx1"/>
                    </a:solidFill>
                    <a:effectLst/>
                    <a:latin typeface="+mn-lt"/>
                    <a:ea typeface="+mn-ea"/>
                    <a:cs typeface="+mn-cs"/>
                  </a:rPr>
                  <a:t>算法步骤分为三步：</a:t>
                </a:r>
                <a:r>
                  <a:rPr lang="en-US" altLang="zh-CN" sz="1200" b="1" kern="1200" dirty="0">
                    <a:solidFill>
                      <a:schemeClr val="tx1"/>
                    </a:solidFill>
                    <a:effectLst/>
                    <a:latin typeface="+mn-lt"/>
                    <a:ea typeface="+mn-ea"/>
                    <a:cs typeface="+mn-cs"/>
                  </a:rPr>
                  <a:t>I. </a:t>
                </a:r>
                <a:r>
                  <a:rPr lang="zh-CN" altLang="zh-CN" sz="1200" kern="1200" dirty="0">
                    <a:solidFill>
                      <a:schemeClr val="tx1"/>
                    </a:solidFill>
                    <a:effectLst/>
                    <a:latin typeface="+mn-lt"/>
                    <a:ea typeface="+mn-ea"/>
                    <a:cs typeface="+mn-cs"/>
                  </a:rPr>
                  <a:t>计算连杆质心速度和加速度，从基坐标开始，从连杆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向外递推至连杆</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II. </a:t>
                </a:r>
                <a:r>
                  <a:rPr lang="zh-CN" altLang="zh-CN" sz="1200" kern="1200" dirty="0">
                    <a:solidFill>
                      <a:schemeClr val="tx1"/>
                    </a:solidFill>
                    <a:effectLst/>
                    <a:latin typeface="+mn-lt"/>
                    <a:ea typeface="+mn-ea"/>
                    <a:cs typeface="+mn-cs"/>
                  </a:rPr>
                  <a:t>计算作用在每根连杆上的力和力矩；</a:t>
                </a:r>
                <a:r>
                  <a:rPr lang="en-US" altLang="zh-CN" sz="1200" b="1" kern="1200" dirty="0">
                    <a:solidFill>
                      <a:schemeClr val="tx1"/>
                    </a:solidFill>
                    <a:effectLst/>
                    <a:latin typeface="+mn-lt"/>
                    <a:ea typeface="+mn-ea"/>
                    <a:cs typeface="+mn-cs"/>
                  </a:rPr>
                  <a:t>III. </a:t>
                </a:r>
                <a:r>
                  <a:rPr lang="zh-CN" altLang="zh-CN" sz="1200" kern="1200" dirty="0">
                    <a:solidFill>
                      <a:schemeClr val="tx1"/>
                    </a:solidFill>
                    <a:effectLst/>
                    <a:latin typeface="+mn-lt"/>
                    <a:ea typeface="+mn-ea"/>
                    <a:cs typeface="+mn-cs"/>
                  </a:rPr>
                  <a:t>计算关节的力和力矩，根据达郎贝尔原理建立连杆的力平衡方程和力矩平衡方程向内递推。</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extLst>
      <p:ext uri="{BB962C8B-B14F-4D97-AF65-F5344CB8AC3E}">
        <p14:creationId xmlns:p14="http://schemas.microsoft.com/office/powerpoint/2010/main" val="2040697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可知，计算作用在连杆上的力，首先需要计算机械臂每个连杆质心在任意时刻的线速度和线加速度，以及固连在连杆质心的坐标系相对于世界坐标系的角速度和角加速度。本节将介绍外推法来计算机械臂每个连杆的线速度和角速度。已知各关节的位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，采用递推的方式，从连杆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开始向外递推，直到连杆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，依次得到各</a:t>
                </a:r>
                <a:r>
                  <a:rPr lang="zh-CN" altLang="zh-CN" sz="1200" b="1" kern="1200" dirty="0">
                    <a:solidFill>
                      <a:schemeClr val="tx1"/>
                    </a:solidFill>
                    <a:effectLst/>
                    <a:latin typeface="+mn-lt"/>
                    <a:ea typeface="+mn-ea"/>
                    <a:cs typeface="+mn-cs"/>
                  </a:rPr>
                  <a:t>连杆质心</a:t>
                </a:r>
                <a:r>
                  <a:rPr lang="zh-CN" altLang="zh-CN" sz="1200" kern="1200" dirty="0">
                    <a:solidFill>
                      <a:schemeClr val="tx1"/>
                    </a:solidFill>
                    <a:effectLst/>
                    <a:latin typeface="+mn-lt"/>
                    <a:ea typeface="+mn-ea"/>
                    <a:cs typeface="+mn-cs"/>
                  </a:rPr>
                  <a:t>的速度和加速度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首先解决连杆的角速度计算，角速度和角加速度的传递见框中公式</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可知，计算作用在连杆上的力，首先需要计算机械臂每个连杆质心在任意时刻的线速度和线加速度，以及固连在连杆质心的坐标系相对于世界坐标系的角速度和角加速度。本节将介绍外推法来计算机械臂每个连杆的线速度和角速度。已知各关节的位置</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、加速度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，采用递推的方式，从连杆</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开始向外递推，直到连杆</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，依次得到各</a:t>
                </a:r>
                <a:r>
                  <a:rPr lang="zh-CN" altLang="zh-CN" sz="1200" b="1" kern="1200" dirty="0">
                    <a:solidFill>
                      <a:schemeClr val="tx1"/>
                    </a:solidFill>
                    <a:effectLst/>
                    <a:latin typeface="+mn-lt"/>
                    <a:ea typeface="+mn-ea"/>
                    <a:cs typeface="+mn-cs"/>
                  </a:rPr>
                  <a:t>连杆质心</a:t>
                </a:r>
                <a:r>
                  <a:rPr lang="zh-CN" altLang="zh-CN" sz="1200" kern="1200" dirty="0">
                    <a:solidFill>
                      <a:schemeClr val="tx1"/>
                    </a:solidFill>
                    <a:effectLst/>
                    <a:latin typeface="+mn-lt"/>
                    <a:ea typeface="+mn-ea"/>
                    <a:cs typeface="+mn-cs"/>
                  </a:rPr>
                  <a:t>的速度和加速度</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首先解决连杆的角速度计算，角速度和角加速度的传递见框中公式</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extLst>
      <p:ext uri="{BB962C8B-B14F-4D97-AF65-F5344CB8AC3E}">
        <p14:creationId xmlns:p14="http://schemas.microsoft.com/office/powerpoint/2010/main" val="725220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接下来进行</a:t>
                </a:r>
                <a:r>
                  <a:rPr lang="zh-CN" altLang="zh-CN" sz="1200" b="1" kern="1200" dirty="0" smtClean="0">
                    <a:solidFill>
                      <a:schemeClr val="tx1"/>
                    </a:solidFill>
                    <a:effectLst/>
                    <a:latin typeface="+mn-lt"/>
                    <a:ea typeface="+mn-ea"/>
                    <a:cs typeface="+mn-cs"/>
                  </a:rPr>
                  <a:t>连杆线速度及线加速度计算</a:t>
                </a:r>
                <a:endParaRPr lang="en-US" altLang="zh-CN" sz="1200" b="1"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使用</a:t>
                </a:r>
                <a:r>
                  <a:rPr lang="zh-CN" altLang="zh-CN" sz="1200" b="1" kern="1200" dirty="0">
                    <a:solidFill>
                      <a:schemeClr val="tx1"/>
                    </a:solidFill>
                    <a:effectLst/>
                    <a:latin typeface="+mn-lt"/>
                    <a:ea typeface="+mn-ea"/>
                    <a:cs typeface="+mn-cs"/>
                  </a:rPr>
                  <a:t>矢量三角形法</a:t>
                </a:r>
                <a:r>
                  <a:rPr lang="zh-CN" altLang="zh-CN" sz="1200" kern="1200" dirty="0">
                    <a:solidFill>
                      <a:schemeClr val="tx1"/>
                    </a:solidFill>
                    <a:effectLst/>
                    <a:latin typeface="+mn-lt"/>
                    <a:ea typeface="+mn-ea"/>
                    <a:cs typeface="+mn-cs"/>
                  </a:rPr>
                  <a:t>进行推导计算。如图</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所示，基坐标系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m:t>
                        </m:r>
                      </m:e>
                    </m:d>
                  </m:oMath>
                </a14:m>
                <a:r>
                  <a:rPr lang="zh-CN" altLang="zh-CN" sz="1200" kern="1200" dirty="0">
                    <a:solidFill>
                      <a:schemeClr val="tx1"/>
                    </a:solidFill>
                    <a:effectLst/>
                    <a:latin typeface="+mn-lt"/>
                    <a:ea typeface="+mn-ea"/>
                    <a:cs typeface="+mn-cs"/>
                  </a:rPr>
                  <a:t>、连杆坐标系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e>
                    </m:d>
                  </m:oMath>
                </a14:m>
                <a:r>
                  <a:rPr lang="zh-CN" altLang="zh-CN" sz="1200" kern="1200" dirty="0">
                    <a:solidFill>
                      <a:schemeClr val="tx1"/>
                    </a:solidFill>
                    <a:effectLst/>
                    <a:latin typeface="+mn-lt"/>
                    <a:ea typeface="+mn-ea"/>
                    <a:cs typeface="+mn-cs"/>
                  </a:rPr>
                  <a:t>以及</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组成矢量三角形，</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up/>
                        </m:sSubSup>
                      </m:e>
                    </m:sPre>
                  </m:oMath>
                </a14:m>
                <a:r>
                  <a:rPr lang="zh-CN" altLang="zh-CN" sz="1200" kern="1200" dirty="0">
                    <a:solidFill>
                      <a:schemeClr val="tx1"/>
                    </a:solidFill>
                    <a:effectLst/>
                    <a:latin typeface="+mn-lt"/>
                    <a:ea typeface="+mn-ea"/>
                    <a:cs typeface="+mn-cs"/>
                  </a:rPr>
                  <a:t>和</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oMath>
                </a14:m>
                <a:r>
                  <a:rPr lang="zh-CN" altLang="zh-CN" sz="1200" kern="1200" dirty="0">
                    <a:solidFill>
                      <a:schemeClr val="tx1"/>
                    </a:solidFill>
                    <a:effectLst/>
                    <a:latin typeface="+mn-lt"/>
                    <a:ea typeface="+mn-ea"/>
                    <a:cs typeface="+mn-cs"/>
                  </a:rPr>
                  <a:t>分别为坐标系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e>
                    </m:d>
                  </m:oMath>
                </a14:m>
                <a:r>
                  <a:rPr lang="zh-CN" altLang="zh-CN" sz="1200" kern="1200" dirty="0">
                    <a:solidFill>
                      <a:schemeClr val="tx1"/>
                    </a:solidFill>
                    <a:effectLst/>
                    <a:latin typeface="+mn-lt"/>
                    <a:ea typeface="+mn-ea"/>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的原点在基坐标系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m:t>
                        </m:r>
                      </m:e>
                    </m:d>
                  </m:oMath>
                </a14:m>
                <a:r>
                  <a:rPr lang="zh-CN" altLang="zh-CN" sz="1200" kern="1200" dirty="0">
                    <a:solidFill>
                      <a:schemeClr val="tx1"/>
                    </a:solidFill>
                    <a:effectLst/>
                    <a:latin typeface="+mn-lt"/>
                    <a:ea typeface="+mn-ea"/>
                    <a:cs typeface="+mn-cs"/>
                  </a:rPr>
                  <a:t>中的位置向量，</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oMath>
                </a14:m>
                <a:r>
                  <a:rPr lang="zh-CN" altLang="zh-CN" sz="1200" kern="1200" dirty="0">
                    <a:solidFill>
                      <a:schemeClr val="tx1"/>
                    </a:solidFill>
                    <a:effectLst/>
                    <a:latin typeface="+mn-lt"/>
                    <a:ea typeface="+mn-ea"/>
                    <a:cs typeface="+mn-cs"/>
                  </a:rPr>
                  <a:t>为坐标系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的原点在坐标系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e>
                    </m:d>
                  </m:oMath>
                </a14:m>
                <a:r>
                  <a:rPr lang="zh-CN" altLang="zh-CN" sz="1200" kern="1200" dirty="0">
                    <a:solidFill>
                      <a:schemeClr val="tx1"/>
                    </a:solidFill>
                    <a:effectLst/>
                    <a:latin typeface="+mn-lt"/>
                    <a:ea typeface="+mn-ea"/>
                    <a:cs typeface="+mn-cs"/>
                  </a:rPr>
                  <a:t>中的</a:t>
                </a:r>
                <a:r>
                  <a:rPr lang="zh-CN" altLang="zh-CN" sz="1200" kern="1200" dirty="0" smtClean="0">
                    <a:solidFill>
                      <a:schemeClr val="tx1"/>
                    </a:solidFill>
                    <a:effectLst/>
                    <a:latin typeface="+mn-lt"/>
                    <a:ea typeface="+mn-ea"/>
                    <a:cs typeface="+mn-cs"/>
                  </a:rPr>
                  <a:t>位置向量</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(4-18)</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计算坐标系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e>
                    </m:d>
                  </m:oMath>
                </a14:m>
                <a:r>
                  <a:rPr lang="zh-CN" altLang="zh-CN" sz="1200" kern="1200" dirty="0">
                    <a:solidFill>
                      <a:schemeClr val="tx1"/>
                    </a:solidFill>
                    <a:effectLst/>
                    <a:latin typeface="+mn-lt"/>
                    <a:ea typeface="+mn-ea"/>
                    <a:cs typeface="+mn-cs"/>
                  </a:rPr>
                  <a:t>原点相对于基坐标系的线速度，对位置向量相对于时间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求导，得到：</a:t>
                </a:r>
              </a:p>
              <a:p>
                <a:r>
                  <a:rPr lang="en-US" altLang="zh-CN" sz="1200" kern="1200" dirty="0" smtClean="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(4-19</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注意，上式中的</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up/>
                        </m:sSubSup>
                      </m:e>
                    </m:sPre>
                  </m:oMath>
                </a14:m>
                <a:r>
                  <a:rPr lang="zh-CN" altLang="zh-CN" sz="1200" kern="1200" dirty="0">
                    <a:solidFill>
                      <a:schemeClr val="tx1"/>
                    </a:solidFill>
                    <a:effectLst/>
                    <a:latin typeface="+mn-lt"/>
                    <a:ea typeface="+mn-ea"/>
                    <a:cs typeface="+mn-cs"/>
                  </a:rPr>
                  <a:t>为连杆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在基坐标系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m:t>
                        </m:r>
                      </m:e>
                    </m:d>
                  </m:oMath>
                </a14:m>
                <a:r>
                  <a:rPr lang="zh-CN" altLang="zh-CN" sz="1200" kern="1200" dirty="0">
                    <a:solidFill>
                      <a:schemeClr val="tx1"/>
                    </a:solidFill>
                    <a:effectLst/>
                    <a:latin typeface="+mn-lt"/>
                    <a:ea typeface="+mn-ea"/>
                    <a:cs typeface="+mn-cs"/>
                  </a:rPr>
                  <a:t>中的角速度。为了方便计算，需要将线速度变换到坐标系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e>
                    </m:d>
                  </m:oMath>
                </a14:m>
                <a:r>
                  <a:rPr lang="zh-CN" altLang="zh-CN" sz="1200" kern="1200" dirty="0">
                    <a:solidFill>
                      <a:schemeClr val="tx1"/>
                    </a:solidFill>
                    <a:effectLst/>
                    <a:latin typeface="+mn-lt"/>
                    <a:ea typeface="+mn-ea"/>
                    <a:cs typeface="+mn-cs"/>
                  </a:rPr>
                  <a:t>下，已知</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𝑅</m:t>
                        </m:r>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𝑅</m:t>
                        </m:r>
                      </m:e>
                    </m:sPre>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𝑅</m:t>
                        </m:r>
                      </m:e>
                    </m:sPre>
                  </m:oMath>
                </a14:m>
                <a:r>
                  <a:rPr lang="zh-CN" altLang="zh-CN" sz="1200" kern="1200" dirty="0">
                    <a:solidFill>
                      <a:schemeClr val="tx1"/>
                    </a:solidFill>
                    <a:effectLst/>
                    <a:latin typeface="+mn-lt"/>
                    <a:ea typeface="+mn-ea"/>
                    <a:cs typeface="+mn-cs"/>
                  </a:rPr>
                  <a:t>，对上式两边同乘</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𝑅</m:t>
                        </m:r>
                      </m:e>
                    </m:sPre>
                  </m:oMath>
                </a14:m>
                <a:r>
                  <a:rPr lang="zh-CN" altLang="zh-CN" sz="1200" kern="1200" dirty="0">
                    <a:solidFill>
                      <a:schemeClr val="tx1"/>
                    </a:solidFill>
                    <a:effectLst/>
                    <a:latin typeface="+mn-lt"/>
                    <a:ea typeface="+mn-ea"/>
                    <a:cs typeface="+mn-cs"/>
                  </a:rPr>
                  <a:t>，得：</a:t>
                </a:r>
              </a:p>
              <a:p>
                <a:r>
                  <a:rPr lang="en-US" altLang="zh-CN" sz="1200" kern="1200" dirty="0" smtClean="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4-20</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如果是旋转关节，</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𝑣</m:t>
                            </m:r>
                          </m:e>
                        </m:sPre>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(4-20)</a:t>
                </a:r>
                <a:r>
                  <a:rPr lang="zh-CN" altLang="zh-CN" sz="1200" kern="1200" dirty="0">
                    <a:solidFill>
                      <a:schemeClr val="tx1"/>
                    </a:solidFill>
                    <a:effectLst/>
                    <a:latin typeface="+mn-lt"/>
                    <a:ea typeface="+mn-ea"/>
                    <a:cs typeface="+mn-cs"/>
                  </a:rPr>
                  <a:t>可简化为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4-21</a:t>
                </a:r>
              </a:p>
              <a:p>
                <a:r>
                  <a:rPr lang="zh-CN" altLang="zh-CN" sz="1200" kern="1200" dirty="0" smtClean="0">
                    <a:solidFill>
                      <a:schemeClr val="tx1"/>
                    </a:solidFill>
                    <a:effectLst/>
                    <a:latin typeface="+mn-lt"/>
                    <a:ea typeface="+mn-ea"/>
                    <a:cs typeface="+mn-cs"/>
                  </a:rPr>
                  <a:t>再对时间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求导，可得坐标系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的原点线加速度为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4-22</a:t>
                </a:r>
              </a:p>
              <a:p>
                <a:r>
                  <a:rPr lang="zh-CN" altLang="zh-CN" sz="1200" kern="1200" dirty="0" smtClean="0">
                    <a:solidFill>
                      <a:schemeClr val="tx1"/>
                    </a:solidFill>
                    <a:effectLst/>
                    <a:latin typeface="+mn-lt"/>
                    <a:ea typeface="+mn-ea"/>
                    <a:cs typeface="+mn-cs"/>
                  </a:rPr>
                  <a:t>如果是平移关节，有</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𝑣</m:t>
                            </m:r>
                          </m:e>
                        </m:sPre>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𝑑</m:t>
                            </m:r>
                          </m:e>
                        </m:acc>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𝑑</m:t>
                            </m:r>
                          </m:e>
                        </m:acc>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为关节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的平移速度标量，则</a:t>
                </a:r>
                <a:r>
                  <a:rPr lang="en-US" altLang="zh-CN" sz="1200" kern="1200" dirty="0">
                    <a:solidFill>
                      <a:schemeClr val="tx1"/>
                    </a:solidFill>
                    <a:effectLst/>
                    <a:latin typeface="+mn-lt"/>
                    <a:ea typeface="+mn-ea"/>
                    <a:cs typeface="+mn-cs"/>
                  </a:rPr>
                  <a:t>(4-20)</a:t>
                </a:r>
                <a:r>
                  <a:rPr lang="zh-CN" altLang="zh-CN" sz="1200" kern="1200" dirty="0">
                    <a:solidFill>
                      <a:schemeClr val="tx1"/>
                    </a:solidFill>
                    <a:effectLst/>
                    <a:latin typeface="+mn-lt"/>
                    <a:ea typeface="+mn-ea"/>
                    <a:cs typeface="+mn-cs"/>
                  </a:rPr>
                  <a:t>可简化为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4-23</a:t>
                </a:r>
              </a:p>
              <a:p>
                <a:r>
                  <a:rPr lang="zh-CN" altLang="zh-CN" sz="1200" kern="1200" dirty="0" smtClean="0">
                    <a:solidFill>
                      <a:schemeClr val="tx1"/>
                    </a:solidFill>
                    <a:effectLst/>
                    <a:latin typeface="+mn-lt"/>
                    <a:ea typeface="+mn-ea"/>
                    <a:cs typeface="+mn-cs"/>
                  </a:rPr>
                  <a:t>再对时间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求导，可得坐标系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的原点线加速度为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4-24</a:t>
                </a:r>
              </a:p>
              <a:p>
                <a:r>
                  <a:rPr lang="zh-CN" altLang="en-US" dirty="0" smtClean="0"/>
                  <a:t>注意推导到连杆</a:t>
                </a:r>
                <a:r>
                  <a:rPr lang="en-US" altLang="zh-CN" dirty="0" smtClean="0"/>
                  <a:t>1</a:t>
                </a:r>
                <a:r>
                  <a:rPr lang="zh-CN" altLang="en-US" dirty="0" smtClean="0"/>
                  <a:t>时速度和加速度为零</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接下来进行</a:t>
                </a:r>
                <a:r>
                  <a:rPr lang="zh-CN" altLang="zh-CN" sz="1200" b="1" kern="1200" dirty="0" smtClean="0">
                    <a:solidFill>
                      <a:schemeClr val="tx1"/>
                    </a:solidFill>
                    <a:effectLst/>
                    <a:latin typeface="+mn-lt"/>
                    <a:ea typeface="+mn-ea"/>
                    <a:cs typeface="+mn-cs"/>
                  </a:rPr>
                  <a:t>连杆线速度及线加速度计算</a:t>
                </a:r>
                <a:endParaRPr lang="en-US" altLang="zh-CN" sz="1200" b="1"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使用</a:t>
                </a:r>
                <a:r>
                  <a:rPr lang="zh-CN" altLang="zh-CN" sz="1200" b="1" kern="1200" dirty="0">
                    <a:solidFill>
                      <a:schemeClr val="tx1"/>
                    </a:solidFill>
                    <a:effectLst/>
                    <a:latin typeface="+mn-lt"/>
                    <a:ea typeface="+mn-ea"/>
                    <a:cs typeface="+mn-cs"/>
                  </a:rPr>
                  <a:t>矢量三角形法</a:t>
                </a:r>
                <a:r>
                  <a:rPr lang="zh-CN" altLang="zh-CN" sz="1200" kern="1200" dirty="0">
                    <a:solidFill>
                      <a:schemeClr val="tx1"/>
                    </a:solidFill>
                    <a:effectLst/>
                    <a:latin typeface="+mn-lt"/>
                    <a:ea typeface="+mn-ea"/>
                    <a:cs typeface="+mn-cs"/>
                  </a:rPr>
                  <a:t>进行推导计算。如图</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所示，基坐标系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、连杆坐标系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组成矢量三角形，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分别为坐标系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的原点在基坐标系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中的位置向量，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为坐标系</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的原点在坐标系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中的</a:t>
                </a:r>
                <a:r>
                  <a:rPr lang="zh-CN" altLang="zh-CN" sz="1200" kern="1200" dirty="0" smtClean="0">
                    <a:solidFill>
                      <a:schemeClr val="tx1"/>
                    </a:solidFill>
                    <a:effectLst/>
                    <a:latin typeface="+mn-lt"/>
                    <a:ea typeface="+mn-ea"/>
                    <a:cs typeface="+mn-cs"/>
                  </a:rPr>
                  <a:t>位置向量</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(4-18)</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计算坐标系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原点相对于基坐标系的线速度，对位置向量相对于时间</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求导，得到：</a:t>
                </a:r>
              </a:p>
              <a:p>
                <a:r>
                  <a:rPr lang="en-US" altLang="zh-CN" sz="1200" kern="1200" dirty="0" smtClean="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(4-19</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注意，上式中的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为连杆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在基坐标系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中的角速度。为了方便计算，需要将线速度变换到坐标系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下，已知</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_𝑖+1^0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_𝑖+1^𝑖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_0^𝑖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，对上式两边同乘</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_𝑖+1^0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kern="1200" dirty="0">
                    <a:solidFill>
                      <a:schemeClr val="tx1"/>
                    </a:solidFill>
                    <a:effectLst/>
                    <a:latin typeface="+mn-lt"/>
                    <a:ea typeface="+mn-ea"/>
                    <a:cs typeface="+mn-cs"/>
                  </a:rPr>
                  <a:t>，得：</a:t>
                </a:r>
              </a:p>
              <a:p>
                <a:r>
                  <a:rPr lang="en-US" altLang="zh-CN" sz="1200" kern="1200" dirty="0" smtClean="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4-20</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如果是旋转关节，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(4-20)</a:t>
                </a:r>
                <a:r>
                  <a:rPr lang="zh-CN" altLang="zh-CN" sz="1200" kern="1200" dirty="0">
                    <a:solidFill>
                      <a:schemeClr val="tx1"/>
                    </a:solidFill>
                    <a:effectLst/>
                    <a:latin typeface="+mn-lt"/>
                    <a:ea typeface="+mn-ea"/>
                    <a:cs typeface="+mn-cs"/>
                  </a:rPr>
                  <a:t>可简化为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4-21</a:t>
                </a:r>
              </a:p>
              <a:p>
                <a:r>
                  <a:rPr lang="zh-CN" altLang="zh-CN" sz="1200" kern="1200" dirty="0" smtClean="0">
                    <a:solidFill>
                      <a:schemeClr val="tx1"/>
                    </a:solidFill>
                    <a:effectLst/>
                    <a:latin typeface="+mn-lt"/>
                    <a:ea typeface="+mn-ea"/>
                    <a:cs typeface="+mn-cs"/>
                  </a:rPr>
                  <a:t>再对时间</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求导，可得坐标系</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的原点线加速度为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4-22</a:t>
                </a:r>
              </a:p>
              <a:p>
                <a:r>
                  <a:rPr lang="zh-CN" altLang="zh-CN" sz="1200" kern="1200" dirty="0" smtClean="0">
                    <a:solidFill>
                      <a:schemeClr val="tx1"/>
                    </a:solidFill>
                    <a:effectLst/>
                    <a:latin typeface="+mn-lt"/>
                    <a:ea typeface="+mn-ea"/>
                    <a:cs typeface="+mn-cs"/>
                  </a:rPr>
                  <a:t>如果是平移关节，有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为关节</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的平移速度标量，则</a:t>
                </a:r>
                <a:r>
                  <a:rPr lang="en-US" altLang="zh-CN" sz="1200" kern="1200" dirty="0">
                    <a:solidFill>
                      <a:schemeClr val="tx1"/>
                    </a:solidFill>
                    <a:effectLst/>
                    <a:latin typeface="+mn-lt"/>
                    <a:ea typeface="+mn-ea"/>
                    <a:cs typeface="+mn-cs"/>
                  </a:rPr>
                  <a:t>(4-20)</a:t>
                </a:r>
                <a:r>
                  <a:rPr lang="zh-CN" altLang="zh-CN" sz="1200" kern="1200" dirty="0">
                    <a:solidFill>
                      <a:schemeClr val="tx1"/>
                    </a:solidFill>
                    <a:effectLst/>
                    <a:latin typeface="+mn-lt"/>
                    <a:ea typeface="+mn-ea"/>
                    <a:cs typeface="+mn-cs"/>
                  </a:rPr>
                  <a:t>可简化为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4-23</a:t>
                </a:r>
              </a:p>
              <a:p>
                <a:r>
                  <a:rPr lang="zh-CN" altLang="zh-CN" sz="1200" kern="1200" dirty="0" smtClean="0">
                    <a:solidFill>
                      <a:schemeClr val="tx1"/>
                    </a:solidFill>
                    <a:effectLst/>
                    <a:latin typeface="+mn-lt"/>
                    <a:ea typeface="+mn-ea"/>
                    <a:cs typeface="+mn-cs"/>
                  </a:rPr>
                  <a:t>再对时间</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求导，可得坐标系</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的原点线加速度为</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4-24</a:t>
                </a:r>
              </a:p>
              <a:p>
                <a:r>
                  <a:rPr lang="zh-CN" altLang="en-US" dirty="0" smtClean="0"/>
                  <a:t>注意推导到连杆</a:t>
                </a:r>
                <a:r>
                  <a:rPr lang="en-US" altLang="zh-CN" dirty="0" smtClean="0"/>
                  <a:t>1</a:t>
                </a:r>
                <a:r>
                  <a:rPr lang="zh-CN" altLang="en-US" dirty="0" smtClean="0"/>
                  <a:t>时速度和加速度为零</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extLst>
      <p:ext uri="{BB962C8B-B14F-4D97-AF65-F5344CB8AC3E}">
        <p14:creationId xmlns:p14="http://schemas.microsoft.com/office/powerpoint/2010/main" val="2750791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第一步完成，教程中的有</a:t>
            </a:r>
            <a:r>
              <a:rPr lang="en-US" altLang="zh-CN" dirty="0" smtClean="0"/>
              <a:t>SCARA</a:t>
            </a:r>
            <a:r>
              <a:rPr lang="zh-CN" altLang="en-US" dirty="0" smtClean="0"/>
              <a:t>机械臂的推导实例，请各位同学自行在实例机械臂上进行推导。</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extLst>
      <p:ext uri="{BB962C8B-B14F-4D97-AF65-F5344CB8AC3E}">
        <p14:creationId xmlns:p14="http://schemas.microsoft.com/office/powerpoint/2010/main" val="543557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计算出连杆质心的角速度、角加速度以及线加速度后，采用牛顿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欧拉方程便可以计算出作用在连杆质心的惯性力和力矩：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式中连杆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的质心坐标系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的原点位于连杆质心，各坐标轴与连杆坐标系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方向相同。</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计算出连杆质心的角速度、角加速度以及线加速度后，采用牛顿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欧拉方程便可以计算出作用在连杆质心的惯性力和力矩：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式中连杆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的质心坐标系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的原点位于连杆质心，各坐标轴与连杆坐标系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方向相同。</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extLst>
      <p:ext uri="{BB962C8B-B14F-4D97-AF65-F5344CB8AC3E}">
        <p14:creationId xmlns:p14="http://schemas.microsoft.com/office/powerpoint/2010/main" val="3104268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计算出每个连杆上的力和力矩后，需要计算产生这些力和力矩所需要的关节力或力矩。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根据图</a:t>
                </a:r>
                <a:r>
                  <a:rPr lang="en-US" altLang="zh-CN" sz="1200" kern="1200" dirty="0" smtClean="0">
                    <a:solidFill>
                      <a:schemeClr val="tx1"/>
                    </a:solidFill>
                    <a:effectLst/>
                    <a:latin typeface="+mn-lt"/>
                    <a:ea typeface="+mn-ea"/>
                    <a:cs typeface="+mn-cs"/>
                  </a:rPr>
                  <a:t>4.4</a:t>
                </a:r>
                <a:r>
                  <a:rPr lang="zh-CN" altLang="zh-CN" sz="1200" kern="1200" dirty="0" smtClean="0">
                    <a:solidFill>
                      <a:schemeClr val="tx1"/>
                    </a:solidFill>
                    <a:effectLst/>
                    <a:latin typeface="+mn-lt"/>
                    <a:ea typeface="+mn-ea"/>
                    <a:cs typeface="+mn-cs"/>
                  </a:rPr>
                  <a:t>对无重力状态下连杆进行受力分析，根据达郎贝尔原理建立连杆的力平衡方程和力矩平衡方程。</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将式</a:t>
                </a:r>
                <a:r>
                  <a:rPr lang="en-US" altLang="zh-CN" sz="1200" kern="1200" dirty="0" smtClean="0">
                    <a:solidFill>
                      <a:schemeClr val="tx1"/>
                    </a:solidFill>
                    <a:effectLst/>
                    <a:latin typeface="+mn-lt"/>
                    <a:ea typeface="+mn-ea"/>
                    <a:cs typeface="+mn-cs"/>
                  </a:rPr>
                  <a:t>(4-28)</a:t>
                </a:r>
                <a:r>
                  <a:rPr lang="zh-CN" altLang="zh-CN" sz="1200" kern="1200" dirty="0" smtClean="0">
                    <a:solidFill>
                      <a:schemeClr val="tx1"/>
                    </a:solidFill>
                    <a:effectLst/>
                    <a:latin typeface="+mn-lt"/>
                    <a:ea typeface="+mn-ea"/>
                    <a:cs typeface="+mn-cs"/>
                  </a:rPr>
                  <a:t>代入式</a:t>
                </a:r>
                <a:r>
                  <a:rPr lang="en-US" altLang="zh-CN" sz="1200" kern="1200" dirty="0" smtClean="0">
                    <a:solidFill>
                      <a:schemeClr val="tx1"/>
                    </a:solidFill>
                    <a:effectLst/>
                    <a:latin typeface="+mn-lt"/>
                    <a:ea typeface="+mn-ea"/>
                    <a:cs typeface="+mn-cs"/>
                  </a:rPr>
                  <a:t>(4-29)</a:t>
                </a:r>
              </a:p>
              <a:p>
                <a14:m>
                  <m:oMath xmlns:m="http://schemas.openxmlformats.org/officeDocument/2006/math">
                    <m:sPre>
                      <m:sPrePr>
                        <m:ctrlPr>
                          <a:rPr lang="zh-CN" altLang="zh-CN" sz="1200" i="1" kern="1200" smtClean="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𝑖</m:t>
                            </m:r>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m:t>
                            </m:r>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𝑅</m:t>
                        </m:r>
                      </m:e>
                    </m:sPr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𝑃</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𝑖</m:t>
                                </m:r>
                              </m:sub>
                            </m:sSub>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𝑖</m:t>
                            </m:r>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𝑖</m:t>
                        </m:r>
                      </m:sup>
                      <m:e>
                        <m:r>
                          <a:rPr lang="en-US" altLang="zh-CN" sz="1200" i="1" kern="1200">
                            <a:solidFill>
                              <a:schemeClr val="tx1"/>
                            </a:solidFill>
                            <a:effectLst/>
                            <a:latin typeface="Cambria Math" panose="02040503050406030204" pitchFamily="18" charset="0"/>
                            <a:ea typeface="+mn-ea"/>
                            <a:cs typeface="+mn-cs"/>
                          </a:rPr>
                          <m:t>𝑅</m:t>
                        </m:r>
                      </m:e>
                    </m:sPr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sSubSup>
                      </m:e>
                    </m:sPre>
                  </m:oMath>
                </a14:m>
                <a:r>
                  <a:rPr lang="en-US" altLang="zh-CN" sz="1200" kern="1200" dirty="0">
                    <a:solidFill>
                      <a:schemeClr val="tx1"/>
                    </a:solidFill>
                    <a:effectLst/>
                    <a:latin typeface="+mn-lt"/>
                    <a:ea typeface="+mn-ea"/>
                    <a:cs typeface="+mn-cs"/>
                  </a:rPr>
                  <a:t>  (4-30</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将式</a:t>
                </a:r>
                <a:r>
                  <a:rPr lang="en-US" altLang="zh-CN" sz="1200" kern="1200" dirty="0" smtClean="0">
                    <a:solidFill>
                      <a:schemeClr val="tx1"/>
                    </a:solidFill>
                    <a:effectLst/>
                    <a:latin typeface="+mn-lt"/>
                    <a:ea typeface="+mn-ea"/>
                    <a:cs typeface="+mn-cs"/>
                  </a:rPr>
                  <a:t>(4-28)</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(4-30)</a:t>
                </a:r>
                <a:r>
                  <a:rPr lang="zh-CN" altLang="zh-CN" sz="1200" kern="1200" dirty="0" smtClean="0">
                    <a:solidFill>
                      <a:schemeClr val="tx1"/>
                    </a:solidFill>
                    <a:effectLst/>
                    <a:latin typeface="+mn-lt"/>
                    <a:ea typeface="+mn-ea"/>
                    <a:cs typeface="+mn-cs"/>
                  </a:rPr>
                  <a:t>重新排列，可以得到连杆号从低到高的迭代关系</a:t>
                </a:r>
                <a:r>
                  <a:rPr lang="zh-CN" altLang="en-US" sz="1200" kern="1200" dirty="0" smtClean="0">
                    <a:solidFill>
                      <a:schemeClr val="tx1"/>
                    </a:solidFill>
                    <a:effectLst/>
                    <a:latin typeface="+mn-lt"/>
                    <a:ea typeface="+mn-ea"/>
                    <a:cs typeface="+mn-cs"/>
                  </a:rPr>
                  <a:t>，见红色框</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通过式</a:t>
                </a:r>
                <a:r>
                  <a:rPr lang="en-US" altLang="zh-CN" sz="1200" kern="1200" dirty="0">
                    <a:solidFill>
                      <a:schemeClr val="tx1"/>
                    </a:solidFill>
                    <a:effectLst/>
                    <a:latin typeface="+mn-lt"/>
                    <a:ea typeface="+mn-ea"/>
                    <a:cs typeface="+mn-cs"/>
                  </a:rPr>
                  <a:t>(4-27)</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(4-31)</a:t>
                </a:r>
                <a:r>
                  <a:rPr lang="zh-CN" altLang="zh-CN" sz="1200" kern="1200" dirty="0">
                    <a:solidFill>
                      <a:schemeClr val="tx1"/>
                    </a:solidFill>
                    <a:effectLst/>
                    <a:latin typeface="+mn-lt"/>
                    <a:ea typeface="+mn-ea"/>
                    <a:cs typeface="+mn-cs"/>
                  </a:rPr>
                  <a:t>，可以从连杆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逐步递推到机器人基座，从而通过连杆的力和力矩计算得到所有关节驱动转矩或驱动力。</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计算出每个连杆上的力和力矩后，需要计算产生这些力和力矩所需要的关节力或力矩。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根据图</a:t>
                </a:r>
                <a:r>
                  <a:rPr lang="en-US" altLang="zh-CN" sz="1200" kern="1200" dirty="0" smtClean="0">
                    <a:solidFill>
                      <a:schemeClr val="tx1"/>
                    </a:solidFill>
                    <a:effectLst/>
                    <a:latin typeface="+mn-lt"/>
                    <a:ea typeface="+mn-ea"/>
                    <a:cs typeface="+mn-cs"/>
                  </a:rPr>
                  <a:t>4.4</a:t>
                </a:r>
                <a:r>
                  <a:rPr lang="zh-CN" altLang="zh-CN" sz="1200" kern="1200" dirty="0" smtClean="0">
                    <a:solidFill>
                      <a:schemeClr val="tx1"/>
                    </a:solidFill>
                    <a:effectLst/>
                    <a:latin typeface="+mn-lt"/>
                    <a:ea typeface="+mn-ea"/>
                    <a:cs typeface="+mn-cs"/>
                  </a:rPr>
                  <a:t>对无重力状态下连杆进行受力分析，根据达郎贝尔原理建立连杆的力平衡方程和力矩平衡方程。</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将式</a:t>
                </a:r>
                <a:r>
                  <a:rPr lang="en-US" altLang="zh-CN" sz="1200" kern="1200" dirty="0" smtClean="0">
                    <a:solidFill>
                      <a:schemeClr val="tx1"/>
                    </a:solidFill>
                    <a:effectLst/>
                    <a:latin typeface="+mn-lt"/>
                    <a:ea typeface="+mn-ea"/>
                    <a:cs typeface="+mn-cs"/>
                  </a:rPr>
                  <a:t>(4-28)</a:t>
                </a:r>
                <a:r>
                  <a:rPr lang="zh-CN" altLang="zh-CN" sz="1200" kern="1200" dirty="0" smtClean="0">
                    <a:solidFill>
                      <a:schemeClr val="tx1"/>
                    </a:solidFill>
                    <a:effectLst/>
                    <a:latin typeface="+mn-lt"/>
                    <a:ea typeface="+mn-ea"/>
                    <a:cs typeface="+mn-cs"/>
                  </a:rPr>
                  <a:t>代入式</a:t>
                </a:r>
                <a:r>
                  <a:rPr lang="en-US" altLang="zh-CN" sz="1200" kern="1200" dirty="0" smtClean="0">
                    <a:solidFill>
                      <a:schemeClr val="tx1"/>
                    </a:solidFill>
                    <a:effectLst/>
                    <a:latin typeface="+mn-lt"/>
                    <a:ea typeface="+mn-ea"/>
                    <a:cs typeface="+mn-cs"/>
                  </a:rPr>
                  <a:t>(4-29)</a:t>
                </a:r>
              </a:p>
              <a:p>
                <a:r>
                  <a:rPr lang="zh-CN" altLang="zh-CN" sz="1200" i="0" kern="1200" smtClean="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a:t>
                </a:r>
                <a:r>
                  <a:rPr lang="zh-CN" altLang="zh-CN" sz="1200" i="0" kern="1200" smtClean="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_𝑖+1^𝑖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_𝑖+1^𝑖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(4-30</a:t>
                </a:r>
                <a:r>
                  <a:rPr lang="en-US"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将式</a:t>
                </a:r>
                <a:r>
                  <a:rPr lang="en-US" altLang="zh-CN" sz="1200" kern="1200" dirty="0" smtClean="0">
                    <a:solidFill>
                      <a:schemeClr val="tx1"/>
                    </a:solidFill>
                    <a:effectLst/>
                    <a:latin typeface="+mn-lt"/>
                    <a:ea typeface="+mn-ea"/>
                    <a:cs typeface="+mn-cs"/>
                  </a:rPr>
                  <a:t>(4-28)</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(4-30)</a:t>
                </a:r>
                <a:r>
                  <a:rPr lang="zh-CN" altLang="zh-CN" sz="1200" kern="1200" dirty="0" smtClean="0">
                    <a:solidFill>
                      <a:schemeClr val="tx1"/>
                    </a:solidFill>
                    <a:effectLst/>
                    <a:latin typeface="+mn-lt"/>
                    <a:ea typeface="+mn-ea"/>
                    <a:cs typeface="+mn-cs"/>
                  </a:rPr>
                  <a:t>重新排列，可以得到连杆号从低到高的迭代关系</a:t>
                </a:r>
                <a:r>
                  <a:rPr lang="zh-CN" altLang="en-US" sz="1200" kern="1200" dirty="0" smtClean="0">
                    <a:solidFill>
                      <a:schemeClr val="tx1"/>
                    </a:solidFill>
                    <a:effectLst/>
                    <a:latin typeface="+mn-lt"/>
                    <a:ea typeface="+mn-ea"/>
                    <a:cs typeface="+mn-cs"/>
                  </a:rPr>
                  <a:t>，见红色框</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通过式</a:t>
                </a:r>
                <a:r>
                  <a:rPr lang="en-US" altLang="zh-CN" sz="1200" kern="1200" dirty="0">
                    <a:solidFill>
                      <a:schemeClr val="tx1"/>
                    </a:solidFill>
                    <a:effectLst/>
                    <a:latin typeface="+mn-lt"/>
                    <a:ea typeface="+mn-ea"/>
                    <a:cs typeface="+mn-cs"/>
                  </a:rPr>
                  <a:t>(4-27)</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(4-31)</a:t>
                </a:r>
                <a:r>
                  <a:rPr lang="zh-CN" altLang="zh-CN" sz="1200" kern="1200" dirty="0">
                    <a:solidFill>
                      <a:schemeClr val="tx1"/>
                    </a:solidFill>
                    <a:effectLst/>
                    <a:latin typeface="+mn-lt"/>
                    <a:ea typeface="+mn-ea"/>
                    <a:cs typeface="+mn-cs"/>
                  </a:rPr>
                  <a:t>，可以从连杆</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逐步递推到机器人基座，从而通过连杆的力和力矩计算得到所有关节驱动转矩或驱动力。</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extLst>
      <p:ext uri="{BB962C8B-B14F-4D97-AF65-F5344CB8AC3E}">
        <p14:creationId xmlns:p14="http://schemas.microsoft.com/office/powerpoint/2010/main" val="3736923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以上力平衡方程的建立，只将所有作用在连杆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上的力相加，没有考虑重力， 令</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Pre>
                      </m:e>
                      <m:sub>
                        <m:r>
                          <a:rPr lang="en-US" altLang="zh-CN" sz="1200" i="1" kern="1200">
                            <a:solidFill>
                              <a:schemeClr val="tx1"/>
                            </a:solidFill>
                            <a:effectLst/>
                            <a:latin typeface="Cambria Math" panose="02040503050406030204" pitchFamily="18" charset="0"/>
                            <a:ea typeface="+mn-ea"/>
                            <a:cs typeface="+mn-cs"/>
                          </a:rPr>
                          <m:t>0</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𝐺</m:t>
                    </m:r>
                  </m:oMath>
                </a14:m>
                <a:r>
                  <a:rPr lang="zh-CN" altLang="zh-CN" sz="1200" kern="1200" dirty="0">
                    <a:solidFill>
                      <a:schemeClr val="tx1"/>
                    </a:solidFill>
                    <a:effectLst/>
                    <a:latin typeface="+mn-lt"/>
                    <a:ea typeface="+mn-ea"/>
                    <a:cs typeface="+mn-cs"/>
                  </a:rPr>
                  <a:t>即可，</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m:t>
                    </m:r>
                  </m:oMath>
                </a14:m>
                <a:r>
                  <a:rPr lang="zh-CN" altLang="zh-CN" sz="1200" kern="1200" dirty="0">
                    <a:solidFill>
                      <a:schemeClr val="tx1"/>
                    </a:solidFill>
                    <a:effectLst/>
                    <a:latin typeface="+mn-lt"/>
                    <a:ea typeface="+mn-ea"/>
                    <a:cs typeface="+mn-cs"/>
                  </a:rPr>
                  <a:t>与重力矢量大小相等，方向相反。这等价于将机器人基座所受的支撑力等效为基座朝上的加速运动，其加速度为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1</m:t>
                    </m:r>
                    <m:r>
                      <m:rPr>
                        <m:sty m:val="p"/>
                      </m:rPr>
                      <a:rPr lang="en-US" altLang="zh-CN" sz="1200" kern="1200">
                        <a:solidFill>
                          <a:schemeClr val="tx1"/>
                        </a:solidFill>
                        <a:effectLst/>
                        <a:latin typeface="Cambria Math" panose="02040503050406030204" pitchFamily="18" charset="0"/>
                        <a:ea typeface="+mn-ea"/>
                        <a:cs typeface="+mn-cs"/>
                      </a:rPr>
                      <m:t>g</m:t>
                    </m:r>
                  </m:oMath>
                </a14:m>
                <a:r>
                  <a:rPr lang="zh-CN" altLang="zh-CN" sz="1200" kern="1200" dirty="0">
                    <a:solidFill>
                      <a:schemeClr val="tx1"/>
                    </a:solidFill>
                    <a:effectLst/>
                    <a:latin typeface="+mn-lt"/>
                    <a:ea typeface="+mn-ea"/>
                    <a:cs typeface="+mn-cs"/>
                  </a:rPr>
                  <a:t>。这样的处理与在每个连杆上都考虑重力的作用效果是等效的。而对于末端来说，当机器人在自由空间运动时，机器人末端受力为零，</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up/>
                        </m:sSubSup>
                      </m:e>
                    </m:sPre>
                    <m:r>
                      <a:rPr lang="en-US" altLang="zh-CN" sz="1200"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up/>
                        </m:sSubSup>
                      </m:e>
                    </m:sPre>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；与外部环境有接触时，末端受力不为零，需要求得对应的</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up/>
                        </m:sSubSup>
                      </m:e>
                    </m:sPre>
                    <m:r>
                      <a:rPr lang="zh-CN" altLang="zh-CN" sz="1200" kern="1200">
                        <a:solidFill>
                          <a:schemeClr val="tx1"/>
                        </a:solidFill>
                        <a:effectLst/>
                        <a:latin typeface="Cambria Math" panose="02040503050406030204" pitchFamily="18" charset="0"/>
                        <a:ea typeface="+mn-ea"/>
                        <a:cs typeface="+mn-cs"/>
                      </a:rPr>
                      <m:t>，</m:t>
                    </m:r>
                    <m:r>
                      <a:rPr lang="zh-CN" altLang="zh-CN" sz="1200" kern="1200">
                        <a:solidFill>
                          <a:schemeClr val="tx1"/>
                        </a:solidFill>
                        <a:effectLst/>
                        <a:latin typeface="Cambria Math" panose="02040503050406030204" pitchFamily="18" charset="0"/>
                        <a:ea typeface="+mn-ea"/>
                        <a:cs typeface="+mn-cs"/>
                      </a:rPr>
                      <m:t> </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up/>
                        </m:sSubSup>
                      </m:e>
                    </m:sPre>
                  </m:oMath>
                </a14:m>
                <a:r>
                  <a:rPr lang="zh-CN" altLang="zh-CN" sz="1200" kern="1200" dirty="0">
                    <a:solidFill>
                      <a:schemeClr val="tx1"/>
                    </a:solidFill>
                    <a:effectLst/>
                    <a:latin typeface="+mn-lt"/>
                    <a:ea typeface="+mn-ea"/>
                    <a:cs typeface="+mn-cs"/>
                  </a:rPr>
                  <a:t>，代入力和力矩的递推计算中。</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以上力平衡方程的建立，只将所有作用在连杆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上的力相加，没有考虑重力， 令</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0=𝐺</a:t>
                </a:r>
                <a:r>
                  <a:rPr lang="zh-CN" altLang="zh-CN" sz="1200" kern="1200" dirty="0">
                    <a:solidFill>
                      <a:schemeClr val="tx1"/>
                    </a:solidFill>
                    <a:effectLst/>
                    <a:latin typeface="+mn-lt"/>
                    <a:ea typeface="+mn-ea"/>
                    <a:cs typeface="+mn-cs"/>
                  </a:rPr>
                  <a:t>即可，</a:t>
                </a:r>
                <a:r>
                  <a:rPr lang="en-US" altLang="zh-CN" sz="1200" i="0" kern="1200">
                    <a:solidFill>
                      <a:schemeClr val="tx1"/>
                    </a:solidFill>
                    <a:effectLst/>
                    <a:latin typeface="+mn-lt"/>
                    <a:ea typeface="+mn-ea"/>
                    <a:cs typeface="+mn-cs"/>
                  </a:rPr>
                  <a:t>𝐺</a:t>
                </a:r>
                <a:r>
                  <a:rPr lang="zh-CN" altLang="zh-CN" sz="1200" kern="1200" dirty="0">
                    <a:solidFill>
                      <a:schemeClr val="tx1"/>
                    </a:solidFill>
                    <a:effectLst/>
                    <a:latin typeface="+mn-lt"/>
                    <a:ea typeface="+mn-ea"/>
                    <a:cs typeface="+mn-cs"/>
                  </a:rPr>
                  <a:t>与重力矢量大小相等，方向相反。这等价于将机器人基座所受的支撑力等效为基座朝上的加速运动，其加速度为</a:t>
                </a:r>
                <a:r>
                  <a:rPr lang="en-US" altLang="zh-CN" sz="1200" i="0" kern="1200">
                    <a:solidFill>
                      <a:schemeClr val="tx1"/>
                    </a:solidFill>
                    <a:effectLst/>
                    <a:latin typeface="+mn-lt"/>
                    <a:ea typeface="+mn-ea"/>
                    <a:cs typeface="+mn-cs"/>
                  </a:rPr>
                  <a:t>1g</a:t>
                </a:r>
                <a:r>
                  <a:rPr lang="zh-CN" altLang="zh-CN" sz="1200" kern="1200" dirty="0">
                    <a:solidFill>
                      <a:schemeClr val="tx1"/>
                    </a:solidFill>
                    <a:effectLst/>
                    <a:latin typeface="+mn-lt"/>
                    <a:ea typeface="+mn-ea"/>
                    <a:cs typeface="+mn-cs"/>
                  </a:rPr>
                  <a:t>。这样的处理与在每个连杆上都考虑重力的作用效果是等效的。而对于末端来说，当机器人在自由空间运动时，机器人末端受力为零，</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；与外部环境有接触时，末端受力不为零，需要求得对应的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，代入力和力矩的递推计算中。</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extLst>
      <p:ext uri="{BB962C8B-B14F-4D97-AF65-F5344CB8AC3E}">
        <p14:creationId xmlns:p14="http://schemas.microsoft.com/office/powerpoint/2010/main" val="177158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extLst>
      <p:ext uri="{BB962C8B-B14F-4D97-AF65-F5344CB8AC3E}">
        <p14:creationId xmlns:p14="http://schemas.microsoft.com/office/powerpoint/2010/main" val="361715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从质点的力分析角度出发，推导单刚体运动旋量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力旋量方程。刚体可以被表达为由多个刚性连接的质点组成，其中质点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𝑗</m:t>
                    </m:r>
                  </m:oMath>
                </a14:m>
                <a:r>
                  <a:rPr lang="zh-CN" altLang="zh-CN" sz="1200" kern="1200" dirty="0">
                    <a:solidFill>
                      <a:schemeClr val="tx1"/>
                    </a:solidFill>
                    <a:effectLst/>
                    <a:latin typeface="+mn-lt"/>
                    <a:ea typeface="+mn-ea"/>
                    <a:cs typeface="+mn-cs"/>
                  </a:rPr>
                  <a:t>的质量为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zh-CN" sz="1200" kern="1200" dirty="0">
                    <a:solidFill>
                      <a:schemeClr val="tx1"/>
                    </a:solidFill>
                    <a:effectLst/>
                    <a:latin typeface="+mn-lt"/>
                    <a:ea typeface="+mn-ea"/>
                    <a:cs typeface="+mn-cs"/>
                  </a:rPr>
                  <a:t>，刚体的总质量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r>
                      <a:rPr lang="en-US" altLang="zh-CN" sz="1200" i="1" kern="1200">
                        <a:solidFill>
                          <a:schemeClr val="tx1"/>
                        </a:solidFill>
                        <a:effectLst/>
                        <a:latin typeface="Cambria Math" panose="02040503050406030204" pitchFamily="18" charset="0"/>
                        <a:ea typeface="+mn-ea"/>
                        <a:cs typeface="+mn-cs"/>
                      </a:rPr>
                      <m:t>=</m:t>
                    </m:r>
                    <m:nary>
                      <m:naryPr>
                        <m:chr m:val="∑"/>
                        <m:limLoc m:val="subSup"/>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𝑗</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𝑗</m:t>
                            </m:r>
                          </m:sub>
                        </m:sSub>
                      </m:e>
                    </m:nary>
                  </m:oMath>
                </a14:m>
                <a:r>
                  <a:rPr lang="zh-CN" altLang="zh-CN" sz="1200" kern="1200" dirty="0">
                    <a:solidFill>
                      <a:schemeClr val="tx1"/>
                    </a:solidFill>
                    <a:effectLst/>
                    <a:latin typeface="+mn-lt"/>
                    <a:ea typeface="+mn-ea"/>
                    <a:cs typeface="+mn-cs"/>
                  </a:rPr>
                  <a:t>。将物体坐标系</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𝑏</m:t>
                            </m:r>
                          </m:e>
                          <m:sub>
                            <m:r>
                              <a:rPr lang="en-US" altLang="zh-CN" sz="1200" i="1" kern="1200">
                                <a:solidFill>
                                  <a:schemeClr val="tx1"/>
                                </a:solidFill>
                                <a:effectLst/>
                                <a:latin typeface="Cambria Math" panose="02040503050406030204" pitchFamily="18" charset="0"/>
                                <a:ea typeface="+mn-ea"/>
                                <a:cs typeface="+mn-cs"/>
                              </a:rPr>
                              <m:t>𝑖</m:t>
                            </m:r>
                          </m:sub>
                        </m:sSub>
                      </m:e>
                    </m:d>
                  </m:oMath>
                </a14:m>
                <a:r>
                  <a:rPr lang="zh-CN" altLang="zh-CN" sz="1200" kern="1200" dirty="0">
                    <a:solidFill>
                      <a:schemeClr val="tx1"/>
                    </a:solidFill>
                    <a:effectLst/>
                    <a:latin typeface="+mn-lt"/>
                    <a:ea typeface="+mn-ea"/>
                    <a:cs typeface="+mn-cs"/>
                  </a:rPr>
                  <a:t>建立在刚体质心，如图</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，每个质点在物体坐标系中的位置为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，则</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limLoc m:val="undOvr"/>
                          <m:supHide m:val="on"/>
                          <m:ctrlPr>
                            <a:rPr lang="zh-CN" altLang="zh-CN" sz="1200" i="1" kern="1200" smtClean="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𝑗</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𝑗</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𝑗</m:t>
                              </m:r>
                            </m:sub>
                          </m:sSub>
                        </m:e>
                      </m:nary>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运动旋量的概念已在第三章进行介绍。在物体坐标系下，运动旋量为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，其为角速度和线速度的组合。想要分析质点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𝑗</m:t>
                    </m:r>
                  </m:oMath>
                </a14:m>
                <a:r>
                  <a:rPr lang="zh-CN" altLang="zh-CN" sz="1200" kern="1200" dirty="0">
                    <a:solidFill>
                      <a:schemeClr val="tx1"/>
                    </a:solidFill>
                    <a:effectLst/>
                    <a:latin typeface="+mn-lt"/>
                    <a:ea typeface="+mn-ea"/>
                    <a:cs typeface="+mn-cs"/>
                  </a:rPr>
                  <a:t>的受力情况，还需要计算质点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𝑗</m:t>
                    </m:r>
                  </m:oMath>
                </a14:m>
                <a:r>
                  <a:rPr lang="zh-CN" altLang="zh-CN" sz="1200" kern="1200" dirty="0">
                    <a:solidFill>
                      <a:schemeClr val="tx1"/>
                    </a:solidFill>
                    <a:effectLst/>
                    <a:latin typeface="+mn-lt"/>
                    <a:ea typeface="+mn-ea"/>
                    <a:cs typeface="+mn-cs"/>
                  </a:rPr>
                  <a:t>的加速度。参考图</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，假设</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为质点</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j</m:t>
                    </m:r>
                  </m:oMath>
                </a14:m>
                <a:r>
                  <a:rPr lang="zh-CN" altLang="zh-CN" sz="1200" kern="1200" dirty="0">
                    <a:solidFill>
                      <a:schemeClr val="tx1"/>
                    </a:solidFill>
                    <a:effectLst/>
                    <a:latin typeface="+mn-lt"/>
                    <a:ea typeface="+mn-ea"/>
                    <a:cs typeface="+mn-cs"/>
                  </a:rPr>
                  <a:t>的时变位置，其初始位置为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那么</a:t>
                </a:r>
                <a:r>
                  <a:rPr lang="zh-CN" altLang="en-US" sz="1200" kern="1200" dirty="0" smtClean="0">
                    <a:solidFill>
                      <a:schemeClr val="tx1"/>
                    </a:solidFill>
                    <a:effectLst/>
                    <a:latin typeface="+mn-lt"/>
                    <a:ea typeface="+mn-ea"/>
                    <a:cs typeface="+mn-cs"/>
                  </a:rPr>
                  <a:t>计算</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𝑝</m:t>
                            </m:r>
                          </m:e>
                        </m:acc>
                      </m:e>
                      <m:sub>
                        <m:r>
                          <a:rPr lang="en-US" altLang="zh-CN" sz="1200" i="1" kern="1200">
                            <a:solidFill>
                              <a:schemeClr val="tx1"/>
                            </a:solidFill>
                            <a:effectLst/>
                            <a:latin typeface="Cambria Math" panose="02040503050406030204" pitchFamily="18" charset="0"/>
                            <a:ea typeface="+mn-ea"/>
                            <a:cs typeface="+mn-cs"/>
                          </a:rPr>
                          <m:t>𝑗</m:t>
                        </m:r>
                      </m:sub>
                    </m:sSub>
                    <m:r>
                      <a:rPr lang="zh-CN" altLang="en-US" sz="1200" i="1" smtClean="0">
                        <a:latin typeface="Cambria Math" panose="02040503050406030204" pitchFamily="18" charset="0"/>
                      </a:rPr>
                      <m:t>和</m:t>
                    </m:r>
                    <m:sSub>
                      <m:sSubPr>
                        <m:ctrlPr>
                          <a:rPr lang="zh-CN" altLang="zh-CN" sz="1200" i="1" kern="1200" smtClean="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𝑝</m:t>
                            </m:r>
                          </m:e>
                        </m:acc>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en-US" dirty="0" smtClean="0"/>
                  <a:t> ，</a:t>
                </a:r>
                <a:r>
                  <a:rPr lang="zh-CN" altLang="zh-CN" sz="1200" kern="1200" dirty="0" smtClean="0">
                    <a:solidFill>
                      <a:schemeClr val="tx1"/>
                    </a:solidFill>
                    <a:effectLst/>
                    <a:latin typeface="+mn-lt"/>
                    <a:ea typeface="+mn-ea"/>
                    <a:cs typeface="+mn-cs"/>
                  </a:rPr>
                  <a:t>将上式中的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zh-CN" sz="1200" kern="1200" dirty="0">
                    <a:solidFill>
                      <a:schemeClr val="tx1"/>
                    </a:solidFill>
                    <a:effectLst/>
                    <a:latin typeface="+mn-lt"/>
                    <a:ea typeface="+mn-ea"/>
                    <a:cs typeface="+mn-cs"/>
                  </a:rPr>
                  <a:t>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zh-CN" sz="1200" kern="1200" dirty="0">
                    <a:solidFill>
                      <a:schemeClr val="tx1"/>
                    </a:solidFill>
                    <a:effectLst/>
                    <a:latin typeface="+mn-lt"/>
                    <a:ea typeface="+mn-ea"/>
                    <a:cs typeface="+mn-cs"/>
                  </a:rPr>
                  <a:t>替换，同时将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写成反对称矩阵的形式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，可将</a:t>
                </a:r>
                <a:r>
                  <a:rPr lang="en-US" altLang="zh-CN" sz="1200" kern="1200" dirty="0">
                    <a:solidFill>
                      <a:schemeClr val="tx1"/>
                    </a:solidFill>
                    <a:effectLst/>
                    <a:latin typeface="+mn-lt"/>
                    <a:ea typeface="+mn-ea"/>
                    <a:cs typeface="+mn-cs"/>
                  </a:rPr>
                  <a:t>(4-35)</a:t>
                </a:r>
                <a:r>
                  <a:rPr lang="zh-CN" altLang="zh-CN" sz="1200" kern="1200" dirty="0" smtClean="0">
                    <a:solidFill>
                      <a:schemeClr val="tx1"/>
                    </a:solidFill>
                    <a:effectLst/>
                    <a:latin typeface="+mn-lt"/>
                    <a:ea typeface="+mn-ea"/>
                    <a:cs typeface="+mn-cs"/>
                  </a:rPr>
                  <a:t>改写</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根据牛顿第二定律：</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𝑗</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𝑝</m:t>
                            </m:r>
                          </m:e>
                        </m:acc>
                      </m:e>
                      <m:sub>
                        <m:r>
                          <a:rPr lang="en-US" altLang="zh-CN" sz="1200" i="1" kern="1200">
                            <a:solidFill>
                              <a:schemeClr val="tx1"/>
                            </a:solidFill>
                            <a:effectLst/>
                            <a:latin typeface="Cambria Math" panose="02040503050406030204" pitchFamily="18" charset="0"/>
                            <a:ea typeface="+mn-ea"/>
                            <a:cs typeface="+mn-cs"/>
                          </a:rPr>
                          <m:t>𝑗</m:t>
                        </m:r>
                      </m:sub>
                    </m:sSub>
                  </m:oMath>
                </a14:m>
                <a:r>
                  <a:rPr lang="zh-CN"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计算</a:t>
                </a:r>
                <a:r>
                  <a:rPr lang="zh-CN" altLang="zh-CN" sz="1200" kern="1200" dirty="0" smtClean="0">
                    <a:solidFill>
                      <a:schemeClr val="tx1"/>
                    </a:solidFill>
                    <a:effectLst/>
                    <a:latin typeface="+mn-lt"/>
                    <a:ea typeface="+mn-ea"/>
                    <a:cs typeface="+mn-cs"/>
                  </a:rPr>
                  <a:t>作用</a:t>
                </a:r>
                <a:r>
                  <a:rPr lang="zh-CN" altLang="zh-CN" sz="1200" kern="1200" dirty="0">
                    <a:solidFill>
                      <a:schemeClr val="tx1"/>
                    </a:solidFill>
                    <a:effectLst/>
                    <a:latin typeface="+mn-lt"/>
                    <a:ea typeface="+mn-ea"/>
                    <a:cs typeface="+mn-cs"/>
                  </a:rPr>
                  <a:t>在质点</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j</m:t>
                    </m:r>
                  </m:oMath>
                </a14:m>
                <a:r>
                  <a:rPr lang="zh-CN" altLang="zh-CN" sz="1200" kern="1200" dirty="0">
                    <a:solidFill>
                      <a:schemeClr val="tx1"/>
                    </a:solidFill>
                    <a:effectLst/>
                    <a:latin typeface="+mn-lt"/>
                    <a:ea typeface="+mn-ea"/>
                    <a:cs typeface="+mn-cs"/>
                  </a:rPr>
                  <a:t>上的</a:t>
                </a:r>
                <a:r>
                  <a:rPr lang="zh-CN" altLang="zh-CN" sz="1200" kern="1200" dirty="0" smtClean="0">
                    <a:solidFill>
                      <a:schemeClr val="tx1"/>
                    </a:solidFill>
                    <a:effectLst/>
                    <a:latin typeface="+mn-lt"/>
                    <a:ea typeface="+mn-ea"/>
                    <a:cs typeface="+mn-cs"/>
                  </a:rPr>
                  <a:t>力</a:t>
                </a:r>
                <a:r>
                  <a:rPr lang="zh-CN" altLang="en-US" sz="1200" kern="1200" dirty="0" smtClean="0">
                    <a:solidFill>
                      <a:schemeClr val="tx1"/>
                    </a:solidFill>
                    <a:effectLst/>
                    <a:latin typeface="+mn-lt"/>
                    <a:ea typeface="+mn-ea"/>
                    <a:cs typeface="+mn-cs"/>
                  </a:rPr>
                  <a:t>以及力矩，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将作用在刚体上的力和力矩的总和表达为</a:t>
                </a:r>
                <a:r>
                  <a:rPr lang="zh-CN" altLang="zh-CN" sz="1200" b="1" kern="1200" dirty="0" smtClean="0">
                    <a:solidFill>
                      <a:schemeClr val="tx1"/>
                    </a:solidFill>
                    <a:effectLst/>
                    <a:latin typeface="+mn-lt"/>
                    <a:ea typeface="+mn-ea"/>
                    <a:cs typeface="+mn-cs"/>
                  </a:rPr>
                  <a:t>力旋量</a:t>
                </a:r>
                <a:r>
                  <a:rPr lang="en-US" altLang="zh-CN" sz="1200" kern="1200" dirty="0" smtClean="0">
                    <a:solidFill>
                      <a:schemeClr val="tx1"/>
                    </a:solidFill>
                    <a:effectLst/>
                    <a:latin typeface="+mn-lt"/>
                    <a:ea typeface="+mn-ea"/>
                    <a:cs typeface="+mn-cs"/>
                  </a:rPr>
                  <a:t>(</a:t>
                </a:r>
                <a:r>
                  <a:rPr lang="en-US" altLang="zh-CN" sz="1200" i="1" kern="1200" dirty="0" smtClean="0">
                    <a:solidFill>
                      <a:schemeClr val="tx1"/>
                    </a:solidFill>
                    <a:effectLst/>
                    <a:latin typeface="+mn-lt"/>
                    <a:ea typeface="+mn-ea"/>
                    <a:cs typeface="+mn-cs"/>
                  </a:rPr>
                  <a:t>Wrench</a:t>
                </a:r>
                <a:r>
                  <a:rPr lang="en-US" altLang="zh-CN" sz="1200" kern="1200" dirty="0" smtClean="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从质点的力分析角度出发，推导单刚体运动旋量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力旋量方程。刚体可以被表达为由多个刚性连接的质点组成，其中质点</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的质量为</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，刚体的总质量</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∑2</a:t>
                </a:r>
                <a:r>
                  <a:rPr lang="en-US" altLang="zh-CN" sz="1200" i="0" kern="1200">
                    <a:solidFill>
                      <a:schemeClr val="tx1"/>
                    </a:solidFill>
                    <a:effectLst/>
                    <a:latin typeface="+mn-lt"/>
                    <a:ea typeface="+mn-ea"/>
                    <a:cs typeface="+mn-cs"/>
                  </a:rPr>
                  <a:t>_𝑗▒𝑚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a:t>
                </a:r>
                <a:r>
                  <a:rPr lang="zh-CN" altLang="zh-CN" sz="1200" kern="1200" dirty="0">
                    <a:solidFill>
                      <a:schemeClr val="tx1"/>
                    </a:solidFill>
                    <a:effectLst/>
                    <a:latin typeface="+mn-lt"/>
                    <a:ea typeface="+mn-ea"/>
                    <a:cs typeface="+mn-cs"/>
                  </a:rPr>
                  <a:t>。将物体坐标系</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建立在刚体质心，如图</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，每个质点在物体坐标系中的位置为</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，则</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i="0" kern="1200" smtClean="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smtClean="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a:t>
                </a:r>
                <a:r>
                  <a:rPr lang="zh-CN" altLang="zh-CN" sz="1200" i="0" kern="1200" smtClean="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运动旋量的概念已在第三章进行介绍。在物体坐标系下，运动旋量为</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，其为角速度和线速度的组合。想要分析质点</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的受力情况，还需要计算质点</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的加速度。参考图</a:t>
                </a:r>
                <a:r>
                  <a:rPr lang="en-US" altLang="zh-CN" sz="1200" kern="1200" dirty="0">
                    <a:solidFill>
                      <a:schemeClr val="tx1"/>
                    </a:solidFill>
                    <a:effectLst/>
                    <a:latin typeface="+mn-lt"/>
                    <a:ea typeface="+mn-ea"/>
                    <a:cs typeface="+mn-cs"/>
                  </a:rPr>
                  <a:t>4.5</a:t>
                </a:r>
                <a:r>
                  <a:rPr lang="zh-CN" altLang="zh-CN" sz="1200" kern="1200" dirty="0">
                    <a:solidFill>
                      <a:schemeClr val="tx1"/>
                    </a:solidFill>
                    <a:effectLst/>
                    <a:latin typeface="+mn-lt"/>
                    <a:ea typeface="+mn-ea"/>
                    <a:cs typeface="+mn-cs"/>
                  </a:rPr>
                  <a:t>，假设</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(𝑡)</a:t>
                </a:r>
                <a:r>
                  <a:rPr lang="zh-CN" altLang="zh-CN" sz="1200" kern="1200" dirty="0">
                    <a:solidFill>
                      <a:schemeClr val="tx1"/>
                    </a:solidFill>
                    <a:effectLst/>
                    <a:latin typeface="+mn-lt"/>
                    <a:ea typeface="+mn-ea"/>
                    <a:cs typeface="+mn-cs"/>
                  </a:rPr>
                  <a:t>为质点</a:t>
                </a:r>
                <a:r>
                  <a:rPr lang="en-US" altLang="zh-CN" sz="1200" i="0" kern="120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的时变位置，其初始位置为</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那么</a:t>
                </a:r>
                <a:r>
                  <a:rPr lang="zh-CN" altLang="en-US" sz="1200" kern="1200" dirty="0" smtClean="0">
                    <a:solidFill>
                      <a:schemeClr val="tx1"/>
                    </a:solidFill>
                    <a:effectLst/>
                    <a:latin typeface="+mn-lt"/>
                    <a:ea typeface="+mn-ea"/>
                    <a:cs typeface="+mn-cs"/>
                  </a:rPr>
                  <a:t>计算</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 ̇</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en-US" sz="1200" i="0" kern="1200" smtClean="0">
                    <a:solidFill>
                      <a:schemeClr val="tx1"/>
                    </a:solidFill>
                    <a:effectLst/>
                    <a:latin typeface="Cambria Math" panose="02040503050406030204" pitchFamily="18" charset="0"/>
                    <a:ea typeface="+mn-ea"/>
                    <a:cs typeface="+mn-cs"/>
                  </a:rPr>
                  <a:t> </a:t>
                </a:r>
                <a:r>
                  <a:rPr lang="zh-CN" altLang="en-US" sz="1200" i="0" smtClean="0">
                    <a:latin typeface="Cambria Math" panose="02040503050406030204" pitchFamily="18" charset="0"/>
                  </a:rPr>
                  <a:t>和</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 ̈</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en-US" dirty="0" smtClean="0"/>
                  <a:t> ，</a:t>
                </a:r>
                <a:r>
                  <a:rPr lang="zh-CN" altLang="zh-CN" sz="1200" kern="1200" dirty="0" smtClean="0">
                    <a:solidFill>
                      <a:schemeClr val="tx1"/>
                    </a:solidFill>
                    <a:effectLst/>
                    <a:latin typeface="+mn-lt"/>
                    <a:ea typeface="+mn-ea"/>
                    <a:cs typeface="+mn-cs"/>
                  </a:rPr>
                  <a:t>将上式中的</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替换，同时将</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写成反对称矩阵的形式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，可将</a:t>
                </a:r>
                <a:r>
                  <a:rPr lang="en-US" altLang="zh-CN" sz="1200" kern="1200" dirty="0">
                    <a:solidFill>
                      <a:schemeClr val="tx1"/>
                    </a:solidFill>
                    <a:effectLst/>
                    <a:latin typeface="+mn-lt"/>
                    <a:ea typeface="+mn-ea"/>
                    <a:cs typeface="+mn-cs"/>
                  </a:rPr>
                  <a:t>(4-35)</a:t>
                </a:r>
                <a:r>
                  <a:rPr lang="zh-CN" altLang="zh-CN" sz="1200" kern="1200" dirty="0" smtClean="0">
                    <a:solidFill>
                      <a:schemeClr val="tx1"/>
                    </a:solidFill>
                    <a:effectLst/>
                    <a:latin typeface="+mn-lt"/>
                    <a:ea typeface="+mn-ea"/>
                    <a:cs typeface="+mn-cs"/>
                  </a:rPr>
                  <a:t>改写</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根据牛顿第二定律：</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𝑗</a:t>
                </a:r>
                <a:r>
                  <a:rPr lang="zh-CN"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计算</a:t>
                </a:r>
                <a:r>
                  <a:rPr lang="zh-CN" altLang="zh-CN" sz="1200" kern="1200" dirty="0" smtClean="0">
                    <a:solidFill>
                      <a:schemeClr val="tx1"/>
                    </a:solidFill>
                    <a:effectLst/>
                    <a:latin typeface="+mn-lt"/>
                    <a:ea typeface="+mn-ea"/>
                    <a:cs typeface="+mn-cs"/>
                  </a:rPr>
                  <a:t>作用</a:t>
                </a:r>
                <a:r>
                  <a:rPr lang="zh-CN" altLang="zh-CN" sz="1200" kern="1200" dirty="0">
                    <a:solidFill>
                      <a:schemeClr val="tx1"/>
                    </a:solidFill>
                    <a:effectLst/>
                    <a:latin typeface="+mn-lt"/>
                    <a:ea typeface="+mn-ea"/>
                    <a:cs typeface="+mn-cs"/>
                  </a:rPr>
                  <a:t>在质点</a:t>
                </a:r>
                <a:r>
                  <a:rPr lang="en-US" altLang="zh-CN" sz="1200" i="0" kern="120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上的</a:t>
                </a:r>
                <a:r>
                  <a:rPr lang="zh-CN" altLang="zh-CN" sz="1200" kern="1200" dirty="0" smtClean="0">
                    <a:solidFill>
                      <a:schemeClr val="tx1"/>
                    </a:solidFill>
                    <a:effectLst/>
                    <a:latin typeface="+mn-lt"/>
                    <a:ea typeface="+mn-ea"/>
                    <a:cs typeface="+mn-cs"/>
                  </a:rPr>
                  <a:t>力</a:t>
                </a:r>
                <a:r>
                  <a:rPr lang="zh-CN" altLang="en-US" sz="1200" kern="1200" dirty="0" smtClean="0">
                    <a:solidFill>
                      <a:schemeClr val="tx1"/>
                    </a:solidFill>
                    <a:effectLst/>
                    <a:latin typeface="+mn-lt"/>
                    <a:ea typeface="+mn-ea"/>
                    <a:cs typeface="+mn-cs"/>
                  </a:rPr>
                  <a:t>以及力矩，</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将作用在刚体上的力和力矩的总和表达为</a:t>
                </a:r>
                <a:r>
                  <a:rPr lang="zh-CN" altLang="zh-CN" sz="1200" b="1" kern="1200" dirty="0" smtClean="0">
                    <a:solidFill>
                      <a:schemeClr val="tx1"/>
                    </a:solidFill>
                    <a:effectLst/>
                    <a:latin typeface="+mn-lt"/>
                    <a:ea typeface="+mn-ea"/>
                    <a:cs typeface="+mn-cs"/>
                  </a:rPr>
                  <a:t>力旋量</a:t>
                </a:r>
                <a:r>
                  <a:rPr lang="en-US" altLang="zh-CN" sz="1200" kern="1200" dirty="0" smtClean="0">
                    <a:solidFill>
                      <a:schemeClr val="tx1"/>
                    </a:solidFill>
                    <a:effectLst/>
                    <a:latin typeface="+mn-lt"/>
                    <a:ea typeface="+mn-ea"/>
                    <a:cs typeface="+mn-cs"/>
                  </a:rPr>
                  <a:t>(</a:t>
                </a:r>
                <a:r>
                  <a:rPr lang="en-US" altLang="zh-CN" sz="1200" i="1" kern="1200" dirty="0" smtClean="0">
                    <a:solidFill>
                      <a:schemeClr val="tx1"/>
                    </a:solidFill>
                    <a:effectLst/>
                    <a:latin typeface="+mn-lt"/>
                    <a:ea typeface="+mn-ea"/>
                    <a:cs typeface="+mn-cs"/>
                  </a:rPr>
                  <a:t>Wrench</a:t>
                </a:r>
                <a:r>
                  <a:rPr lang="en-US" altLang="zh-CN" sz="1200" kern="1200" dirty="0" smtClean="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extLst>
      <p:ext uri="{BB962C8B-B14F-4D97-AF65-F5344CB8AC3E}">
        <p14:creationId xmlns:p14="http://schemas.microsoft.com/office/powerpoint/2010/main" val="1713886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力旋量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ℱ</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可以理解为包含平移项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以及旋转项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。对这两项进行简化推导，先针对平移项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𝐹</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对于反对称矩阵计算来说，</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a</m:t>
                    </m:r>
                    <m:r>
                      <a:rPr lang="en-US" altLang="zh-CN" sz="1200" kern="1200">
                        <a:solidFill>
                          <a:schemeClr val="tx1"/>
                        </a:solidFill>
                        <a:effectLst/>
                        <a:latin typeface="Cambria Math" panose="02040503050406030204" pitchFamily="18" charset="0"/>
                        <a:ea typeface="+mn-ea"/>
                        <a:cs typeface="+mn-cs"/>
                      </a:rPr>
                      <m:t>, </m:t>
                    </m:r>
                    <m:r>
                      <m:rPr>
                        <m:sty m:val="p"/>
                      </m:rPr>
                      <a:rPr lang="en-US" altLang="zh-CN" sz="1200" kern="1200">
                        <a:solidFill>
                          <a:schemeClr val="tx1"/>
                        </a:solidFill>
                        <a:effectLst/>
                        <a:latin typeface="Cambria Math" panose="02040503050406030204" pitchFamily="18" charset="0"/>
                        <a:ea typeface="+mn-ea"/>
                        <a:cs typeface="+mn-cs"/>
                      </a:rPr>
                      <m:t>b</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3</m:t>
                        </m:r>
                      </m:sup>
                    </m:sSup>
                  </m:oMath>
                </a14:m>
                <a:r>
                  <a:rPr lang="zh-CN" altLang="zh-CN" sz="1200" kern="1200" dirty="0">
                    <a:solidFill>
                      <a:schemeClr val="tx1"/>
                    </a:solidFill>
                    <a:effectLst/>
                    <a:latin typeface="+mn-lt"/>
                    <a:ea typeface="+mn-ea"/>
                    <a:cs typeface="+mn-cs"/>
                  </a:rPr>
                  <a:t>，</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𝑎</m:t>
                        </m:r>
                      </m:e>
                    </m:d>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𝑎</m:t>
                            </m:r>
                          </m:e>
                        </m:d>
                      </m:e>
                      <m:sup>
                        <m:r>
                          <a:rPr lang="en-US" altLang="zh-CN" sz="1200" i="1" kern="1200">
                            <a:solidFill>
                              <a:schemeClr val="tx1"/>
                            </a:solidFill>
                            <a:effectLst/>
                            <a:latin typeface="Cambria Math" panose="02040503050406030204" pitchFamily="18" charset="0"/>
                            <a:ea typeface="+mn-ea"/>
                            <a:cs typeface="+mn-cs"/>
                          </a:rPr>
                          <m:t>𝑇</m:t>
                        </m:r>
                      </m:sup>
                    </m:sSup>
                    <m:r>
                      <a:rPr lang="en-US" altLang="zh-CN" sz="1200" i="1" kern="1200">
                        <a:solidFill>
                          <a:schemeClr val="tx1"/>
                        </a:solidFill>
                        <a:effectLst/>
                        <a:latin typeface="Cambria Math" panose="02040503050406030204" pitchFamily="18" charset="0"/>
                        <a:ea typeface="+mn-ea"/>
                        <a:cs typeface="+mn-cs"/>
                      </a:rPr>
                      <m:t>, </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𝑎</m:t>
                        </m:r>
                      </m:e>
                    </m:d>
                    <m:r>
                      <a:rPr lang="en-US" altLang="zh-CN" sz="1200" i="1" kern="1200">
                        <a:solidFill>
                          <a:schemeClr val="tx1"/>
                        </a:solidFill>
                        <a:effectLst/>
                        <a:latin typeface="Cambria Math" panose="02040503050406030204" pitchFamily="18" charset="0"/>
                        <a:ea typeface="+mn-ea"/>
                        <a:cs typeface="+mn-cs"/>
                      </a:rPr>
                      <m:t>𝑏</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r>
                      <a:rPr lang="en-US" altLang="zh-CN" sz="1200" i="1" kern="1200">
                        <a:solidFill>
                          <a:schemeClr val="tx1"/>
                        </a:solidFill>
                        <a:effectLst/>
                        <a:latin typeface="Cambria Math" panose="02040503050406030204" pitchFamily="18" charset="0"/>
                        <a:ea typeface="+mn-ea"/>
                        <a:cs typeface="+mn-cs"/>
                      </a:rPr>
                      <m:t>𝑎</m:t>
                    </m:r>
                    <m:r>
                      <a:rPr lang="en-US" altLang="zh-CN" sz="1200" i="1" kern="1200">
                        <a:solidFill>
                          <a:schemeClr val="tx1"/>
                        </a:solidFill>
                        <a:effectLst/>
                        <a:latin typeface="Cambria Math" panose="02040503050406030204" pitchFamily="18" charset="0"/>
                        <a:ea typeface="+mn-ea"/>
                        <a:cs typeface="+mn-cs"/>
                      </a:rPr>
                      <m:t>, </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𝑎</m:t>
                        </m:r>
                      </m:e>
                    </m:d>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𝑏</m:t>
                            </m:r>
                          </m:e>
                        </m:d>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𝑎</m:t>
                            </m:r>
                          </m:e>
                        </m:d>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。而且</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nary>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，导致</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，所以：</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e>
                      </m:d>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oMath>
                  </m:oMathPara>
                </a14:m>
                <a:endParaRPr lang="zh-CN" altLang="zh-CN" sz="1200" kern="1200" dirty="0">
                  <a:solidFill>
                    <a:schemeClr val="tx1"/>
                  </a:solidFill>
                  <a:effectLst/>
                  <a:latin typeface="+mn-lt"/>
                  <a:ea typeface="+mn-ea"/>
                  <a:cs typeface="+mn-cs"/>
                </a:endParaRP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4-21</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在上式中，针对平移项，我们只关注线性速度与线性加速度，所以有</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以及</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针对旋转项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𝑁</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d>
                        <m:dPr>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同样地在旋转项中，我们也只关注角速度与角加速度，所以有</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，所以旋转项简化为：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𝑇</m:t>
                              </m:r>
                            </m:sup>
                          </m:sSup>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e>
                            <m:sup>
                              <m:r>
                                <a:rPr lang="en-US" altLang="zh-CN" sz="1200" i="1" kern="1200">
                                  <a:solidFill>
                                    <a:schemeClr val="tx1"/>
                                  </a:solidFill>
                                  <a:effectLst/>
                                  <a:latin typeface="Cambria Math" panose="02040503050406030204" pitchFamily="18" charset="0"/>
                                  <a:ea typeface="+mn-ea"/>
                                  <a:cs typeface="+mn-cs"/>
                                </a:rPr>
                                <m:t>𝑇</m:t>
                              </m:r>
                            </m:sup>
                          </m:sSup>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e>
                      </m:d>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e>
                    </m:nary>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𝑖</m:t>
                                </m:r>
                              </m:sub>
                            </m:sSub>
                          </m:e>
                        </m:d>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3</m:t>
                        </m:r>
                      </m:sup>
                    </m:sSup>
                  </m:oMath>
                </a14:m>
                <a:r>
                  <a:rPr lang="zh-CN" altLang="zh-CN" sz="1200" kern="1200" dirty="0">
                    <a:solidFill>
                      <a:schemeClr val="tx1"/>
                    </a:solidFill>
                    <a:effectLst/>
                    <a:latin typeface="+mn-lt"/>
                    <a:ea typeface="+mn-ea"/>
                    <a:cs typeface="+mn-cs"/>
                  </a:rPr>
                  <a:t>就是刚体的转动惯量矩阵，所以旋转项简化形式为：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𝑏</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𝑏</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𝑏</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4-13</a:t>
                </a:r>
                <a:r>
                  <a:rPr lang="zh-CN" altLang="zh-CN" sz="1200" kern="1200" dirty="0">
                    <a:solidFill>
                      <a:schemeClr val="tx1"/>
                    </a:solidFill>
                    <a:effectLst/>
                    <a:latin typeface="+mn-lt"/>
                    <a:ea typeface="+mn-ea"/>
                    <a:cs typeface="+mn-cs"/>
                  </a:rPr>
                  <a:t>）没有区别，都是建立在角动量定理的基础上，表示旋转运动的欧拉方程。</a:t>
                </a:r>
              </a:p>
              <a:p>
                <a:r>
                  <a:rPr lang="zh-CN" altLang="zh-CN" sz="1200" kern="1200" dirty="0">
                    <a:solidFill>
                      <a:schemeClr val="tx1"/>
                    </a:solidFill>
                    <a:effectLst/>
                    <a:latin typeface="+mn-lt"/>
                    <a:ea typeface="+mn-ea"/>
                    <a:cs typeface="+mn-cs"/>
                  </a:rPr>
                  <a:t>至此，推导出（</a:t>
                </a:r>
                <a:r>
                  <a:rPr lang="en-US" altLang="zh-CN" sz="1200" kern="1200" dirty="0">
                    <a:solidFill>
                      <a:schemeClr val="tx1"/>
                    </a:solidFill>
                    <a:effectLst/>
                    <a:latin typeface="+mn-lt"/>
                    <a:ea typeface="+mn-ea"/>
                    <a:cs typeface="+mn-cs"/>
                  </a:rPr>
                  <a:t>4-21</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）为使用力旋量表达的单刚体牛顿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a:t>
                </a:r>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力旋量</a:t>
                </a:r>
                <a:r>
                  <a:rPr lang="en-US" altLang="zh-CN" sz="1200" i="0" kern="1200">
                    <a:solidFill>
                      <a:schemeClr val="tx1"/>
                    </a:solidFill>
                    <a:effectLst/>
                    <a:latin typeface="+mn-lt"/>
                    <a:ea typeface="+mn-ea"/>
                    <a:cs typeface="+mn-cs"/>
                  </a:rPr>
                  <a:t>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可以理解为包含平移项</a:t>
                </a:r>
                <a:r>
                  <a:rPr lang="en-US" altLang="zh-CN" sz="1200" i="0" kern="1200">
                    <a:solidFill>
                      <a:schemeClr val="tx1"/>
                    </a:solidFill>
                    <a:effectLst/>
                    <a:latin typeface="+mn-lt"/>
                    <a:ea typeface="+mn-ea"/>
                    <a:cs typeface="+mn-cs"/>
                  </a:rPr>
                  <a:t>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以及旋转项</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。对这两项进行简化推导，先针对平移项</a:t>
                </a:r>
                <a:r>
                  <a:rPr lang="en-US" altLang="zh-CN" sz="1200" i="0" kern="1200">
                    <a:solidFill>
                      <a:schemeClr val="tx1"/>
                    </a:solidFill>
                    <a:effectLst/>
                    <a:latin typeface="+mn-lt"/>
                    <a:ea typeface="+mn-ea"/>
                    <a:cs typeface="+mn-cs"/>
                  </a:rPr>
                  <a:t>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对于反对称矩阵计算来说，</a:t>
                </a:r>
                <a:r>
                  <a:rPr lang="en-US" altLang="zh-CN" sz="1200" i="0" kern="1200">
                    <a:solidFill>
                      <a:schemeClr val="tx1"/>
                    </a:solidFill>
                    <a:effectLst/>
                    <a:latin typeface="+mn-lt"/>
                    <a:ea typeface="+mn-ea"/>
                    <a:cs typeface="+mn-cs"/>
                  </a:rPr>
                  <a:t>a, b∈ℝ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𝑏]𝑎,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。而且</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，导致</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]=0</a:t>
                </a:r>
                <a:r>
                  <a:rPr lang="zh-CN" altLang="zh-CN" sz="1200" kern="1200" dirty="0">
                    <a:solidFill>
                      <a:schemeClr val="tx1"/>
                    </a:solidFill>
                    <a:effectLst/>
                    <a:latin typeface="+mn-lt"/>
                    <a:ea typeface="+mn-ea"/>
                    <a:cs typeface="+mn-cs"/>
                  </a:rPr>
                  <a:t>，所以：</a:t>
                </a:r>
              </a:p>
              <a:p>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4-21</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在上式中，针对平移项，我们只关注线性速度与线性加速度，所以有</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𝑏=0</a:t>
                </a:r>
                <a:r>
                  <a:rPr lang="zh-CN" altLang="zh-CN" sz="1200" kern="1200" dirty="0">
                    <a:solidFill>
                      <a:schemeClr val="tx1"/>
                    </a:solidFill>
                    <a:effectLst/>
                    <a:latin typeface="+mn-lt"/>
                    <a:ea typeface="+mn-ea"/>
                    <a:cs typeface="+mn-cs"/>
                  </a:rPr>
                  <a:t>以及</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针对旋转项</a:t>
                </a:r>
                <a:r>
                  <a:rPr lang="en-US" altLang="zh-CN" sz="1200" i="0" kern="1200">
                    <a:solidFill>
                      <a:schemeClr val="tx1"/>
                    </a:solidFill>
                    <a:effectLst/>
                    <a:latin typeface="+mn-lt"/>
                    <a:ea typeface="+mn-ea"/>
                    <a:cs typeface="+mn-cs"/>
                  </a:rPr>
                  <a:t>𝑁</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同样地在旋转项中，我们也只关注角速度与角加速度，所以有</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𝑏=0</a:t>
                </a:r>
                <a:r>
                  <a:rPr lang="zh-CN" altLang="zh-CN" sz="1200" kern="1200" dirty="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𝑏=0</a:t>
                </a:r>
                <a:r>
                  <a:rPr lang="zh-CN" altLang="zh-CN" sz="1200" kern="1200" dirty="0">
                    <a:solidFill>
                      <a:schemeClr val="tx1"/>
                    </a:solidFill>
                    <a:effectLst/>
                    <a:latin typeface="+mn-lt"/>
                    <a:ea typeface="+mn-ea"/>
                    <a:cs typeface="+mn-cs"/>
                  </a:rPr>
                  <a:t>，所以旋转项简化为：</a:t>
                </a:r>
              </a:p>
              <a:p>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而</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_𝑖▒𝑚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就是刚体的转动惯量矩阵，所以旋转项简化形式为：</a:t>
                </a:r>
              </a:p>
              <a:p>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4-13</a:t>
                </a:r>
                <a:r>
                  <a:rPr lang="zh-CN" altLang="zh-CN" sz="1200" kern="1200" dirty="0">
                    <a:solidFill>
                      <a:schemeClr val="tx1"/>
                    </a:solidFill>
                    <a:effectLst/>
                    <a:latin typeface="+mn-lt"/>
                    <a:ea typeface="+mn-ea"/>
                    <a:cs typeface="+mn-cs"/>
                  </a:rPr>
                  <a:t>）没有区别，都是建立在角动量定理的基础上，表示旋转运动的欧拉方程。</a:t>
                </a:r>
              </a:p>
              <a:p>
                <a:r>
                  <a:rPr lang="zh-CN" altLang="zh-CN" sz="1200" kern="1200" dirty="0">
                    <a:solidFill>
                      <a:schemeClr val="tx1"/>
                    </a:solidFill>
                    <a:effectLst/>
                    <a:latin typeface="+mn-lt"/>
                    <a:ea typeface="+mn-ea"/>
                    <a:cs typeface="+mn-cs"/>
                  </a:rPr>
                  <a:t>至此，推导出（</a:t>
                </a:r>
                <a:r>
                  <a:rPr lang="en-US" altLang="zh-CN" sz="1200" kern="1200" dirty="0">
                    <a:solidFill>
                      <a:schemeClr val="tx1"/>
                    </a:solidFill>
                    <a:effectLst/>
                    <a:latin typeface="+mn-lt"/>
                    <a:ea typeface="+mn-ea"/>
                    <a:cs typeface="+mn-cs"/>
                  </a:rPr>
                  <a:t>4-21</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4-22</a:t>
                </a:r>
                <a:r>
                  <a:rPr lang="zh-CN" altLang="zh-CN" sz="1200" kern="1200" dirty="0">
                    <a:solidFill>
                      <a:schemeClr val="tx1"/>
                    </a:solidFill>
                    <a:effectLst/>
                    <a:latin typeface="+mn-lt"/>
                    <a:ea typeface="+mn-ea"/>
                    <a:cs typeface="+mn-cs"/>
                  </a:rPr>
                  <a:t>）为使用力旋量表达的单刚体牛顿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extLst>
      <p:ext uri="{BB962C8B-B14F-4D97-AF65-F5344CB8AC3E}">
        <p14:creationId xmlns:p14="http://schemas.microsoft.com/office/powerpoint/2010/main" val="17507522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将公式</a:t>
                </a:r>
                <a:r>
                  <a:rPr lang="en-US" altLang="zh-CN" sz="1200" kern="1200" dirty="0" smtClean="0">
                    <a:solidFill>
                      <a:schemeClr val="tx1"/>
                    </a:solidFill>
                    <a:effectLst/>
                    <a:latin typeface="+mn-lt"/>
                    <a:ea typeface="+mn-ea"/>
                    <a:cs typeface="+mn-cs"/>
                  </a:rPr>
                  <a:t>(4-40)</a:t>
                </a:r>
                <a:r>
                  <a:rPr lang="zh-CN" altLang="zh-CN" sz="1200" kern="1200" dirty="0" smtClean="0">
                    <a:solidFill>
                      <a:schemeClr val="tx1"/>
                    </a:solidFill>
                    <a:effectLst/>
                    <a:latin typeface="+mn-lt"/>
                    <a:ea typeface="+mn-ea"/>
                    <a:cs typeface="+mn-cs"/>
                  </a:rPr>
                  <a:t>与</a:t>
                </a:r>
                <a:r>
                  <a:rPr lang="en-US" altLang="zh-CN" sz="1200" kern="1200" dirty="0" smtClean="0">
                    <a:solidFill>
                      <a:schemeClr val="tx1"/>
                    </a:solidFill>
                    <a:effectLst/>
                    <a:latin typeface="+mn-lt"/>
                    <a:ea typeface="+mn-ea"/>
                    <a:cs typeface="+mn-cs"/>
                  </a:rPr>
                  <a:t>(4-42)</a:t>
                </a:r>
                <a:r>
                  <a:rPr lang="zh-CN" altLang="zh-CN" sz="1200" kern="1200" dirty="0" smtClean="0">
                    <a:solidFill>
                      <a:schemeClr val="tx1"/>
                    </a:solidFill>
                    <a:effectLst/>
                    <a:latin typeface="+mn-lt"/>
                    <a:ea typeface="+mn-ea"/>
                    <a:cs typeface="+mn-cs"/>
                  </a:rPr>
                  <a:t>表示的牛顿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欧拉方程写成下面的组合形式</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𝐼</m:t>
                    </m:r>
                  </m:oMath>
                </a14:m>
                <a:r>
                  <a:rPr lang="zh-CN" altLang="zh-CN" sz="1200" kern="1200" dirty="0">
                    <a:solidFill>
                      <a:schemeClr val="tx1"/>
                    </a:solidFill>
                    <a:effectLst/>
                    <a:latin typeface="+mn-lt"/>
                    <a:ea typeface="+mn-ea"/>
                    <a:cs typeface="+mn-cs"/>
                  </a:rPr>
                  <a:t>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3×3</m:t>
                    </m:r>
                  </m:oMath>
                </a14:m>
                <a:r>
                  <a:rPr lang="zh-CN" altLang="zh-CN" sz="1200" kern="1200" dirty="0">
                    <a:solidFill>
                      <a:schemeClr val="tx1"/>
                    </a:solidFill>
                    <a:effectLst/>
                    <a:latin typeface="+mn-lt"/>
                    <a:ea typeface="+mn-ea"/>
                    <a:cs typeface="+mn-cs"/>
                  </a:rPr>
                  <a:t>的单位矩阵。利用反对称矩阵特性，将上式等价为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在这个组合表示式中，定义几个六维空间向量</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刚体运动旋量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和刚体力旋量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ℱ</m:t>
                        </m:r>
                      </m:e>
                      <m:sub>
                        <m:r>
                          <a:rPr lang="en-US" altLang="zh-CN" sz="1200" i="1" kern="1200">
                            <a:solidFill>
                              <a:schemeClr val="tx1"/>
                            </a:solidFill>
                            <a:effectLst/>
                            <a:latin typeface="Cambria Math" panose="02040503050406030204" pitchFamily="18" charset="0"/>
                            <a:ea typeface="+mn-ea"/>
                            <a:cs typeface="+mn-cs"/>
                          </a:rPr>
                          <m:t>𝑏</m:t>
                        </m:r>
                      </m:sub>
                    </m:sSub>
                  </m:oMath>
                </a14:m>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空间惯量矩阵</a:t>
                </a:r>
                <a:r>
                  <a:rPr lang="en-US" altLang="zh-CN" sz="1200" kern="1200" dirty="0">
                    <a:solidFill>
                      <a:schemeClr val="tx1"/>
                    </a:solidFill>
                    <a:effectLst/>
                    <a:latin typeface="+mn-lt"/>
                    <a:ea typeface="+mn-ea"/>
                    <a:cs typeface="+mn-cs"/>
                  </a:rPr>
                  <a:t>(spatial inertia matrix)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ℊ</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6×6</m:t>
                        </m:r>
                      </m:sup>
                    </m:sSup>
                  </m:oMath>
                </a14:m>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空间动量</a:t>
                </a:r>
                <a:r>
                  <a:rPr lang="en-US" altLang="zh-CN" sz="1200" kern="1200" dirty="0">
                    <a:solidFill>
                      <a:schemeClr val="tx1"/>
                    </a:solidFill>
                    <a:effectLst/>
                    <a:latin typeface="+mn-lt"/>
                    <a:ea typeface="+mn-ea"/>
                    <a:cs typeface="+mn-cs"/>
                  </a:rPr>
                  <a:t>(spatial momentum)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𝒫</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6</m:t>
                        </m:r>
                      </m:sup>
                    </m:sSup>
                  </m:oMath>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将公式</a:t>
                </a:r>
                <a:r>
                  <a:rPr lang="en-US" altLang="zh-CN" sz="1200" kern="1200" dirty="0" smtClean="0">
                    <a:solidFill>
                      <a:schemeClr val="tx1"/>
                    </a:solidFill>
                    <a:effectLst/>
                    <a:latin typeface="+mn-lt"/>
                    <a:ea typeface="+mn-ea"/>
                    <a:cs typeface="+mn-cs"/>
                  </a:rPr>
                  <a:t>(4-40)</a:t>
                </a:r>
                <a:r>
                  <a:rPr lang="zh-CN" altLang="zh-CN" sz="1200" kern="1200" dirty="0" smtClean="0">
                    <a:solidFill>
                      <a:schemeClr val="tx1"/>
                    </a:solidFill>
                    <a:effectLst/>
                    <a:latin typeface="+mn-lt"/>
                    <a:ea typeface="+mn-ea"/>
                    <a:cs typeface="+mn-cs"/>
                  </a:rPr>
                  <a:t>与</a:t>
                </a:r>
                <a:r>
                  <a:rPr lang="en-US" altLang="zh-CN" sz="1200" kern="1200" dirty="0" smtClean="0">
                    <a:solidFill>
                      <a:schemeClr val="tx1"/>
                    </a:solidFill>
                    <a:effectLst/>
                    <a:latin typeface="+mn-lt"/>
                    <a:ea typeface="+mn-ea"/>
                    <a:cs typeface="+mn-cs"/>
                  </a:rPr>
                  <a:t>(4-42)</a:t>
                </a:r>
                <a:r>
                  <a:rPr lang="zh-CN" altLang="zh-CN" sz="1200" kern="1200" dirty="0" smtClean="0">
                    <a:solidFill>
                      <a:schemeClr val="tx1"/>
                    </a:solidFill>
                    <a:effectLst/>
                    <a:latin typeface="+mn-lt"/>
                    <a:ea typeface="+mn-ea"/>
                    <a:cs typeface="+mn-cs"/>
                  </a:rPr>
                  <a:t>表示的牛顿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欧拉方程写成下面的组合形式</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𝐼</a:t>
                </a:r>
                <a:r>
                  <a:rPr lang="zh-CN" altLang="zh-CN" sz="1200" kern="1200" dirty="0">
                    <a:solidFill>
                      <a:schemeClr val="tx1"/>
                    </a:solidFill>
                    <a:effectLst/>
                    <a:latin typeface="+mn-lt"/>
                    <a:ea typeface="+mn-ea"/>
                    <a:cs typeface="+mn-cs"/>
                  </a:rPr>
                  <a:t>为</a:t>
                </a:r>
                <a:r>
                  <a:rPr lang="en-US" altLang="zh-CN" sz="1200" i="0" kern="120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的单位矩阵。利用反对称矩阵特性，将上式等价为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在这个组合表示式中，定义几个六维空间向量</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刚体运动旋量</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和刚体力旋量</a:t>
                </a:r>
                <a:r>
                  <a:rPr lang="en-US" altLang="zh-CN" sz="1200" i="0" kern="1200">
                    <a:solidFill>
                      <a:schemeClr val="tx1"/>
                    </a:solidFill>
                    <a:effectLst/>
                    <a:latin typeface="+mn-lt"/>
                    <a:ea typeface="+mn-ea"/>
                    <a:cs typeface="+mn-cs"/>
                  </a:rPr>
                  <a:t>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空间惯量矩阵</a:t>
                </a:r>
                <a:r>
                  <a:rPr lang="en-US" altLang="zh-CN" sz="1200" kern="1200" dirty="0">
                    <a:solidFill>
                      <a:schemeClr val="tx1"/>
                    </a:solidFill>
                    <a:effectLst/>
                    <a:latin typeface="+mn-lt"/>
                    <a:ea typeface="+mn-ea"/>
                    <a:cs typeface="+mn-cs"/>
                  </a:rPr>
                  <a:t>(spatial inertia matrix) </a:t>
                </a:r>
                <a:r>
                  <a:rPr lang="en-US" altLang="zh-CN" sz="1200" i="0" kern="1200">
                    <a:solidFill>
                      <a:schemeClr val="tx1"/>
                    </a:solidFill>
                    <a:effectLst/>
                    <a:latin typeface="+mn-lt"/>
                    <a:ea typeface="+mn-ea"/>
                    <a:cs typeface="+mn-cs"/>
                  </a:rPr>
                  <a:t>ℊ</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6×6</a:t>
                </a:r>
                <a:r>
                  <a:rPr lang="zh-CN" altLang="zh-CN" sz="1200" i="0" kern="120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空间动量</a:t>
                </a:r>
                <a:r>
                  <a:rPr lang="en-US" altLang="zh-CN" sz="1200" kern="1200" dirty="0">
                    <a:solidFill>
                      <a:schemeClr val="tx1"/>
                    </a:solidFill>
                    <a:effectLst/>
                    <a:latin typeface="+mn-lt"/>
                    <a:ea typeface="+mn-ea"/>
                    <a:cs typeface="+mn-cs"/>
                  </a:rPr>
                  <a:t>(spatial momentum) </a:t>
                </a:r>
                <a:r>
                  <a:rPr lang="en-US" altLang="zh-CN" sz="1200" i="0" kern="1200">
                    <a:solidFill>
                      <a:schemeClr val="tx1"/>
                    </a:solidFill>
                    <a:effectLst/>
                    <a:latin typeface="+mn-lt"/>
                    <a:ea typeface="+mn-ea"/>
                    <a:cs typeface="+mn-cs"/>
                  </a:rPr>
                  <a:t>𝒫</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extLst>
      <p:ext uri="{BB962C8B-B14F-4D97-AF65-F5344CB8AC3E}">
        <p14:creationId xmlns:p14="http://schemas.microsoft.com/office/powerpoint/2010/main" val="22892454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两个运动旋量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的叉乘运算</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，被称为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的李括号</a:t>
                </a:r>
                <a:r>
                  <a:rPr lang="en-US" altLang="zh-CN" sz="1200" kern="1200" dirty="0">
                    <a:solidFill>
                      <a:schemeClr val="tx1"/>
                    </a:solidFill>
                    <a:effectLst/>
                    <a:latin typeface="+mn-lt"/>
                    <a:ea typeface="+mn-ea"/>
                    <a:cs typeface="+mn-cs"/>
                  </a:rPr>
                  <a:t>(Lie bracket)</a:t>
                </a:r>
                <a:r>
                  <a:rPr lang="zh-CN" altLang="zh-CN" sz="1200" kern="1200" dirty="0">
                    <a:solidFill>
                      <a:schemeClr val="tx1"/>
                    </a:solidFill>
                    <a:effectLst/>
                    <a:latin typeface="+mn-lt"/>
                    <a:ea typeface="+mn-ea"/>
                    <a:cs typeface="+mn-cs"/>
                  </a:rPr>
                  <a:t>，它是黎曼几何中的一种运算，使用反对称矩阵法计算两个向量的叉乘</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e>
                    </m:d>
                  </m:oMath>
                </a14:m>
                <a:r>
                  <a:rPr lang="zh-CN" altLang="zh-CN" sz="1200" kern="1200" dirty="0">
                    <a:solidFill>
                      <a:schemeClr val="tx1"/>
                    </a:solidFill>
                    <a:effectLst/>
                    <a:latin typeface="+mn-lt"/>
                    <a:ea typeface="+mn-ea"/>
                    <a:cs typeface="+mn-cs"/>
                  </a:rPr>
                  <a:t>。将其推广到运动旋量的叉乘计算，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，那么：</a:t>
                </a:r>
                <a14:m>
                  <m:oMath xmlns:m="http://schemas.openxmlformats.org/officeDocument/2006/math">
                    <m:d>
                      <m:dPr>
                        <m:begChr m:val="["/>
                        <m:endChr m:val="]"/>
                        <m:ctrlPr>
                          <a:rPr lang="zh-CN" altLang="zh-CN" sz="1200" i="1" kern="1200" smtClean="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kern="1200" smtClean="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𝜔</m:t>
                                      </m:r>
                                    </m:e>
                                    <m:sup>
                                      <m:r>
                                        <a:rPr lang="en-US" altLang="zh-CN" sz="1200" i="1" kern="1200">
                                          <a:solidFill>
                                            <a:schemeClr val="tx1"/>
                                          </a:solidFill>
                                          <a:effectLst/>
                                          <a:latin typeface="Cambria Math" panose="02040503050406030204" pitchFamily="18" charset="0"/>
                                          <a:ea typeface="+mn-ea"/>
                                          <a:cs typeface="+mn-cs"/>
                                        </a:rPr>
                                        <m:t>′</m:t>
                                      </m:r>
                                    </m:sup>
                                  </m:sSup>
                                </m:e>
                              </m:d>
                            </m:e>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𝑣</m:t>
                                  </m:r>
                                </m:e>
                                <m:sup>
                                  <m:r>
                                    <a:rPr lang="en-US" altLang="zh-CN" sz="1200" i="1" kern="1200">
                                      <a:solidFill>
                                        <a:schemeClr val="tx1"/>
                                      </a:solidFill>
                                      <a:effectLst/>
                                      <a:latin typeface="Cambria Math" panose="02040503050406030204" pitchFamily="18" charset="0"/>
                                      <a:ea typeface="+mn-ea"/>
                                      <a:cs typeface="+mn-cs"/>
                                    </a:rPr>
                                    <m:t>′</m:t>
                                  </m:r>
                                </m:sup>
                              </m:sSup>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d>
                  </m:oMath>
                </a14:m>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两个运动旋量</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的叉乘运算</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，被称为</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的李括号</a:t>
                </a:r>
                <a:r>
                  <a:rPr lang="en-US" altLang="zh-CN" sz="1200" kern="1200" dirty="0">
                    <a:solidFill>
                      <a:schemeClr val="tx1"/>
                    </a:solidFill>
                    <a:effectLst/>
                    <a:latin typeface="+mn-lt"/>
                    <a:ea typeface="+mn-ea"/>
                    <a:cs typeface="+mn-cs"/>
                  </a:rPr>
                  <a:t>(Lie bracket)</a:t>
                </a:r>
                <a:r>
                  <a:rPr lang="zh-CN" altLang="zh-CN" sz="1200" kern="1200" dirty="0">
                    <a:solidFill>
                      <a:schemeClr val="tx1"/>
                    </a:solidFill>
                    <a:effectLst/>
                    <a:latin typeface="+mn-lt"/>
                    <a:ea typeface="+mn-ea"/>
                    <a:cs typeface="+mn-cs"/>
                  </a:rPr>
                  <a:t>，它是黎曼几何中的一种运算，使用反对称矩阵法计算两个向量的叉乘</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。将其推广到运动旋量的叉乘计算，</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，那么：</a:t>
                </a:r>
                <a:r>
                  <a:rPr lang="zh-CN" altLang="zh-CN" sz="1200" i="0" kern="1200" smtClean="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a:t>
                </a:r>
                <a:r>
                  <a:rPr lang="en-US" altLang="zh-CN" sz="1200" i="0" kern="1200" smtClean="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]&amp;𝑣</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′@0&amp;0)]</a:t>
                </a:r>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extLst>
      <p:ext uri="{BB962C8B-B14F-4D97-AF65-F5344CB8AC3E}">
        <p14:creationId xmlns:p14="http://schemas.microsoft.com/office/powerpoint/2010/main" val="40263831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由此，单刚体运动旋量</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力旋量方程</a:t>
                </a:r>
                <a:r>
                  <a:rPr lang="en-US" altLang="zh-CN" sz="1200" kern="1200" dirty="0" smtClean="0">
                    <a:solidFill>
                      <a:schemeClr val="tx1"/>
                    </a:solidFill>
                    <a:effectLst/>
                    <a:latin typeface="+mn-lt"/>
                    <a:ea typeface="+mn-ea"/>
                    <a:cs typeface="+mn-cs"/>
                  </a:rPr>
                  <a:t>(4-44)</a:t>
                </a:r>
                <a:r>
                  <a:rPr lang="zh-CN" altLang="zh-CN" sz="1200" kern="1200" dirty="0" smtClean="0">
                    <a:solidFill>
                      <a:schemeClr val="tx1"/>
                    </a:solidFill>
                    <a:effectLst/>
                    <a:latin typeface="+mn-lt"/>
                    <a:ea typeface="+mn-ea"/>
                    <a:cs typeface="+mn-cs"/>
                  </a:rPr>
                  <a:t>可以改写为：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(4-47)</a:t>
                </a:r>
                <a:r>
                  <a:rPr lang="zh-CN" altLang="zh-CN" sz="1200" kern="1200" dirty="0">
                    <a:solidFill>
                      <a:schemeClr val="tx1"/>
                    </a:solidFill>
                    <a:effectLst/>
                    <a:latin typeface="+mn-lt"/>
                    <a:ea typeface="+mn-ea"/>
                    <a:cs typeface="+mn-cs"/>
                  </a:rPr>
                  <a:t>同时包含了刚体旋转力矩和惯性力分量。该动力学方程中力旋量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ℱ</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和运动旋量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基于物体的质心坐标系，由于刚体动能与坐标系的表示无关，所以这个公式在其他坐标系（例如坐标系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）中可以等效表达</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由此，单刚体运动旋量</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力旋量方程</a:t>
                </a:r>
                <a:r>
                  <a:rPr lang="en-US" altLang="zh-CN" sz="1200" kern="1200" dirty="0" smtClean="0">
                    <a:solidFill>
                      <a:schemeClr val="tx1"/>
                    </a:solidFill>
                    <a:effectLst/>
                    <a:latin typeface="+mn-lt"/>
                    <a:ea typeface="+mn-ea"/>
                    <a:cs typeface="+mn-cs"/>
                  </a:rPr>
                  <a:t>(4-44)</a:t>
                </a:r>
                <a:r>
                  <a:rPr lang="zh-CN" altLang="zh-CN" sz="1200" kern="1200" dirty="0" smtClean="0">
                    <a:solidFill>
                      <a:schemeClr val="tx1"/>
                    </a:solidFill>
                    <a:effectLst/>
                    <a:latin typeface="+mn-lt"/>
                    <a:ea typeface="+mn-ea"/>
                    <a:cs typeface="+mn-cs"/>
                  </a:rPr>
                  <a:t>可以改写为：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(4-47)</a:t>
                </a:r>
                <a:r>
                  <a:rPr lang="zh-CN" altLang="zh-CN" sz="1200" kern="1200" dirty="0">
                    <a:solidFill>
                      <a:schemeClr val="tx1"/>
                    </a:solidFill>
                    <a:effectLst/>
                    <a:latin typeface="+mn-lt"/>
                    <a:ea typeface="+mn-ea"/>
                    <a:cs typeface="+mn-cs"/>
                  </a:rPr>
                  <a:t>同时包含了刚体旋转力矩和惯性力分量。该动力学方程中力旋量</a:t>
                </a:r>
                <a:r>
                  <a:rPr lang="en-US" altLang="zh-CN" sz="1200" i="0" kern="1200">
                    <a:solidFill>
                      <a:schemeClr val="tx1"/>
                    </a:solidFill>
                    <a:effectLst/>
                    <a:latin typeface="+mn-lt"/>
                    <a:ea typeface="+mn-ea"/>
                    <a:cs typeface="+mn-cs"/>
                  </a:rPr>
                  <a:t>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和运动旋量</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𝑏</a:t>
                </a:r>
                <a:r>
                  <a:rPr lang="zh-CN" altLang="zh-CN" sz="1200" kern="1200" dirty="0">
                    <a:solidFill>
                      <a:schemeClr val="tx1"/>
                    </a:solidFill>
                    <a:effectLst/>
                    <a:latin typeface="+mn-lt"/>
                    <a:ea typeface="+mn-ea"/>
                    <a:cs typeface="+mn-cs"/>
                  </a:rPr>
                  <a:t>基于物体的质心坐标系，由于刚体动能与坐标系的表示无关，所以这个公式在其他坐标系（例如坐标系</a:t>
                </a:r>
                <a:r>
                  <a:rPr lang="en-US" altLang="zh-CN" sz="1200" i="0" kern="120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）中可以等效表达</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extLst>
      <p:ext uri="{BB962C8B-B14F-4D97-AF65-F5344CB8AC3E}">
        <p14:creationId xmlns:p14="http://schemas.microsoft.com/office/powerpoint/2010/main" val="39949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针对多个单自由度关节组成的串联机械人，其逆动力学方程：</a:t>
                </a:r>
                <a:endParaRPr lang="zh-CN" altLang="zh-CN" sz="1200" kern="1200" dirty="0">
                  <a:solidFill>
                    <a:schemeClr val="tx1"/>
                  </a:solidFill>
                  <a:effectLst/>
                  <a:latin typeface="+mn-lt"/>
                  <a:ea typeface="+mn-ea"/>
                  <a:cs typeface="+mn-cs"/>
                </a:endParaRP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oMath>
                </a14:m>
                <a:r>
                  <a:rPr lang="en-US" altLang="zh-CN" sz="1200" kern="1200" dirty="0">
                    <a:solidFill>
                      <a:schemeClr val="tx1"/>
                    </a:solidFill>
                    <a:effectLst/>
                    <a:latin typeface="+mn-lt"/>
                    <a:ea typeface="+mn-ea"/>
                    <a:cs typeface="+mn-cs"/>
                  </a:rPr>
                  <a:t>                     (4-49)</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该逆动力学求解过程包含正向迭代和逆向迭代两个阶段。在正向迭代过程中，代入各关节的已知位置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、加速度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，根据位置的几何关系从基座向末端传递，计算连杆的速度和加速度，并采用牛顿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计算出作用在连杆质心的惯性力和力矩；在逆向迭代过程中，根据上一步计算得到的作用在各连杆质心的惯性力和力矩，将其从末端逐步向基座传递，计算出各关节的驱动力和驱动转矩。采用旋量法依然遵循这样的方法来进行。</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已知连杆质心坐标系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  ⋯, </m:t>
                    </m:r>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。基座坐标系表示为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0</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，末端执行器坐标系表示为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该坐标系在</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中固定。</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假设机械臂处于初始零位，所有的关节变量为零，将坐标系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𝑗</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中的位形表达为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可参考第三章</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在基坐标系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0</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中的位形简写为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。相连两个坐标系在对方中的位形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可以通过在绝对坐标系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0</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中的位形计算：</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b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sub>
                      </m:sSub>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b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的旋量轴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𝒮</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如前面章节所述，参考坐标系为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0</m:t>
                    </m:r>
                    <m:r>
                      <a:rPr lang="en-US" altLang="zh-CN" sz="1200" kern="1200">
                        <a:solidFill>
                          <a:schemeClr val="tx1"/>
                        </a:solidFill>
                        <a:effectLst/>
                        <a:latin typeface="Cambria Math" panose="02040503050406030204" pitchFamily="18" charset="0"/>
                        <a:ea typeface="+mn-ea"/>
                        <a:cs typeface="+mn-cs"/>
                      </a:rPr>
                      <m:t>}</m:t>
                    </m:r>
                  </m:oMath>
                </a14:m>
                <a:r>
                  <a:rPr lang="en-US"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在连杆坐标系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中表示为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𝒜</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，这两者可以通过连杆坐标系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的绝对位形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的逆的表达式进行关联。</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𝒜</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bSup>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𝒮</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(4-50)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A</m:t>
                    </m:r>
                    <m:r>
                      <a:rPr lang="en-US" altLang="zh-CN" sz="1200" i="1" kern="1200">
                        <a:solidFill>
                          <a:schemeClr val="tx1"/>
                        </a:solidFill>
                        <a:effectLst/>
                        <a:latin typeface="Cambria Math" panose="02040503050406030204" pitchFamily="18" charset="0"/>
                        <a:ea typeface="+mn-ea"/>
                        <a:cs typeface="+mn-cs"/>
                      </a:rPr>
                      <m:t>𝑑</m:t>
                    </m:r>
                  </m:oMath>
                </a14:m>
                <a:r>
                  <a:rPr lang="zh-CN" altLang="zh-CN" sz="1200" kern="1200" dirty="0">
                    <a:solidFill>
                      <a:schemeClr val="tx1"/>
                    </a:solidFill>
                    <a:effectLst/>
                    <a:latin typeface="+mn-lt"/>
                    <a:ea typeface="+mn-ea"/>
                    <a:cs typeface="+mn-cs"/>
                  </a:rPr>
                  <a:t>表示伴随矩阵。给定</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，其伴随矩阵定义为</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e>
                    </m:d>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𝑅</m:t>
                              </m:r>
                            </m:e>
                            <m:e>
                              <m:r>
                                <a:rPr lang="en-US" altLang="zh-CN" sz="1200" i="1" kern="1200">
                                  <a:solidFill>
                                    <a:schemeClr val="tx1"/>
                                  </a:solidFill>
                                  <a:effectLst/>
                                  <a:latin typeface="Cambria Math" panose="02040503050406030204" pitchFamily="18" charset="0"/>
                                  <a:ea typeface="+mn-ea"/>
                                  <a:cs typeface="+mn-cs"/>
                                </a:rPr>
                                <m:t>0</m:t>
                              </m:r>
                            </m:e>
                          </m:mr>
                          <m:m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𝑝</m:t>
                                  </m:r>
                                </m:e>
                              </m:d>
                              <m:r>
                                <a:rPr lang="en-US" altLang="zh-CN" sz="1200" i="1" kern="1200">
                                  <a:solidFill>
                                    <a:schemeClr val="tx1"/>
                                  </a:solidFill>
                                  <a:effectLst/>
                                  <a:latin typeface="Cambria Math" panose="02040503050406030204" pitchFamily="18" charset="0"/>
                                  <a:ea typeface="+mn-ea"/>
                                  <a:cs typeface="+mn-cs"/>
                                </a:rPr>
                                <m:t>𝑅</m:t>
                              </m:r>
                            </m:e>
                            <m:e>
                              <m:r>
                                <a:rPr lang="en-US" altLang="zh-CN" sz="1200" i="1" kern="1200">
                                  <a:solidFill>
                                    <a:schemeClr val="tx1"/>
                                  </a:solidFill>
                                  <a:effectLst/>
                                  <a:latin typeface="Cambria Math" panose="02040503050406030204" pitchFamily="18" charset="0"/>
                                  <a:ea typeface="+mn-ea"/>
                                  <a:cs typeface="+mn-cs"/>
                                </a:rPr>
                                <m:t>𝑅</m:t>
                              </m:r>
                            </m:e>
                          </m:mr>
                        </m:m>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6</m:t>
                        </m:r>
                      </m:sup>
                    </m:sSup>
                  </m:oMath>
                </a14:m>
                <a:r>
                  <a:rPr lang="en-US" altLang="zh-CN" sz="1200" kern="1200" dirty="0">
                    <a:solidFill>
                      <a:schemeClr val="tx1"/>
                    </a:solidFill>
                    <a:effectLst/>
                    <a:latin typeface="+mn-lt"/>
                    <a:ea typeface="+mn-ea"/>
                    <a:cs typeface="+mn-cs"/>
                  </a:rPr>
                  <a:t>                 (4-51)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对于任意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𝒱</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6</m:t>
                        </m:r>
                      </m:sup>
                    </m:sSup>
                  </m:oMath>
                </a14:m>
                <a:r>
                  <a:rPr lang="zh-CN" altLang="zh-CN" sz="1200" kern="1200" dirty="0">
                    <a:solidFill>
                      <a:schemeClr val="tx1"/>
                    </a:solidFill>
                    <a:effectLst/>
                    <a:latin typeface="+mn-lt"/>
                    <a:ea typeface="+mn-ea"/>
                    <a:cs typeface="+mn-cs"/>
                  </a:rPr>
                  <a:t>，与</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相关的伴随映射</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adjoint</a:t>
                </a:r>
                <a:r>
                  <a:rPr lang="en-US" altLang="zh-CN" sz="1200" kern="1200" dirty="0">
                    <a:solidFill>
                      <a:schemeClr val="tx1"/>
                    </a:solidFill>
                    <a:effectLst/>
                    <a:latin typeface="+mn-lt"/>
                    <a:ea typeface="+mn-ea"/>
                    <a:cs typeface="+mn-cs"/>
                  </a:rPr>
                  <a:t> map)</a:t>
                </a:r>
                <a:r>
                  <a:rPr lang="zh-CN" altLang="zh-CN" sz="1200" kern="1200" dirty="0">
                    <a:solidFill>
                      <a:schemeClr val="tx1"/>
                    </a:solidFill>
                    <a:effectLst/>
                    <a:latin typeface="+mn-lt"/>
                    <a:ea typeface="+mn-ea"/>
                    <a:cs typeface="+mn-cs"/>
                  </a:rPr>
                  <a:t>为：</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𝒱</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𝒱</m:t>
                    </m:r>
                  </m:oMath>
                </a14:m>
                <a:r>
                  <a:rPr lang="en-US" altLang="zh-CN" sz="1200" kern="1200" dirty="0">
                    <a:solidFill>
                      <a:schemeClr val="tx1"/>
                    </a:solidFill>
                    <a:effectLst/>
                    <a:latin typeface="+mn-lt"/>
                    <a:ea typeface="+mn-ea"/>
                    <a:cs typeface="+mn-cs"/>
                  </a:rPr>
                  <a:t>                       (4-52)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或写为：</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𝒱</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𝒱</m:t>
                    </m:r>
                    <m:r>
                      <a:rPr lang="en-US" altLang="zh-CN" sz="1200"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如若用矩阵表示，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𝒱</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𝑠𝑒</m:t>
                    </m:r>
                    <m:r>
                      <a:rPr lang="en-US" altLang="zh-CN" sz="1200"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3</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，可写成：</a:t>
                </a: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𝒱</m:t>
                            </m:r>
                          </m:e>
                          <m:sup>
                            <m:r>
                              <a:rPr lang="en-US" altLang="zh-CN" sz="1200" i="1" kern="1200">
                                <a:solidFill>
                                  <a:schemeClr val="tx1"/>
                                </a:solidFill>
                                <a:effectLst/>
                                <a:latin typeface="Cambria Math" panose="02040503050406030204" pitchFamily="18" charset="0"/>
                                <a:ea typeface="+mn-ea"/>
                                <a:cs typeface="+mn-cs"/>
                              </a:rPr>
                              <m:t>′</m:t>
                            </m:r>
                          </m:sup>
                        </m:sSup>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𝒱</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𝑇</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oMath>
                </a14:m>
                <a:r>
                  <a:rPr lang="en-US" altLang="zh-CN" sz="1200" kern="1200" dirty="0">
                    <a:solidFill>
                      <a:schemeClr val="tx1"/>
                    </a:solidFill>
                    <a:effectLst/>
                    <a:latin typeface="+mn-lt"/>
                    <a:ea typeface="+mn-ea"/>
                    <a:cs typeface="+mn-cs"/>
                  </a:rPr>
                  <a:t>                     (4-54)</a:t>
                </a:r>
                <a:endParaRPr lang="zh-CN" altLang="zh-CN" sz="1200" kern="1200" dirty="0">
                  <a:solidFill>
                    <a:schemeClr val="tx1"/>
                  </a:solidFill>
                  <a:effectLst/>
                  <a:latin typeface="+mn-lt"/>
                  <a:ea typeface="+mn-ea"/>
                  <a:cs typeface="+mn-cs"/>
                </a:endParaRPr>
              </a:p>
              <a:p>
                <a:r>
                  <a:rPr lang="en-US" altLang="zh-CN" sz="1200" i="1"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对于任一</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𝑇</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，且：</a:t>
                </a:r>
              </a:p>
              <a:p>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𝑇</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sub>
                    </m:sSub>
                    <m:d>
                      <m:dPr>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𝑇</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𝒱</m:t>
                            </m:r>
                          </m:e>
                        </m:d>
                      </m:e>
                    </m:d>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𝑇</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𝑇</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𝒱</m:t>
                        </m:r>
                      </m:e>
                    </m:d>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A</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𝐼</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𝒱</m:t>
                        </m:r>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𝒱</m:t>
                    </m:r>
                  </m:oMath>
                </a14:m>
                <a:r>
                  <a:rPr lang="en-US" altLang="zh-CN" sz="1200" kern="1200" dirty="0">
                    <a:solidFill>
                      <a:schemeClr val="tx1"/>
                    </a:solidFill>
                    <a:effectLst/>
                    <a:latin typeface="+mn-lt"/>
                    <a:ea typeface="+mn-ea"/>
                    <a:cs typeface="+mn-cs"/>
                  </a:rPr>
                  <a:t>        (4-55)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根据前面章节在旋量法里面描述过的螺旋理论，我们知道：</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𝑖</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sub>
                    </m:sSub>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𝒜</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sup>
                    </m:sSup>
                  </m:oMath>
                </a14:m>
                <a:r>
                  <a:rPr lang="en-US" altLang="zh-CN" sz="1200" kern="1200" dirty="0">
                    <a:solidFill>
                      <a:schemeClr val="tx1"/>
                    </a:solidFill>
                    <a:effectLst/>
                    <a:latin typeface="+mn-lt"/>
                    <a:ea typeface="+mn-ea"/>
                    <a:cs typeface="+mn-cs"/>
                  </a:rPr>
                  <a:t>                 (4-56)</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𝒜</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𝑀</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(4-57)</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𝑗</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表示为关节变量为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时坐标系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𝑗</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中的位形。</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Ѵ</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表示连杆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在连杆坐标系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中的运动旋量，通过关节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传递到连杆坐标系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的力旋量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ℱ</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的空间惯量矩阵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ℊ</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6</m:t>
                        </m:r>
                      </m:sup>
                    </m:sSup>
                  </m:oMath>
                </a14:m>
                <a:r>
                  <a:rPr lang="zh-CN" altLang="zh-CN" sz="1200" kern="1200" dirty="0">
                    <a:solidFill>
                      <a:schemeClr val="tx1"/>
                    </a:solidFill>
                    <a:effectLst/>
                    <a:latin typeface="+mn-lt"/>
                    <a:ea typeface="+mn-ea"/>
                    <a:cs typeface="+mn-cs"/>
                  </a:rPr>
                  <a:t>，假设所有连杆坐标系都位于连杆质心，</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为连杆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的转动惯量矩阵，则：</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ℊ</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Sub>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𝑚𝐼</m:t>
                              </m:r>
                            </m:e>
                          </m:mr>
                        </m:m>
                      </m:e>
                    </m:d>
                  </m:oMath>
                </a14:m>
                <a:r>
                  <a:rPr lang="en-US" altLang="zh-CN" sz="1200" kern="1200" dirty="0">
                    <a:solidFill>
                      <a:schemeClr val="tx1"/>
                    </a:solidFill>
                    <a:effectLst/>
                    <a:latin typeface="+mn-lt"/>
                    <a:ea typeface="+mn-ea"/>
                    <a:cs typeface="+mn-cs"/>
                  </a:rPr>
                  <a:t>                       (4-58)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由此，计算开链机械臂每个连杆的运动旋量和加速度，使用迭代方法，从基座递归到末端。</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针对多个单自由度关节组成的串联机械人，其逆动力学方程：</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𝜏=𝑀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(4-49)</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该逆动力学求解过程包含正向迭代和逆向迭代两个阶段。在正向迭代过程中，代入各关节的已知位置</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、加速度</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，根据位置的几何关系从基座向末端传递，计算连杆的速度和加速度，并采用牛顿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计算出作用在连杆质心的惯性力和力矩；在逆向迭代过程中，根据上一步计算得到的作用在各连杆质心的惯性力和力矩，将其从末端逐步向基座传递，计算出各关节的驱动力和驱动转矩。采用旋量法依然遵循这样的方法来进行。</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已知连杆质心坐标系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  ⋯, 𝑛</a:t>
                </a:r>
                <a:r>
                  <a:rPr lang="zh-CN" altLang="zh-CN" sz="1200" kern="1200" dirty="0">
                    <a:solidFill>
                      <a:schemeClr val="tx1"/>
                    </a:solidFill>
                    <a:effectLst/>
                    <a:latin typeface="+mn-lt"/>
                    <a:ea typeface="+mn-ea"/>
                    <a:cs typeface="+mn-cs"/>
                  </a:rPr>
                  <a:t>。基座坐标系表示为</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，末端执行器坐标系表示为</a:t>
                </a:r>
                <a:r>
                  <a:rPr lang="en-US" altLang="zh-CN" sz="1200" i="0" kern="1200">
                    <a:solidFill>
                      <a:schemeClr val="tx1"/>
                    </a:solidFill>
                    <a:effectLst/>
                    <a:latin typeface="+mn-lt"/>
                    <a:ea typeface="+mn-ea"/>
                    <a:cs typeface="+mn-cs"/>
                  </a:rPr>
                  <a:t>{𝑛+1}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该坐标系在</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中固定。</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假设机械臂处于初始零位，所有的关节变量为零，将坐标系</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在</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中的位形表达为</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𝑖,𝑗</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∈𝑆𝐸(3)</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可参考第三章</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在基坐标系</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中的位形简写为</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0,𝑖</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。相连两个坐标系在对方中的位形</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𝑖−1,𝑖</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𝑖,𝑖−1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可以通过在绝对坐标系</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中的位形计算：</a:t>
                </a:r>
              </a:p>
              <a:p>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的旋量轴</a:t>
                </a:r>
                <a:r>
                  <a:rPr lang="en-US" altLang="zh-CN" sz="1200" i="0" kern="1200">
                    <a:solidFill>
                      <a:schemeClr val="tx1"/>
                    </a:solidFill>
                    <a:effectLst/>
                    <a:latin typeface="+mn-lt"/>
                    <a:ea typeface="+mn-ea"/>
                    <a:cs typeface="+mn-cs"/>
                  </a:rPr>
                  <a:t>𝒮</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如前面章节所述，参考坐标系为</a:t>
                </a:r>
                <a:r>
                  <a:rPr lang="en-US" altLang="zh-CN" sz="1200" i="0" kern="1200">
                    <a:solidFill>
                      <a:schemeClr val="tx1"/>
                    </a:solidFill>
                    <a:effectLst/>
                    <a:latin typeface="+mn-lt"/>
                    <a:ea typeface="+mn-ea"/>
                    <a:cs typeface="+mn-cs"/>
                  </a:rPr>
                  <a:t>{0}</a:t>
                </a:r>
                <a:r>
                  <a:rPr lang="en-US"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在连杆坐标系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中表示为</a:t>
                </a:r>
                <a:r>
                  <a:rPr lang="en-US" altLang="zh-CN" sz="1200" i="0" kern="1200">
                    <a:solidFill>
                      <a:schemeClr val="tx1"/>
                    </a:solidFill>
                    <a:effectLst/>
                    <a:latin typeface="+mn-lt"/>
                    <a:ea typeface="+mn-ea"/>
                    <a:cs typeface="+mn-cs"/>
                  </a:rPr>
                  <a:t>𝒜</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，这两者可以通过连杆坐标系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的绝对位形</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的逆的表达式进行关联。</a:t>
                </a:r>
              </a:p>
              <a:p>
                <a:r>
                  <a:rPr lang="en-US" altLang="zh-CN" sz="1200" i="0" kern="1200">
                    <a:solidFill>
                      <a:schemeClr val="tx1"/>
                    </a:solidFill>
                    <a:effectLst/>
                    <a:latin typeface="+mn-lt"/>
                    <a:ea typeface="+mn-ea"/>
                    <a:cs typeface="+mn-cs"/>
                  </a:rPr>
                  <a:t>𝒜</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(𝒮</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(4-50)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A𝑑</a:t>
                </a:r>
                <a:r>
                  <a:rPr lang="zh-CN" altLang="zh-CN" sz="1200" kern="1200" dirty="0">
                    <a:solidFill>
                      <a:schemeClr val="tx1"/>
                    </a:solidFill>
                    <a:effectLst/>
                    <a:latin typeface="+mn-lt"/>
                    <a:ea typeface="+mn-ea"/>
                    <a:cs typeface="+mn-cs"/>
                  </a:rPr>
                  <a:t>表示伴随矩阵。给定</a:t>
                </a:r>
                <a:r>
                  <a:rPr lang="en-US" altLang="zh-CN" sz="1200" i="0" kern="1200">
                    <a:solidFill>
                      <a:schemeClr val="tx1"/>
                    </a:solidFill>
                    <a:effectLst/>
                    <a:latin typeface="+mn-lt"/>
                    <a:ea typeface="+mn-ea"/>
                    <a:cs typeface="+mn-cs"/>
                  </a:rPr>
                  <a:t>𝑇=(𝑅,𝑝)∈𝑆𝐸(3)</a:t>
                </a:r>
                <a:r>
                  <a:rPr lang="zh-CN" altLang="zh-CN" sz="1200" kern="1200" dirty="0">
                    <a:solidFill>
                      <a:schemeClr val="tx1"/>
                    </a:solidFill>
                    <a:effectLst/>
                    <a:latin typeface="+mn-lt"/>
                    <a:ea typeface="+mn-ea"/>
                    <a:cs typeface="+mn-cs"/>
                  </a:rPr>
                  <a:t>，其伴随矩阵定义为</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 ]</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𝑅&amp;0@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𝑝]𝑅&amp;𝑅)]∈ℝ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6×6</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对于任意</a:t>
                </a:r>
                <a:r>
                  <a:rPr lang="en-US" altLang="zh-CN" sz="1200" i="0" kern="1200">
                    <a:solidFill>
                      <a:schemeClr val="tx1"/>
                    </a:solidFill>
                    <a:effectLst/>
                    <a:latin typeface="+mn-lt"/>
                    <a:ea typeface="+mn-ea"/>
                    <a:cs typeface="+mn-cs"/>
                  </a:rPr>
                  <a:t>𝒱∈ℝ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相关的伴随映射</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adjoint</a:t>
                </a:r>
                <a:r>
                  <a:rPr lang="en-US" altLang="zh-CN" sz="1200" kern="1200" dirty="0">
                    <a:solidFill>
                      <a:schemeClr val="tx1"/>
                    </a:solidFill>
                    <a:effectLst/>
                    <a:latin typeface="+mn-lt"/>
                    <a:ea typeface="+mn-ea"/>
                    <a:cs typeface="+mn-cs"/>
                  </a:rPr>
                  <a:t> map)</a:t>
                </a:r>
                <a:r>
                  <a:rPr lang="zh-CN" altLang="zh-CN" sz="1200" kern="1200" dirty="0">
                    <a:solidFill>
                      <a:schemeClr val="tx1"/>
                    </a:solidFill>
                    <a:effectLst/>
                    <a:latin typeface="+mn-lt"/>
                    <a:ea typeface="+mn-ea"/>
                    <a:cs typeface="+mn-cs"/>
                  </a:rPr>
                  <a:t>为：</a:t>
                </a:r>
              </a:p>
              <a:p>
                <a:r>
                  <a:rPr lang="en-US" altLang="zh-CN" sz="1200" i="0" kern="1200">
                    <a:solidFill>
                      <a:schemeClr val="tx1"/>
                    </a:solidFill>
                    <a:effectLst/>
                    <a:latin typeface="+mn-lt"/>
                    <a:ea typeface="+mn-ea"/>
                    <a:cs typeface="+mn-cs"/>
                  </a:rPr>
                  <a:t>𝒱</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 𝒱</a:t>
                </a:r>
                <a:r>
                  <a:rPr lang="en-US" altLang="zh-CN" sz="1200" kern="1200" dirty="0">
                    <a:solidFill>
                      <a:schemeClr val="tx1"/>
                    </a:solidFill>
                    <a:effectLst/>
                    <a:latin typeface="+mn-lt"/>
                    <a:ea typeface="+mn-ea"/>
                    <a:cs typeface="+mn-cs"/>
                  </a:rPr>
                  <a:t>                       (4-52)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或写为：</a:t>
                </a:r>
              </a:p>
              <a:p>
                <a:r>
                  <a:rPr lang="en-US" altLang="zh-CN" sz="1200" i="0" kern="1200">
                    <a:solidFill>
                      <a:schemeClr val="tx1"/>
                    </a:solidFill>
                    <a:effectLst/>
                    <a:latin typeface="+mn-lt"/>
                    <a:ea typeface="+mn-ea"/>
                    <a:cs typeface="+mn-cs"/>
                  </a:rPr>
                  <a:t>𝒱</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 (𝒱)</a:t>
                </a:r>
                <a:r>
                  <a:rPr lang="en-US" altLang="zh-CN" sz="1200" kern="1200" dirty="0">
                    <a:solidFill>
                      <a:schemeClr val="tx1"/>
                    </a:solidFill>
                    <a:effectLst/>
                    <a:latin typeface="+mn-lt"/>
                    <a:ea typeface="+mn-ea"/>
                    <a:cs typeface="+mn-cs"/>
                  </a:rPr>
                  <a:t>                       (4-53)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如若用矩阵表示，</a:t>
                </a:r>
                <a:r>
                  <a:rPr lang="en-US" altLang="zh-CN" sz="1200" i="0" kern="1200">
                    <a:solidFill>
                      <a:schemeClr val="tx1"/>
                    </a:solidFill>
                    <a:effectLst/>
                    <a:latin typeface="+mn-lt"/>
                    <a:ea typeface="+mn-ea"/>
                    <a:cs typeface="+mn-cs"/>
                  </a:rPr>
                  <a:t>[𝒱]∈𝑠𝑒(3)</a:t>
                </a:r>
                <a:r>
                  <a:rPr lang="zh-CN" altLang="zh-CN" sz="1200" kern="1200" dirty="0">
                    <a:solidFill>
                      <a:schemeClr val="tx1"/>
                    </a:solidFill>
                    <a:effectLst/>
                    <a:latin typeface="+mn-lt"/>
                    <a:ea typeface="+mn-ea"/>
                    <a:cs typeface="+mn-cs"/>
                  </a:rPr>
                  <a:t>，可写成：</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𝒱</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]=𝑇[𝒱]𝑇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(4-54)</a:t>
                </a:r>
                <a:endParaRPr lang="zh-CN" altLang="zh-CN" sz="1200" kern="1200" dirty="0">
                  <a:solidFill>
                    <a:schemeClr val="tx1"/>
                  </a:solidFill>
                  <a:effectLst/>
                  <a:latin typeface="+mn-lt"/>
                  <a:ea typeface="+mn-ea"/>
                  <a:cs typeface="+mn-cs"/>
                </a:endParaRPr>
              </a:p>
              <a:p>
                <a:r>
                  <a:rPr lang="en-US" altLang="zh-CN" sz="1200" i="1"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对于任一</a:t>
                </a:r>
                <a:r>
                  <a:rPr lang="en-US" altLang="zh-CN" sz="1200" i="0" kern="1200">
                    <a:solidFill>
                      <a:schemeClr val="tx1"/>
                    </a:solidFill>
                    <a:effectLst/>
                    <a:latin typeface="+mn-lt"/>
                    <a:ea typeface="+mn-ea"/>
                    <a:cs typeface="+mn-cs"/>
                  </a:rPr>
                  <a:t>𝑇∈𝑆𝐸(3)</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，且：</a:t>
                </a:r>
              </a:p>
              <a:p>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𝒱))=A𝑑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𝒱)=A𝑑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𝒱)=𝒱</a:t>
                </a:r>
                <a:r>
                  <a:rPr lang="en-US" altLang="zh-CN" sz="1200" kern="1200" dirty="0">
                    <a:solidFill>
                      <a:schemeClr val="tx1"/>
                    </a:solidFill>
                    <a:effectLst/>
                    <a:latin typeface="+mn-lt"/>
                    <a:ea typeface="+mn-ea"/>
                    <a:cs typeface="+mn-cs"/>
                  </a:rPr>
                  <a:t>        (4-55)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根据前面章节在旋量法里面描述过的螺旋理论，我们知道：</a:t>
                </a:r>
              </a:p>
              <a:p>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 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[𝒜</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(4-56)</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𝑖−1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−[𝒜</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𝑖,𝑖−1</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(4-57)</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𝜃)∈𝑆𝐸(3)</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表示为关节变量为</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时坐标系</a:t>
                </a:r>
                <a:r>
                  <a:rPr lang="en-US" altLang="zh-CN" sz="1200" i="0" kern="1200">
                    <a:solidFill>
                      <a:schemeClr val="tx1"/>
                    </a:solidFill>
                    <a:effectLst/>
                    <a:latin typeface="+mn-lt"/>
                    <a:ea typeface="+mn-ea"/>
                    <a:cs typeface="+mn-cs"/>
                  </a:rPr>
                  <a:t>{𝑗}</a:t>
                </a:r>
                <a:r>
                  <a:rPr lang="zh-CN" altLang="zh-CN" sz="1200" kern="1200" dirty="0">
                    <a:solidFill>
                      <a:schemeClr val="tx1"/>
                    </a:solidFill>
                    <a:effectLst/>
                    <a:latin typeface="+mn-lt"/>
                    <a:ea typeface="+mn-ea"/>
                    <a:cs typeface="+mn-cs"/>
                  </a:rPr>
                  <a:t>在坐标系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中的位形。</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用</a:t>
                </a:r>
                <a:r>
                  <a:rPr lang="en-US" altLang="zh-CN" sz="1200" i="0" kern="1200">
                    <a:solidFill>
                      <a:schemeClr val="tx1"/>
                    </a:solidFill>
                    <a:effectLst/>
                    <a:latin typeface="+mn-lt"/>
                    <a:ea typeface="+mn-ea"/>
                    <a:cs typeface="+mn-cs"/>
                  </a:rPr>
                  <a:t>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在连杆坐标系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中的运动旋量，通过关节</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传递到连杆坐标系</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的力旋量</a:t>
                </a:r>
                <a:r>
                  <a:rPr lang="en-US" altLang="zh-CN" sz="1200" i="0" kern="1200">
                    <a:solidFill>
                      <a:schemeClr val="tx1"/>
                    </a:solidFill>
                    <a:effectLst/>
                    <a:latin typeface="+mn-lt"/>
                    <a:ea typeface="+mn-ea"/>
                    <a:cs typeface="+mn-cs"/>
                  </a:rPr>
                  <a:t>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的空间惯量矩阵</a:t>
                </a:r>
                <a:r>
                  <a:rPr lang="en-US" altLang="zh-CN" sz="1200" i="0" kern="1200">
                    <a:solidFill>
                      <a:schemeClr val="tx1"/>
                    </a:solidFill>
                    <a:effectLst/>
                    <a:latin typeface="+mn-lt"/>
                    <a:ea typeface="+mn-ea"/>
                    <a:cs typeface="+mn-cs"/>
                  </a:rPr>
                  <a:t>ℊ</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6×6</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，假设所有连杆坐标系都位于连杆质心，</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为连杆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的转动惯量矩阵，则：</a:t>
                </a:r>
              </a:p>
              <a:p>
                <a:r>
                  <a:rPr lang="en-US" altLang="zh-CN" sz="1200" i="0" kern="1200">
                    <a:solidFill>
                      <a:schemeClr val="tx1"/>
                    </a:solidFill>
                    <a:effectLst/>
                    <a:latin typeface="+mn-lt"/>
                    <a:ea typeface="+mn-ea"/>
                    <a:cs typeface="+mn-cs"/>
                  </a:rPr>
                  <a:t>ℊ</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𝑖&amp;0@0&amp;𝑚𝐼)]</a:t>
                </a:r>
                <a:r>
                  <a:rPr lang="en-US" altLang="zh-CN" sz="1200" kern="1200" dirty="0">
                    <a:solidFill>
                      <a:schemeClr val="tx1"/>
                    </a:solidFill>
                    <a:effectLst/>
                    <a:latin typeface="+mn-lt"/>
                    <a:ea typeface="+mn-ea"/>
                    <a:cs typeface="+mn-cs"/>
                  </a:rPr>
                  <a:t>                       (4-58)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由此，计算开链机械臂每个连杆的运动旋量和加速度，使用迭代方法，从基座递归到末端。</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extLst>
      <p:ext uri="{BB962C8B-B14F-4D97-AF65-F5344CB8AC3E}">
        <p14:creationId xmlns:p14="http://schemas.microsoft.com/office/powerpoint/2010/main" val="1625068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4-28</a:t>
                </a:r>
                <a:r>
                  <a:rPr lang="zh-CN" altLang="zh-CN" sz="1200" kern="1200" dirty="0">
                    <a:solidFill>
                      <a:schemeClr val="tx1"/>
                    </a:solidFill>
                    <a:effectLst/>
                    <a:latin typeface="+mn-lt"/>
                    <a:ea typeface="+mn-ea"/>
                    <a:cs typeface="+mn-cs"/>
                  </a:rPr>
                  <a:t>）中，连杆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的加速度有三个分量：由关节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自身运动产生的加速度分量、速度乘积分量以及连杆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的加速度引起的分量。</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4-28</a:t>
                </a:r>
                <a:r>
                  <a:rPr lang="zh-CN" altLang="zh-CN" sz="1200" kern="1200" dirty="0">
                    <a:solidFill>
                      <a:schemeClr val="tx1"/>
                    </a:solidFill>
                    <a:effectLst/>
                    <a:latin typeface="+mn-lt"/>
                    <a:ea typeface="+mn-ea"/>
                    <a:cs typeface="+mn-cs"/>
                  </a:rPr>
                  <a:t>）中，连杆</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的加速度有三个分量：由关节</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自身运动产生的加速度分量、速度乘积分量以及连杆</a:t>
                </a:r>
                <a:r>
                  <a:rPr lang="en-US" altLang="zh-CN" sz="1200" i="0" kern="1200">
                    <a:solidFill>
                      <a:schemeClr val="tx1"/>
                    </a:solidFill>
                    <a:effectLst/>
                    <a:latin typeface="+mn-lt"/>
                    <a:ea typeface="+mn-ea"/>
                    <a:cs typeface="+mn-cs"/>
                  </a:rPr>
                  <a:t>𝑖−1</a:t>
                </a:r>
                <a:r>
                  <a:rPr lang="zh-CN" altLang="zh-CN" sz="1200" kern="1200" dirty="0">
                    <a:solidFill>
                      <a:schemeClr val="tx1"/>
                    </a:solidFill>
                    <a:effectLst/>
                    <a:latin typeface="+mn-lt"/>
                    <a:ea typeface="+mn-ea"/>
                    <a:cs typeface="+mn-cs"/>
                  </a:rPr>
                  <a:t>的加速度引起的分量。</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extLst>
      <p:ext uri="{BB962C8B-B14F-4D97-AF65-F5344CB8AC3E}">
        <p14:creationId xmlns:p14="http://schemas.microsoft.com/office/powerpoint/2010/main" val="20695509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extLst>
      <p:ext uri="{BB962C8B-B14F-4D97-AF65-F5344CB8AC3E}">
        <p14:creationId xmlns:p14="http://schemas.microsoft.com/office/powerpoint/2010/main" val="10924618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extLst>
      <p:ext uri="{BB962C8B-B14F-4D97-AF65-F5344CB8AC3E}">
        <p14:creationId xmlns:p14="http://schemas.microsoft.com/office/powerpoint/2010/main" val="2961305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这个算法参考自</a:t>
            </a:r>
            <a:r>
              <a:rPr lang="en-US" altLang="zh-CN" dirty="0" smtClean="0"/>
              <a:t>《</a:t>
            </a:r>
            <a:r>
              <a:rPr lang="zh-CN" altLang="en-US" dirty="0" smtClean="0"/>
              <a:t>现代机器人学</a:t>
            </a:r>
            <a:r>
              <a:rPr lang="en-US" altLang="zh-CN" dirty="0" smtClean="0"/>
              <a:t>》</a:t>
            </a:r>
            <a:r>
              <a:rPr lang="zh-CN" altLang="en-US" dirty="0" smtClean="0"/>
              <a:t>这本教材，</a:t>
            </a:r>
            <a:r>
              <a:rPr lang="en-US" altLang="zh-CN" sz="1200" b="0" i="0" u="none" strike="noStrike" kern="1200" baseline="0" dirty="0" smtClean="0">
                <a:solidFill>
                  <a:schemeClr val="tx1"/>
                </a:solidFill>
                <a:latin typeface="+mn-lt"/>
                <a:ea typeface="+mn-ea"/>
                <a:cs typeface="+mn-cs"/>
              </a:rPr>
              <a:t>Dynamic Equations in Closed Form</a:t>
            </a:r>
            <a:r>
              <a:rPr lang="zh-CN" altLang="en-US" sz="1200" b="0" i="0" u="none" strike="noStrike" kern="1200" baseline="0" dirty="0" smtClean="0">
                <a:solidFill>
                  <a:schemeClr val="tx1"/>
                </a:solidFill>
                <a:latin typeface="+mn-lt"/>
                <a:ea typeface="+mn-ea"/>
                <a:cs typeface="+mn-cs"/>
              </a:rPr>
              <a:t>，翻译成封闭形式的动力学方程，感觉不是那么贴切，其算法精髓实际上为在运动旋量、力旋量、空间动量的基础上，弄了一些</a:t>
            </a:r>
            <a:r>
              <a:rPr lang="en-US" altLang="zh-CN" sz="1200" b="0" i="0" u="none" strike="noStrike" kern="1200" baseline="0" dirty="0" smtClean="0">
                <a:solidFill>
                  <a:schemeClr val="tx1"/>
                </a:solidFill>
                <a:latin typeface="+mn-lt"/>
                <a:ea typeface="+mn-ea"/>
                <a:cs typeface="+mn-cs"/>
              </a:rPr>
              <a:t>stacked vectors</a:t>
            </a:r>
            <a:r>
              <a:rPr lang="zh-CN" altLang="en-US" sz="1200" b="0" i="0" u="none" strike="noStrike" kern="1200" baseline="0" dirty="0" smtClean="0">
                <a:solidFill>
                  <a:schemeClr val="tx1"/>
                </a:solidFill>
                <a:latin typeface="+mn-lt"/>
                <a:ea typeface="+mn-ea"/>
                <a:cs typeface="+mn-cs"/>
              </a:rPr>
              <a:t>，这些向量没有什么物理含义，中文教材中被翻译为堆叠向量，感觉这个词翻译的也不太贴切，我改成组合向量</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extLst>
      <p:ext uri="{BB962C8B-B14F-4D97-AF65-F5344CB8AC3E}">
        <p14:creationId xmlns:p14="http://schemas.microsoft.com/office/powerpoint/2010/main" val="8699339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extLst>
      <p:ext uri="{BB962C8B-B14F-4D97-AF65-F5344CB8AC3E}">
        <p14:creationId xmlns:p14="http://schemas.microsoft.com/office/powerpoint/2010/main" val="2564665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extLst>
      <p:ext uri="{BB962C8B-B14F-4D97-AF65-F5344CB8AC3E}">
        <p14:creationId xmlns:p14="http://schemas.microsoft.com/office/powerpoint/2010/main" val="24849047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33</a:t>
            </a:fld>
            <a:endParaRPr lang="zh-CN" altLang="en-US"/>
          </a:p>
        </p:txBody>
      </p:sp>
    </p:spTree>
    <p:extLst>
      <p:ext uri="{BB962C8B-B14F-4D97-AF65-F5344CB8AC3E}">
        <p14:creationId xmlns:p14="http://schemas.microsoft.com/office/powerpoint/2010/main" val="307662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34</a:t>
            </a:fld>
            <a:endParaRPr lang="zh-CN" altLang="en-US"/>
          </a:p>
        </p:txBody>
      </p:sp>
    </p:spTree>
    <p:extLst>
      <p:ext uri="{BB962C8B-B14F-4D97-AF65-F5344CB8AC3E}">
        <p14:creationId xmlns:p14="http://schemas.microsoft.com/office/powerpoint/2010/main" val="26859103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前面介绍的递归牛顿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动力学方法可以较好地对串联机器人（工业机械臂）进行动力学分析。其采用的递归算法需要进行关节坐标系与连杆质心坐标系之间的转换，在对坐标系进行精确的标定以及惯性参数的精确测量前提下，可以获得较好的动力学估算。在描述复合机器人、人形机器人等具有复杂运动链的动力学计算中，随着多体动力学的发展，机器人动力学多采用空间向量表示法中的运动树、运动环来对机器人的机构进行抽象，分别对应串联机器人和并联机器人的动力学分析。</a:t>
                </a:r>
              </a:p>
              <a:p>
                <a:r>
                  <a:rPr lang="zh-CN" altLang="zh-CN" sz="1200" kern="1200" dirty="0">
                    <a:solidFill>
                      <a:schemeClr val="tx1"/>
                    </a:solidFill>
                    <a:effectLst/>
                    <a:latin typeface="+mn-lt"/>
                    <a:ea typeface="+mn-ea"/>
                    <a:cs typeface="+mn-cs"/>
                  </a:rPr>
                  <a:t>在第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章机器人运动学描述中，用来进行计算的数学表示包括</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4×4</m:t>
                    </m:r>
                  </m:oMath>
                </a14:m>
                <a:r>
                  <a:rPr lang="zh-CN" altLang="zh-CN" sz="1200" kern="1200" dirty="0">
                    <a:solidFill>
                      <a:schemeClr val="tx1"/>
                    </a:solidFill>
                    <a:effectLst/>
                    <a:latin typeface="+mn-lt"/>
                    <a:ea typeface="+mn-ea"/>
                    <a:cs typeface="+mn-cs"/>
                  </a:rPr>
                  <a:t>矩阵、三维矢量、四元数、对偶四元数、旋量等数学量。在现代机器人学的研究中，对于机器人动力学模型还可以采用</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维向量进行表示，采用</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维向量表示法进行计算更为紧凑且功能强大。</a:t>
                </a:r>
              </a:p>
              <a:p>
                <a:r>
                  <a:rPr lang="zh-CN" altLang="zh-CN" sz="1200" kern="1200" dirty="0">
                    <a:solidFill>
                      <a:schemeClr val="tx1"/>
                    </a:solidFill>
                    <a:effectLst/>
                    <a:latin typeface="+mn-lt"/>
                    <a:ea typeface="+mn-ea"/>
                    <a:cs typeface="+mn-cs"/>
                  </a:rPr>
                  <a:t>在介绍基于向量表示法的机器人刚体系统动力学之前，本节简要介绍空间向量表示法。为了和前面介绍的运动旋量、力旋量等向量（采用粗斜体字母表示，如：</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Ѵ</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ℱ</m:t>
                    </m:r>
                  </m:oMath>
                </a14:m>
                <a:r>
                  <a:rPr lang="zh-CN" altLang="zh-CN" sz="1200" kern="1200" dirty="0">
                    <a:solidFill>
                      <a:schemeClr val="tx1"/>
                    </a:solidFill>
                    <a:effectLst/>
                    <a:latin typeface="+mn-lt"/>
                    <a:ea typeface="+mn-ea"/>
                    <a:cs typeface="+mn-cs"/>
                  </a:rPr>
                  <a:t>）的数学符号相区分，本章介绍的空间向量采用粗正体字母进行表示，例如：</a:t>
                </a:r>
                <a14:m>
                  <m:oMath xmlns:m="http://schemas.openxmlformats.org/officeDocument/2006/math">
                    <m:r>
                      <a:rPr lang="en-US" altLang="zh-CN" sz="1200" b="1" i="1" kern="1200">
                        <a:solidFill>
                          <a:schemeClr val="tx1"/>
                        </a:solidFill>
                        <a:effectLst/>
                        <a:latin typeface="Cambria Math" panose="02040503050406030204" pitchFamily="18" charset="0"/>
                        <a:ea typeface="+mn-ea"/>
                        <a:cs typeface="+mn-cs"/>
                      </a:rPr>
                      <m:t>𝐯</m:t>
                    </m:r>
                    <m:r>
                      <a:rPr lang="zh-CN" altLang="zh-CN" sz="1200" kern="1200">
                        <a:solidFill>
                          <a:schemeClr val="tx1"/>
                        </a:solidFill>
                        <a:effectLst/>
                        <a:latin typeface="Cambria Math" panose="02040503050406030204" pitchFamily="18" charset="0"/>
                        <a:ea typeface="+mn-ea"/>
                        <a:cs typeface="+mn-cs"/>
                      </a:rPr>
                      <m:t>、</m:t>
                    </m:r>
                    <m:r>
                      <a:rPr lang="en-US" altLang="zh-CN" sz="1200" b="1" i="1" kern="1200">
                        <a:solidFill>
                          <a:schemeClr val="tx1"/>
                        </a:solidFill>
                        <a:effectLst/>
                        <a:latin typeface="Cambria Math" panose="02040503050406030204" pitchFamily="18" charset="0"/>
                        <a:ea typeface="+mn-ea"/>
                        <a:cs typeface="+mn-cs"/>
                      </a:rPr>
                      <m:t>𝐟</m:t>
                    </m:r>
                  </m:oMath>
                </a14:m>
                <a:r>
                  <a:rPr lang="zh-CN" altLang="zh-CN" sz="1200" kern="1200" dirty="0">
                    <a:solidFill>
                      <a:schemeClr val="tx1"/>
                    </a:solidFill>
                    <a:effectLst/>
                    <a:latin typeface="+mn-lt"/>
                    <a:ea typeface="+mn-ea"/>
                    <a:cs typeface="+mn-cs"/>
                  </a:rPr>
                  <a:t>。而带坐标系的向量将采用下划线字母，以区别于无坐标系的向量，例如：坐标向量</a:t>
                </a:r>
                <a14:m>
                  <m:oMath xmlns:m="http://schemas.openxmlformats.org/officeDocument/2006/math">
                    <m:bar>
                      <m:barPr>
                        <m:ctrlPr>
                          <a:rPr lang="zh-CN" altLang="zh-CN" sz="1200" b="1" i="1" kern="1200">
                            <a:solidFill>
                              <a:schemeClr val="tx1"/>
                            </a:solidFill>
                            <a:effectLst/>
                            <a:latin typeface="Cambria Math" panose="02040503050406030204" pitchFamily="18" charset="0"/>
                            <a:ea typeface="+mn-ea"/>
                            <a:cs typeface="+mn-cs"/>
                          </a:rPr>
                        </m:ctrlPr>
                      </m:barPr>
                      <m:e>
                        <m:r>
                          <a:rPr lang="en-US" altLang="zh-CN" sz="1200" b="1" i="1" kern="1200">
                            <a:solidFill>
                              <a:schemeClr val="tx1"/>
                            </a:solidFill>
                            <a:effectLst/>
                            <a:latin typeface="Cambria Math" panose="02040503050406030204" pitchFamily="18" charset="0"/>
                            <a:ea typeface="+mn-ea"/>
                            <a:cs typeface="+mn-cs"/>
                          </a:rPr>
                          <m:t>𝒗</m:t>
                        </m:r>
                      </m:e>
                    </m:bar>
                  </m:oMath>
                </a14:m>
                <a:r>
                  <a:rPr lang="zh-CN" altLang="zh-CN" sz="1200" kern="1200" dirty="0">
                    <a:solidFill>
                      <a:schemeClr val="tx1"/>
                    </a:solidFill>
                    <a:effectLst/>
                    <a:latin typeface="+mn-lt"/>
                    <a:ea typeface="+mn-ea"/>
                    <a:cs typeface="+mn-cs"/>
                  </a:rPr>
                  <a:t>、</a:t>
                </a:r>
                <a14:m>
                  <m:oMath xmlns:m="http://schemas.openxmlformats.org/officeDocument/2006/math">
                    <m:bar>
                      <m:barPr>
                        <m:ctrlPr>
                          <a:rPr lang="zh-CN" altLang="zh-CN" sz="1200" b="1" i="1" kern="1200">
                            <a:solidFill>
                              <a:schemeClr val="tx1"/>
                            </a:solidFill>
                            <a:effectLst/>
                            <a:latin typeface="Cambria Math" panose="02040503050406030204" pitchFamily="18" charset="0"/>
                            <a:ea typeface="+mn-ea"/>
                            <a:cs typeface="+mn-cs"/>
                          </a:rPr>
                        </m:ctrlPr>
                      </m:barPr>
                      <m:e>
                        <m:r>
                          <a:rPr lang="en-US" altLang="zh-CN" sz="1200" b="1" i="1" kern="1200">
                            <a:solidFill>
                              <a:schemeClr val="tx1"/>
                            </a:solidFill>
                            <a:effectLst/>
                            <a:latin typeface="Cambria Math" panose="02040503050406030204" pitchFamily="18" charset="0"/>
                            <a:ea typeface="+mn-ea"/>
                            <a:cs typeface="+mn-cs"/>
                          </a:rPr>
                          <m:t>𝐯</m:t>
                        </m:r>
                      </m:e>
                    </m:bar>
                  </m:oMath>
                </a14:m>
                <a:r>
                  <a:rPr lang="zh-CN" altLang="zh-CN" sz="1200" kern="1200" dirty="0">
                    <a:solidFill>
                      <a:schemeClr val="tx1"/>
                    </a:solidFill>
                    <a:effectLst/>
                    <a:latin typeface="+mn-lt"/>
                    <a:ea typeface="+mn-ea"/>
                    <a:cs typeface="+mn-cs"/>
                  </a:rPr>
                  <a:t>表示</a:t>
                </a:r>
                <a14:m>
                  <m:oMath xmlns:m="http://schemas.openxmlformats.org/officeDocument/2006/math">
                    <m:r>
                      <a:rPr lang="en-US" altLang="zh-CN" sz="1200" b="1" i="1" kern="1200">
                        <a:solidFill>
                          <a:schemeClr val="tx1"/>
                        </a:solidFill>
                        <a:effectLst/>
                        <a:latin typeface="Cambria Math" panose="02040503050406030204" pitchFamily="18" charset="0"/>
                        <a:ea typeface="+mn-ea"/>
                        <a:cs typeface="+mn-cs"/>
                      </a:rPr>
                      <m:t>𝒗</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b="1" i="1" kern="1200">
                        <a:solidFill>
                          <a:schemeClr val="tx1"/>
                        </a:solidFill>
                        <a:effectLst/>
                        <a:latin typeface="Cambria Math" panose="02040503050406030204" pitchFamily="18" charset="0"/>
                        <a:ea typeface="+mn-ea"/>
                        <a:cs typeface="+mn-cs"/>
                      </a:rPr>
                      <m:t>𝐯</m:t>
                    </m:r>
                  </m:oMath>
                </a14:m>
                <a:r>
                  <a:rPr lang="zh-CN" altLang="zh-CN" sz="1200" kern="1200" dirty="0">
                    <a:solidFill>
                      <a:schemeClr val="tx1"/>
                    </a:solidFill>
                    <a:effectLst/>
                    <a:latin typeface="+mn-lt"/>
                    <a:ea typeface="+mn-ea"/>
                    <a:cs typeface="+mn-cs"/>
                  </a:rPr>
                  <a:t>在坐标系下的表达。</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前面介绍的递归牛顿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动力学方法可以较好地对串联机器人（工业机械臂）进行动力学分析。其采用的递归算法需要进行关节坐标系与连杆质心坐标系之间的转换，在对坐标系进行精确的标定以及惯性参数的精确测量前提下，可以获得较好的动力学估算。在描述复合机器人、人形机器人等具有复杂运动链的动力学计算中，随着多体动力学的发展，机器人动力学多采用空间向量表示法中的运动树、运动环来对机器人的机构进行抽象，分别对应串联机器人和并联机器人的动力学分析。</a:t>
                </a:r>
              </a:p>
              <a:p>
                <a:r>
                  <a:rPr lang="zh-CN" altLang="zh-CN" sz="1200" kern="1200" dirty="0">
                    <a:solidFill>
                      <a:schemeClr val="tx1"/>
                    </a:solidFill>
                    <a:effectLst/>
                    <a:latin typeface="+mn-lt"/>
                    <a:ea typeface="+mn-ea"/>
                    <a:cs typeface="+mn-cs"/>
                  </a:rPr>
                  <a:t>在第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章机器人运动学描述中，用来进行计算的数学表示包括</a:t>
                </a:r>
                <a:r>
                  <a:rPr lang="en-US" altLang="zh-CN" sz="1200" i="0" kern="1200">
                    <a:solidFill>
                      <a:schemeClr val="tx1"/>
                    </a:solidFill>
                    <a:effectLst/>
                    <a:latin typeface="+mn-lt"/>
                    <a:ea typeface="+mn-ea"/>
                    <a:cs typeface="+mn-cs"/>
                  </a:rPr>
                  <a:t>4×4</a:t>
                </a:r>
                <a:r>
                  <a:rPr lang="zh-CN" altLang="zh-CN" sz="1200" kern="1200" dirty="0">
                    <a:solidFill>
                      <a:schemeClr val="tx1"/>
                    </a:solidFill>
                    <a:effectLst/>
                    <a:latin typeface="+mn-lt"/>
                    <a:ea typeface="+mn-ea"/>
                    <a:cs typeface="+mn-cs"/>
                  </a:rPr>
                  <a:t>矩阵、三维矢量、四元数、对偶四元数、旋量等数学量。在现代机器人学的研究中，对于机器人动力学模型还可以采用</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维向量进行表示，采用</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维向量表示法进行计算更为紧凑且功能强大。</a:t>
                </a:r>
              </a:p>
              <a:p>
                <a:r>
                  <a:rPr lang="zh-CN" altLang="zh-CN" sz="1200" kern="1200" dirty="0">
                    <a:solidFill>
                      <a:schemeClr val="tx1"/>
                    </a:solidFill>
                    <a:effectLst/>
                    <a:latin typeface="+mn-lt"/>
                    <a:ea typeface="+mn-ea"/>
                    <a:cs typeface="+mn-cs"/>
                  </a:rPr>
                  <a:t>在介绍基于向量表示法的机器人刚体系统动力学之前，本节简要介绍空间向量表示法。为了和前面介绍的运动旋量、力旋量等向量（采用粗斜体字母表示，如：</a:t>
                </a:r>
                <a:r>
                  <a:rPr lang="en-US" altLang="zh-CN" sz="1200" i="0" kern="1200">
                    <a:solidFill>
                      <a:schemeClr val="tx1"/>
                    </a:solidFill>
                    <a:effectLst/>
                    <a:latin typeface="+mn-lt"/>
                    <a:ea typeface="+mn-ea"/>
                    <a:cs typeface="+mn-cs"/>
                  </a:rPr>
                  <a:t>Ѵ</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ℱ</a:t>
                </a:r>
                <a:r>
                  <a:rPr lang="zh-CN" altLang="zh-CN" sz="1200" kern="1200" dirty="0">
                    <a:solidFill>
                      <a:schemeClr val="tx1"/>
                    </a:solidFill>
                    <a:effectLst/>
                    <a:latin typeface="+mn-lt"/>
                    <a:ea typeface="+mn-ea"/>
                    <a:cs typeface="+mn-cs"/>
                  </a:rPr>
                  <a:t>）的数学符号相区分，本章介绍的空间向量采用粗正体字母进行表示，例如：</a:t>
                </a:r>
                <a:r>
                  <a:rPr lang="en-US" altLang="zh-CN" sz="1200" b="1" i="0" kern="1200">
                    <a:solidFill>
                      <a:schemeClr val="tx1"/>
                    </a:solidFill>
                    <a:effectLst/>
                    <a:latin typeface="+mn-lt"/>
                    <a:ea typeface="+mn-ea"/>
                    <a:cs typeface="+mn-cs"/>
                  </a:rPr>
                  <a:t>𝐯</a:t>
                </a:r>
                <a:r>
                  <a:rPr lang="zh-CN" altLang="zh-CN" sz="1200"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𝐟</a:t>
                </a:r>
                <a:r>
                  <a:rPr lang="zh-CN" altLang="zh-CN" sz="1200" kern="1200" dirty="0">
                    <a:solidFill>
                      <a:schemeClr val="tx1"/>
                    </a:solidFill>
                    <a:effectLst/>
                    <a:latin typeface="+mn-lt"/>
                    <a:ea typeface="+mn-ea"/>
                    <a:cs typeface="+mn-cs"/>
                  </a:rPr>
                  <a:t>。而带坐标系的向量将采用下划线字母，以区别于无坐标系的向量，例如：坐标向量</a:t>
                </a:r>
                <a:r>
                  <a:rPr lang="zh-CN" altLang="zh-CN"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𝒗</a:t>
                </a:r>
                <a:r>
                  <a:rPr lang="zh-CN" altLang="zh-CN" sz="1200" kern="1200" dirty="0">
                    <a:solidFill>
                      <a:schemeClr val="tx1"/>
                    </a:solidFill>
                    <a:effectLst/>
                    <a:latin typeface="+mn-lt"/>
                    <a:ea typeface="+mn-ea"/>
                    <a:cs typeface="+mn-cs"/>
                  </a:rPr>
                  <a:t>、</a:t>
                </a:r>
                <a:r>
                  <a:rPr lang="zh-CN" altLang="zh-CN" sz="1200" b="1" i="0" kern="120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𝐯</a:t>
                </a:r>
                <a:r>
                  <a:rPr lang="zh-CN" altLang="zh-CN" sz="1200" kern="1200" dirty="0">
                    <a:solidFill>
                      <a:schemeClr val="tx1"/>
                    </a:solidFill>
                    <a:effectLst/>
                    <a:latin typeface="+mn-lt"/>
                    <a:ea typeface="+mn-ea"/>
                    <a:cs typeface="+mn-cs"/>
                  </a:rPr>
                  <a:t>表示</a:t>
                </a:r>
                <a:r>
                  <a:rPr lang="en-US" altLang="zh-CN" sz="1200" b="1" i="0" kern="1200">
                    <a:solidFill>
                      <a:schemeClr val="tx1"/>
                    </a:solidFill>
                    <a:effectLst/>
                    <a:latin typeface="+mn-lt"/>
                    <a:ea typeface="+mn-ea"/>
                    <a:cs typeface="+mn-cs"/>
                  </a:rPr>
                  <a:t>𝒗</a:t>
                </a:r>
                <a:r>
                  <a:rPr lang="zh-CN" altLang="zh-CN" sz="1200" kern="1200" dirty="0">
                    <a:solidFill>
                      <a:schemeClr val="tx1"/>
                    </a:solidFill>
                    <a:effectLst/>
                    <a:latin typeface="+mn-lt"/>
                    <a:ea typeface="+mn-ea"/>
                    <a:cs typeface="+mn-cs"/>
                  </a:rPr>
                  <a:t>、</a:t>
                </a:r>
                <a:r>
                  <a:rPr lang="en-US" altLang="zh-CN" sz="1200" b="1" i="0" kern="1200">
                    <a:solidFill>
                      <a:schemeClr val="tx1"/>
                    </a:solidFill>
                    <a:effectLst/>
                    <a:latin typeface="+mn-lt"/>
                    <a:ea typeface="+mn-ea"/>
                    <a:cs typeface="+mn-cs"/>
                  </a:rPr>
                  <a:t>𝐯</a:t>
                </a:r>
                <a:r>
                  <a:rPr lang="zh-CN" altLang="zh-CN" sz="1200" kern="1200" dirty="0">
                    <a:solidFill>
                      <a:schemeClr val="tx1"/>
                    </a:solidFill>
                    <a:effectLst/>
                    <a:latin typeface="+mn-lt"/>
                    <a:ea typeface="+mn-ea"/>
                    <a:cs typeface="+mn-cs"/>
                  </a:rPr>
                  <a:t>在坐标系下的表达。</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extLst>
      <p:ext uri="{BB962C8B-B14F-4D97-AF65-F5344CB8AC3E}">
        <p14:creationId xmlns:p14="http://schemas.microsoft.com/office/powerpoint/2010/main" val="26554495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运动向量用于描述速度、加速度、无穷小位移以及运动的方向，而力向量描述力、动量、接触法线方向等特征。</a:t>
                </a:r>
              </a:p>
              <a:p>
                <a:r>
                  <a:rPr lang="zh-CN" altLang="zh-CN" sz="1200" kern="1200" dirty="0">
                    <a:solidFill>
                      <a:schemeClr val="tx1"/>
                    </a:solidFill>
                    <a:effectLst/>
                    <a:latin typeface="+mn-lt"/>
                    <a:ea typeface="+mn-ea"/>
                    <a:cs typeface="+mn-cs"/>
                  </a:rPr>
                  <a:t>在笛卡尔坐标系下，三维向量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对应坐标向量</a:t>
                </a:r>
                <a14:m>
                  <m:oMath xmlns:m="http://schemas.openxmlformats.org/officeDocument/2006/math">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𝑣</m:t>
                        </m:r>
                      </m:e>
                    </m:ba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𝑧</m:t>
                                </m:r>
                              </m:sub>
                            </m:sSub>
                          </m:e>
                        </m:d>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，用</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𝑘</m:t>
                        </m:r>
                      </m:e>
                    </m:d>
                  </m:oMath>
                </a14:m>
                <a:r>
                  <a:rPr lang="zh-CN" altLang="zh-CN" sz="1200" kern="1200" dirty="0">
                    <a:solidFill>
                      <a:schemeClr val="tx1"/>
                    </a:solidFill>
                    <a:effectLst/>
                    <a:latin typeface="+mn-lt"/>
                    <a:ea typeface="+mn-ea"/>
                    <a:cs typeface="+mn-cs"/>
                  </a:rPr>
                  <a:t>表示三个正交轴的单位向量，则</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与</a:t>
                </a:r>
                <a14:m>
                  <m:oMath xmlns:m="http://schemas.openxmlformats.org/officeDocument/2006/math">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𝑣</m:t>
                        </m:r>
                      </m:e>
                    </m:bar>
                  </m:oMath>
                </a14:m>
                <a:r>
                  <a:rPr lang="zh-CN" altLang="zh-CN" sz="1200" kern="1200" dirty="0">
                    <a:solidFill>
                      <a:schemeClr val="tx1"/>
                    </a:solidFill>
                    <a:effectLst/>
                    <a:latin typeface="+mn-lt"/>
                    <a:ea typeface="+mn-ea"/>
                    <a:cs typeface="+mn-cs"/>
                  </a:rPr>
                  <a:t>之间的关系可如下表达：</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𝑘</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三维坐标向量表达笛卡尔空间的向量，而对于空间向量，则采用普吕克坐标系来进行表达</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4.5(a)</a:t>
                </a:r>
                <a:r>
                  <a:rPr lang="zh-CN" altLang="zh-CN" sz="1200" kern="1200" dirty="0">
                    <a:solidFill>
                      <a:schemeClr val="tx1"/>
                    </a:solidFill>
                    <a:effectLst/>
                    <a:latin typeface="+mn-lt"/>
                    <a:ea typeface="+mn-ea"/>
                    <a:cs typeface="+mn-cs"/>
                  </a:rPr>
                  <a:t>所示，在刚体</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B</m:t>
                    </m:r>
                  </m:oMath>
                </a14:m>
                <a:r>
                  <a:rPr lang="zh-CN" altLang="zh-CN" sz="1200" kern="1200" dirty="0">
                    <a:solidFill>
                      <a:schemeClr val="tx1"/>
                    </a:solidFill>
                    <a:effectLst/>
                    <a:latin typeface="+mn-lt"/>
                    <a:ea typeface="+mn-ea"/>
                    <a:cs typeface="+mn-cs"/>
                  </a:rPr>
                  <a:t>所在空间指定一个任意的固定点</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建立坐标系，那么刚体</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B</m:t>
                    </m:r>
                  </m:oMath>
                </a14:m>
                <a:r>
                  <a:rPr lang="zh-CN" altLang="zh-CN" sz="1200" kern="1200" dirty="0">
                    <a:solidFill>
                      <a:schemeClr val="tx1"/>
                    </a:solidFill>
                    <a:effectLst/>
                    <a:latin typeface="+mn-lt"/>
                    <a:ea typeface="+mn-ea"/>
                    <a:cs typeface="+mn-cs"/>
                  </a:rPr>
                  <a:t>的速度可用一对</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维的向量进行表示：线速度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和角速度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。在普吕克坐标系下，刚体的运动可看成是以线速度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的平移，同时以角速度为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绕通过</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点的轴旋转</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运动向量用于描述速度、加速度、无穷小位移以及运动的方向，而力向量描述力、动量、接触法线方向等特征。</a:t>
                </a:r>
              </a:p>
              <a:p>
                <a:r>
                  <a:rPr lang="zh-CN" altLang="zh-CN" sz="1200" kern="1200" dirty="0">
                    <a:solidFill>
                      <a:schemeClr val="tx1"/>
                    </a:solidFill>
                    <a:effectLst/>
                    <a:latin typeface="+mn-lt"/>
                    <a:ea typeface="+mn-ea"/>
                    <a:cs typeface="+mn-cs"/>
                  </a:rPr>
                  <a:t>在笛卡尔坐标系下，三维向量</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对应坐标向量</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，用</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𝑖,𝑗,𝑘}</a:t>
                </a:r>
                <a:r>
                  <a:rPr lang="zh-CN" altLang="zh-CN" sz="1200" kern="1200" dirty="0">
                    <a:solidFill>
                      <a:schemeClr val="tx1"/>
                    </a:solidFill>
                    <a:effectLst/>
                    <a:latin typeface="+mn-lt"/>
                    <a:ea typeface="+mn-ea"/>
                    <a:cs typeface="+mn-cs"/>
                  </a:rPr>
                  <a:t>表示三个正交轴的单位向量，则</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kern="1200" dirty="0">
                    <a:solidFill>
                      <a:schemeClr val="tx1"/>
                    </a:solidFill>
                    <a:effectLst/>
                    <a:latin typeface="+mn-lt"/>
                    <a:ea typeface="+mn-ea"/>
                    <a:cs typeface="+mn-cs"/>
                  </a:rPr>
                  <a:t>之间的关系可如下表达：</a:t>
                </a:r>
              </a:p>
              <a:p>
                <a:r>
                  <a:rPr lang="en-US" altLang="zh-CN" sz="1200" i="0" kern="1200">
                    <a:solidFill>
                      <a:schemeClr val="tx1"/>
                    </a:solidFill>
                    <a:effectLst/>
                    <a:latin typeface="+mn-lt"/>
                    <a:ea typeface="+mn-ea"/>
                    <a:cs typeface="+mn-cs"/>
                  </a:rPr>
                  <a:t>𝑣=𝑣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 𝑖+𝑣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𝑗+𝑣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 𝑘</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三维坐标向量表达笛卡尔空间的向量，而对于空间向量，则采用普吕克坐标系来进行表达</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4.5(a)</a:t>
                </a:r>
                <a:r>
                  <a:rPr lang="zh-CN" altLang="zh-CN" sz="1200" kern="1200" dirty="0">
                    <a:solidFill>
                      <a:schemeClr val="tx1"/>
                    </a:solidFill>
                    <a:effectLst/>
                    <a:latin typeface="+mn-lt"/>
                    <a:ea typeface="+mn-ea"/>
                    <a:cs typeface="+mn-cs"/>
                  </a:rPr>
                  <a:t>所示，在刚体</a:t>
                </a:r>
                <a:r>
                  <a:rPr lang="en-US" altLang="zh-CN" sz="1200" i="0" kern="120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所在空间指定一个任意的固定点</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建立坐标系，那么刚体</a:t>
                </a:r>
                <a:r>
                  <a:rPr lang="en-US" altLang="zh-CN" sz="1200" i="0" kern="120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的速度可用一对</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维的向量进行表示：线速度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和角速度</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。在普吕克坐标系下，刚体的运动可看成是以线速度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的平移，同时以角速度为</a:t>
                </a:r>
                <a:r>
                  <a:rPr lang="en-US" altLang="zh-CN" sz="1200" i="0" kern="1200">
                    <a:solidFill>
                      <a:schemeClr val="tx1"/>
                    </a:solidFill>
                    <a:effectLst/>
                    <a:latin typeface="+mn-lt"/>
                    <a:ea typeface="+mn-ea"/>
                    <a:cs typeface="+mn-cs"/>
                  </a:rPr>
                  <a:t>𝜔</a:t>
                </a:r>
                <a:r>
                  <a:rPr lang="zh-CN" altLang="zh-CN" sz="1200" kern="1200" dirty="0">
                    <a:solidFill>
                      <a:schemeClr val="tx1"/>
                    </a:solidFill>
                    <a:effectLst/>
                    <a:latin typeface="+mn-lt"/>
                    <a:ea typeface="+mn-ea"/>
                    <a:cs typeface="+mn-cs"/>
                  </a:rPr>
                  <a:t>绕通过</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点的轴旋转</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extLst>
      <p:ext uri="{BB962C8B-B14F-4D97-AF65-F5344CB8AC3E}">
        <p14:creationId xmlns:p14="http://schemas.microsoft.com/office/powerpoint/2010/main" val="31263471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4.5(b)</a:t>
                </a:r>
                <a:r>
                  <a:rPr lang="zh-CN" altLang="zh-CN" sz="1200" kern="1200" dirty="0">
                    <a:solidFill>
                      <a:schemeClr val="tx1"/>
                    </a:solidFill>
                    <a:effectLst/>
                    <a:latin typeface="+mn-lt"/>
                    <a:ea typeface="+mn-ea"/>
                    <a:cs typeface="+mn-cs"/>
                  </a:rPr>
                  <a:t>中，引入笛卡尔坐标系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zh-CN" sz="1200" i="1" kern="1200">
                            <a:solidFill>
                              <a:schemeClr val="tx1"/>
                            </a:solidFill>
                            <a:effectLst/>
                            <a:latin typeface="Cambria Math" panose="02040503050406030204" pitchFamily="18" charset="0"/>
                            <a:ea typeface="+mn-ea"/>
                            <a:cs typeface="+mn-cs"/>
                          </a:rPr>
                          <m:t>Ｏ</m:t>
                        </m:r>
                      </m:e>
                      <m:sub>
                        <m:r>
                          <a:rPr lang="en-US" altLang="zh-CN" sz="1200" i="1" kern="1200">
                            <a:solidFill>
                              <a:schemeClr val="tx1"/>
                            </a:solidFill>
                            <a:effectLst/>
                            <a:latin typeface="Cambria Math" panose="02040503050406030204" pitchFamily="18" charset="0"/>
                            <a:ea typeface="+mn-ea"/>
                            <a:cs typeface="+mn-cs"/>
                          </a:rPr>
                          <m:t>𝑥𝑦𝑧</m:t>
                        </m:r>
                      </m:sub>
                    </m:sSub>
                  </m:oMath>
                </a14:m>
                <a:r>
                  <a:rPr lang="zh-CN" altLang="zh-CN" sz="1200" kern="1200" dirty="0">
                    <a:solidFill>
                      <a:schemeClr val="tx1"/>
                    </a:solidFill>
                    <a:effectLst/>
                    <a:latin typeface="+mn-lt"/>
                    <a:ea typeface="+mn-ea"/>
                    <a:cs typeface="+mn-cs"/>
                  </a:rPr>
                  <a:t>，定义其三个正交轴的单位向量为</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𝑘</m:t>
                        </m:r>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𝐸</m:t>
                        </m:r>
                      </m:e>
                      <m:sup>
                        <m:r>
                          <a:rPr lang="en-US" altLang="zh-CN" sz="1200" i="1" kern="1200">
                            <a:solidFill>
                              <a:schemeClr val="tx1"/>
                            </a:solidFill>
                            <a:effectLst/>
                            <a:latin typeface="Cambria Math" panose="02040503050406030204" pitchFamily="18" charset="0"/>
                            <a:ea typeface="+mn-ea"/>
                            <a:cs typeface="+mn-cs"/>
                          </a:rPr>
                          <m:t>3</m:t>
                        </m:r>
                      </m:sup>
                    </m:sSup>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那么普吕克坐标系下的单位运动向量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𝒟</m:t>
                        </m: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由</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个元素组成，其中三个是关于有向直线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Sub>
                  </m:oMath>
                </a14:m>
                <a:r>
                  <a:rPr lang="zh-CN" altLang="zh-CN" sz="1200" kern="1200" dirty="0">
                    <a:solidFill>
                      <a:schemeClr val="tx1"/>
                    </a:solidFill>
                    <a:effectLst/>
                    <a:latin typeface="+mn-lt"/>
                    <a:ea typeface="+mn-ea"/>
                    <a:cs typeface="+mn-cs"/>
                  </a:rPr>
                  <a:t>的单位转角：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Sub>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Sub>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Sub>
                      </m:sub>
                    </m:sSub>
                  </m:oMath>
                </a14:m>
                <a:r>
                  <a:rPr lang="zh-CN" altLang="zh-CN" sz="1200" kern="1200" dirty="0">
                    <a:solidFill>
                      <a:schemeClr val="tx1"/>
                    </a:solidFill>
                    <a:effectLst/>
                    <a:latin typeface="+mn-lt"/>
                    <a:ea typeface="+mn-ea"/>
                    <a:cs typeface="+mn-cs"/>
                  </a:rPr>
                  <a:t>，另三个是沿</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m:t>
                    </m:r>
                  </m:oMath>
                </a14:m>
                <a:r>
                  <a:rPr lang="zh-CN" altLang="zh-CN" sz="1200" i="1"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方向的单位位移：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𝑥</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𝑦</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𝑧</m:t>
                        </m:r>
                      </m:sub>
                    </m:sSub>
                  </m:oMath>
                </a14:m>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4.5(b)</a:t>
                </a:r>
                <a:r>
                  <a:rPr lang="zh-CN" altLang="zh-CN" sz="1200" kern="1200" dirty="0">
                    <a:solidFill>
                      <a:schemeClr val="tx1"/>
                    </a:solidFill>
                    <a:effectLst/>
                    <a:latin typeface="+mn-lt"/>
                    <a:ea typeface="+mn-ea"/>
                    <a:cs typeface="+mn-cs"/>
                  </a:rPr>
                  <a:t>中，引入笛卡尔坐标系</a:t>
                </a:r>
                <a:r>
                  <a:rPr lang="zh-CN" altLang="zh-CN" sz="1200" i="0" kern="1200">
                    <a:solidFill>
                      <a:schemeClr val="tx1"/>
                    </a:solidFill>
                    <a:effectLst/>
                    <a:latin typeface="Cambria Math" panose="02040503050406030204" pitchFamily="18" charset="0"/>
                    <a:ea typeface="+mn-ea"/>
                    <a:cs typeface="+mn-cs"/>
                  </a:rPr>
                  <a:t>Ｏ_</a:t>
                </a:r>
                <a:r>
                  <a:rPr lang="en-US" altLang="zh-CN" sz="1200" i="0" kern="1200">
                    <a:solidFill>
                      <a:schemeClr val="tx1"/>
                    </a:solidFill>
                    <a:effectLst/>
                    <a:latin typeface="Cambria Math" panose="02040503050406030204" pitchFamily="18" charset="0"/>
                    <a:ea typeface="+mn-ea"/>
                    <a:cs typeface="+mn-cs"/>
                  </a:rPr>
                  <a:t>𝑥𝑦𝑧</a:t>
                </a:r>
                <a:r>
                  <a:rPr lang="zh-CN" altLang="zh-CN" sz="1200" kern="1200" dirty="0">
                    <a:solidFill>
                      <a:schemeClr val="tx1"/>
                    </a:solidFill>
                    <a:effectLst/>
                    <a:latin typeface="+mn-lt"/>
                    <a:ea typeface="+mn-ea"/>
                    <a:cs typeface="+mn-cs"/>
                  </a:rPr>
                  <a:t>，定义其三个正交轴的单位向量为</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𝑖,𝑗,𝑘}⊂𝐸</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3</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那么普吕克坐标系下的单位运动向量</a:t>
                </a:r>
                <a:r>
                  <a:rPr lang="en-US" altLang="zh-CN" sz="1200" i="0" kern="1200">
                    <a:solidFill>
                      <a:schemeClr val="tx1"/>
                    </a:solidFill>
                    <a:effectLst/>
                    <a:latin typeface="Cambria Math" panose="02040503050406030204" pitchFamily="18" charset="0"/>
                    <a:ea typeface="+mn-ea"/>
                    <a:cs typeface="+mn-cs"/>
                  </a:rPr>
                  <a:t>𝒟</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𝑜</a:t>
                </a:r>
                <a:r>
                  <a:rPr lang="zh-CN" altLang="zh-CN" sz="1200" kern="1200" dirty="0">
                    <a:solidFill>
                      <a:schemeClr val="tx1"/>
                    </a:solidFill>
                    <a:effectLst/>
                    <a:latin typeface="+mn-lt"/>
                    <a:ea typeface="+mn-ea"/>
                    <a:cs typeface="+mn-cs"/>
                  </a:rPr>
                  <a:t>由</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个元素组成，其中三个是关于有向直线</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𝑥</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𝑦</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𝑧</a:t>
                </a:r>
                <a:r>
                  <a:rPr lang="zh-CN" altLang="zh-CN" sz="1200" kern="1200" dirty="0">
                    <a:solidFill>
                      <a:schemeClr val="tx1"/>
                    </a:solidFill>
                    <a:effectLst/>
                    <a:latin typeface="+mn-lt"/>
                    <a:ea typeface="+mn-ea"/>
                    <a:cs typeface="+mn-cs"/>
                  </a:rPr>
                  <a:t>的单位转角：</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𝑥 </a:t>
                </a:r>
                <a:r>
                  <a:rPr lang="zh-CN" altLang="zh-CN" sz="1200" i="0" kern="1200">
                    <a:solidFill>
                      <a:schemeClr val="tx1"/>
                    </a:solidFill>
                    <a:effectLst/>
                    <a:latin typeface="Cambria Math" panose="02040503050406030204" pitchFamily="18" charset="0"/>
                    <a:ea typeface="+mn-ea"/>
                    <a:cs typeface="+mn-cs"/>
                  </a:rPr>
                  <a:t>)</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𝑦 </a:t>
                </a:r>
                <a:r>
                  <a:rPr lang="zh-CN" altLang="zh-CN" sz="1200" i="0" kern="1200">
                    <a:solidFill>
                      <a:schemeClr val="tx1"/>
                    </a:solidFill>
                    <a:effectLst/>
                    <a:latin typeface="Cambria Math" panose="02040503050406030204" pitchFamily="18" charset="0"/>
                    <a:ea typeface="+mn-ea"/>
                    <a:cs typeface="+mn-cs"/>
                  </a:rPr>
                  <a:t>)</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𝑧 </a:t>
                </a:r>
                <a:r>
                  <a:rPr lang="zh-CN" altLang="zh-CN" sz="1200" i="0" kern="1200">
                    <a:solidFill>
                      <a:schemeClr val="tx1"/>
                    </a:solidFill>
                    <a:effectLst/>
                    <a:latin typeface="Cambria Math" panose="02040503050406030204" pitchFamily="18" charset="0"/>
                    <a:ea typeface="+mn-ea"/>
                    <a:cs typeface="+mn-cs"/>
                  </a:rPr>
                  <a:t>)</a:t>
                </a:r>
                <a:r>
                  <a:rPr lang="zh-CN" altLang="zh-CN" sz="1200" kern="1200" dirty="0">
                    <a:solidFill>
                      <a:schemeClr val="tx1"/>
                    </a:solidFill>
                    <a:effectLst/>
                    <a:latin typeface="+mn-lt"/>
                    <a:ea typeface="+mn-ea"/>
                    <a:cs typeface="+mn-cs"/>
                  </a:rPr>
                  <a:t>，另三个是沿</a:t>
                </a:r>
                <a:r>
                  <a:rPr lang="en-US" altLang="zh-CN" sz="1200" i="0" kern="1200">
                    <a:solidFill>
                      <a:schemeClr val="tx1"/>
                    </a:solidFill>
                    <a:effectLst/>
                    <a:latin typeface="Cambria Math" panose="02040503050406030204" pitchFamily="18" charset="0"/>
                    <a:ea typeface="+mn-ea"/>
                    <a:cs typeface="+mn-cs"/>
                  </a:rPr>
                  <a:t>𝑥</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𝑦</a:t>
                </a:r>
                <a:r>
                  <a:rPr lang="zh-CN" altLang="zh-CN" sz="1200" i="1"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𝑧</a:t>
                </a:r>
                <a:r>
                  <a:rPr lang="zh-CN" altLang="zh-CN" sz="1200" kern="1200" dirty="0">
                    <a:solidFill>
                      <a:schemeClr val="tx1"/>
                    </a:solidFill>
                    <a:effectLst/>
                    <a:latin typeface="+mn-lt"/>
                    <a:ea typeface="+mn-ea"/>
                    <a:cs typeface="+mn-cs"/>
                  </a:rPr>
                  <a:t>方向的单位位移：</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𝑥</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𝑦</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Cambria Math" panose="02040503050406030204" pitchFamily="18" charset="0"/>
                    <a:ea typeface="+mn-ea"/>
                    <a:cs typeface="+mn-cs"/>
                  </a:rPr>
                  <a:t>𝑑</a:t>
                </a:r>
                <a:r>
                  <a:rPr lang="zh-CN" altLang="zh-CN" sz="1200" i="0" kern="1200">
                    <a:solidFill>
                      <a:schemeClr val="tx1"/>
                    </a:solidFill>
                    <a:effectLst/>
                    <a:latin typeface="Cambria Math" panose="02040503050406030204" pitchFamily="18" charset="0"/>
                    <a:ea typeface="+mn-ea"/>
                    <a:cs typeface="+mn-cs"/>
                  </a:rPr>
                  <a:t>_</a:t>
                </a:r>
                <a:r>
                  <a:rPr lang="en-US" altLang="zh-CN" sz="1200" i="0" kern="1200">
                    <a:solidFill>
                      <a:schemeClr val="tx1"/>
                    </a:solidFill>
                    <a:effectLst/>
                    <a:latin typeface="Cambria Math" panose="02040503050406030204" pitchFamily="18" charset="0"/>
                    <a:ea typeface="+mn-ea"/>
                    <a:cs typeface="+mn-cs"/>
                  </a:rPr>
                  <a:t>𝑧</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extLst>
      <p:ext uri="{BB962C8B-B14F-4D97-AF65-F5344CB8AC3E}">
        <p14:creationId xmlns:p14="http://schemas.microsoft.com/office/powerpoint/2010/main" val="36381532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同理，如图</a:t>
                </a:r>
                <a:r>
                  <a:rPr lang="en-US" altLang="zh-CN" sz="1200" kern="1200" dirty="0">
                    <a:solidFill>
                      <a:schemeClr val="tx1"/>
                    </a:solidFill>
                    <a:effectLst/>
                    <a:latin typeface="+mn-lt"/>
                    <a:ea typeface="+mn-ea"/>
                    <a:cs typeface="+mn-cs"/>
                  </a:rPr>
                  <a:t>4.6</a:t>
                </a:r>
                <a:r>
                  <a:rPr lang="zh-CN" altLang="zh-CN" sz="1200" kern="1200" dirty="0">
                    <a:solidFill>
                      <a:schemeClr val="tx1"/>
                    </a:solidFill>
                    <a:effectLst/>
                    <a:latin typeface="+mn-lt"/>
                    <a:ea typeface="+mn-ea"/>
                    <a:cs typeface="+mn-cs"/>
                  </a:rPr>
                  <a:t>所示，刚体</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B</m:t>
                    </m:r>
                  </m:oMath>
                </a14:m>
                <a:r>
                  <a:rPr lang="zh-CN" altLang="zh-CN" sz="1200" kern="1200" dirty="0">
                    <a:solidFill>
                      <a:schemeClr val="tx1"/>
                    </a:solidFill>
                    <a:effectLst/>
                    <a:latin typeface="+mn-lt"/>
                    <a:ea typeface="+mn-ea"/>
                    <a:cs typeface="+mn-cs"/>
                  </a:rPr>
                  <a:t>的力向量也可以在普吕克坐标系下表达</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刚体</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B</m:t>
                    </m:r>
                  </m:oMath>
                </a14:m>
                <a:r>
                  <a:rPr lang="zh-CN" altLang="zh-CN" sz="1200" kern="1200" dirty="0">
                    <a:solidFill>
                      <a:schemeClr val="tx1"/>
                    </a:solidFill>
                    <a:effectLst/>
                    <a:latin typeface="+mn-lt"/>
                    <a:ea typeface="+mn-ea"/>
                    <a:cs typeface="+mn-cs"/>
                  </a:rPr>
                  <a:t>的广义力可表达为沿</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点作用线的一个线性集中力</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𝑓</m:t>
                    </m:r>
                  </m:oMath>
                </a14:m>
                <a:r>
                  <a:rPr lang="zh-CN" altLang="zh-CN" sz="1200" kern="1200" dirty="0">
                    <a:solidFill>
                      <a:schemeClr val="tx1"/>
                    </a:solidFill>
                    <a:effectLst/>
                    <a:latin typeface="+mn-lt"/>
                    <a:ea typeface="+mn-ea"/>
                    <a:cs typeface="+mn-cs"/>
                  </a:rPr>
                  <a:t>和绕通过</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点的旋转轴产生的力矩</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组成。刚体的空间单位力向量表示为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ℱ</m:t>
                          </m:r>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x</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y</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z</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Sub>
                            </m:sub>
                          </m:sSub>
                        </m:e>
                      </m:d>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𝐹</m:t>
                          </m:r>
                        </m:e>
                        <m:sup>
                          <m:r>
                            <a:rPr lang="en-US" altLang="zh-CN" sz="1200" i="1" kern="1200">
                              <a:solidFill>
                                <a:schemeClr val="tx1"/>
                              </a:solidFill>
                              <a:effectLst/>
                              <a:latin typeface="Cambria Math" panose="02040503050406030204" pitchFamily="18" charset="0"/>
                              <a:ea typeface="+mn-ea"/>
                              <a:cs typeface="+mn-cs"/>
                            </a:rPr>
                            <m:t>6</m:t>
                          </m:r>
                        </m:sup>
                      </m:sSup>
                    </m:oMath>
                  </m:oMathPara>
                </a14:m>
                <a:endParaRPr lang="en-US" altLang="zh-CN" dirty="0" smtClean="0"/>
              </a:p>
              <a:p>
                <a:r>
                  <a:rPr lang="zh-CN" altLang="zh-CN" sz="1200" kern="1200" dirty="0" smtClean="0">
                    <a:solidFill>
                      <a:schemeClr val="tx1"/>
                    </a:solidFill>
                    <a:effectLst/>
                    <a:latin typeface="+mn-lt"/>
                    <a:ea typeface="+mn-ea"/>
                    <a:cs typeface="+mn-cs"/>
                  </a:rPr>
                  <a:t>则作用在刚体上的力系由两个向量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𝑓</m:t>
                    </m:r>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表达的空间力向量为：</a:t>
                </a:r>
              </a:p>
              <a:p>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f</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x</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y</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r>
                          <m:rPr>
                            <m:sty m:val="p"/>
                          </m:rPr>
                          <a:rPr lang="en-US" altLang="zh-CN" sz="1200" kern="1200">
                            <a:solidFill>
                              <a:schemeClr val="tx1"/>
                            </a:solidFill>
                            <a:effectLst/>
                            <a:latin typeface="Cambria Math" panose="02040503050406030204" pitchFamily="18" charset="0"/>
                            <a:ea typeface="+mn-ea"/>
                            <a:cs typeface="+mn-cs"/>
                          </a:rPr>
                          <m:t>z</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Sub>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Sub>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𝑒</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Sub>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𝑧</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4-48</a:t>
                </a:r>
                <a:r>
                  <a:rPr lang="zh-CN" altLang="zh-CN" sz="1200" kern="1200" dirty="0">
                    <a:solidFill>
                      <a:schemeClr val="tx1"/>
                    </a:solidFill>
                    <a:effectLst/>
                    <a:latin typeface="+mn-lt"/>
                    <a:ea typeface="+mn-ea"/>
                    <a:cs typeface="+mn-cs"/>
                  </a:rPr>
                  <a:t>）</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同理，如图</a:t>
                </a:r>
                <a:r>
                  <a:rPr lang="en-US" altLang="zh-CN" sz="1200" kern="1200" dirty="0">
                    <a:solidFill>
                      <a:schemeClr val="tx1"/>
                    </a:solidFill>
                    <a:effectLst/>
                    <a:latin typeface="+mn-lt"/>
                    <a:ea typeface="+mn-ea"/>
                    <a:cs typeface="+mn-cs"/>
                  </a:rPr>
                  <a:t>4.6</a:t>
                </a:r>
                <a:r>
                  <a:rPr lang="zh-CN" altLang="zh-CN" sz="1200" kern="1200" dirty="0">
                    <a:solidFill>
                      <a:schemeClr val="tx1"/>
                    </a:solidFill>
                    <a:effectLst/>
                    <a:latin typeface="+mn-lt"/>
                    <a:ea typeface="+mn-ea"/>
                    <a:cs typeface="+mn-cs"/>
                  </a:rPr>
                  <a:t>所示，刚体</a:t>
                </a:r>
                <a:r>
                  <a:rPr lang="en-US" altLang="zh-CN" sz="1200" i="0" kern="120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的力向量也可以在普吕克坐标系下表达</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刚体</a:t>
                </a:r>
                <a:r>
                  <a:rPr lang="en-US" altLang="zh-CN" sz="1200" i="0" kern="120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的广义力可表达为沿</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点作用线的一个线性集中力</a:t>
                </a:r>
                <a:r>
                  <a:rPr lang="en-US" altLang="zh-CN" sz="1200" i="0" kern="1200">
                    <a:solidFill>
                      <a:schemeClr val="tx1"/>
                    </a:solidFill>
                    <a:effectLst/>
                    <a:latin typeface="+mn-lt"/>
                    <a:ea typeface="+mn-ea"/>
                    <a:cs typeface="+mn-cs"/>
                  </a:rPr>
                  <a:t>𝑓</a:t>
                </a:r>
                <a:r>
                  <a:rPr lang="zh-CN" altLang="zh-CN" sz="1200" kern="1200" dirty="0">
                    <a:solidFill>
                      <a:schemeClr val="tx1"/>
                    </a:solidFill>
                    <a:effectLst/>
                    <a:latin typeface="+mn-lt"/>
                    <a:ea typeface="+mn-ea"/>
                    <a:cs typeface="+mn-cs"/>
                  </a:rPr>
                  <a:t>和绕通过</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点的旋转轴产生的力矩</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组成。刚体的空间单位力向量表示为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ℱ</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x,𝑒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y,𝑒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z,𝑒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}⊂𝐹</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a:t>
                </a:r>
                <a:endParaRPr lang="en-US" altLang="zh-CN" dirty="0" smtClean="0"/>
              </a:p>
              <a:p>
                <a:r>
                  <a:rPr lang="zh-CN" altLang="zh-CN" sz="1200" kern="1200" dirty="0" smtClean="0">
                    <a:solidFill>
                      <a:schemeClr val="tx1"/>
                    </a:solidFill>
                    <a:effectLst/>
                    <a:latin typeface="+mn-lt"/>
                    <a:ea typeface="+mn-ea"/>
                    <a:cs typeface="+mn-cs"/>
                  </a:rPr>
                  <a:t>则作用在刚体上的力系由两个向量</a:t>
                </a:r>
                <a:r>
                  <a:rPr lang="en-US" altLang="zh-CN" sz="1200" i="0" kern="1200">
                    <a:solidFill>
                      <a:schemeClr val="tx1"/>
                    </a:solidFill>
                    <a:effectLst/>
                    <a:latin typeface="+mn-lt"/>
                    <a:ea typeface="+mn-ea"/>
                    <a:cs typeface="+mn-cs"/>
                  </a:rPr>
                  <a:t>𝑓</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表达的空间力向量为：</a:t>
                </a:r>
              </a:p>
              <a:p>
                <a:r>
                  <a:rPr lang="en-US" altLang="zh-CN" sz="1200" i="0" kern="1200">
                    <a:solidFill>
                      <a:schemeClr val="tx1"/>
                    </a:solidFill>
                    <a:effectLst/>
                    <a:latin typeface="+mn-lt"/>
                    <a:ea typeface="+mn-ea"/>
                    <a:cs typeface="+mn-cs"/>
                  </a:rPr>
                  <a:t>f=𝑒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x</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y</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z</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𝑦+𝑒</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𝑓</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4-48</a:t>
                </a:r>
                <a:r>
                  <a:rPr lang="zh-CN" altLang="zh-CN" sz="1200" kern="1200" dirty="0">
                    <a:solidFill>
                      <a:schemeClr val="tx1"/>
                    </a:solidFill>
                    <a:effectLst/>
                    <a:latin typeface="+mn-lt"/>
                    <a:ea typeface="+mn-ea"/>
                    <a:cs typeface="+mn-cs"/>
                  </a:rPr>
                  <a:t>）</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38</a:t>
            </a:fld>
            <a:endParaRPr lang="zh-CN" altLang="en-US"/>
          </a:p>
        </p:txBody>
      </p:sp>
    </p:spTree>
    <p:extLst>
      <p:ext uri="{BB962C8B-B14F-4D97-AF65-F5344CB8AC3E}">
        <p14:creationId xmlns:p14="http://schemas.microsoft.com/office/powerpoint/2010/main" val="24531430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extLst>
      <p:ext uri="{BB962C8B-B14F-4D97-AF65-F5344CB8AC3E}">
        <p14:creationId xmlns:p14="http://schemas.microsoft.com/office/powerpoint/2010/main" val="23812506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extLst>
      <p:ext uri="{BB962C8B-B14F-4D97-AF65-F5344CB8AC3E}">
        <p14:creationId xmlns:p14="http://schemas.microsoft.com/office/powerpoint/2010/main" val="1758534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41</a:t>
            </a:fld>
            <a:endParaRPr lang="zh-CN" altLang="en-US"/>
          </a:p>
        </p:txBody>
      </p:sp>
    </p:spTree>
    <p:extLst>
      <p:ext uri="{BB962C8B-B14F-4D97-AF65-F5344CB8AC3E}">
        <p14:creationId xmlns:p14="http://schemas.microsoft.com/office/powerpoint/2010/main" val="18621510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所示，</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为刚体上的固定点，在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时刻与</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点重合，</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点相对于</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点在时域上的位置向量函数，那么</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oMath>
                </a14:m>
                <a:r>
                  <a:rPr lang="zh-CN" altLang="zh-CN" sz="1200" kern="1200" dirty="0">
                    <a:solidFill>
                      <a:schemeClr val="tx1"/>
                    </a:solidFill>
                    <a:effectLst/>
                    <a:latin typeface="+mn-lt"/>
                    <a:ea typeface="+mn-ea"/>
                    <a:cs typeface="+mn-cs"/>
                  </a:rPr>
                  <a:t>表示</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的速度，</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oMath>
                </a14:m>
                <a:r>
                  <a:rPr lang="zh-CN" altLang="zh-CN" sz="1200" kern="1200" dirty="0">
                    <a:solidFill>
                      <a:schemeClr val="tx1"/>
                    </a:solidFill>
                    <a:effectLst/>
                    <a:latin typeface="+mn-lt"/>
                    <a:ea typeface="+mn-ea"/>
                    <a:cs typeface="+mn-cs"/>
                  </a:rPr>
                  <a:t>表示其加速度。那么：</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limLow>
                            <m:limLowPr>
                              <m:ctrlPr>
                                <a:rPr lang="zh-CN" altLang="zh-CN" sz="1200" i="1" kern="1200">
                                  <a:solidFill>
                                    <a:schemeClr val="tx1"/>
                                  </a:solidFill>
                                  <a:effectLst/>
                                  <a:latin typeface="Cambria Math" panose="02040503050406030204" pitchFamily="18" charset="0"/>
                                  <a:ea typeface="+mn-ea"/>
                                  <a:cs typeface="+mn-cs"/>
                                </a:rPr>
                              </m:ctrlPr>
                            </m:limLowPr>
                            <m:e>
                              <m:r>
                                <m:rPr>
                                  <m:sty m:val="p"/>
                                </m:rPr>
                                <a:rPr lang="en-US" altLang="zh-CN" sz="1200" kern="1200">
                                  <a:solidFill>
                                    <a:schemeClr val="tx1"/>
                                  </a:solidFill>
                                  <a:effectLst/>
                                  <a:latin typeface="Cambria Math" panose="02040503050406030204" pitchFamily="18" charset="0"/>
                                  <a:ea typeface="+mn-ea"/>
                                  <a:cs typeface="+mn-cs"/>
                                </a:rPr>
                                <m:t>lim</m:t>
                              </m:r>
                            </m:e>
                            <m:lim>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→0</m:t>
                              </m:r>
                            </m:lim>
                          </m:limLow>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num>
                            <m:den>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den>
                          </m:f>
                        </m:e>
                      </m:func>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在上式中，在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𝑡</m:t>
                    </m:r>
                  </m:oMath>
                </a14:m>
                <a:r>
                  <a:rPr lang="zh-CN" altLang="zh-CN" sz="1200" kern="1200" dirty="0">
                    <a:solidFill>
                      <a:schemeClr val="tx1"/>
                    </a:solidFill>
                    <a:effectLst/>
                    <a:latin typeface="+mn-lt"/>
                    <a:ea typeface="+mn-ea"/>
                    <a:cs typeface="+mn-cs"/>
                  </a:rPr>
                  <a:t>时刻</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与</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点重合</a:t>
                </a:r>
                <a:r>
                  <a:rPr lang="en-US"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oMath>
                </a14:m>
                <a:r>
                  <a:rPr lang="zh-CN" altLang="zh-CN" sz="1200" kern="1200" dirty="0">
                    <a:solidFill>
                      <a:schemeClr val="tx1"/>
                    </a:solidFill>
                    <a:effectLst/>
                    <a:latin typeface="+mn-lt"/>
                    <a:ea typeface="+mn-ea"/>
                    <a:cs typeface="+mn-cs"/>
                  </a:rPr>
                  <a:t>不等于</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，因为</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与</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zh-CN" altLang="zh-CN" sz="1200" kern="1200" dirty="0">
                    <a:solidFill>
                      <a:schemeClr val="tx1"/>
                    </a:solidFill>
                    <a:effectLst/>
                    <a:latin typeface="+mn-lt"/>
                    <a:ea typeface="+mn-ea"/>
                    <a:cs typeface="+mn-cs"/>
                  </a:rPr>
                  <a:t>点已移动偏移了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所示），所以：</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𝑜</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limLow>
                            <m:limLowPr>
                              <m:ctrlPr>
                                <a:rPr lang="zh-CN" altLang="zh-CN" sz="1200" i="1" kern="1200">
                                  <a:solidFill>
                                    <a:schemeClr val="tx1"/>
                                  </a:solidFill>
                                  <a:effectLst/>
                                  <a:latin typeface="Cambria Math" panose="02040503050406030204" pitchFamily="18" charset="0"/>
                                  <a:ea typeface="+mn-ea"/>
                                  <a:cs typeface="+mn-cs"/>
                                </a:rPr>
                              </m:ctrlPr>
                            </m:limLowPr>
                            <m:e>
                              <m:r>
                                <m:rPr>
                                  <m:sty m:val="p"/>
                                </m:rPr>
                                <a:rPr lang="en-US" altLang="zh-CN" sz="1200" kern="1200">
                                  <a:solidFill>
                                    <a:schemeClr val="tx1"/>
                                  </a:solidFill>
                                  <a:effectLst/>
                                  <a:latin typeface="Cambria Math" panose="02040503050406030204" pitchFamily="18" charset="0"/>
                                  <a:ea typeface="+mn-ea"/>
                                  <a:cs typeface="+mn-cs"/>
                                </a:rPr>
                                <m:t>lim</m:t>
                              </m:r>
                            </m:e>
                            <m:lim>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→0</m:t>
                              </m:r>
                            </m:lim>
                          </m:limLow>
                        </m:fName>
                        <m:e>
                          <m:f>
                            <m:fPr>
                              <m:ctrlPr>
                                <a:rPr lang="zh-CN" altLang="zh-CN" sz="1200" i="1" kern="1200">
                                  <a:solidFill>
                                    <a:schemeClr val="tx1"/>
                                  </a:solidFill>
                                  <a:effectLst/>
                                  <a:latin typeface="Cambria Math" panose="02040503050406030204" pitchFamily="18" charset="0"/>
                                  <a:ea typeface="+mn-ea"/>
                                  <a:cs typeface="+mn-cs"/>
                                </a:rPr>
                              </m:ctrlPr>
                            </m:fPr>
                            <m:num>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num>
                            <m:den>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den>
                          </m:f>
                        </m:e>
                      </m:func>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a:t>
                </a:r>
                <a14:m>
                  <m:oMath xmlns:m="http://schemas.openxmlformats.org/officeDocument/2006/math">
                    <m:func>
                      <m:funcPr>
                        <m:ctrlPr>
                          <a:rPr lang="zh-CN" altLang="zh-CN" sz="1200" i="1" kern="1200">
                            <a:solidFill>
                              <a:schemeClr val="tx1"/>
                            </a:solidFill>
                            <a:effectLst/>
                            <a:latin typeface="Cambria Math" panose="02040503050406030204" pitchFamily="18" charset="0"/>
                            <a:ea typeface="+mn-ea"/>
                            <a:cs typeface="+mn-cs"/>
                          </a:rPr>
                        </m:ctrlPr>
                      </m:funcPr>
                      <m:fName>
                        <m:limLow>
                          <m:limLowPr>
                            <m:ctrlPr>
                              <a:rPr lang="zh-CN" altLang="zh-CN" sz="1200" i="1" kern="1200">
                                <a:solidFill>
                                  <a:schemeClr val="tx1"/>
                                </a:solidFill>
                                <a:effectLst/>
                                <a:latin typeface="Cambria Math" panose="02040503050406030204" pitchFamily="18" charset="0"/>
                                <a:ea typeface="+mn-ea"/>
                                <a:cs typeface="+mn-cs"/>
                              </a:rPr>
                            </m:ctrlPr>
                          </m:limLowPr>
                          <m:e>
                            <m:r>
                              <m:rPr>
                                <m:sty m:val="p"/>
                              </m:rPr>
                              <a:rPr lang="en-US" altLang="zh-CN" sz="1200" kern="1200">
                                <a:solidFill>
                                  <a:schemeClr val="tx1"/>
                                </a:solidFill>
                                <a:effectLst/>
                                <a:latin typeface="Cambria Math" panose="02040503050406030204" pitchFamily="18" charset="0"/>
                                <a:ea typeface="+mn-ea"/>
                                <a:cs typeface="+mn-cs"/>
                              </a:rPr>
                              <m:t>lim</m:t>
                            </m:r>
                          </m:e>
                          <m:lim>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→0</m:t>
                            </m:r>
                          </m:lim>
                        </m:limLow>
                      </m:fName>
                      <m:e>
                        <m:f>
                          <m:fPr>
                            <m:ctrlPr>
                              <a:rPr lang="zh-CN" altLang="zh-CN" sz="1200" i="1" kern="1200">
                                <a:solidFill>
                                  <a:schemeClr val="tx1"/>
                                </a:solidFill>
                                <a:effectLst/>
                                <a:latin typeface="Cambria Math" panose="02040503050406030204" pitchFamily="18" charset="0"/>
                                <a:ea typeface="+mn-ea"/>
                                <a:cs typeface="+mn-cs"/>
                              </a:rPr>
                            </m:ctrlPr>
                          </m:fPr>
                          <m:num>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e>
                            </m:d>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𝑡</m:t>
                                </m:r>
                              </m:e>
                            </m:d>
                          </m:num>
                          <m:den>
                            <m:r>
                              <a:rPr lang="en-US" altLang="zh-CN" sz="1200" i="1" kern="1200">
                                <a:solidFill>
                                  <a:schemeClr val="tx1"/>
                                </a:solidFill>
                                <a:effectLst/>
                                <a:latin typeface="Cambria Math" panose="02040503050406030204" pitchFamily="18" charset="0"/>
                                <a:ea typeface="+mn-ea"/>
                                <a:cs typeface="+mn-cs"/>
                              </a:rPr>
                              <m:t>𝛿</m:t>
                            </m:r>
                            <m:r>
                              <a:rPr lang="en-US" altLang="zh-CN" sz="1200" i="1" kern="1200">
                                <a:solidFill>
                                  <a:schemeClr val="tx1"/>
                                </a:solidFill>
                                <a:effectLst/>
                                <a:latin typeface="Cambria Math" panose="02040503050406030204" pitchFamily="18" charset="0"/>
                                <a:ea typeface="+mn-ea"/>
                                <a:cs typeface="+mn-cs"/>
                              </a:rPr>
                              <m:t>𝑡</m:t>
                            </m:r>
                          </m:den>
                        </m:f>
                      </m:e>
                    </m:func>
                  </m:oMath>
                </a14:m>
                <a:r>
                  <a:rPr lang="en-US" altLang="zh-CN" sz="1200" kern="1200" dirty="0">
                    <a:solidFill>
                      <a:schemeClr val="tx1"/>
                    </a:solidFill>
                    <a:effectLst/>
                    <a:latin typeface="+mn-lt"/>
                    <a:ea typeface="+mn-ea"/>
                    <a:cs typeface="+mn-cs"/>
                  </a:rPr>
                  <a:t>=</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oMath>
                </a14:m>
                <a:r>
                  <a:rPr lang="zh-CN" altLang="zh-CN" sz="1200" kern="1200" dirty="0">
                    <a:solidFill>
                      <a:schemeClr val="tx1"/>
                    </a:solidFill>
                    <a:effectLst/>
                    <a:latin typeface="+mn-lt"/>
                    <a:ea typeface="+mn-ea"/>
                    <a:cs typeface="+mn-cs"/>
                  </a:rPr>
                  <a:t>，则：</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𝑣</m:t>
                            </m:r>
                          </m:e>
                        </m:acc>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4-61</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空间加速度可表示为：</a:t>
                </a:r>
              </a:p>
              <a:p>
                <a14:m>
                  <m:oMath xmlns:m="http://schemas.openxmlformats.org/officeDocument/2006/math">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e>
                          </m:mr>
                        </m:m>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如果经典加速度如下表示：</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mr>
                          <m:m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𝑟</m:t>
                                  </m:r>
                                </m:e>
                              </m:acc>
                            </m:e>
                          </m:mr>
                        </m:m>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4-63</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经典加速度</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将参考点固定于构件上</a:t>
                </a:r>
                <a:r>
                  <a:rPr lang="en-US" altLang="zh-CN" sz="1200" kern="1200" dirty="0">
                    <a:solidFill>
                      <a:schemeClr val="tx1"/>
                    </a:solidFill>
                    <a:effectLst/>
                    <a:latin typeface="+mn-lt"/>
                    <a:ea typeface="+mn-ea"/>
                    <a:cs typeface="+mn-cs"/>
                  </a:rPr>
                  <a:t>(</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时对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𝑣</m:t>
                            </m:r>
                          </m:e>
                        </m:ba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求导，而空间加速度将参考点固定在空间上</a:t>
                </a:r>
                <a:r>
                  <a:rPr lang="en-US" altLang="zh-CN" sz="1200" kern="1200" dirty="0">
                    <a:solidFill>
                      <a:schemeClr val="tx1"/>
                    </a:solidFill>
                    <a:effectLst/>
                    <a:latin typeface="+mn-lt"/>
                    <a:ea typeface="+mn-ea"/>
                    <a:cs typeface="+mn-cs"/>
                  </a:rPr>
                  <a:t>(</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O</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时对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𝑣</m:t>
                            </m:r>
                          </m:e>
                        </m:bar>
                      </m:e>
                      <m:sub>
                        <m:r>
                          <a:rPr lang="en-US" altLang="zh-CN" sz="1200" i="1" kern="1200">
                            <a:solidFill>
                              <a:schemeClr val="tx1"/>
                            </a:solidFill>
                            <a:effectLst/>
                            <a:latin typeface="Cambria Math" panose="02040503050406030204" pitchFamily="18" charset="0"/>
                            <a:ea typeface="+mn-ea"/>
                            <a:cs typeface="+mn-cs"/>
                          </a:rPr>
                          <m:t>𝑜</m:t>
                        </m:r>
                      </m:sub>
                    </m:sSub>
                  </m:oMath>
                </a14:m>
                <a:r>
                  <a:rPr lang="zh-CN" altLang="zh-CN" sz="1200" kern="1200" dirty="0">
                    <a:solidFill>
                      <a:schemeClr val="tx1"/>
                    </a:solidFill>
                    <a:effectLst/>
                    <a:latin typeface="+mn-lt"/>
                    <a:ea typeface="+mn-ea"/>
                    <a:cs typeface="+mn-cs"/>
                  </a:rPr>
                  <a:t>求导，两种加速度之间的关系为：</a:t>
                </a:r>
              </a:p>
              <a:p>
                <a14:m>
                  <m:oMath xmlns:m="http://schemas.openxmlformats.org/officeDocument/2006/math">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0</m:t>
                                  </m:r>
                                </m:e>
                              </m:bar>
                            </m:e>
                          </m:mr>
                          <m:mr>
                            <m:e>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𝜔</m:t>
                                  </m:r>
                                </m:e>
                              </m:ba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a:rPr lang="en-US" altLang="zh-CN" sz="1200" i="1" kern="1200">
                                          <a:solidFill>
                                            <a:schemeClr val="tx1"/>
                                          </a:solidFill>
                                          <a:effectLst/>
                                          <a:latin typeface="Cambria Math" panose="02040503050406030204" pitchFamily="18" charset="0"/>
                                          <a:ea typeface="+mn-ea"/>
                                          <a:cs typeface="+mn-cs"/>
                                        </a:rPr>
                                        <m:t>𝑣</m:t>
                                      </m:r>
                                    </m:e>
                                  </m:bar>
                                </m:e>
                                <m:sub>
                                  <m:r>
                                    <a:rPr lang="en-US" altLang="zh-CN" sz="1200" i="1" kern="1200">
                                      <a:solidFill>
                                        <a:schemeClr val="tx1"/>
                                      </a:solidFill>
                                      <a:effectLst/>
                                      <a:latin typeface="Cambria Math" panose="02040503050406030204" pitchFamily="18" charset="0"/>
                                      <a:ea typeface="+mn-ea"/>
                                      <a:cs typeface="+mn-cs"/>
                                    </a:rPr>
                                    <m:t>𝑜</m:t>
                                  </m:r>
                                </m:sub>
                              </m:sSub>
                            </m:e>
                          </m:mr>
                        </m:m>
                      </m:e>
                    </m:d>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4-64</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假如构件</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𝐵</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和构件</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𝐵</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的速度分别为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𝐵</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相对于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𝐵</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的速度为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𝑟𝑒𝑙</m:t>
                        </m:r>
                      </m:sub>
                    </m:sSub>
                  </m:oMath>
                </a14:m>
                <a:r>
                  <a:rPr lang="zh-CN" altLang="zh-CN" sz="1200" kern="1200" dirty="0">
                    <a:solidFill>
                      <a:schemeClr val="tx1"/>
                    </a:solidFill>
                    <a:effectLst/>
                    <a:latin typeface="+mn-lt"/>
                    <a:ea typeface="+mn-ea"/>
                    <a:cs typeface="+mn-cs"/>
                  </a:rPr>
                  <a:t>，那么：</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𝑟𝑒𝑙</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4-65</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对上式微分，得到加速度关系：</a:t>
                </a:r>
              </a:p>
              <a:p>
                <a14:m>
                  <m:oMath xmlns:m="http://schemas.openxmlformats.org/officeDocument/2006/math">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𝑑𝑡</m:t>
                        </m:r>
                      </m:den>
                    </m:f>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𝑟𝑒𝑙</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v</m:t>
                            </m:r>
                          </m:e>
                          <m:sub>
                            <m:r>
                              <a:rPr lang="en-US" altLang="zh-CN" sz="1200" i="1" kern="1200">
                                <a:solidFill>
                                  <a:schemeClr val="tx1"/>
                                </a:solidFill>
                                <a:effectLst/>
                                <a:latin typeface="Cambria Math" panose="02040503050406030204" pitchFamily="18" charset="0"/>
                                <a:ea typeface="+mn-ea"/>
                                <a:cs typeface="+mn-cs"/>
                              </a:rPr>
                              <m:t>1</m:t>
                            </m:r>
                          </m:sub>
                        </m:sSub>
                      </m:e>
                    </m:d>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4-66</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空间加速度向量和速度向量一样可以简单进行相加，采用空间加速度的好处是不用考虑科氏力</a:t>
                </a:r>
                <a:r>
                  <a:rPr lang="en-US" altLang="zh-CN" sz="1200" kern="1200" dirty="0">
                    <a:solidFill>
                      <a:schemeClr val="tx1"/>
                    </a:solidFill>
                    <a:effectLst/>
                    <a:latin typeface="+mn-lt"/>
                    <a:ea typeface="+mn-ea"/>
                    <a:cs typeface="+mn-cs"/>
                  </a:rPr>
                  <a:t>(Coriolis)</a:t>
                </a:r>
                <a:r>
                  <a:rPr lang="zh-CN" altLang="zh-CN" sz="1200" kern="1200" dirty="0">
                    <a:solidFill>
                      <a:schemeClr val="tx1"/>
                    </a:solidFill>
                    <a:effectLst/>
                    <a:latin typeface="+mn-lt"/>
                    <a:ea typeface="+mn-ea"/>
                    <a:cs typeface="+mn-cs"/>
                  </a:rPr>
                  <a:t>或离心力项。</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所示，</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为刚体上的固定点，在</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时刻与</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点重合，</a:t>
                </a:r>
                <a:r>
                  <a:rPr lang="en-US" altLang="zh-CN" sz="1200" i="0" kern="1200">
                    <a:solidFill>
                      <a:schemeClr val="tx1"/>
                    </a:solidFill>
                    <a:effectLst/>
                    <a:latin typeface="+mn-lt"/>
                    <a:ea typeface="+mn-ea"/>
                    <a:cs typeface="+mn-cs"/>
                  </a:rPr>
                  <a:t>𝑟(𝑡)</a:t>
                </a:r>
                <a:r>
                  <a:rPr lang="zh-CN" altLang="zh-CN" sz="1200" kern="1200" dirty="0">
                    <a:solidFill>
                      <a:schemeClr val="tx1"/>
                    </a:solidFill>
                    <a:effectLst/>
                    <a:latin typeface="+mn-lt"/>
                    <a:ea typeface="+mn-ea"/>
                    <a:cs typeface="+mn-cs"/>
                  </a:rPr>
                  <a:t>为</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点相对于</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点在时域上的位置向量函数，那么</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的速度，</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表示其加速度。那么：</a:t>
                </a: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𝑜=lim</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a:t>
                </a:r>
                <a:r>
                  <a:rPr lang="zh-CN" altLang="zh-CN" sz="1200" i="0" kern="120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在上式中，在</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时刻</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点重合</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，而</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a:t>
                </a:r>
                <a:r>
                  <a:rPr lang="zh-CN" altLang="zh-CN" sz="1200" kern="1200" dirty="0">
                    <a:solidFill>
                      <a:schemeClr val="tx1"/>
                    </a:solidFill>
                    <a:effectLst/>
                    <a:latin typeface="+mn-lt"/>
                    <a:ea typeface="+mn-ea"/>
                    <a:cs typeface="+mn-cs"/>
                  </a:rPr>
                  <a:t>不等于</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a:t>
                </a:r>
                <a:r>
                  <a:rPr lang="zh-CN" altLang="zh-CN" sz="1200" kern="1200" dirty="0">
                    <a:solidFill>
                      <a:schemeClr val="tx1"/>
                    </a:solidFill>
                    <a:effectLst/>
                    <a:latin typeface="+mn-lt"/>
                    <a:ea typeface="+mn-ea"/>
                    <a:cs typeface="+mn-cs"/>
                  </a:rPr>
                  <a:t>，因为</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O</a:t>
                </a:r>
                <a:r>
                  <a:rPr lang="zh-CN" altLang="zh-CN" sz="1200" kern="1200" dirty="0">
                    <a:solidFill>
                      <a:schemeClr val="tx1"/>
                    </a:solidFill>
                    <a:effectLst/>
                    <a:latin typeface="+mn-lt"/>
                    <a:ea typeface="+mn-ea"/>
                    <a:cs typeface="+mn-cs"/>
                  </a:rPr>
                  <a:t>点已移动偏移了</a:t>
                </a:r>
                <a:r>
                  <a:rPr lang="en-US" altLang="zh-CN" sz="1200" i="0" kern="1200">
                    <a:solidFill>
                      <a:schemeClr val="tx1"/>
                    </a:solidFill>
                    <a:effectLst/>
                    <a:latin typeface="+mn-lt"/>
                    <a:ea typeface="+mn-ea"/>
                    <a:cs typeface="+mn-cs"/>
                  </a:rPr>
                  <a:t>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4.7</a:t>
                </a:r>
                <a:r>
                  <a:rPr lang="zh-CN" altLang="zh-CN" sz="1200" kern="1200" dirty="0">
                    <a:solidFill>
                      <a:schemeClr val="tx1"/>
                    </a:solidFill>
                    <a:effectLst/>
                    <a:latin typeface="+mn-lt"/>
                    <a:ea typeface="+mn-ea"/>
                    <a:cs typeface="+mn-cs"/>
                  </a:rPr>
                  <a:t>所示），所以：</a:t>
                </a: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𝑡+𝛿𝑡)−𝜔×𝛿𝑡𝑟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a:t>
                </a: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𝑜=lim</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𝑡)−𝜔×𝛿𝑡𝑟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a:t>
                </a:r>
                <a:r>
                  <a:rPr lang="zh-CN" altLang="zh-CN" sz="1200" i="0" kern="120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a:t>
                </a:r>
                <a:r>
                  <a:rPr lang="en-US" altLang="zh-CN" sz="1200" i="0" kern="1200">
                    <a:solidFill>
                      <a:schemeClr val="tx1"/>
                    </a:solidFill>
                    <a:effectLst/>
                    <a:latin typeface="+mn-lt"/>
                    <a:ea typeface="+mn-ea"/>
                    <a:cs typeface="+mn-cs"/>
                  </a:rPr>
                  <a:t>lim</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𝑡+𝛿𝑡)−𝑟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𝛿𝑡</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，则：</a:t>
                </a:r>
              </a:p>
              <a:p>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−𝜔𝑟</a:t>
                </a:r>
                <a:r>
                  <a:rPr lang="zh-CN"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4-61</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空间加速度可表示为：</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−𝜔𝑟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如果经典加速度如下表示：</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@𝑟</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4-63</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经典加速度</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将参考点固定于构件上</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O</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时对</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求导，而空间加速度将参考点固定在空间上</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O</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时对</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求导，两种加速度之间的关系为：</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4-64</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假如构件</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和构件</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的速度分别为</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相对于</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的速度为</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𝑟𝑒𝑙</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𝑟𝑒𝑙=v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4-65</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对上式微分，得到加速度关系：</a:t>
                </a:r>
              </a:p>
              <a:p>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𝑑𝑡</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𝑟𝑒𝑙=v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4-66</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空间加速度向量和速度向量一样可以简单进行相加，采用空间加速度的好处是不用考虑科氏力</a:t>
                </a:r>
                <a:r>
                  <a:rPr lang="en-US" altLang="zh-CN" sz="1200" kern="1200" dirty="0">
                    <a:solidFill>
                      <a:schemeClr val="tx1"/>
                    </a:solidFill>
                    <a:effectLst/>
                    <a:latin typeface="+mn-lt"/>
                    <a:ea typeface="+mn-ea"/>
                    <a:cs typeface="+mn-cs"/>
                  </a:rPr>
                  <a:t>(Coriolis)</a:t>
                </a:r>
                <a:r>
                  <a:rPr lang="zh-CN" altLang="zh-CN" sz="1200" kern="1200" dirty="0">
                    <a:solidFill>
                      <a:schemeClr val="tx1"/>
                    </a:solidFill>
                    <a:effectLst/>
                    <a:latin typeface="+mn-lt"/>
                    <a:ea typeface="+mn-ea"/>
                    <a:cs typeface="+mn-cs"/>
                  </a:rPr>
                  <a:t>或离心力项。</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42</a:t>
            </a:fld>
            <a:endParaRPr lang="zh-CN" altLang="en-US"/>
          </a:p>
        </p:txBody>
      </p:sp>
    </p:spTree>
    <p:extLst>
      <p:ext uri="{BB962C8B-B14F-4D97-AF65-F5344CB8AC3E}">
        <p14:creationId xmlns:p14="http://schemas.microsoft.com/office/powerpoint/2010/main" val="2033760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43</a:t>
            </a:fld>
            <a:endParaRPr lang="zh-CN" altLang="en-US"/>
          </a:p>
        </p:txBody>
      </p:sp>
    </p:spTree>
    <p:extLst>
      <p:ext uri="{BB962C8B-B14F-4D97-AF65-F5344CB8AC3E}">
        <p14:creationId xmlns:p14="http://schemas.microsoft.com/office/powerpoint/2010/main" val="16816915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对于机器人整体来说，可对系统中的刚体定义一个表观空间惯量矩阵，用于描述作用于刚体上的力与加速度之间的关系。在关节坐标系中定义的刚体空间惯量矩阵被称为关节空间惯量矩阵（</a:t>
            </a:r>
            <a:r>
              <a:rPr lang="en-US" altLang="zh-CN" sz="1200" kern="1200" dirty="0" smtClean="0">
                <a:solidFill>
                  <a:schemeClr val="tx1"/>
                </a:solidFill>
                <a:effectLst/>
                <a:latin typeface="+mn-lt"/>
                <a:ea typeface="+mn-ea"/>
                <a:cs typeface="+mn-cs"/>
              </a:rPr>
              <a:t>JSIM</a:t>
            </a:r>
            <a:r>
              <a:rPr lang="zh-CN" altLang="zh-CN" sz="1200" kern="1200" dirty="0" smtClean="0">
                <a:solidFill>
                  <a:schemeClr val="tx1"/>
                </a:solidFill>
                <a:effectLst/>
                <a:latin typeface="+mn-lt"/>
                <a:ea typeface="+mn-ea"/>
                <a:cs typeface="+mn-cs"/>
              </a:rPr>
              <a:t>），而在末端坐标系下求得的空间惯量矩阵则称为操作空间惯量矩阵（</a:t>
            </a:r>
            <a:r>
              <a:rPr lang="en-US" altLang="zh-CN" sz="1200" kern="1200" dirty="0" smtClean="0">
                <a:solidFill>
                  <a:schemeClr val="tx1"/>
                </a:solidFill>
                <a:effectLst/>
                <a:latin typeface="+mn-lt"/>
                <a:ea typeface="+mn-ea"/>
                <a:cs typeface="+mn-cs"/>
              </a:rPr>
              <a:t>OSIM</a:t>
            </a:r>
            <a:r>
              <a:rPr lang="zh-CN" altLang="zh-CN" sz="120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44</a:t>
            </a:fld>
            <a:endParaRPr lang="zh-CN" altLang="en-US"/>
          </a:p>
        </p:txBody>
      </p:sp>
    </p:spTree>
    <p:extLst>
      <p:ext uri="{BB962C8B-B14F-4D97-AF65-F5344CB8AC3E}">
        <p14:creationId xmlns:p14="http://schemas.microsoft.com/office/powerpoint/2010/main" val="368807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该方程实际上就是牛顿方程和欧拉方程的组合，只不过在旋量法中被称之为运动旋量和力旋量，而在空间向量法中被称为空间运动向量和空间力向量。</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f</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m:t>
                    </m:r>
                    <m:acc>
                      <m:accPr>
                        <m:chr m:val="̈"/>
                        <m:ctrlPr>
                          <a:rPr lang="zh-CN" altLang="zh-CN" sz="1200" i="1" kern="1200">
                            <a:solidFill>
                              <a:schemeClr val="tx1"/>
                            </a:solidFill>
                            <a:effectLst/>
                            <a:latin typeface="Cambria Math" panose="02040503050406030204" pitchFamily="18" charset="0"/>
                            <a:ea typeface="+mn-ea"/>
                            <a:cs typeface="+mn-cs"/>
                          </a:rPr>
                        </m:ctrlPr>
                      </m:acc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c</m:t>
                            </m:r>
                          </m:e>
                        </m:bar>
                      </m:e>
                    </m:acc>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即为牛顿方程，</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n</m:t>
                            </m:r>
                          </m:e>
                        </m:bar>
                      </m:e>
                      <m:sub>
                        <m:r>
                          <a:rPr lang="en-US" altLang="zh-CN" sz="1200" i="1" kern="1200">
                            <a:solidFill>
                              <a:schemeClr val="tx1"/>
                            </a:solidFill>
                            <a:effectLst/>
                            <a:latin typeface="Cambria Math" panose="02040503050406030204" pitchFamily="18" charset="0"/>
                            <a:ea typeface="+mn-ea"/>
                            <a:cs typeface="+mn-cs"/>
                          </a:rPr>
                          <m:t>𝑐</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𝑐𝑚</m:t>
                        </m:r>
                      </m:sub>
                    </m:sSub>
                    <m:acc>
                      <m:accPr>
                        <m:chr m:val="̇"/>
                        <m:ctrlPr>
                          <a:rPr lang="zh-CN" altLang="zh-CN" sz="1200" i="1" kern="1200">
                            <a:solidFill>
                              <a:schemeClr val="tx1"/>
                            </a:solidFill>
                            <a:effectLst/>
                            <a:latin typeface="Cambria Math" panose="02040503050406030204" pitchFamily="18" charset="0"/>
                            <a:ea typeface="+mn-ea"/>
                            <a:cs typeface="+mn-cs"/>
                          </a:rPr>
                        </m:ctrlPr>
                      </m:acc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ω</m:t>
                            </m:r>
                          </m:e>
                        </m:bar>
                      </m:e>
                    </m:acc>
                    <m:r>
                      <a:rPr lang="en-US" altLang="zh-CN" sz="1200" i="1" kern="1200">
                        <a:solidFill>
                          <a:schemeClr val="tx1"/>
                        </a:solidFill>
                        <a:effectLst/>
                        <a:latin typeface="Cambria Math" panose="02040503050406030204" pitchFamily="18" charset="0"/>
                        <a:ea typeface="+mn-ea"/>
                        <a:cs typeface="+mn-cs"/>
                      </a:rPr>
                      <m:t>+</m:t>
                    </m:r>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ω</m:t>
                        </m:r>
                      </m:e>
                    </m:ba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𝑐𝑚</m:t>
                        </m:r>
                      </m:sub>
                    </m:sSub>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ω</m:t>
                        </m:r>
                      </m:e>
                    </m:bar>
                  </m:oMath>
                </a14:m>
                <a:r>
                  <a:rPr lang="zh-CN" altLang="zh-CN" sz="1200" kern="1200" dirty="0">
                    <a:solidFill>
                      <a:schemeClr val="tx1"/>
                    </a:solidFill>
                    <a:effectLst/>
                    <a:latin typeface="+mn-lt"/>
                    <a:ea typeface="+mn-ea"/>
                    <a:cs typeface="+mn-cs"/>
                  </a:rPr>
                  <a:t>即欧拉方程。</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该方程实际上就是牛顿方程和欧拉方程的组合，只不过在旋量法中被称之为运动旋量和力旋量，而在空间向量法中被称为空间运动向量和空间力向量。</a:t>
                </a:r>
                <a:r>
                  <a:rPr lang="en-US" altLang="zh-CN" sz="1200" i="0" kern="1200">
                    <a:solidFill>
                      <a:schemeClr val="tx1"/>
                    </a:solidFill>
                    <a:effectLst/>
                    <a:latin typeface="+mn-lt"/>
                    <a:ea typeface="+mn-ea"/>
                    <a:cs typeface="+mn-cs"/>
                  </a:rPr>
                  <a:t>f=𝑚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a:t>
                </a:r>
                <a:r>
                  <a:rPr lang="zh-CN"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即为牛顿方程，</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n</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ω</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ω×𝐼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𝑐𝑚</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ω</a:t>
                </a:r>
                <a:r>
                  <a:rPr lang="zh-CN" altLang="zh-CN" sz="1200" kern="1200" dirty="0">
                    <a:solidFill>
                      <a:schemeClr val="tx1"/>
                    </a:solidFill>
                    <a:effectLst/>
                    <a:latin typeface="+mn-lt"/>
                    <a:ea typeface="+mn-ea"/>
                    <a:cs typeface="+mn-cs"/>
                  </a:rPr>
                  <a:t>即欧拉方程。</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45</a:t>
            </a:fld>
            <a:endParaRPr lang="zh-CN" altLang="en-US"/>
          </a:p>
        </p:txBody>
      </p:sp>
    </p:spTree>
    <p:extLst>
      <p:ext uri="{BB962C8B-B14F-4D97-AF65-F5344CB8AC3E}">
        <p14:creationId xmlns:p14="http://schemas.microsoft.com/office/powerpoint/2010/main" val="21533670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46</a:t>
            </a:fld>
            <a:endParaRPr lang="zh-CN" altLang="en-US"/>
          </a:p>
        </p:txBody>
      </p:sp>
    </p:spTree>
    <p:extLst>
      <p:ext uri="{BB962C8B-B14F-4D97-AF65-F5344CB8AC3E}">
        <p14:creationId xmlns:p14="http://schemas.microsoft.com/office/powerpoint/2010/main" val="38006199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47</a:t>
            </a:fld>
            <a:endParaRPr lang="zh-CN" altLang="en-US"/>
          </a:p>
        </p:txBody>
      </p:sp>
    </p:spTree>
    <p:extLst>
      <p:ext uri="{BB962C8B-B14F-4D97-AF65-F5344CB8AC3E}">
        <p14:creationId xmlns:p14="http://schemas.microsoft.com/office/powerpoint/2010/main" val="35550684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两个构件（连杆）之间通过关节进行连接，该连接需要确定两种坐标系，即构件坐标系与关节坐标系。构件坐标系等同于前面描述的连杆坐标系。已知构件</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的连杆坐标系为</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，连接父构件的关节坐标系为</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，父构件的连杆坐标系为</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，那么从坐标系</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的坐标变换给定如下：</a:t>
                </a:r>
              </a:p>
              <a:p>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sPre>
                    <m:r>
                      <a:rPr lang="en-US" altLang="zh-CN" sz="1200"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𝑖</m:t>
                                </m:r>
                              </m:sub>
                            </m:sSub>
                          </m:sub>
                        </m:sSub>
                      </m:e>
                    </m:sPre>
                    <m:sPre>
                      <m:sPrePr>
                        <m:ctrlPr>
                          <a:rPr lang="zh-CN" altLang="zh-CN" sz="1200" i="1" kern="1200">
                            <a:solidFill>
                              <a:schemeClr val="tx1"/>
                            </a:solidFill>
                            <a:effectLst/>
                            <a:latin typeface="Cambria Math" panose="02040503050406030204" pitchFamily="18" charset="0"/>
                            <a:ea typeface="+mn-ea"/>
                            <a:cs typeface="+mn-cs"/>
                          </a:rPr>
                        </m:ctrlPr>
                      </m:sPrePr>
                      <m:sub/>
                      <m: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𝑖</m:t>
                            </m:r>
                          </m:sub>
                        </m:sSub>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sPr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𝐽</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𝐿</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(4-80)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𝐽</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为关节坐标系</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到连杆坐标系</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的关节变换矩阵，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𝐿</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为连杆变换矩阵，完成空间运动向量从父构件坐标系</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变换到关节坐标</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关节和连杆的几何参数使用</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表示法获取，坐标变换矩阵</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sPre>
                  </m:oMath>
                </a14:m>
                <a:r>
                  <a:rPr lang="zh-CN" altLang="zh-CN" sz="1200" kern="1200" dirty="0">
                    <a:solidFill>
                      <a:schemeClr val="tx1"/>
                    </a:solidFill>
                    <a:effectLst/>
                    <a:latin typeface="+mn-lt"/>
                    <a:ea typeface="+mn-ea"/>
                    <a:cs typeface="+mn-cs"/>
                  </a:rPr>
                  <a:t>通过公式（</a:t>
                </a:r>
                <a:r>
                  <a:rPr lang="en-US" altLang="zh-CN" sz="1200" kern="1200" dirty="0" smtClean="0">
                    <a:solidFill>
                      <a:schemeClr val="tx1"/>
                    </a:solidFill>
                    <a:effectLst/>
                    <a:latin typeface="+mn-lt"/>
                    <a:ea typeface="+mn-ea"/>
                    <a:cs typeface="+mn-cs"/>
                  </a:rPr>
                  <a:t>4-51</a:t>
                </a:r>
                <a:r>
                  <a:rPr lang="zh-CN" altLang="zh-CN" sz="1200" kern="1200" dirty="0" smtClean="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a:t>
                </a:r>
              </a:p>
              <a:p>
                <a:r>
                  <a:rPr lang="zh-CN" altLang="zh-CN" sz="1200" kern="1200" dirty="0">
                    <a:solidFill>
                      <a:schemeClr val="tx1"/>
                    </a:solidFill>
                    <a:effectLst/>
                    <a:latin typeface="+mn-lt"/>
                    <a:ea typeface="+mn-ea"/>
                    <a:cs typeface="+mn-cs"/>
                  </a:rPr>
                  <a:t>连杆的空间惯量由公式（</a:t>
                </a:r>
                <a:r>
                  <a:rPr lang="en-US" altLang="zh-CN" sz="1200" kern="1200" dirty="0">
                    <a:solidFill>
                      <a:schemeClr val="tx1"/>
                    </a:solidFill>
                    <a:effectLst/>
                    <a:latin typeface="+mn-lt"/>
                    <a:ea typeface="+mn-ea"/>
                    <a:cs typeface="+mn-cs"/>
                  </a:rPr>
                  <a:t>4-72</a:t>
                </a:r>
                <a:r>
                  <a:rPr lang="zh-CN" altLang="zh-CN" sz="1200" kern="1200" dirty="0">
                    <a:solidFill>
                      <a:schemeClr val="tx1"/>
                    </a:solidFill>
                    <a:effectLst/>
                    <a:latin typeface="+mn-lt"/>
                    <a:ea typeface="+mn-ea"/>
                    <a:cs typeface="+mn-cs"/>
                  </a:rPr>
                  <a:t>）进行计算。</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两个构件（连杆）之间通过关节进行连接，该连接需要确定两种坐标系，即构件坐标系与关节坐标系。构件坐标系等同于前面描述的连杆坐标系。已知构件</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的连杆坐标系为</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，连接父构件的关节坐标系为</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，父构件的连杆坐标系为</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，那么从坐标系</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的坐标变换给定如下：</a:t>
                </a:r>
              </a:p>
              <a:p>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𝐽 (𝑖)𝑋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𝐿 (𝑖)</a:t>
                </a:r>
                <a:r>
                  <a:rPr lang="en-US" altLang="zh-CN" sz="1200" kern="1200" dirty="0">
                    <a:solidFill>
                      <a:schemeClr val="tx1"/>
                    </a:solidFill>
                    <a:effectLst/>
                    <a:latin typeface="+mn-lt"/>
                    <a:ea typeface="+mn-ea"/>
                    <a:cs typeface="+mn-cs"/>
                  </a:rPr>
                  <a:t> (4-80)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𝐽 (𝑖)</a:t>
                </a:r>
                <a:r>
                  <a:rPr lang="zh-CN" altLang="zh-CN" sz="1200" kern="1200" dirty="0">
                    <a:solidFill>
                      <a:schemeClr val="tx1"/>
                    </a:solidFill>
                    <a:effectLst/>
                    <a:latin typeface="+mn-lt"/>
                    <a:ea typeface="+mn-ea"/>
                    <a:cs typeface="+mn-cs"/>
                  </a:rPr>
                  <a:t>为关节坐标系</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到连杆坐标系</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的关节变换矩阵，</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𝐿 (𝑖)</a:t>
                </a:r>
                <a:r>
                  <a:rPr lang="zh-CN" altLang="zh-CN" sz="1200" kern="1200" dirty="0">
                    <a:solidFill>
                      <a:schemeClr val="tx1"/>
                    </a:solidFill>
                    <a:effectLst/>
                    <a:latin typeface="+mn-lt"/>
                    <a:ea typeface="+mn-ea"/>
                    <a:cs typeface="+mn-cs"/>
                  </a:rPr>
                  <a:t>为连杆变换矩阵，完成空间运动向量从父构件坐标系</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变换到关节坐标</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关节和连杆的几何参数使用</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表示法获取，坐标变换矩阵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通过公式（</a:t>
                </a:r>
                <a:r>
                  <a:rPr lang="en-US" altLang="zh-CN" sz="1200" kern="1200" dirty="0" smtClean="0">
                    <a:solidFill>
                      <a:schemeClr val="tx1"/>
                    </a:solidFill>
                    <a:effectLst/>
                    <a:latin typeface="+mn-lt"/>
                    <a:ea typeface="+mn-ea"/>
                    <a:cs typeface="+mn-cs"/>
                  </a:rPr>
                  <a:t>4-51</a:t>
                </a:r>
                <a:r>
                  <a:rPr lang="zh-CN" altLang="zh-CN" sz="1200" kern="1200" dirty="0" smtClean="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a:t>
                </a:r>
              </a:p>
              <a:p>
                <a:r>
                  <a:rPr lang="zh-CN" altLang="zh-CN" sz="1200" kern="1200" dirty="0">
                    <a:solidFill>
                      <a:schemeClr val="tx1"/>
                    </a:solidFill>
                    <a:effectLst/>
                    <a:latin typeface="+mn-lt"/>
                    <a:ea typeface="+mn-ea"/>
                    <a:cs typeface="+mn-cs"/>
                  </a:rPr>
                  <a:t>连杆的空间惯量由公式（</a:t>
                </a:r>
                <a:r>
                  <a:rPr lang="en-US" altLang="zh-CN" sz="1200" kern="1200" dirty="0">
                    <a:solidFill>
                      <a:schemeClr val="tx1"/>
                    </a:solidFill>
                    <a:effectLst/>
                    <a:latin typeface="+mn-lt"/>
                    <a:ea typeface="+mn-ea"/>
                    <a:cs typeface="+mn-cs"/>
                  </a:rPr>
                  <a:t>4-72</a:t>
                </a:r>
                <a:r>
                  <a:rPr lang="zh-CN" altLang="zh-CN" sz="1200" kern="1200" dirty="0">
                    <a:solidFill>
                      <a:schemeClr val="tx1"/>
                    </a:solidFill>
                    <a:effectLst/>
                    <a:latin typeface="+mn-lt"/>
                    <a:ea typeface="+mn-ea"/>
                    <a:cs typeface="+mn-cs"/>
                  </a:rPr>
                  <a:t>）进行计算。</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48</a:t>
            </a:fld>
            <a:endParaRPr lang="zh-CN" altLang="en-US"/>
          </a:p>
        </p:txBody>
      </p:sp>
    </p:spTree>
    <p:extLst>
      <p:ext uri="{BB962C8B-B14F-4D97-AF65-F5344CB8AC3E}">
        <p14:creationId xmlns:p14="http://schemas.microsoft.com/office/powerpoint/2010/main" val="29516175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49</a:t>
            </a:fld>
            <a:endParaRPr lang="zh-CN" altLang="en-US"/>
          </a:p>
        </p:txBody>
      </p:sp>
    </p:spTree>
    <p:extLst>
      <p:ext uri="{BB962C8B-B14F-4D97-AF65-F5344CB8AC3E}">
        <p14:creationId xmlns:p14="http://schemas.microsoft.com/office/powerpoint/2010/main" val="17341786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50</a:t>
            </a:fld>
            <a:endParaRPr lang="zh-CN" altLang="en-US"/>
          </a:p>
        </p:txBody>
      </p:sp>
    </p:spTree>
    <p:extLst>
      <p:ext uri="{BB962C8B-B14F-4D97-AF65-F5344CB8AC3E}">
        <p14:creationId xmlns:p14="http://schemas.microsoft.com/office/powerpoint/2010/main" val="3818486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式（</a:t>
            </a:r>
            <a:r>
              <a:rPr lang="en-US" altLang="zh-CN" sz="1200" kern="1200" dirty="0" smtClean="0">
                <a:solidFill>
                  <a:schemeClr val="tx1"/>
                </a:solidFill>
                <a:effectLst/>
                <a:latin typeface="+mn-lt"/>
                <a:ea typeface="+mn-ea"/>
                <a:cs typeface="+mn-cs"/>
              </a:rPr>
              <a:t>4-91</a:t>
            </a:r>
            <a:r>
              <a:rPr lang="zh-CN" altLang="zh-CN" sz="1200" kern="1200" dirty="0" smtClean="0">
                <a:solidFill>
                  <a:schemeClr val="tx1"/>
                </a:solidFill>
                <a:effectLst/>
                <a:latin typeface="+mn-lt"/>
                <a:ea typeface="+mn-ea"/>
                <a:cs typeface="+mn-cs"/>
              </a:rPr>
              <a:t>）即为多刚体递归牛顿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欧拉逆动力学一般公式。根据连杆之间通过关节进行的传递，可以将该算法分为两个步骤去进行递归求解：第一步通过公式（</a:t>
            </a:r>
            <a:r>
              <a:rPr lang="en-US" altLang="zh-CN" sz="1200" kern="1200" dirty="0" smtClean="0">
                <a:solidFill>
                  <a:schemeClr val="tx1"/>
                </a:solidFill>
                <a:effectLst/>
                <a:latin typeface="+mn-lt"/>
                <a:ea typeface="+mn-ea"/>
                <a:cs typeface="+mn-cs"/>
              </a:rPr>
              <a:t>4-81</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4-85</a:t>
            </a:r>
            <a:r>
              <a:rPr lang="zh-CN" altLang="zh-CN" sz="1200" kern="1200" dirty="0" smtClean="0">
                <a:solidFill>
                  <a:schemeClr val="tx1"/>
                </a:solidFill>
                <a:effectLst/>
                <a:latin typeface="+mn-lt"/>
                <a:ea typeface="+mn-ea"/>
                <a:cs typeface="+mn-cs"/>
              </a:rPr>
              <a:t>）进行二阶正运动学的正向传递计算，通过公式（</a:t>
            </a:r>
            <a:r>
              <a:rPr lang="en-US" altLang="zh-CN" sz="1200" kern="1200" dirty="0" smtClean="0">
                <a:solidFill>
                  <a:schemeClr val="tx1"/>
                </a:solidFill>
                <a:effectLst/>
                <a:latin typeface="+mn-lt"/>
                <a:ea typeface="+mn-ea"/>
                <a:cs typeface="+mn-cs"/>
              </a:rPr>
              <a:t>4-86</a:t>
            </a:r>
            <a:r>
              <a:rPr lang="zh-CN" altLang="zh-CN" sz="1200" kern="1200" dirty="0" smtClean="0">
                <a:solidFill>
                  <a:schemeClr val="tx1"/>
                </a:solidFill>
                <a:effectLst/>
                <a:latin typeface="+mn-lt"/>
                <a:ea typeface="+mn-ea"/>
                <a:cs typeface="+mn-cs"/>
              </a:rPr>
              <a:t>）计算连杆的空间运动方程。第二步通过力向量公式</a:t>
            </a:r>
            <a:r>
              <a:rPr lang="en-US" altLang="zh-CN" sz="1200" kern="1200" dirty="0" smtClean="0">
                <a:solidFill>
                  <a:schemeClr val="tx1"/>
                </a:solidFill>
                <a:effectLst/>
                <a:latin typeface="+mn-lt"/>
                <a:ea typeface="+mn-ea"/>
                <a:cs typeface="+mn-cs"/>
              </a:rPr>
              <a:t>(4-89)</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4-90</a:t>
            </a:r>
            <a:r>
              <a:rPr lang="zh-CN" altLang="zh-CN" sz="1200" kern="1200" dirty="0" smtClean="0">
                <a:solidFill>
                  <a:schemeClr val="tx1"/>
                </a:solidFill>
                <a:effectLst/>
                <a:latin typeface="+mn-lt"/>
                <a:ea typeface="+mn-ea"/>
                <a:cs typeface="+mn-cs"/>
              </a:rPr>
              <a:t>）反向传递，计算关节力和力矩。</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51</a:t>
            </a:fld>
            <a:endParaRPr lang="zh-CN" altLang="en-US"/>
          </a:p>
        </p:txBody>
      </p:sp>
    </p:spTree>
    <p:extLst>
      <p:ext uri="{BB962C8B-B14F-4D97-AF65-F5344CB8AC3E}">
        <p14:creationId xmlns:p14="http://schemas.microsoft.com/office/powerpoint/2010/main" val="1917253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52</a:t>
            </a:fld>
            <a:endParaRPr lang="zh-CN" altLang="en-US"/>
          </a:p>
        </p:txBody>
      </p:sp>
    </p:spTree>
    <p:extLst>
      <p:ext uri="{BB962C8B-B14F-4D97-AF65-F5344CB8AC3E}">
        <p14:creationId xmlns:p14="http://schemas.microsoft.com/office/powerpoint/2010/main" val="23700416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53</a:t>
            </a:fld>
            <a:endParaRPr lang="zh-CN" altLang="en-US"/>
          </a:p>
        </p:txBody>
      </p:sp>
    </p:spTree>
    <p:extLst>
      <p:ext uri="{BB962C8B-B14F-4D97-AF65-F5344CB8AC3E}">
        <p14:creationId xmlns:p14="http://schemas.microsoft.com/office/powerpoint/2010/main" val="34614304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所谓关节体（</a:t>
                </a:r>
                <a:r>
                  <a:rPr lang="en-US" altLang="zh-CN" sz="1200" kern="1200" dirty="0">
                    <a:solidFill>
                      <a:schemeClr val="tx1"/>
                    </a:solidFill>
                    <a:effectLst/>
                    <a:latin typeface="+mn-lt"/>
                    <a:ea typeface="+mn-ea"/>
                    <a:cs typeface="+mn-cs"/>
                  </a:rPr>
                  <a:t>Articulated-Body</a:t>
                </a:r>
                <a:r>
                  <a:rPr lang="zh-CN" altLang="zh-CN" sz="1200" kern="1200" dirty="0">
                    <a:solidFill>
                      <a:schemeClr val="tx1"/>
                    </a:solidFill>
                    <a:effectLst/>
                    <a:latin typeface="+mn-lt"/>
                    <a:ea typeface="+mn-ea"/>
                    <a:cs typeface="+mn-cs"/>
                  </a:rPr>
                  <a:t>），表示运动体之间由关节进行连接，关节体能够表达大多数的可以运动的物体，例如人类或者动物的骨骼。</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所示，虚线椭圆内的刚体树被表示为关节体，而连杆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为该关节体的手柄</a:t>
                </a:r>
                <a:r>
                  <a:rPr lang="en-US" altLang="zh-CN" sz="1200" kern="1200" dirty="0">
                    <a:solidFill>
                      <a:schemeClr val="tx1"/>
                    </a:solidFill>
                    <a:effectLst/>
                    <a:latin typeface="+mn-lt"/>
                    <a:ea typeface="+mn-ea"/>
                    <a:cs typeface="+mn-cs"/>
                  </a:rPr>
                  <a:t>(handle)</a:t>
                </a:r>
                <a:r>
                  <a:rPr lang="zh-CN" altLang="zh-CN" sz="1200" kern="1200" dirty="0">
                    <a:solidFill>
                      <a:schemeClr val="tx1"/>
                    </a:solidFill>
                    <a:effectLst/>
                    <a:latin typeface="+mn-lt"/>
                    <a:ea typeface="+mn-ea"/>
                    <a:cs typeface="+mn-cs"/>
                  </a:rPr>
                  <a:t>。这个关节体可能是串联机构，例如串联工业机械臂，也可能是具有分支、并联的机构，例如仿人机器人、并联机器人等。关节体算法是</a:t>
                </a:r>
                <a:r>
                  <a:rPr lang="en-US" altLang="zh-CN" sz="1200" kern="1200" dirty="0">
                    <a:solidFill>
                      <a:schemeClr val="tx1"/>
                    </a:solidFill>
                    <a:effectLst/>
                    <a:latin typeface="+mn-lt"/>
                    <a:ea typeface="+mn-ea"/>
                    <a:cs typeface="+mn-cs"/>
                  </a:rPr>
                  <a:t>Featherstone</a:t>
                </a:r>
                <a:r>
                  <a:rPr lang="zh-CN" altLang="zh-CN" sz="1200" kern="1200" dirty="0">
                    <a:solidFill>
                      <a:schemeClr val="tx1"/>
                    </a:solidFill>
                    <a:effectLst/>
                    <a:latin typeface="+mn-lt"/>
                    <a:ea typeface="+mn-ea"/>
                    <a:cs typeface="+mn-cs"/>
                  </a:rPr>
                  <a:t>提出的一种用于计算运动树正动力学问题的算法，给定关节位置、速度以及作用力和力矩，</a:t>
                </a:r>
                <a:r>
                  <a:rPr lang="en-US" altLang="zh-CN" sz="1200" kern="1200" dirty="0">
                    <a:solidFill>
                      <a:schemeClr val="tx1"/>
                    </a:solidFill>
                    <a:effectLst/>
                    <a:latin typeface="+mn-lt"/>
                    <a:ea typeface="+mn-ea"/>
                    <a:cs typeface="+mn-cs"/>
                  </a:rPr>
                  <a:t>ABA</a:t>
                </a:r>
                <a:r>
                  <a:rPr lang="zh-CN" altLang="zh-CN" sz="1200" kern="1200" dirty="0">
                    <a:solidFill>
                      <a:schemeClr val="tx1"/>
                    </a:solidFill>
                    <a:effectLst/>
                    <a:latin typeface="+mn-lt"/>
                    <a:ea typeface="+mn-ea"/>
                    <a:cs typeface="+mn-cs"/>
                  </a:rPr>
                  <a:t>算法可以计算关节加速度。</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4.11 </a:t>
                </a:r>
                <a:r>
                  <a:rPr lang="zh-CN" altLang="zh-CN" sz="1200" kern="1200" dirty="0">
                    <a:solidFill>
                      <a:schemeClr val="tx1"/>
                    </a:solidFill>
                    <a:effectLst/>
                    <a:latin typeface="+mn-lt"/>
                    <a:ea typeface="+mn-ea"/>
                    <a:cs typeface="+mn-cs"/>
                  </a:rPr>
                  <a:t>关节体</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的定义</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与父连杆</a:t>
                </a:r>
                <a:r>
                  <a:rPr lang="en-US" altLang="zh-CN" sz="1200" i="1" kern="1200" dirty="0">
                    <a:solidFill>
                      <a:schemeClr val="tx1"/>
                    </a:solidFill>
                    <a:effectLst/>
                    <a:latin typeface="+mn-lt"/>
                    <a:ea typeface="+mn-ea"/>
                    <a:cs typeface="+mn-cs"/>
                  </a:rPr>
                  <a:t>𝛌(</a:t>
                </a:r>
                <a:r>
                  <a:rPr lang="en-US" altLang="zh-CN" sz="1200" i="1" kern="1200" dirty="0" err="1">
                    <a:solidFill>
                      <a:schemeClr val="tx1"/>
                    </a:solidFill>
                    <a:effectLst/>
                    <a:latin typeface="+mn-lt"/>
                    <a:ea typeface="+mn-ea"/>
                    <a:cs typeface="+mn-cs"/>
                  </a:rPr>
                  <a:t>i</a:t>
                </a:r>
                <a:r>
                  <a:rPr lang="en-US" altLang="zh-CN" sz="1200" i="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通过关节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进行连接，相当于根连杆</a:t>
                </a:r>
                <a:r>
                  <a:rPr lang="en-US" altLang="zh-CN" sz="1200" i="1" kern="1200" dirty="0">
                    <a:solidFill>
                      <a:schemeClr val="tx1"/>
                    </a:solidFill>
                    <a:effectLst/>
                    <a:latin typeface="+mn-lt"/>
                    <a:ea typeface="+mn-ea"/>
                    <a:cs typeface="+mn-cs"/>
                  </a:rPr>
                  <a:t>𝛌</a:t>
                </a:r>
                <a:r>
                  <a:rPr lang="en-US" altLang="zh-CN" sz="1200" b="1" i="1" kern="1200" dirty="0">
                    <a:solidFill>
                      <a:schemeClr val="tx1"/>
                    </a:solidFill>
                    <a:effectLst/>
                    <a:latin typeface="+mn-lt"/>
                    <a:ea typeface="+mn-ea"/>
                    <a:cs typeface="+mn-cs"/>
                  </a:rPr>
                  <a:t>(</a:t>
                </a:r>
                <a:r>
                  <a:rPr lang="en-US" altLang="zh-CN" sz="1200" i="1" kern="1200" dirty="0" err="1">
                    <a:solidFill>
                      <a:schemeClr val="tx1"/>
                    </a:solidFill>
                    <a:effectLst/>
                    <a:latin typeface="+mn-lt"/>
                    <a:ea typeface="+mn-ea"/>
                    <a:cs typeface="+mn-cs"/>
                  </a:rPr>
                  <a:t>i</a:t>
                </a:r>
                <a:r>
                  <a:rPr lang="en-US" altLang="zh-CN" sz="1200" b="1" i="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（子树的根连杆为连杆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被称为关节体</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）上其他运动部件的作用仅通过经由关节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的力</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f</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进行传递。假设在关节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处断开链接，只考虑有一个未知的力</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f</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使关节体（其根节点为连杆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）产生运动。那么，根据牛顿第二定律，连杆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的加速度与作用力满足如下关系：</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f</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oMath>
                </a14:m>
                <a:r>
                  <a:rPr lang="en-US" altLang="zh-CN" sz="1200" kern="1200" dirty="0">
                    <a:solidFill>
                      <a:schemeClr val="tx1"/>
                    </a:solidFill>
                    <a:effectLst/>
                    <a:latin typeface="+mn-lt"/>
                    <a:ea typeface="+mn-ea"/>
                    <a:cs typeface="+mn-cs"/>
                  </a:rPr>
                  <a:t> (4-92)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oMath>
                </a14:m>
                <a:r>
                  <a:rPr lang="zh-CN" altLang="zh-CN" sz="1200" kern="1200" dirty="0">
                    <a:solidFill>
                      <a:schemeClr val="tx1"/>
                    </a:solidFill>
                    <a:effectLst/>
                    <a:latin typeface="+mn-lt"/>
                    <a:ea typeface="+mn-ea"/>
                    <a:cs typeface="+mn-cs"/>
                  </a:rPr>
                  <a:t>为子树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中连杆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的关节体惯量；</a:t>
                </a:r>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oMath>
                </a14:m>
                <a:r>
                  <a:rPr lang="zh-CN" altLang="zh-CN" sz="1200" kern="1200" dirty="0">
                    <a:solidFill>
                      <a:schemeClr val="tx1"/>
                    </a:solidFill>
                    <a:effectLst/>
                    <a:latin typeface="+mn-lt"/>
                    <a:ea typeface="+mn-ea"/>
                    <a:cs typeface="+mn-cs"/>
                  </a:rPr>
                  <a:t>为辅助偏置力，即让连杆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产生零加速度的力。</a:t>
                </a:r>
              </a:p>
              <a:p>
                <a:r>
                  <a:rPr lang="zh-CN" altLang="zh-CN" sz="1200" kern="1200" dirty="0">
                    <a:solidFill>
                      <a:schemeClr val="tx1"/>
                    </a:solidFill>
                    <a:effectLst/>
                    <a:latin typeface="+mn-lt"/>
                    <a:ea typeface="+mn-ea"/>
                    <a:cs typeface="+mn-cs"/>
                  </a:rPr>
                  <a:t>结合公式（</a:t>
                </a:r>
                <a:r>
                  <a:rPr lang="en-US" altLang="zh-CN" sz="1200" kern="1200" dirty="0">
                    <a:solidFill>
                      <a:schemeClr val="tx1"/>
                    </a:solidFill>
                    <a:effectLst/>
                    <a:latin typeface="+mn-lt"/>
                    <a:ea typeface="+mn-ea"/>
                    <a:cs typeface="+mn-cs"/>
                  </a:rPr>
                  <a:t>4-82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4-92</a:t>
                </a:r>
                <a:r>
                  <a:rPr lang="zh-CN" altLang="zh-CN" sz="1200" kern="1200" dirty="0">
                    <a:solidFill>
                      <a:schemeClr val="tx1"/>
                    </a:solidFill>
                    <a:effectLst/>
                    <a:latin typeface="+mn-lt"/>
                    <a:ea typeface="+mn-ea"/>
                    <a:cs typeface="+mn-cs"/>
                  </a:rPr>
                  <a:t>）可得：</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𝑇</m:t>
                          </m:r>
                        </m:sup>
                      </m:sSup>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f</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𝑇</m:t>
                          </m:r>
                        </m:sup>
                      </m:s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d>
                        <m:dPr>
                          <m:ctrlPr>
                            <a:rPr lang="zh-CN" altLang="zh-CN" sz="1200" i="1" kern="1200">
                              <a:solidFill>
                                <a:schemeClr val="tx1"/>
                              </a:solidFill>
                              <a:effectLst/>
                              <a:latin typeface="Cambria Math" panose="02040503050406030204" pitchFamily="18" charset="0"/>
                              <a:ea typeface="+mn-ea"/>
                              <a:cs typeface="+mn-cs"/>
                            </a:rPr>
                          </m:ctrlPr>
                        </m:d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sPre>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𝑆</m:t>
                                  </m:r>
                                </m:e>
                              </m:acc>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e>
                      </m:d>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可由下式求解：</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𝐷</m:t>
                        </m:r>
                      </m:e>
                      <m:sub>
                        <m:r>
                          <a:rPr lang="en-US" altLang="zh-CN" sz="1200" i="1" kern="1200">
                            <a:solidFill>
                              <a:schemeClr val="tx1"/>
                            </a:solidFill>
                            <a:effectLst/>
                            <a:latin typeface="Cambria Math" panose="02040503050406030204" pitchFamily="18" charset="0"/>
                            <a:ea typeface="+mn-ea"/>
                            <a:cs typeface="+mn-cs"/>
                          </a:rPr>
                          <m:t>𝑖</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𝑇</m:t>
                            </m:r>
                          </m:sup>
                        </m:sSubSup>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sPre>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𝜆</m:t>
                                </m:r>
                              </m:e>
                              <m:sub>
                                <m:r>
                                  <a:rPr lang="en-US" altLang="zh-CN" sz="1200" i="1" kern="1200">
                                    <a:solidFill>
                                      <a:schemeClr val="tx1"/>
                                    </a:solidFill>
                                    <a:effectLst/>
                                    <a:latin typeface="Cambria Math" panose="02040503050406030204" pitchFamily="18" charset="0"/>
                                    <a:ea typeface="+mn-ea"/>
                                    <a:cs typeface="+mn-cs"/>
                                  </a:rPr>
                                  <m:t>𝑖</m:t>
                                </m:r>
                              </m:sub>
                            </m:sSub>
                          </m:sub>
                        </m:sSub>
                      </m:e>
                    </m:d>
                  </m:oMath>
                </a14:m>
                <a:r>
                  <a:rPr lang="en-US" altLang="zh-CN" sz="1200" kern="1200" dirty="0">
                    <a:solidFill>
                      <a:schemeClr val="tx1"/>
                    </a:solidFill>
                    <a:effectLst/>
                    <a:latin typeface="+mn-lt"/>
                    <a:ea typeface="+mn-ea"/>
                    <a:cs typeface="+mn-cs"/>
                  </a:rPr>
                  <a:t> (4-93)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𝐷</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𝑇</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𝜏</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𝑇</m:t>
                          </m:r>
                        </m:sup>
                      </m:sSub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𝑇</m:t>
                          </m:r>
                        </m:sup>
                      </m:sSup>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且：</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𝑆</m:t>
                                  </m:r>
                                </m:e>
                              </m:acc>
                            </m:e>
                            <m:sub>
                              <m:r>
                                <a:rPr lang="en-US" altLang="zh-CN" sz="1200" i="1" kern="1200">
                                  <a:solidFill>
                                    <a:schemeClr val="tx1"/>
                                  </a:solidFill>
                                  <a:effectLst/>
                                  <a:latin typeface="Cambria Math" panose="02040503050406030204" pitchFamily="18" charset="0"/>
                                  <a:ea typeface="+mn-ea"/>
                                  <a:cs typeface="+mn-cs"/>
                                </a:rPr>
                                <m:t>𝑖</m:t>
                              </m:r>
                            </m:sub>
                          </m:sSub>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Ṧ</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v</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而对于一般单自由度已知关节来说，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Ṧ</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v</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。根据以上推导，可利用公式（</a:t>
                </a:r>
                <a:r>
                  <a:rPr lang="en-US" altLang="zh-CN" sz="1200" kern="1200" dirty="0">
                    <a:solidFill>
                      <a:schemeClr val="tx1"/>
                    </a:solidFill>
                    <a:effectLst/>
                    <a:latin typeface="+mn-lt"/>
                    <a:ea typeface="+mn-ea"/>
                    <a:cs typeface="+mn-cs"/>
                  </a:rPr>
                  <a:t>4-82</a:t>
                </a:r>
                <a:r>
                  <a:rPr lang="zh-CN" altLang="zh-CN" sz="1200" kern="1200" dirty="0">
                    <a:solidFill>
                      <a:schemeClr val="tx1"/>
                    </a:solidFill>
                    <a:effectLst/>
                    <a:latin typeface="+mn-lt"/>
                    <a:ea typeface="+mn-ea"/>
                    <a:cs typeface="+mn-cs"/>
                  </a:rPr>
                  <a:t>）计算连杆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的加速度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a</m:t>
                            </m:r>
                          </m:e>
                        </m:ba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，再利用公式（</a:t>
                </a:r>
                <a:r>
                  <a:rPr lang="en-US" altLang="zh-CN" sz="1200" kern="1200" dirty="0">
                    <a:solidFill>
                      <a:schemeClr val="tx1"/>
                    </a:solidFill>
                    <a:effectLst/>
                    <a:latin typeface="+mn-lt"/>
                    <a:ea typeface="+mn-ea"/>
                    <a:cs typeface="+mn-cs"/>
                  </a:rPr>
                  <a:t>4-93</a:t>
                </a:r>
                <a:r>
                  <a:rPr lang="zh-CN" altLang="zh-CN" sz="1200" kern="1200" dirty="0">
                    <a:solidFill>
                      <a:schemeClr val="tx1"/>
                    </a:solidFill>
                    <a:effectLst/>
                    <a:latin typeface="+mn-lt"/>
                    <a:ea typeface="+mn-ea"/>
                    <a:cs typeface="+mn-cs"/>
                  </a:rPr>
                  <a:t>）求得关节加速度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4-93</a:t>
                </a:r>
                <a:r>
                  <a:rPr lang="zh-CN" altLang="zh-CN" sz="1200" kern="1200" dirty="0">
                    <a:solidFill>
                      <a:schemeClr val="tx1"/>
                    </a:solidFill>
                    <a:effectLst/>
                    <a:latin typeface="+mn-lt"/>
                    <a:ea typeface="+mn-ea"/>
                    <a:cs typeface="+mn-cs"/>
                  </a:rPr>
                  <a:t>）中关节体惯量和偏置力都可以通过递归公式计算：</a:t>
                </a:r>
              </a:p>
              <a:p>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sub>
                      <m:sup/>
                      <m:e>
                        <m:d>
                          <m:dPr>
                            <m:ctrlPr>
                              <a:rPr lang="zh-CN" altLang="zh-CN" sz="1200" i="1" kern="1200">
                                <a:solidFill>
                                  <a:schemeClr val="tx1"/>
                                </a:solidFill>
                                <a:effectLst/>
                                <a:latin typeface="Cambria Math" panose="02040503050406030204" pitchFamily="18" charset="0"/>
                                <a:ea typeface="+mn-ea"/>
                                <a:cs typeface="+mn-cs"/>
                              </a:rPr>
                            </m:ctrlPr>
                          </m:dPr>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𝑗</m:t>
                                </m:r>
                              </m:sub>
                              <m:sup>
                                <m:r>
                                  <a:rPr lang="en-US" altLang="zh-CN" sz="1200" i="1" kern="1200">
                                    <a:solidFill>
                                      <a:schemeClr val="tx1"/>
                                    </a:solidFill>
                                    <a:effectLst/>
                                    <a:latin typeface="Cambria Math" panose="02040503050406030204" pitchFamily="18" charset="0"/>
                                    <a:ea typeface="+mn-ea"/>
                                    <a:cs typeface="+mn-cs"/>
                                  </a:rPr>
                                  <m:t>𝐴</m:t>
                                </m:r>
                              </m:sup>
                            </m:sSub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𝑗</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𝐷</m:t>
                                </m:r>
                              </m:e>
                              <m:sub>
                                <m:r>
                                  <a:rPr lang="en-US" altLang="zh-CN" sz="1200" i="1" kern="1200">
                                    <a:solidFill>
                                      <a:schemeClr val="tx1"/>
                                    </a:solidFill>
                                    <a:effectLst/>
                                    <a:latin typeface="Cambria Math" panose="02040503050406030204" pitchFamily="18" charset="0"/>
                                    <a:ea typeface="+mn-ea"/>
                                    <a:cs typeface="+mn-cs"/>
                                  </a:rPr>
                                  <m:t>𝑗</m:t>
                                </m:r>
                              </m:sub>
                            </m:sSub>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𝑗</m:t>
                                    </m:r>
                                  </m:sub>
                                </m:sSub>
                              </m:e>
                              <m:sup>
                                <m:r>
                                  <a:rPr lang="en-US" altLang="zh-CN" sz="1200" i="1" kern="1200">
                                    <a:solidFill>
                                      <a:schemeClr val="tx1"/>
                                    </a:solidFill>
                                    <a:effectLst/>
                                    <a:latin typeface="Cambria Math" panose="02040503050406030204" pitchFamily="18" charset="0"/>
                                    <a:ea typeface="+mn-ea"/>
                                    <a:cs typeface="+mn-cs"/>
                                  </a:rPr>
                                  <m:t>𝑇</m:t>
                                </m:r>
                              </m:sup>
                            </m:sSup>
                          </m:e>
                        </m:d>
                      </m:e>
                    </m:nary>
                  </m:oMath>
                </a14:m>
                <a:r>
                  <a:rPr lang="en-US" altLang="zh-CN" sz="1200" kern="1200" dirty="0">
                    <a:solidFill>
                      <a:schemeClr val="tx1"/>
                    </a:solidFill>
                    <a:effectLst/>
                    <a:latin typeface="+mn-lt"/>
                    <a:ea typeface="+mn-ea"/>
                    <a:cs typeface="+mn-cs"/>
                  </a:rPr>
                  <a:t> (4-94)</a:t>
                </a:r>
                <a:endParaRPr lang="zh-CN" altLang="zh-CN" sz="1200" kern="1200" dirty="0">
                  <a:solidFill>
                    <a:schemeClr val="tx1"/>
                  </a:solidFill>
                  <a:effectLst/>
                  <a:latin typeface="+mn-lt"/>
                  <a:ea typeface="+mn-ea"/>
                  <a:cs typeface="+mn-cs"/>
                </a:endParaRPr>
              </a:p>
              <a:p>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𝐴</m:t>
                        </m:r>
                      </m:sup>
                    </m:sSub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nary>
                      <m:naryPr>
                        <m:chr m:val="∑"/>
                        <m:limLoc m:val="undOvr"/>
                        <m:supHide m:val="on"/>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sub>
                      <m:sup/>
                      <m:e>
                        <m:d>
                          <m:dPr>
                            <m:ctrlPr>
                              <a:rPr lang="zh-CN" altLang="zh-CN" sz="1200" i="1" kern="1200">
                                <a:solidFill>
                                  <a:schemeClr val="tx1"/>
                                </a:solidFill>
                                <a:effectLst/>
                                <a:latin typeface="Cambria Math" panose="02040503050406030204" pitchFamily="18" charset="0"/>
                                <a:ea typeface="+mn-ea"/>
                                <a:cs typeface="+mn-cs"/>
                              </a:rPr>
                            </m:ctrlPr>
                          </m:dPr>
                          <m:e>
                            <m:sSubSup>
                              <m:sSubSupPr>
                                <m:ctrlPr>
                                  <a:rPr lang="zh-CN" altLang="zh-CN" sz="1200" i="1" kern="1200">
                                    <a:solidFill>
                                      <a:schemeClr val="tx1"/>
                                    </a:solidFill>
                                    <a:effectLst/>
                                    <a:latin typeface="Cambria Math" panose="02040503050406030204" pitchFamily="18" charset="0"/>
                                    <a:ea typeface="+mn-ea"/>
                                    <a:cs typeface="+mn-cs"/>
                                  </a:rPr>
                                </m:ctrlPr>
                              </m:sSubSup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𝑗</m:t>
                                </m:r>
                              </m:sub>
                              <m:sup>
                                <m:r>
                                  <a:rPr lang="en-US" altLang="zh-CN" sz="1200" i="1" kern="1200">
                                    <a:solidFill>
                                      <a:schemeClr val="tx1"/>
                                    </a:solidFill>
                                    <a:effectLst/>
                                    <a:latin typeface="Cambria Math" panose="02040503050406030204" pitchFamily="18" charset="0"/>
                                    <a:ea typeface="+mn-ea"/>
                                    <a:cs typeface="+mn-cs"/>
                                  </a:rPr>
                                  <m:t>𝐴</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𝐼</m:t>
                                </m:r>
                              </m:e>
                              <m:sub>
                                <m:r>
                                  <a:rPr lang="en-US" altLang="zh-CN" sz="1200" i="1" kern="1200">
                                    <a:solidFill>
                                      <a:schemeClr val="tx1"/>
                                    </a:solidFill>
                                    <a:effectLst/>
                                    <a:latin typeface="Cambria Math" panose="02040503050406030204" pitchFamily="18" charset="0"/>
                                    <a:ea typeface="+mn-ea"/>
                                    <a:cs typeface="+mn-cs"/>
                                  </a:rPr>
                                  <m:t>𝑗</m:t>
                                </m:r>
                              </m:sub>
                              <m:sup>
                                <m:r>
                                  <a:rPr lang="en-US" altLang="zh-CN" sz="1200" i="1" kern="1200">
                                    <a:solidFill>
                                      <a:schemeClr val="tx1"/>
                                    </a:solidFill>
                                    <a:effectLst/>
                                    <a:latin typeface="Cambria Math" panose="02040503050406030204" pitchFamily="18" charset="0"/>
                                    <a:ea typeface="+mn-ea"/>
                                    <a:cs typeface="+mn-cs"/>
                                  </a:rPr>
                                  <m:t>𝐴</m:t>
                                </m:r>
                              </m:sup>
                            </m:sSub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𝜉</m:t>
                                </m:r>
                              </m:e>
                              <m:sub>
                                <m:r>
                                  <a:rPr lang="en-US" altLang="zh-CN" sz="1200" i="1" kern="1200">
                                    <a:solidFill>
                                      <a:schemeClr val="tx1"/>
                                    </a:solidFill>
                                    <a:effectLst/>
                                    <a:latin typeface="Cambria Math" panose="02040503050406030204" pitchFamily="18" charset="0"/>
                                    <a:ea typeface="+mn-ea"/>
                                    <a:cs typeface="+mn-cs"/>
                                  </a:rPr>
                                  <m:t>𝑗</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𝑈</m:t>
                                </m:r>
                              </m:e>
                              <m:sub>
                                <m:r>
                                  <a:rPr lang="en-US" altLang="zh-CN" sz="1200" i="1" kern="1200">
                                    <a:solidFill>
                                      <a:schemeClr val="tx1"/>
                                    </a:solidFill>
                                    <a:effectLst/>
                                    <a:latin typeface="Cambria Math" panose="02040503050406030204" pitchFamily="18" charset="0"/>
                                    <a:ea typeface="+mn-ea"/>
                                    <a:cs typeface="+mn-cs"/>
                                  </a:rPr>
                                  <m:t>𝑗</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𝐷</m:t>
                                </m:r>
                              </m:e>
                              <m:sub>
                                <m:r>
                                  <a:rPr lang="en-US" altLang="zh-CN" sz="1200" i="1" kern="1200">
                                    <a:solidFill>
                                      <a:schemeClr val="tx1"/>
                                    </a:solidFill>
                                    <a:effectLst/>
                                    <a:latin typeface="Cambria Math" panose="02040503050406030204" pitchFamily="18" charset="0"/>
                                    <a:ea typeface="+mn-ea"/>
                                    <a:cs typeface="+mn-cs"/>
                                  </a:rPr>
                                  <m:t>𝑗</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𝑢</m:t>
                                </m:r>
                              </m:e>
                              <m:sub>
                                <m:r>
                                  <a:rPr lang="en-US" altLang="zh-CN" sz="1200" i="1" kern="1200">
                                    <a:solidFill>
                                      <a:schemeClr val="tx1"/>
                                    </a:solidFill>
                                    <a:effectLst/>
                                    <a:latin typeface="Cambria Math" panose="02040503050406030204" pitchFamily="18" charset="0"/>
                                    <a:ea typeface="+mn-ea"/>
                                    <a:cs typeface="+mn-cs"/>
                                  </a:rPr>
                                  <m:t>𝑗</m:t>
                                </m:r>
                              </m:sub>
                            </m:sSub>
                          </m:e>
                        </m:d>
                      </m:e>
                    </m:nary>
                  </m:oMath>
                </a14:m>
                <a:r>
                  <a:rPr lang="en-US" altLang="zh-CN" sz="1200" kern="1200" dirty="0">
                    <a:solidFill>
                      <a:schemeClr val="tx1"/>
                    </a:solidFill>
                    <a:effectLst/>
                    <a:latin typeface="+mn-lt"/>
                    <a:ea typeface="+mn-ea"/>
                    <a:cs typeface="+mn-cs"/>
                  </a:rPr>
                  <a:t> (4-95)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4-95</a:t>
                </a:r>
                <a:r>
                  <a:rPr lang="zh-CN" altLang="zh-CN" sz="1200" kern="1200" dirty="0">
                    <a:solidFill>
                      <a:schemeClr val="tx1"/>
                    </a:solidFill>
                    <a:effectLst/>
                    <a:latin typeface="+mn-lt"/>
                    <a:ea typeface="+mn-ea"/>
                    <a:cs typeface="+mn-cs"/>
                  </a:rPr>
                  <a:t>）中：</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p</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v</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I</m:t>
                          </m:r>
                        </m:e>
                        <m:sub>
                          <m:r>
                            <a:rPr lang="en-US" altLang="zh-CN" sz="1200" i="1" kern="1200">
                              <a:solidFill>
                                <a:schemeClr val="tx1"/>
                              </a:solidFill>
                              <a:effectLst/>
                              <a:latin typeface="Cambria Math" panose="02040503050406030204" pitchFamily="18" charset="0"/>
                              <a:ea typeface="+mn-ea"/>
                              <a:cs typeface="+mn-cs"/>
                            </a:rPr>
                            <m:t>𝑖</m:t>
                          </m:r>
                        </m:sub>
                      </m:sSub>
                      <m:sSub>
                        <m:sSubPr>
                          <m:ctrlPr>
                            <a:rPr lang="zh-CN" altLang="zh-CN" sz="1200" i="1" kern="1200">
                              <a:solidFill>
                                <a:schemeClr val="tx1"/>
                              </a:solidFill>
                              <a:effectLst/>
                              <a:latin typeface="Cambria Math" panose="02040503050406030204" pitchFamily="18" charset="0"/>
                              <a:ea typeface="+mn-ea"/>
                              <a:cs typeface="+mn-cs"/>
                            </a:rPr>
                          </m:ctrlPr>
                        </m:sSubPr>
                        <m:e>
                          <m:bar>
                            <m:barPr>
                              <m:ctrlPr>
                                <a:rPr lang="zh-CN" altLang="zh-CN" sz="1200" i="1" kern="1200">
                                  <a:solidFill>
                                    <a:schemeClr val="tx1"/>
                                  </a:solidFill>
                                  <a:effectLst/>
                                  <a:latin typeface="Cambria Math" panose="02040503050406030204" pitchFamily="18" charset="0"/>
                                  <a:ea typeface="+mn-ea"/>
                                  <a:cs typeface="+mn-cs"/>
                                </a:rPr>
                              </m:ctrlPr>
                            </m:barPr>
                            <m:e>
                              <m:r>
                                <m:rPr>
                                  <m:sty m:val="p"/>
                                </m:rPr>
                                <a:rPr lang="en-US" altLang="zh-CN" sz="1200" kern="1200">
                                  <a:solidFill>
                                    <a:schemeClr val="tx1"/>
                                  </a:solidFill>
                                  <a:effectLst/>
                                  <a:latin typeface="Cambria Math" panose="02040503050406030204" pitchFamily="18" charset="0"/>
                                  <a:ea typeface="+mn-ea"/>
                                  <a:cs typeface="+mn-cs"/>
                                </a:rPr>
                                <m:t>v</m:t>
                              </m:r>
                            </m:e>
                          </m:ba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sup>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m:t>
                              </m:r>
                            </m:sup>
                          </m:sSubSup>
                        </m:e>
                      </m:sPre>
                      <m:sSubSup>
                        <m:sSubSupPr>
                          <m:ctrlPr>
                            <a:rPr lang="zh-CN" altLang="zh-CN" sz="1200" i="1" kern="1200">
                              <a:solidFill>
                                <a:schemeClr val="tx1"/>
                              </a:solidFill>
                              <a:effectLst/>
                              <a:latin typeface="Cambria Math" panose="02040503050406030204" pitchFamily="18" charset="0"/>
                              <a:ea typeface="+mn-ea"/>
                              <a:cs typeface="+mn-cs"/>
                            </a:rPr>
                          </m:ctrlPr>
                        </m:sSubSup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m:rPr>
                                  <m:sty m:val="p"/>
                                </m:rPr>
                                <a:rPr lang="en-US" altLang="zh-CN" sz="1200" kern="1200">
                                  <a:solidFill>
                                    <a:schemeClr val="tx1"/>
                                  </a:solidFill>
                                  <a:effectLst/>
                                  <a:latin typeface="Cambria Math" panose="02040503050406030204" pitchFamily="18" charset="0"/>
                                  <a:ea typeface="+mn-ea"/>
                                  <a:cs typeface="+mn-cs"/>
                                </a:rPr>
                                <m:t>f</m:t>
                              </m:r>
                            </m:e>
                          </m:sPre>
                        </m:e>
                        <m:sub>
                          <m:r>
                            <a:rPr lang="en-US" altLang="zh-CN" sz="1200" i="1" kern="1200">
                              <a:solidFill>
                                <a:schemeClr val="tx1"/>
                              </a:solidFill>
                              <a:effectLst/>
                              <a:latin typeface="Cambria Math" panose="02040503050406030204" pitchFamily="18" charset="0"/>
                              <a:ea typeface="+mn-ea"/>
                              <a:cs typeface="+mn-cs"/>
                            </a:rPr>
                            <m:t>𝑖</m:t>
                          </m:r>
                        </m:sub>
                        <m:sup>
                          <m:r>
                            <a:rPr lang="en-US" altLang="zh-CN" sz="1200" i="1" kern="1200">
                              <a:solidFill>
                                <a:schemeClr val="tx1"/>
                              </a:solidFill>
                              <a:effectLst/>
                              <a:latin typeface="Cambria Math" panose="02040503050406030204" pitchFamily="18" charset="0"/>
                              <a:ea typeface="+mn-ea"/>
                              <a:cs typeface="+mn-cs"/>
                            </a:rPr>
                            <m:t>𝑒𝑥𝑡</m:t>
                          </m:r>
                        </m:sup>
                      </m:sSubSup>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所谓关节体（</a:t>
                </a:r>
                <a:r>
                  <a:rPr lang="en-US" altLang="zh-CN" sz="1200" kern="1200" dirty="0">
                    <a:solidFill>
                      <a:schemeClr val="tx1"/>
                    </a:solidFill>
                    <a:effectLst/>
                    <a:latin typeface="+mn-lt"/>
                    <a:ea typeface="+mn-ea"/>
                    <a:cs typeface="+mn-cs"/>
                  </a:rPr>
                  <a:t>Articulated-Body</a:t>
                </a:r>
                <a:r>
                  <a:rPr lang="zh-CN" altLang="zh-CN" sz="1200" kern="1200" dirty="0">
                    <a:solidFill>
                      <a:schemeClr val="tx1"/>
                    </a:solidFill>
                    <a:effectLst/>
                    <a:latin typeface="+mn-lt"/>
                    <a:ea typeface="+mn-ea"/>
                    <a:cs typeface="+mn-cs"/>
                  </a:rPr>
                  <a:t>），表示运动体之间由关节进行连接，关节体能够表达大多数的可以运动的物体，例如人类或者动物的骨骼。</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所示，虚线椭圆内的刚体树被表示为关节体，而连杆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为该关节体的手柄</a:t>
                </a:r>
                <a:r>
                  <a:rPr lang="en-US" altLang="zh-CN" sz="1200" kern="1200" dirty="0">
                    <a:solidFill>
                      <a:schemeClr val="tx1"/>
                    </a:solidFill>
                    <a:effectLst/>
                    <a:latin typeface="+mn-lt"/>
                    <a:ea typeface="+mn-ea"/>
                    <a:cs typeface="+mn-cs"/>
                  </a:rPr>
                  <a:t>(handle)</a:t>
                </a:r>
                <a:r>
                  <a:rPr lang="zh-CN" altLang="zh-CN" sz="1200" kern="1200" dirty="0">
                    <a:solidFill>
                      <a:schemeClr val="tx1"/>
                    </a:solidFill>
                    <a:effectLst/>
                    <a:latin typeface="+mn-lt"/>
                    <a:ea typeface="+mn-ea"/>
                    <a:cs typeface="+mn-cs"/>
                  </a:rPr>
                  <a:t>。这个关节体可能是串联机构，例如串联工业机械臂，也可能是具有分支、并联的机构，例如仿人机器人、并联机器人等。关节体算法是</a:t>
                </a:r>
                <a:r>
                  <a:rPr lang="en-US" altLang="zh-CN" sz="1200" kern="1200" dirty="0">
                    <a:solidFill>
                      <a:schemeClr val="tx1"/>
                    </a:solidFill>
                    <a:effectLst/>
                    <a:latin typeface="+mn-lt"/>
                    <a:ea typeface="+mn-ea"/>
                    <a:cs typeface="+mn-cs"/>
                  </a:rPr>
                  <a:t>Featherstone</a:t>
                </a:r>
                <a:r>
                  <a:rPr lang="zh-CN" altLang="zh-CN" sz="1200" kern="1200" dirty="0">
                    <a:solidFill>
                      <a:schemeClr val="tx1"/>
                    </a:solidFill>
                    <a:effectLst/>
                    <a:latin typeface="+mn-lt"/>
                    <a:ea typeface="+mn-ea"/>
                    <a:cs typeface="+mn-cs"/>
                  </a:rPr>
                  <a:t>提出的一种用于计算运动树正动力学问题的算法，给定关节位置、速度以及作用力和力矩，</a:t>
                </a:r>
                <a:r>
                  <a:rPr lang="en-US" altLang="zh-CN" sz="1200" kern="1200" dirty="0">
                    <a:solidFill>
                      <a:schemeClr val="tx1"/>
                    </a:solidFill>
                    <a:effectLst/>
                    <a:latin typeface="+mn-lt"/>
                    <a:ea typeface="+mn-ea"/>
                    <a:cs typeface="+mn-cs"/>
                  </a:rPr>
                  <a:t>ABA</a:t>
                </a:r>
                <a:r>
                  <a:rPr lang="zh-CN" altLang="zh-CN" sz="1200" kern="1200" dirty="0">
                    <a:solidFill>
                      <a:schemeClr val="tx1"/>
                    </a:solidFill>
                    <a:effectLst/>
                    <a:latin typeface="+mn-lt"/>
                    <a:ea typeface="+mn-ea"/>
                    <a:cs typeface="+mn-cs"/>
                  </a:rPr>
                  <a:t>算法可以计算关节加速度。</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4.11 </a:t>
                </a:r>
                <a:r>
                  <a:rPr lang="zh-CN" altLang="zh-CN" sz="1200" kern="1200" dirty="0">
                    <a:solidFill>
                      <a:schemeClr val="tx1"/>
                    </a:solidFill>
                    <a:effectLst/>
                    <a:latin typeface="+mn-lt"/>
                    <a:ea typeface="+mn-ea"/>
                    <a:cs typeface="+mn-cs"/>
                  </a:rPr>
                  <a:t>关节体</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的定义</a:t>
                </a:r>
              </a:p>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4.11</a:t>
                </a:r>
                <a:r>
                  <a:rPr lang="zh-CN" altLang="zh-CN" sz="1200" kern="1200" dirty="0">
                    <a:solidFill>
                      <a:schemeClr val="tx1"/>
                    </a:solidFill>
                    <a:effectLst/>
                    <a:latin typeface="+mn-lt"/>
                    <a:ea typeface="+mn-ea"/>
                    <a:cs typeface="+mn-cs"/>
                  </a:rPr>
                  <a:t>所示。连杆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与父连杆</a:t>
                </a:r>
                <a:r>
                  <a:rPr lang="en-US" altLang="zh-CN" sz="1200" i="1" kern="1200" dirty="0">
                    <a:solidFill>
                      <a:schemeClr val="tx1"/>
                    </a:solidFill>
                    <a:effectLst/>
                    <a:latin typeface="+mn-lt"/>
                    <a:ea typeface="+mn-ea"/>
                    <a:cs typeface="+mn-cs"/>
                  </a:rPr>
                  <a:t>𝛌(</a:t>
                </a:r>
                <a:r>
                  <a:rPr lang="en-US" altLang="zh-CN" sz="1200" i="1" kern="1200" dirty="0" err="1">
                    <a:solidFill>
                      <a:schemeClr val="tx1"/>
                    </a:solidFill>
                    <a:effectLst/>
                    <a:latin typeface="+mn-lt"/>
                    <a:ea typeface="+mn-ea"/>
                    <a:cs typeface="+mn-cs"/>
                  </a:rPr>
                  <a:t>i</a:t>
                </a:r>
                <a:r>
                  <a:rPr lang="en-US" altLang="zh-CN" sz="1200" i="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通过关节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进行连接，相当于根连杆</a:t>
                </a:r>
                <a:r>
                  <a:rPr lang="en-US" altLang="zh-CN" sz="1200" i="1" kern="1200" dirty="0">
                    <a:solidFill>
                      <a:schemeClr val="tx1"/>
                    </a:solidFill>
                    <a:effectLst/>
                    <a:latin typeface="+mn-lt"/>
                    <a:ea typeface="+mn-ea"/>
                    <a:cs typeface="+mn-cs"/>
                  </a:rPr>
                  <a:t>𝛌</a:t>
                </a:r>
                <a:r>
                  <a:rPr lang="en-US" altLang="zh-CN" sz="1200" b="1" i="1" kern="1200" dirty="0">
                    <a:solidFill>
                      <a:schemeClr val="tx1"/>
                    </a:solidFill>
                    <a:effectLst/>
                    <a:latin typeface="+mn-lt"/>
                    <a:ea typeface="+mn-ea"/>
                    <a:cs typeface="+mn-cs"/>
                  </a:rPr>
                  <a:t>(</a:t>
                </a:r>
                <a:r>
                  <a:rPr lang="en-US" altLang="zh-CN" sz="1200" i="1" kern="1200" dirty="0" err="1">
                    <a:solidFill>
                      <a:schemeClr val="tx1"/>
                    </a:solidFill>
                    <a:effectLst/>
                    <a:latin typeface="+mn-lt"/>
                    <a:ea typeface="+mn-ea"/>
                    <a:cs typeface="+mn-cs"/>
                  </a:rPr>
                  <a:t>i</a:t>
                </a:r>
                <a:r>
                  <a:rPr lang="en-US" altLang="zh-CN" sz="1200" b="1" i="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（子树的根连杆为连杆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被称为关节体</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）上其他运动部件的作用仅通过经由关节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的力</a:t>
                </a:r>
                <a:r>
                  <a:rPr lang="en-US" altLang="zh-CN" sz="1200" i="0" kern="1200">
                    <a:solidFill>
                      <a:schemeClr val="tx1"/>
                    </a:solidFill>
                    <a:effectLst/>
                    <a:latin typeface="+mn-lt"/>
                    <a:ea typeface="+mn-ea"/>
                    <a:cs typeface="+mn-cs"/>
                  </a:rPr>
                  <a:t>f</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进行传递。假设在关节</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处断开链接，只考虑有一个未知的力</a:t>
                </a:r>
                <a:r>
                  <a:rPr lang="en-US" altLang="zh-CN" sz="1200" i="0" kern="1200">
                    <a:solidFill>
                      <a:schemeClr val="tx1"/>
                    </a:solidFill>
                    <a:effectLst/>
                    <a:latin typeface="+mn-lt"/>
                    <a:ea typeface="+mn-ea"/>
                    <a:cs typeface="+mn-cs"/>
                  </a:rPr>
                  <a:t>f</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使关节体（其根节点为连杆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）产生运动。那么，根据牛顿第二定律，连杆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的加速度与作用力满足如下关系：</a:t>
                </a: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f</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en-US" altLang="zh-CN" sz="1200" kern="1200" dirty="0">
                    <a:solidFill>
                      <a:schemeClr val="tx1"/>
                    </a:solidFill>
                    <a:effectLst/>
                    <a:latin typeface="+mn-lt"/>
                    <a:ea typeface="+mn-ea"/>
                    <a:cs typeface="+mn-cs"/>
                  </a:rPr>
                  <a:t> (4-92)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zh-CN" altLang="zh-CN" sz="1200" kern="1200" dirty="0">
                    <a:solidFill>
                      <a:schemeClr val="tx1"/>
                    </a:solidFill>
                    <a:effectLst/>
                    <a:latin typeface="+mn-lt"/>
                    <a:ea typeface="+mn-ea"/>
                    <a:cs typeface="+mn-cs"/>
                  </a:rPr>
                  <a:t>为子树</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中连杆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的关节体惯量；</a:t>
                </a:r>
                <a:r>
                  <a:rPr lang="en-US" altLang="zh-CN" sz="1200" i="0" kern="1200">
                    <a:solidFill>
                      <a:schemeClr val="tx1"/>
                    </a:solidFill>
                    <a:effectLst/>
                    <a:latin typeface="+mn-lt"/>
                    <a:ea typeface="+mn-ea"/>
                    <a:cs typeface="+mn-cs"/>
                  </a:rPr>
                  <a:t>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zh-CN" altLang="zh-CN" sz="1200" kern="1200" dirty="0">
                    <a:solidFill>
                      <a:schemeClr val="tx1"/>
                    </a:solidFill>
                    <a:effectLst/>
                    <a:latin typeface="+mn-lt"/>
                    <a:ea typeface="+mn-ea"/>
                    <a:cs typeface="+mn-cs"/>
                  </a:rPr>
                  <a:t>为辅助偏置力，即让连杆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产生零加速度的力。</a:t>
                </a:r>
              </a:p>
              <a:p>
                <a:r>
                  <a:rPr lang="zh-CN" altLang="zh-CN" sz="1200" kern="1200" dirty="0">
                    <a:solidFill>
                      <a:schemeClr val="tx1"/>
                    </a:solidFill>
                    <a:effectLst/>
                    <a:latin typeface="+mn-lt"/>
                    <a:ea typeface="+mn-ea"/>
                    <a:cs typeface="+mn-cs"/>
                  </a:rPr>
                  <a:t>结合公式（</a:t>
                </a:r>
                <a:r>
                  <a:rPr lang="en-US" altLang="zh-CN" sz="1200" kern="1200" dirty="0">
                    <a:solidFill>
                      <a:schemeClr val="tx1"/>
                    </a:solidFill>
                    <a:effectLst/>
                    <a:latin typeface="+mn-lt"/>
                    <a:ea typeface="+mn-ea"/>
                    <a:cs typeface="+mn-cs"/>
                  </a:rPr>
                  <a:t>4-82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4-92</a:t>
                </a:r>
                <a:r>
                  <a:rPr lang="zh-CN" altLang="zh-CN" sz="1200" kern="1200" dirty="0">
                    <a:solidFill>
                      <a:schemeClr val="tx1"/>
                    </a:solidFill>
                    <a:effectLst/>
                    <a:latin typeface="+mn-lt"/>
                    <a:ea typeface="+mn-ea"/>
                    <a:cs typeface="+mn-cs"/>
                  </a:rPr>
                  <a:t>）可得：</a:t>
                </a:r>
              </a:p>
              <a:p>
                <a:r>
                  <a:rPr lang="en-US" altLang="zh-CN" sz="1200" i="0" kern="1200">
                    <a:solidFill>
                      <a:schemeClr val="tx1"/>
                    </a:solidFill>
                    <a:effectLst/>
                    <a:latin typeface="+mn-lt"/>
                    <a:ea typeface="+mn-ea"/>
                    <a:cs typeface="+mn-cs"/>
                  </a:rPr>
                  <a:t>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f</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 (𝐼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𝑖+𝑆</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 )+p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可由下式求解：</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𝑖=𝐷</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𝑖^𝑇</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 (4-93)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式中：</a:t>
                </a:r>
              </a:p>
              <a:p>
                <a:r>
                  <a:rPr lang="en-US" altLang="zh-CN" sz="1200" i="0" kern="1200">
                    <a:solidFill>
                      <a:schemeClr val="tx1"/>
                    </a:solidFill>
                    <a:effectLst/>
                    <a:latin typeface="+mn-lt"/>
                    <a:ea typeface="+mn-ea"/>
                    <a:cs typeface="+mn-cs"/>
                  </a:rPr>
                  <a:t>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𝐷</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𝑖=𝜏</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且：</a:t>
                </a:r>
              </a:p>
              <a:p>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而对于一般单自由度已知关节来说，</a:t>
                </a:r>
                <a:r>
                  <a:rPr lang="en-US" altLang="zh-CN" sz="1200" i="0" kern="1200">
                    <a:solidFill>
                      <a:schemeClr val="tx1"/>
                    </a:solidFill>
                    <a:effectLst/>
                    <a:latin typeface="+mn-lt"/>
                    <a:ea typeface="+mn-ea"/>
                    <a:cs typeface="+mn-cs"/>
                  </a:rPr>
                  <a:t>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。根据以上推导，可利用公式（</a:t>
                </a:r>
                <a:r>
                  <a:rPr lang="en-US" altLang="zh-CN" sz="1200" kern="1200" dirty="0">
                    <a:solidFill>
                      <a:schemeClr val="tx1"/>
                    </a:solidFill>
                    <a:effectLst/>
                    <a:latin typeface="+mn-lt"/>
                    <a:ea typeface="+mn-ea"/>
                    <a:cs typeface="+mn-cs"/>
                  </a:rPr>
                  <a:t>4-82</a:t>
                </a:r>
                <a:r>
                  <a:rPr lang="zh-CN" altLang="zh-CN" sz="1200" kern="1200" dirty="0">
                    <a:solidFill>
                      <a:schemeClr val="tx1"/>
                    </a:solidFill>
                    <a:effectLst/>
                    <a:latin typeface="+mn-lt"/>
                    <a:ea typeface="+mn-ea"/>
                    <a:cs typeface="+mn-cs"/>
                  </a:rPr>
                  <a:t>）计算连杆</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的加速度</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，再利用公式（</a:t>
                </a:r>
                <a:r>
                  <a:rPr lang="en-US" altLang="zh-CN" sz="1200" kern="1200" dirty="0">
                    <a:solidFill>
                      <a:schemeClr val="tx1"/>
                    </a:solidFill>
                    <a:effectLst/>
                    <a:latin typeface="+mn-lt"/>
                    <a:ea typeface="+mn-ea"/>
                    <a:cs typeface="+mn-cs"/>
                  </a:rPr>
                  <a:t>4-93</a:t>
                </a:r>
                <a:r>
                  <a:rPr lang="zh-CN" altLang="zh-CN" sz="1200" kern="1200" dirty="0">
                    <a:solidFill>
                      <a:schemeClr val="tx1"/>
                    </a:solidFill>
                    <a:effectLst/>
                    <a:latin typeface="+mn-lt"/>
                    <a:ea typeface="+mn-ea"/>
                    <a:cs typeface="+mn-cs"/>
                  </a:rPr>
                  <a:t>）求得关节加速度</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4-93</a:t>
                </a:r>
                <a:r>
                  <a:rPr lang="zh-CN" altLang="zh-CN" sz="1200" kern="1200" dirty="0">
                    <a:solidFill>
                      <a:schemeClr val="tx1"/>
                    </a:solidFill>
                    <a:effectLst/>
                    <a:latin typeface="+mn-lt"/>
                    <a:ea typeface="+mn-ea"/>
                    <a:cs typeface="+mn-cs"/>
                  </a:rPr>
                  <a:t>）中关节体惯量和偏置力都可以通过递归公式计算：</a:t>
                </a:r>
              </a:p>
              <a:p>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𝑗∈𝑐(𝑖)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𝑗^𝐴−𝑈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𝐷</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 ) </a:t>
                </a:r>
                <a:r>
                  <a:rPr lang="en-US" altLang="zh-CN" sz="1200" kern="1200" dirty="0">
                    <a:solidFill>
                      <a:schemeClr val="tx1"/>
                    </a:solidFill>
                    <a:effectLst/>
                    <a:latin typeface="+mn-lt"/>
                    <a:ea typeface="+mn-ea"/>
                    <a:cs typeface="+mn-cs"/>
                  </a:rPr>
                  <a:t> (4-94)</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𝑖^𝐴=p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_</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𝑗∈𝑐(𝑖)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𝑗^𝐴+𝐼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𝑗^𝐴</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𝐷</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𝑗 ) </a:t>
                </a:r>
                <a:r>
                  <a:rPr lang="en-US" altLang="zh-CN" sz="1200" kern="1200" dirty="0">
                    <a:solidFill>
                      <a:schemeClr val="tx1"/>
                    </a:solidFill>
                    <a:effectLst/>
                    <a:latin typeface="+mn-lt"/>
                    <a:ea typeface="+mn-ea"/>
                    <a:cs typeface="+mn-cs"/>
                  </a:rPr>
                  <a:t> (4-95)</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4-95</a:t>
                </a:r>
                <a:r>
                  <a:rPr lang="zh-CN" altLang="zh-CN" sz="1200" kern="1200" dirty="0">
                    <a:solidFill>
                      <a:schemeClr val="tx1"/>
                    </a:solidFill>
                    <a:effectLst/>
                    <a:latin typeface="+mn-lt"/>
                    <a:ea typeface="+mn-ea"/>
                    <a:cs typeface="+mn-cs"/>
                  </a:rPr>
                  <a:t>）中：</a:t>
                </a:r>
              </a:p>
              <a:p>
                <a:r>
                  <a:rPr lang="en-US" altLang="zh-CN" sz="1200" i="0" kern="1200">
                    <a:solidFill>
                      <a:schemeClr val="tx1"/>
                    </a:solidFill>
                    <a:effectLst/>
                    <a:latin typeface="+mn-lt"/>
                    <a:ea typeface="+mn-ea"/>
                    <a:cs typeface="+mn-cs"/>
                  </a:rPr>
                  <a:t>p</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𝑖×I</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v</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f</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𝑖^𝑒𝑥𝑡</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54</a:t>
            </a:fld>
            <a:endParaRPr lang="zh-CN" altLang="en-US"/>
          </a:p>
        </p:txBody>
      </p:sp>
    </p:spTree>
    <p:extLst>
      <p:ext uri="{BB962C8B-B14F-4D97-AF65-F5344CB8AC3E}">
        <p14:creationId xmlns:p14="http://schemas.microsoft.com/office/powerpoint/2010/main" val="10908727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55</a:t>
            </a:fld>
            <a:endParaRPr lang="zh-CN" altLang="en-US"/>
          </a:p>
        </p:txBody>
      </p:sp>
    </p:spTree>
    <p:extLst>
      <p:ext uri="{BB962C8B-B14F-4D97-AF65-F5344CB8AC3E}">
        <p14:creationId xmlns:p14="http://schemas.microsoft.com/office/powerpoint/2010/main" val="33614222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56</a:t>
            </a:fld>
            <a:endParaRPr lang="zh-CN" altLang="en-US"/>
          </a:p>
        </p:txBody>
      </p:sp>
    </p:spTree>
    <p:extLst>
      <p:ext uri="{BB962C8B-B14F-4D97-AF65-F5344CB8AC3E}">
        <p14:creationId xmlns:p14="http://schemas.microsoft.com/office/powerpoint/2010/main" val="27725432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根据前面介绍的基于旋量法的递归牛顿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欧拉方程或基于空间向量法的递归牛顿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欧拉算法均可计算出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h</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d>
                  </m:oMath>
                </a14:m>
                <a:r>
                  <a:rPr lang="zh-CN" altLang="zh-CN" sz="1200" kern="1200" dirty="0">
                    <a:solidFill>
                      <a:schemeClr val="tx1"/>
                    </a:solidFill>
                    <a:effectLst/>
                    <a:latin typeface="+mn-lt"/>
                    <a:ea typeface="+mn-ea"/>
                    <a:cs typeface="+mn-cs"/>
                  </a:rPr>
                  <a:t>项。</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根据前面介绍的基于旋量法的递归牛顿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欧拉方程或基于空间向量法的递归牛顿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欧拉算法均可计算出</a:t>
                </a:r>
                <a:r>
                  <a:rPr lang="en-US" altLang="zh-CN" sz="1200" i="0" kern="1200">
                    <a:solidFill>
                      <a:schemeClr val="tx1"/>
                    </a:solidFill>
                    <a:effectLst/>
                    <a:latin typeface="+mn-lt"/>
                    <a:ea typeface="+mn-ea"/>
                    <a:cs typeface="+mn-cs"/>
                  </a:rPr>
                  <a:t>ℎ</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 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项。</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57</a:t>
            </a:fld>
            <a:endParaRPr lang="zh-CN" altLang="en-US"/>
          </a:p>
        </p:txBody>
      </p:sp>
    </p:spTree>
    <p:extLst>
      <p:ext uri="{BB962C8B-B14F-4D97-AF65-F5344CB8AC3E}">
        <p14:creationId xmlns:p14="http://schemas.microsoft.com/office/powerpoint/2010/main" val="3334954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式中，</a:t>
                </a:r>
                <a14:m>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oMath>
                </a14:m>
                <a:r>
                  <a:rPr lang="zh-CN" altLang="zh-CN" sz="1200" kern="1200" dirty="0">
                    <a:solidFill>
                      <a:schemeClr val="tx1"/>
                    </a:solidFill>
                    <a:effectLst/>
                    <a:latin typeface="+mn-lt"/>
                    <a:ea typeface="+mn-ea"/>
                    <a:cs typeface="+mn-cs"/>
                  </a:rPr>
                  <a:t>为所有关节加速度组成的列向量，而</a:t>
                </a:r>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e>
                      <m:sub>
                        <m:r>
                          <a:rPr lang="en-US" altLang="zh-CN" sz="1200" i="1" kern="1200">
                            <a:solidFill>
                              <a:schemeClr val="tx1"/>
                            </a:solidFill>
                            <a:effectLst/>
                            <a:latin typeface="Cambria Math" panose="02040503050406030204" pitchFamily="18" charset="0"/>
                            <a:ea typeface="+mn-ea"/>
                            <a:cs typeface="+mn-cs"/>
                          </a:rPr>
                          <m:t>𝑗</m:t>
                        </m:r>
                      </m:sub>
                      <m:sup>
                        <m:r>
                          <a:rPr lang="en-US" altLang="zh-CN" sz="1200" i="1" kern="1200">
                            <a:solidFill>
                              <a:schemeClr val="tx1"/>
                            </a:solidFill>
                            <a:effectLst/>
                            <a:latin typeface="Cambria Math" panose="02040503050406030204" pitchFamily="18" charset="0"/>
                            <a:ea typeface="+mn-ea"/>
                            <a:cs typeface="+mn-cs"/>
                          </a:rPr>
                          <m:t>0</m:t>
                        </m:r>
                      </m:sup>
                    </m:sSubSup>
                  </m:oMath>
                </a14:m>
                <a:r>
                  <a:rPr lang="zh-CN" altLang="zh-CN" sz="1200" kern="1200" dirty="0">
                    <a:solidFill>
                      <a:schemeClr val="tx1"/>
                    </a:solidFill>
                    <a:effectLst/>
                    <a:latin typeface="+mn-lt"/>
                    <a:ea typeface="+mn-ea"/>
                    <a:cs typeface="+mn-cs"/>
                  </a:rPr>
                  <a:t>为该列向量中除了第</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j</m:t>
                    </m:r>
                  </m:oMath>
                </a14:m>
                <a:r>
                  <a:rPr lang="zh-CN" altLang="zh-CN" sz="1200" kern="1200" dirty="0">
                    <a:solidFill>
                      <a:schemeClr val="tx1"/>
                    </a:solidFill>
                    <a:effectLst/>
                    <a:latin typeface="+mn-lt"/>
                    <a:ea typeface="+mn-ea"/>
                    <a:cs typeface="+mn-cs"/>
                  </a:rPr>
                  <a:t>行为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之外，其余均为零。将公式（</a:t>
                </a:r>
                <a:r>
                  <a:rPr lang="en-US" altLang="zh-CN" sz="1200" kern="1200" dirty="0">
                    <a:solidFill>
                      <a:schemeClr val="tx1"/>
                    </a:solidFill>
                    <a:effectLst/>
                    <a:latin typeface="+mn-lt"/>
                    <a:ea typeface="+mn-ea"/>
                    <a:cs typeface="+mn-cs"/>
                  </a:rPr>
                  <a:t>4-102</a:t>
                </a:r>
                <a:r>
                  <a:rPr lang="zh-CN" altLang="zh-CN" sz="1200" kern="1200" dirty="0">
                    <a:solidFill>
                      <a:schemeClr val="tx1"/>
                    </a:solidFill>
                    <a:effectLst/>
                    <a:latin typeface="+mn-lt"/>
                    <a:ea typeface="+mn-ea"/>
                    <a:cs typeface="+mn-cs"/>
                  </a:rPr>
                  <a:t>）用逆动力学算法求解调用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次，即第一次调用，第一个关节的加速度为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，其余为零，第二次调用时，第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个关节的加速度为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，其余为零，依次类推，第</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j</m:t>
                    </m:r>
                  </m:oMath>
                </a14:m>
                <a:r>
                  <a:rPr lang="zh-CN" altLang="zh-CN" sz="1200" kern="1200" dirty="0">
                    <a:solidFill>
                      <a:schemeClr val="tx1"/>
                    </a:solidFill>
                    <a:effectLst/>
                    <a:latin typeface="+mn-lt"/>
                    <a:ea typeface="+mn-ea"/>
                    <a:cs typeface="+mn-cs"/>
                  </a:rPr>
                  <a:t>次调用返回的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oMath>
                </a14:m>
                <a:r>
                  <a:rPr lang="zh-CN" altLang="zh-CN" sz="1200" kern="1200" dirty="0">
                    <a:solidFill>
                      <a:schemeClr val="tx1"/>
                    </a:solidFill>
                    <a:effectLst/>
                    <a:latin typeface="+mn-lt"/>
                    <a:ea typeface="+mn-ea"/>
                    <a:cs typeface="+mn-cs"/>
                  </a:rPr>
                  <a:t>向量为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的第</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j</m:t>
                    </m:r>
                  </m:oMath>
                </a14:m>
                <a:r>
                  <a:rPr lang="zh-CN" altLang="zh-CN" sz="1200" kern="1200" dirty="0">
                    <a:solidFill>
                      <a:schemeClr val="tx1"/>
                    </a:solidFill>
                    <a:effectLst/>
                    <a:latin typeface="+mn-lt"/>
                    <a:ea typeface="+mn-ea"/>
                    <a:cs typeface="+mn-cs"/>
                  </a:rPr>
                  <a:t>列，</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次调用之后，</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即可构建完成。</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式中，</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为所有关节加速度组成的列向量，而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𝑗^0</a:t>
                </a:r>
                <a:r>
                  <a:rPr lang="zh-CN" altLang="zh-CN" sz="1200" kern="1200" dirty="0">
                    <a:solidFill>
                      <a:schemeClr val="tx1"/>
                    </a:solidFill>
                    <a:effectLst/>
                    <a:latin typeface="+mn-lt"/>
                    <a:ea typeface="+mn-ea"/>
                    <a:cs typeface="+mn-cs"/>
                  </a:rPr>
                  <a:t>为该列向量中除了第</a:t>
                </a:r>
                <a:r>
                  <a:rPr lang="en-US" altLang="zh-CN" sz="1200" i="0" kern="120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行为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之外，其余均为零。将公式（</a:t>
                </a:r>
                <a:r>
                  <a:rPr lang="en-US" altLang="zh-CN" sz="1200" kern="1200" dirty="0">
                    <a:solidFill>
                      <a:schemeClr val="tx1"/>
                    </a:solidFill>
                    <a:effectLst/>
                    <a:latin typeface="+mn-lt"/>
                    <a:ea typeface="+mn-ea"/>
                    <a:cs typeface="+mn-cs"/>
                  </a:rPr>
                  <a:t>4-102</a:t>
                </a:r>
                <a:r>
                  <a:rPr lang="zh-CN" altLang="zh-CN" sz="1200" kern="1200" dirty="0">
                    <a:solidFill>
                      <a:schemeClr val="tx1"/>
                    </a:solidFill>
                    <a:effectLst/>
                    <a:latin typeface="+mn-lt"/>
                    <a:ea typeface="+mn-ea"/>
                    <a:cs typeface="+mn-cs"/>
                  </a:rPr>
                  <a:t>）用逆动力学算法求解调用</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次，即第一次调用，第一个关节的加速度为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，其余为零，第二次调用时，第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个关节的加速度为</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，其余为零，依次类推，第</a:t>
                </a:r>
                <a:r>
                  <a:rPr lang="en-US" altLang="zh-CN" sz="1200" i="0" kern="120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次调用返回的</a:t>
                </a:r>
                <a:r>
                  <a:rPr lang="en-US" altLang="zh-CN" sz="1200" i="0" kern="1200">
                    <a:solidFill>
                      <a:schemeClr val="tx1"/>
                    </a:solidFill>
                    <a:effectLst/>
                    <a:latin typeface="+mn-lt"/>
                    <a:ea typeface="+mn-ea"/>
                    <a:cs typeface="+mn-cs"/>
                  </a:rPr>
                  <a:t>𝜏</a:t>
                </a:r>
                <a:r>
                  <a:rPr lang="zh-CN" altLang="zh-CN" sz="1200" kern="1200" dirty="0">
                    <a:solidFill>
                      <a:schemeClr val="tx1"/>
                    </a:solidFill>
                    <a:effectLst/>
                    <a:latin typeface="+mn-lt"/>
                    <a:ea typeface="+mn-ea"/>
                    <a:cs typeface="+mn-cs"/>
                  </a:rPr>
                  <a:t>向量为</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的第</a:t>
                </a:r>
                <a:r>
                  <a:rPr lang="en-US" altLang="zh-CN" sz="1200" i="0" kern="120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列，</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次调用之后，</a:t>
                </a:r>
                <a:r>
                  <a:rPr lang="en-US" altLang="zh-CN" sz="1200" i="0" kern="1200">
                    <a:solidFill>
                      <a:schemeClr val="tx1"/>
                    </a:solidFill>
                    <a:effectLst/>
                    <a:latin typeface="+mn-lt"/>
                    <a:ea typeface="+mn-ea"/>
                    <a:cs typeface="+mn-cs"/>
                  </a:rPr>
                  <a:t>𝑛×𝑛</a:t>
                </a:r>
                <a:r>
                  <a:rPr lang="zh-CN" altLang="zh-CN" sz="1200" kern="1200" dirty="0">
                    <a:solidFill>
                      <a:schemeClr val="tx1"/>
                    </a:solidFill>
                    <a:effectLst/>
                    <a:latin typeface="+mn-lt"/>
                    <a:ea typeface="+mn-ea"/>
                    <a:cs typeface="+mn-cs"/>
                  </a:rPr>
                  <a:t>矩阵</a:t>
                </a:r>
                <a:r>
                  <a:rPr lang="en-US" altLang="zh-CN" sz="1200" i="0" kern="1200">
                    <a:solidFill>
                      <a:schemeClr val="tx1"/>
                    </a:solidFill>
                    <a:effectLst/>
                    <a:latin typeface="+mn-lt"/>
                    <a:ea typeface="+mn-ea"/>
                    <a:cs typeface="+mn-cs"/>
                  </a:rPr>
                  <a:t>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即可构建完成。</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58</a:t>
            </a:fld>
            <a:endParaRPr lang="zh-CN" altLang="en-US"/>
          </a:p>
        </p:txBody>
      </p:sp>
    </p:spTree>
    <p:extLst>
      <p:ext uri="{BB962C8B-B14F-4D97-AF65-F5344CB8AC3E}">
        <p14:creationId xmlns:p14="http://schemas.microsoft.com/office/powerpoint/2010/main" val="10884359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59</a:t>
            </a:fld>
            <a:endParaRPr lang="zh-CN" altLang="en-US"/>
          </a:p>
        </p:txBody>
      </p:sp>
    </p:spTree>
    <p:extLst>
      <p:ext uri="{BB962C8B-B14F-4D97-AF65-F5344CB8AC3E}">
        <p14:creationId xmlns:p14="http://schemas.microsoft.com/office/powerpoint/2010/main" val="25626955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60</a:t>
            </a:fld>
            <a:endParaRPr lang="zh-CN" altLang="en-US"/>
          </a:p>
        </p:txBody>
      </p:sp>
    </p:spTree>
    <p:extLst>
      <p:ext uri="{BB962C8B-B14F-4D97-AF65-F5344CB8AC3E}">
        <p14:creationId xmlns:p14="http://schemas.microsoft.com/office/powerpoint/2010/main" val="40720982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迭代算法积分步数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𝑁</m:t>
                    </m:r>
                  </m:oMath>
                </a14:m>
                <a:r>
                  <a:rPr lang="zh-CN" altLang="zh-CN" sz="1200" kern="1200" dirty="0">
                    <a:solidFill>
                      <a:schemeClr val="tx1"/>
                    </a:solidFill>
                    <a:effectLst/>
                    <a:latin typeface="+mn-lt"/>
                    <a:ea typeface="+mn-ea"/>
                    <a:cs typeface="+mn-cs"/>
                  </a:rPr>
                  <a:t>趋于无穷大，数值积分的结果将收敛于解析解（封闭解）理论值。当然为了减少计算量来生成更接近封闭解的近似结果，也可以采用高阶积分方案，比如四阶龙格</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库塔</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Runge-Kutta</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方法等。</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迭代算法积分步数</a:t>
                </a:r>
                <a:r>
                  <a:rPr lang="en-US" altLang="zh-CN" sz="1200" i="0" kern="1200">
                    <a:solidFill>
                      <a:schemeClr val="tx1"/>
                    </a:solidFill>
                    <a:effectLst/>
                    <a:latin typeface="+mn-lt"/>
                    <a:ea typeface="+mn-ea"/>
                    <a:cs typeface="+mn-cs"/>
                  </a:rPr>
                  <a:t>𝑁</a:t>
                </a:r>
                <a:r>
                  <a:rPr lang="zh-CN" altLang="zh-CN" sz="1200" kern="1200" dirty="0">
                    <a:solidFill>
                      <a:schemeClr val="tx1"/>
                    </a:solidFill>
                    <a:effectLst/>
                    <a:latin typeface="+mn-lt"/>
                    <a:ea typeface="+mn-ea"/>
                    <a:cs typeface="+mn-cs"/>
                  </a:rPr>
                  <a:t>趋于无穷大，数值积分的结果将收敛于解析解（封闭解）理论值。当然为了减少计算量来生成更接近封闭解的近似结果，也可以采用高阶积分方案，比如四阶龙格</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库塔</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Runge-Kutta</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方法等。</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61</a:t>
            </a:fld>
            <a:endParaRPr lang="zh-CN" altLang="en-US"/>
          </a:p>
        </p:txBody>
      </p:sp>
    </p:spTree>
    <p:extLst>
      <p:ext uri="{BB962C8B-B14F-4D97-AF65-F5344CB8AC3E}">
        <p14:creationId xmlns:p14="http://schemas.microsoft.com/office/powerpoint/2010/main" val="24610366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62</a:t>
            </a:fld>
            <a:endParaRPr lang="zh-CN" altLang="en-US"/>
          </a:p>
        </p:txBody>
      </p:sp>
    </p:spTree>
    <p:extLst>
      <p:ext uri="{BB962C8B-B14F-4D97-AF65-F5344CB8AC3E}">
        <p14:creationId xmlns:p14="http://schemas.microsoft.com/office/powerpoint/2010/main" val="28684232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63</a:t>
            </a:fld>
            <a:endParaRPr lang="zh-CN" altLang="en-US"/>
          </a:p>
        </p:txBody>
      </p:sp>
    </p:spTree>
    <p:extLst>
      <p:ext uri="{BB962C8B-B14F-4D97-AF65-F5344CB8AC3E}">
        <p14:creationId xmlns:p14="http://schemas.microsoft.com/office/powerpoint/2010/main" val="25535725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64</a:t>
            </a:fld>
            <a:endParaRPr lang="zh-CN" altLang="en-US"/>
          </a:p>
        </p:txBody>
      </p:sp>
    </p:spTree>
    <p:extLst>
      <p:ext uri="{BB962C8B-B14F-4D97-AF65-F5344CB8AC3E}">
        <p14:creationId xmlns:p14="http://schemas.microsoft.com/office/powerpoint/2010/main" val="709317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65</a:t>
            </a:fld>
            <a:endParaRPr lang="zh-CN" altLang="en-US"/>
          </a:p>
        </p:txBody>
      </p:sp>
    </p:spTree>
    <p:extLst>
      <p:ext uri="{BB962C8B-B14F-4D97-AF65-F5344CB8AC3E}">
        <p14:creationId xmlns:p14="http://schemas.microsoft.com/office/powerpoint/2010/main" val="5553742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66</a:t>
            </a:fld>
            <a:endParaRPr lang="zh-CN" altLang="en-US"/>
          </a:p>
        </p:txBody>
      </p:sp>
    </p:spTree>
    <p:extLst>
      <p:ext uri="{BB962C8B-B14F-4D97-AF65-F5344CB8AC3E}">
        <p14:creationId xmlns:p14="http://schemas.microsoft.com/office/powerpoint/2010/main" val="8786197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67</a:t>
            </a:fld>
            <a:endParaRPr lang="zh-CN" altLang="en-US"/>
          </a:p>
        </p:txBody>
      </p:sp>
    </p:spTree>
    <p:extLst>
      <p:ext uri="{BB962C8B-B14F-4D97-AF65-F5344CB8AC3E}">
        <p14:creationId xmlns:p14="http://schemas.microsoft.com/office/powerpoint/2010/main" val="6348865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68</a:t>
            </a:fld>
            <a:endParaRPr lang="zh-CN" altLang="en-US"/>
          </a:p>
        </p:txBody>
      </p:sp>
    </p:spTree>
    <p:extLst>
      <p:ext uri="{BB962C8B-B14F-4D97-AF65-F5344CB8AC3E}">
        <p14:creationId xmlns:p14="http://schemas.microsoft.com/office/powerpoint/2010/main" val="25460231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69</a:t>
            </a:fld>
            <a:endParaRPr lang="zh-CN" altLang="en-US"/>
          </a:p>
        </p:txBody>
      </p:sp>
    </p:spTree>
    <p:extLst>
      <p:ext uri="{BB962C8B-B14F-4D97-AF65-F5344CB8AC3E}">
        <p14:creationId xmlns:p14="http://schemas.microsoft.com/office/powerpoint/2010/main" val="37207040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表</a:t>
            </a:r>
            <a:r>
              <a:rPr lang="en-US" altLang="zh-CN" sz="1200" kern="1200" dirty="0" smtClean="0">
                <a:solidFill>
                  <a:schemeClr val="tx1"/>
                </a:solidFill>
                <a:effectLst/>
                <a:latin typeface="+mn-lt"/>
                <a:ea typeface="+mn-ea"/>
                <a:cs typeface="+mn-cs"/>
              </a:rPr>
              <a:t>4.4 AUBO_i5MDH</a:t>
            </a:r>
            <a:r>
              <a:rPr lang="zh-CN" altLang="zh-CN" sz="1200" kern="1200" dirty="0" smtClean="0">
                <a:solidFill>
                  <a:schemeClr val="tx1"/>
                </a:solidFill>
                <a:effectLst/>
                <a:latin typeface="+mn-lt"/>
                <a:ea typeface="+mn-ea"/>
                <a:cs typeface="+mn-cs"/>
              </a:rPr>
              <a:t>参数</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70</a:t>
            </a:fld>
            <a:endParaRPr lang="zh-CN" altLang="en-US"/>
          </a:p>
        </p:txBody>
      </p:sp>
    </p:spTree>
    <p:extLst>
      <p:ext uri="{BB962C8B-B14F-4D97-AF65-F5344CB8AC3E}">
        <p14:creationId xmlns:p14="http://schemas.microsoft.com/office/powerpoint/2010/main" val="303649917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71</a:t>
            </a:fld>
            <a:endParaRPr lang="zh-CN" altLang="en-US"/>
          </a:p>
        </p:txBody>
      </p:sp>
    </p:spTree>
    <p:extLst>
      <p:ext uri="{BB962C8B-B14F-4D97-AF65-F5344CB8AC3E}">
        <p14:creationId xmlns:p14="http://schemas.microsoft.com/office/powerpoint/2010/main" val="14774921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72</a:t>
            </a:fld>
            <a:endParaRPr lang="zh-CN" altLang="en-US"/>
          </a:p>
        </p:txBody>
      </p:sp>
    </p:spTree>
    <p:extLst>
      <p:ext uri="{BB962C8B-B14F-4D97-AF65-F5344CB8AC3E}">
        <p14:creationId xmlns:p14="http://schemas.microsoft.com/office/powerpoint/2010/main" val="287952554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根据表</a:t>
            </a:r>
            <a:r>
              <a:rPr lang="en-US" altLang="zh-CN" sz="1200" kern="1200" dirty="0" smtClean="0">
                <a:solidFill>
                  <a:schemeClr val="tx1"/>
                </a:solidFill>
                <a:effectLst/>
                <a:latin typeface="+mn-lt"/>
                <a:ea typeface="+mn-ea"/>
                <a:cs typeface="+mn-cs"/>
              </a:rPr>
              <a:t>4.4</a:t>
            </a:r>
            <a:r>
              <a:rPr lang="zh-CN" altLang="zh-CN" sz="1200" kern="1200" dirty="0" smtClean="0">
                <a:solidFill>
                  <a:schemeClr val="tx1"/>
                </a:solidFill>
                <a:effectLst/>
                <a:latin typeface="+mn-lt"/>
                <a:ea typeface="+mn-ea"/>
                <a:cs typeface="+mn-cs"/>
              </a:rPr>
              <a:t>和表</a:t>
            </a:r>
            <a:r>
              <a:rPr lang="en-US" altLang="zh-CN" sz="1200" kern="1200" dirty="0" smtClean="0">
                <a:solidFill>
                  <a:schemeClr val="tx1"/>
                </a:solidFill>
                <a:effectLst/>
                <a:latin typeface="+mn-lt"/>
                <a:ea typeface="+mn-ea"/>
                <a:cs typeface="+mn-cs"/>
              </a:rPr>
              <a:t>4.5</a:t>
            </a:r>
            <a:r>
              <a:rPr lang="zh-CN" altLang="zh-CN" sz="1200" kern="1200" dirty="0" smtClean="0">
                <a:solidFill>
                  <a:schemeClr val="tx1"/>
                </a:solidFill>
                <a:effectLst/>
                <a:latin typeface="+mn-lt"/>
                <a:ea typeface="+mn-ea"/>
                <a:cs typeface="+mn-cs"/>
              </a:rPr>
              <a:t>的参数，以及惯量矩阵，可以在</a:t>
            </a:r>
            <a:r>
              <a:rPr lang="en-US" altLang="zh-CN" sz="1200" kern="1200" dirty="0" smtClean="0">
                <a:solidFill>
                  <a:schemeClr val="tx1"/>
                </a:solidFill>
                <a:effectLst/>
                <a:latin typeface="+mn-lt"/>
                <a:ea typeface="+mn-ea"/>
                <a:cs typeface="+mn-cs"/>
              </a:rPr>
              <a:t>MATLAB</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VREP</a:t>
            </a:r>
            <a:r>
              <a:rPr lang="zh-CN" altLang="zh-CN" sz="1200" kern="1200" dirty="0" smtClean="0">
                <a:solidFill>
                  <a:schemeClr val="tx1"/>
                </a:solidFill>
                <a:effectLst/>
                <a:latin typeface="+mn-lt"/>
                <a:ea typeface="+mn-ea"/>
                <a:cs typeface="+mn-cs"/>
              </a:rPr>
              <a:t>等仿真环境中构建机械臂的多刚体动力学仿真模型。如图</a:t>
            </a:r>
            <a:r>
              <a:rPr lang="en-US" altLang="zh-CN" sz="1200" kern="1200" dirty="0" smtClean="0">
                <a:solidFill>
                  <a:schemeClr val="tx1"/>
                </a:solidFill>
                <a:effectLst/>
                <a:latin typeface="+mn-lt"/>
                <a:ea typeface="+mn-ea"/>
                <a:cs typeface="+mn-cs"/>
              </a:rPr>
              <a:t>4.15</a:t>
            </a:r>
            <a:r>
              <a:rPr lang="zh-CN" altLang="zh-CN" sz="1200" kern="1200" dirty="0" smtClean="0">
                <a:solidFill>
                  <a:schemeClr val="tx1"/>
                </a:solidFill>
                <a:effectLst/>
                <a:latin typeface="+mn-lt"/>
                <a:ea typeface="+mn-ea"/>
                <a:cs typeface="+mn-cs"/>
              </a:rPr>
              <a:t>为搭建的三维仿真模型示意图。</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73</a:t>
            </a:fld>
            <a:endParaRPr lang="zh-CN" altLang="en-US"/>
          </a:p>
        </p:txBody>
      </p:sp>
    </p:spTree>
    <p:extLst>
      <p:ext uri="{BB962C8B-B14F-4D97-AF65-F5344CB8AC3E}">
        <p14:creationId xmlns:p14="http://schemas.microsoft.com/office/powerpoint/2010/main" val="14006059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74</a:t>
            </a:fld>
            <a:endParaRPr lang="zh-CN" altLang="en-US"/>
          </a:p>
        </p:txBody>
      </p:sp>
    </p:spTree>
    <p:extLst>
      <p:ext uri="{BB962C8B-B14F-4D97-AF65-F5344CB8AC3E}">
        <p14:creationId xmlns:p14="http://schemas.microsoft.com/office/powerpoint/2010/main" val="16483362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本章介绍了应用于机器人的刚体动力学基本原理，主要包括拉格朗日动力学基本公式以及牛顿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欧拉方程在机器人动力学方面的应用。对于机器人逆动力学，介绍三种类型的递归牛顿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欧拉方程求解方法：基于矢量三角形法、基于旋量法以及基于空间向量法。针对机器人正动力学，介绍了基于关节体的</a:t>
            </a:r>
            <a:r>
              <a:rPr lang="en-US" altLang="zh-CN" sz="1200" kern="1200" dirty="0" smtClean="0">
                <a:solidFill>
                  <a:schemeClr val="tx1"/>
                </a:solidFill>
                <a:effectLst/>
                <a:latin typeface="+mn-lt"/>
                <a:ea typeface="+mn-ea"/>
                <a:cs typeface="+mn-cs"/>
              </a:rPr>
              <a:t>ABA</a:t>
            </a:r>
            <a:r>
              <a:rPr lang="zh-CN" altLang="zh-CN" sz="1200" kern="1200" dirty="0" smtClean="0">
                <a:solidFill>
                  <a:schemeClr val="tx1"/>
                </a:solidFill>
                <a:effectLst/>
                <a:latin typeface="+mn-lt"/>
                <a:ea typeface="+mn-ea"/>
                <a:cs typeface="+mn-cs"/>
              </a:rPr>
              <a:t>算法以及利用逆动力学方程求解的方法，并介绍了采用欧拉积分法及正动力学方程对机器人运动进行数值仿真的基本原理。机器人的动力学可视为更为广泛的多体动力学学科的一个子集，除了拉格朗日方程、牛顿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欧拉方程之外，还有动量矩定理、哈密尔顿原理、凯恩方程等方法可以使用。本章介绍的递归牛顿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欧拉方程，一直是机器人逆动力学最重要的算法，并被广泛应用和改进。而</a:t>
            </a:r>
            <a:r>
              <a:rPr lang="en-US" altLang="zh-CN" sz="1200" kern="1200" dirty="0" smtClean="0">
                <a:solidFill>
                  <a:schemeClr val="tx1"/>
                </a:solidFill>
                <a:effectLst/>
                <a:latin typeface="+mn-lt"/>
                <a:ea typeface="+mn-ea"/>
                <a:cs typeface="+mn-cs"/>
              </a:rPr>
              <a:t>Featherstone</a:t>
            </a:r>
            <a:r>
              <a:rPr lang="zh-CN" altLang="zh-CN" sz="1200" kern="1200" dirty="0" smtClean="0">
                <a:solidFill>
                  <a:schemeClr val="tx1"/>
                </a:solidFill>
                <a:effectLst/>
                <a:latin typeface="+mn-lt"/>
                <a:ea typeface="+mn-ea"/>
                <a:cs typeface="+mn-cs"/>
              </a:rPr>
              <a:t>提出的正动力学</a:t>
            </a:r>
            <a:r>
              <a:rPr lang="en-US" altLang="zh-CN" sz="1200" kern="1200" dirty="0" smtClean="0">
                <a:solidFill>
                  <a:schemeClr val="tx1"/>
                </a:solidFill>
                <a:effectLst/>
                <a:latin typeface="+mn-lt"/>
                <a:ea typeface="+mn-ea"/>
                <a:cs typeface="+mn-cs"/>
              </a:rPr>
              <a:t>ABA</a:t>
            </a:r>
            <a:r>
              <a:rPr lang="zh-CN" altLang="zh-CN" sz="1200" kern="1200" dirty="0" smtClean="0">
                <a:solidFill>
                  <a:schemeClr val="tx1"/>
                </a:solidFill>
                <a:effectLst/>
                <a:latin typeface="+mn-lt"/>
                <a:ea typeface="+mn-ea"/>
                <a:cs typeface="+mn-cs"/>
              </a:rPr>
              <a:t>算法，在机器人运动仿真领域也是主流算法，在最近几年的研究中也有很多的改进。而随着具有复杂构型机器人的深入研究，由</a:t>
            </a:r>
            <a:r>
              <a:rPr lang="en-US" altLang="zh-CN" sz="1200" kern="1200" dirty="0" smtClean="0">
                <a:solidFill>
                  <a:schemeClr val="tx1"/>
                </a:solidFill>
                <a:effectLst/>
                <a:latin typeface="+mn-lt"/>
                <a:ea typeface="+mn-ea"/>
                <a:cs typeface="+mn-cs"/>
              </a:rPr>
              <a:t>Walker</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Orin</a:t>
            </a:r>
            <a:r>
              <a:rPr lang="zh-CN" altLang="zh-CN" sz="1200" kern="1200" dirty="0" smtClean="0">
                <a:solidFill>
                  <a:schemeClr val="tx1"/>
                </a:solidFill>
                <a:effectLst/>
                <a:latin typeface="+mn-lt"/>
                <a:ea typeface="+mn-ea"/>
                <a:cs typeface="+mn-cs"/>
              </a:rPr>
              <a:t>提出的基于复合刚体算法（</a:t>
            </a:r>
            <a:r>
              <a:rPr lang="en-US" altLang="zh-CN" sz="1200" kern="1200" dirty="0" smtClean="0">
                <a:solidFill>
                  <a:schemeClr val="tx1"/>
                </a:solidFill>
                <a:effectLst/>
                <a:latin typeface="+mn-lt"/>
                <a:ea typeface="+mn-ea"/>
                <a:cs typeface="+mn-cs"/>
              </a:rPr>
              <a:t>CRBA</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Composite-Rigid-Body Algorithm</a:t>
            </a:r>
            <a:r>
              <a:rPr lang="zh-CN" altLang="zh-CN" sz="1200" kern="1200" dirty="0" smtClean="0">
                <a:solidFill>
                  <a:schemeClr val="tx1"/>
                </a:solidFill>
                <a:effectLst/>
                <a:latin typeface="+mn-lt"/>
                <a:ea typeface="+mn-ea"/>
                <a:cs typeface="+mn-cs"/>
              </a:rPr>
              <a:t>），用于计算关节空间惯性矩阵</a:t>
            </a:r>
            <a:r>
              <a:rPr lang="en-US" altLang="zh-CN" sz="1200" kern="1200" dirty="0" smtClean="0">
                <a:solidFill>
                  <a:schemeClr val="tx1"/>
                </a:solidFill>
                <a:effectLst/>
                <a:latin typeface="+mn-lt"/>
                <a:ea typeface="+mn-ea"/>
                <a:cs typeface="+mn-cs"/>
              </a:rPr>
              <a:t>JSIM</a:t>
            </a:r>
            <a:r>
              <a:rPr lang="zh-CN" altLang="zh-CN" sz="1200" kern="1200" dirty="0" smtClean="0">
                <a:solidFill>
                  <a:schemeClr val="tx1"/>
                </a:solidFill>
                <a:effectLst/>
                <a:latin typeface="+mn-lt"/>
                <a:ea typeface="+mn-ea"/>
                <a:cs typeface="+mn-cs"/>
              </a:rPr>
              <a:t>，其在有分支的运动树问题和机器人运动控制系统的应用中，越来越受到重视，包括使用</a:t>
            </a:r>
            <a:r>
              <a:rPr lang="en-US" altLang="zh-CN" sz="1200" kern="1200" dirty="0" smtClean="0">
                <a:solidFill>
                  <a:schemeClr val="tx1"/>
                </a:solidFill>
                <a:effectLst/>
                <a:latin typeface="+mn-lt"/>
                <a:ea typeface="+mn-ea"/>
                <a:cs typeface="+mn-cs"/>
              </a:rPr>
              <a:t>CRBA</a:t>
            </a:r>
            <a:r>
              <a:rPr lang="zh-CN" altLang="zh-CN" sz="1200" kern="1200" dirty="0" smtClean="0">
                <a:solidFill>
                  <a:schemeClr val="tx1"/>
                </a:solidFill>
                <a:effectLst/>
                <a:latin typeface="+mn-lt"/>
                <a:ea typeface="+mn-ea"/>
                <a:cs typeface="+mn-cs"/>
              </a:rPr>
              <a:t>求解操作空间惯性矩阵</a:t>
            </a:r>
            <a:r>
              <a:rPr lang="en-US" altLang="zh-CN" sz="1200" kern="1200" dirty="0" smtClean="0">
                <a:solidFill>
                  <a:schemeClr val="tx1"/>
                </a:solidFill>
                <a:effectLst/>
                <a:latin typeface="+mn-lt"/>
                <a:ea typeface="+mn-ea"/>
                <a:cs typeface="+mn-cs"/>
              </a:rPr>
              <a:t>OSIM</a:t>
            </a:r>
            <a:r>
              <a:rPr lang="zh-CN" altLang="zh-CN" sz="1200" kern="1200" dirty="0" smtClean="0">
                <a:solidFill>
                  <a:schemeClr val="tx1"/>
                </a:solidFill>
                <a:effectLst/>
                <a:latin typeface="+mn-lt"/>
                <a:ea typeface="+mn-ea"/>
                <a:cs typeface="+mn-cs"/>
              </a:rPr>
              <a:t>的算法，可以应用于更复杂的机器人系统中。</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采用上述方法可以获得机械臂动力学的符号表达形式，但想要应用到实际控制应用中，需要获得动力学符号方程里参数的准确数值。机器人厂商很少会提供准确的刚体动力学参数，而且，由于装配、加工等问题，厂商提供的参数往往是误差比较大的</a:t>
            </a:r>
            <a:r>
              <a:rPr lang="en-US" altLang="zh-CN" sz="1200" kern="1200" dirty="0" smtClean="0">
                <a:solidFill>
                  <a:schemeClr val="tx1"/>
                </a:solidFill>
                <a:effectLst/>
                <a:latin typeface="+mn-lt"/>
                <a:ea typeface="+mn-ea"/>
                <a:cs typeface="+mn-cs"/>
              </a:rPr>
              <a:t>CAD</a:t>
            </a:r>
            <a:r>
              <a:rPr lang="zh-CN" altLang="zh-CN" sz="1200" kern="1200" dirty="0" smtClean="0">
                <a:solidFill>
                  <a:schemeClr val="tx1"/>
                </a:solidFill>
                <a:effectLst/>
                <a:latin typeface="+mn-lt"/>
                <a:ea typeface="+mn-ea"/>
                <a:cs typeface="+mn-cs"/>
              </a:rPr>
              <a:t>参数，如</a:t>
            </a:r>
            <a:r>
              <a:rPr lang="en-US" altLang="zh-CN" sz="1200" kern="1200" dirty="0" smtClean="0">
                <a:solidFill>
                  <a:schemeClr val="tx1"/>
                </a:solidFill>
                <a:effectLst/>
                <a:latin typeface="+mn-lt"/>
                <a:ea typeface="+mn-ea"/>
                <a:cs typeface="+mn-cs"/>
              </a:rPr>
              <a:t>4.11.1</a:t>
            </a:r>
            <a:r>
              <a:rPr lang="zh-CN" altLang="zh-CN" sz="1200" kern="1200" dirty="0" smtClean="0">
                <a:solidFill>
                  <a:schemeClr val="tx1"/>
                </a:solidFill>
                <a:effectLst/>
                <a:latin typeface="+mn-lt"/>
                <a:ea typeface="+mn-ea"/>
                <a:cs typeface="+mn-cs"/>
              </a:rPr>
              <a:t>给出的参数，该参数获得的模型远无法满足基于模型控制的需求。在过去的研究与应用中主要采用参数辨识方法来获得机械臂动力学参数的具体数值。参数辨识方法是通过线性回归方法从轨迹数据中获得可辨识的动力学参数，常采用方法包括最小二乘法、卡尔曼估计法等。如何将机械臂动力学模型转换为可辨识模型？如何从数据迭代回归得到动力学参数？这些问题将在第</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章对动力学参数辨识方法进行分析描述。</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对于机械臂动力学模型建模方法可以归纳整理为白盒方法、灰盒方法和黑盒方法。本章介绍的机器人动力学模型属于白盒方法，只介绍了刚体动力学的基本推导和应用，并未介绍柔性机器人的动力学模型。而且，该方法能够达到的精度范围有限，无法准确的对机械臂中存在的非线性特性建模，如迟滞、柔性、摩擦等。例如目前被广泛研究的软体机器人，甚至是具有广泛市场应用的协作机器人，其弹性关节由谐波减速器进行驱动，包括柔性连杆。为了提高这些具有弹性关节甚至是具有柔性连杆的机器人非线性控制系统的性能，有一些动力学补充模型被提出，例如有限弹性关节导致奇异摄动的动力学模型，被应用于一些机器人的非线性控制系统中。解决迟滞、柔性、摩擦等等非线性建模的另一种研究思路是通过数据驱动方法，也就是神经网络方法，来获得更加准确的动力学模型，分为灰盒方法和黑盒方法。灰盒方法是通过将解析模型和神经网络方法相结合，利用深度学习方法来补偿建模误差，以此来获得更高精度的模型。黑盒方法则是直接从数据中获得学习动力学特征，不考虑如何去建立具体的数学模型。黑盒方法在动力学模型学习任务中获得了非常不错的效果，在特定任务中，可以实现非常高精度的状态预测。但是，黑盒方法缺乏物理解释，而且泛化能力不足，当环境或任务发生变化时，需要对模型重新进行学习。常用的深度学习方法包括：高斯过程回归网络、局部加权投影回归、长短时记忆神经网络、拉格朗日网络、卡尔曼网络等。感兴趣的读者可查阅相关文献。</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获得高精度模型的主要目的是为了提升机械臂运动控制性能。传统的工业机械臂普遍采用位置</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速度</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电流三环控制方法，这种控制模式增益大、冲击强，无法进行高速高精度跟踪控制以及柔性加工操作。随着轻量化协作机械臂的快速发展，基于模型的控制方法成为了应用研究的主要方向。一般将机械臂逆动力学模型应用于前馈控制方法，如图</a:t>
            </a:r>
            <a:r>
              <a:rPr lang="en-US" altLang="zh-CN" sz="1200" kern="1200" dirty="0" smtClean="0">
                <a:solidFill>
                  <a:schemeClr val="tx1"/>
                </a:solidFill>
                <a:effectLst/>
                <a:latin typeface="+mn-lt"/>
                <a:ea typeface="+mn-ea"/>
                <a:cs typeface="+mn-cs"/>
              </a:rPr>
              <a:t>4.23</a:t>
            </a:r>
            <a:r>
              <a:rPr lang="zh-CN" altLang="zh-CN" sz="1200" kern="1200" dirty="0" smtClean="0">
                <a:solidFill>
                  <a:schemeClr val="tx1"/>
                </a:solidFill>
                <a:effectLst/>
                <a:latin typeface="+mn-lt"/>
                <a:ea typeface="+mn-ea"/>
                <a:cs typeface="+mn-cs"/>
              </a:rPr>
              <a:t>，通过逆动力学前馈补偿，可降低</a:t>
            </a:r>
            <a:r>
              <a:rPr lang="en-US" altLang="zh-CN" sz="1200" kern="1200" dirty="0" smtClean="0">
                <a:solidFill>
                  <a:schemeClr val="tx1"/>
                </a:solidFill>
                <a:effectLst/>
                <a:latin typeface="+mn-lt"/>
                <a:ea typeface="+mn-ea"/>
                <a:cs typeface="+mn-cs"/>
              </a:rPr>
              <a:t>PID</a:t>
            </a:r>
            <a:r>
              <a:rPr lang="zh-CN" altLang="zh-CN" sz="1200" kern="1200" dirty="0" smtClean="0">
                <a:solidFill>
                  <a:schemeClr val="tx1"/>
                </a:solidFill>
                <a:effectLst/>
                <a:latin typeface="+mn-lt"/>
                <a:ea typeface="+mn-ea"/>
                <a:cs typeface="+mn-cs"/>
              </a:rPr>
              <a:t>控制律的增益，有效改善机械臂的刚性特性，提升机械臂控制性能，将在第</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章进行分析讨论。此外，还可以基于动力学模型优化控制器参数，如自适应控制策略。如图</a:t>
            </a:r>
            <a:r>
              <a:rPr lang="en-US" altLang="zh-CN" sz="1200" kern="1200" dirty="0" smtClean="0">
                <a:solidFill>
                  <a:schemeClr val="tx1"/>
                </a:solidFill>
                <a:effectLst/>
                <a:latin typeface="+mn-lt"/>
                <a:ea typeface="+mn-ea"/>
                <a:cs typeface="+mn-cs"/>
              </a:rPr>
              <a:t>4.24</a:t>
            </a:r>
            <a:r>
              <a:rPr lang="zh-CN" altLang="zh-CN" sz="1200" kern="1200" dirty="0" smtClean="0">
                <a:solidFill>
                  <a:schemeClr val="tx1"/>
                </a:solidFill>
                <a:effectLst/>
                <a:latin typeface="+mn-lt"/>
                <a:ea typeface="+mn-ea"/>
                <a:cs typeface="+mn-cs"/>
              </a:rPr>
              <a:t>，自适应控制策略将智能优化方法和动力学模型相结合，预测系统未来状态，动态优化控制器参数。常用智能优化方法包括粒子群优化方法、遗传算法、退火算法以及深度神经网络方法等。基于准确模型预测，动态调整控制参数能够获得更加优秀的控制性能，这也是实现高精度、高效率智能控制的主要方法。</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75</a:t>
            </a:fld>
            <a:endParaRPr lang="zh-CN" altLang="en-US"/>
          </a:p>
        </p:txBody>
      </p:sp>
    </p:spTree>
    <p:extLst>
      <p:ext uri="{BB962C8B-B14F-4D97-AF65-F5344CB8AC3E}">
        <p14:creationId xmlns:p14="http://schemas.microsoft.com/office/powerpoint/2010/main" val="41133817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2026/5/25</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2026/5/25</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huasong@wust.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mhuasong/Basics-of-Robotics-Theory-and-Technology" TargetMode="Externa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slideLayout" Target="../slideLayouts/slideLayout7.xml"/><Relationship Id="rId3" Type="http://schemas.openxmlformats.org/officeDocument/2006/relationships/tags" Target="../tags/tag28.xml"/><Relationship Id="rId21" Type="http://schemas.openxmlformats.org/officeDocument/2006/relationships/image" Target="../media/image24.png"/><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image" Target="../media/image23.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notesSlide" Target="../notesSlides/notesSlide4.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8.emf"/><Relationship Id="rId5" Type="http://schemas.openxmlformats.org/officeDocument/2006/relationships/image" Target="../media/image27.emf"/><Relationship Id="rId10" Type="http://schemas.openxmlformats.org/officeDocument/2006/relationships/image" Target="../media/image32.png"/><Relationship Id="rId4" Type="http://schemas.openxmlformats.org/officeDocument/2006/relationships/image" Target="../media/image26.emf"/><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1.gif"/><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2.gif"/></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8.xml"/><Relationship Id="rId7"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4.png"/><Relationship Id="rId11" Type="http://schemas.openxmlformats.org/officeDocument/2006/relationships/image" Target="../media/image42.png"/><Relationship Id="rId5" Type="http://schemas.openxmlformats.org/officeDocument/2006/relationships/image" Target="../media/image33.emf"/><Relationship Id="rId10" Type="http://schemas.openxmlformats.org/officeDocument/2006/relationships/image" Target="../media/image41.png"/><Relationship Id="rId4" Type="http://schemas.openxmlformats.org/officeDocument/2006/relationships/oleObject" Target="../embeddings/oleObject1.bin"/><Relationship Id="rId9" Type="http://schemas.openxmlformats.org/officeDocument/2006/relationships/image" Target="../media/image40.pn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notesSlide" Target="../notesSlides/notesSlide9.xml"/><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33.emf"/><Relationship Id="rId10" Type="http://schemas.openxmlformats.org/officeDocument/2006/relationships/image" Target="../media/image48.png"/><Relationship Id="rId4" Type="http://schemas.openxmlformats.org/officeDocument/2006/relationships/oleObject" Target="../embeddings/oleObject2.bin"/><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notesSlide" Target="../notesSlides/notesSlide10.xml"/><Relationship Id="rId7" Type="http://schemas.openxmlformats.org/officeDocument/2006/relationships/image" Target="../media/image43.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33.emf"/><Relationship Id="rId10" Type="http://schemas.openxmlformats.org/officeDocument/2006/relationships/image" Target="../media/image56.png"/><Relationship Id="rId4" Type="http://schemas.openxmlformats.org/officeDocument/2006/relationships/oleObject" Target="../embeddings/oleObject3.bin"/><Relationship Id="rId9" Type="http://schemas.openxmlformats.org/officeDocument/2006/relationships/image" Target="../media/image5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3.png"/><Relationship Id="rId4" Type="http://schemas.openxmlformats.org/officeDocument/2006/relationships/image" Target="../media/image59.png"/><Relationship Id="rId9" Type="http://schemas.openxmlformats.org/officeDocument/2006/relationships/image" Target="../media/image63.png"/></Relationships>
</file>

<file path=ppt/slides/_rels/slide1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4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40.png"/></Relationships>
</file>

<file path=ppt/slides/_rels/slide1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slideLayout" Target="../slideLayouts/slideLayout7.xml"/><Relationship Id="rId7" Type="http://schemas.openxmlformats.org/officeDocument/2006/relationships/image" Target="../media/image65.emf"/><Relationship Id="rId12" Type="http://schemas.openxmlformats.org/officeDocument/2006/relationships/image" Target="../media/image72.png"/><Relationship Id="rId2" Type="http://schemas.openxmlformats.org/officeDocument/2006/relationships/tags" Target="../tags/tag44.xml"/><Relationship Id="rId16" Type="http://schemas.openxmlformats.org/officeDocument/2006/relationships/image" Target="../media/image690.png"/><Relationship Id="rId1" Type="http://schemas.openxmlformats.org/officeDocument/2006/relationships/vmlDrawing" Target="../drawings/vmlDrawing4.vml"/><Relationship Id="rId6" Type="http://schemas.openxmlformats.org/officeDocument/2006/relationships/oleObject" Target="../embeddings/oleObject4.bin"/><Relationship Id="rId11" Type="http://schemas.openxmlformats.org/officeDocument/2006/relationships/image" Target="../media/image73.png"/><Relationship Id="rId5" Type="http://schemas.openxmlformats.org/officeDocument/2006/relationships/image" Target="../media/image66.png"/><Relationship Id="rId15" Type="http://schemas.openxmlformats.org/officeDocument/2006/relationships/image" Target="../media/image77.png"/><Relationship Id="rId10" Type="http://schemas.openxmlformats.org/officeDocument/2006/relationships/image" Target="../media/image71.png"/><Relationship Id="rId4" Type="http://schemas.openxmlformats.org/officeDocument/2006/relationships/notesSlide" Target="../notesSlides/notesSlide15.xml"/><Relationship Id="rId9" Type="http://schemas.openxmlformats.org/officeDocument/2006/relationships/image" Target="../media/image70.png"/><Relationship Id="rId14" Type="http://schemas.openxmlformats.org/officeDocument/2006/relationships/image" Target="../media/image76.png"/></Relationships>
</file>

<file path=ppt/slides/_rels/slide1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notesSlide" Target="../notesSlides/notesSlide16.xml"/><Relationship Id="rId7" Type="http://schemas.openxmlformats.org/officeDocument/2006/relationships/image" Target="../media/image80.png"/><Relationship Id="rId2" Type="http://schemas.openxmlformats.org/officeDocument/2006/relationships/slideLayout" Target="../slideLayouts/slideLayout7.xml"/><Relationship Id="rId1" Type="http://schemas.openxmlformats.org/officeDocument/2006/relationships/tags" Target="../tags/tag45.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640.png"/><Relationship Id="rId9"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46.xml"/><Relationship Id="rId5" Type="http://schemas.openxmlformats.org/officeDocument/2006/relationships/image" Target="../media/image83.png"/><Relationship Id="rId4" Type="http://schemas.openxmlformats.org/officeDocument/2006/relationships/image" Target="../media/image82.png"/></Relationships>
</file>

<file path=ppt/slides/_rels/slide1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18.xml"/><Relationship Id="rId7" Type="http://schemas.openxmlformats.org/officeDocument/2006/relationships/image" Target="../media/image87.png"/><Relationship Id="rId2" Type="http://schemas.openxmlformats.org/officeDocument/2006/relationships/slideLayout" Target="../slideLayouts/slideLayout7.xml"/><Relationship Id="rId1" Type="http://schemas.openxmlformats.org/officeDocument/2006/relationships/tags" Target="../tags/tag4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75.png"/></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19.xml"/><Relationship Id="rId7" Type="http://schemas.openxmlformats.org/officeDocument/2006/relationships/image" Target="../media/image91.png"/><Relationship Id="rId2" Type="http://schemas.openxmlformats.org/officeDocument/2006/relationships/slideLayout" Target="../slideLayouts/slideLayout7.xml"/><Relationship Id="rId1" Type="http://schemas.openxmlformats.org/officeDocument/2006/relationships/tags" Target="../tags/tag48.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75.png"/><Relationship Id="rId9" Type="http://schemas.openxmlformats.org/officeDocument/2006/relationships/image" Target="../media/image93.png"/></Relationships>
</file>

<file path=ppt/slides/_rels/slide20.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21.xml.rels><?xml version="1.0" encoding="UTF-8" standalone="yes"?>
<Relationships xmlns="http://schemas.openxmlformats.org/package/2006/relationships"><Relationship Id="rId8" Type="http://schemas.openxmlformats.org/officeDocument/2006/relationships/image" Target="../media/image970.png"/><Relationship Id="rId13" Type="http://schemas.openxmlformats.org/officeDocument/2006/relationships/image" Target="../media/image102.png"/><Relationship Id="rId3" Type="http://schemas.openxmlformats.org/officeDocument/2006/relationships/notesSlide" Target="../notesSlides/notesSlide21.xml"/><Relationship Id="rId7" Type="http://schemas.openxmlformats.org/officeDocument/2006/relationships/image" Target="../media/image960.png"/><Relationship Id="rId12" Type="http://schemas.openxmlformats.org/officeDocument/2006/relationships/image" Target="../media/image101.png"/><Relationship Id="rId2" Type="http://schemas.openxmlformats.org/officeDocument/2006/relationships/slideLayout" Target="../slideLayouts/slideLayout7.xml"/><Relationship Id="rId16" Type="http://schemas.openxmlformats.org/officeDocument/2006/relationships/image" Target="../media/image105.png"/><Relationship Id="rId1" Type="http://schemas.openxmlformats.org/officeDocument/2006/relationships/vmlDrawing" Target="../drawings/vmlDrawing5.vml"/><Relationship Id="rId6" Type="http://schemas.openxmlformats.org/officeDocument/2006/relationships/image" Target="../media/image950.png"/><Relationship Id="rId11" Type="http://schemas.openxmlformats.org/officeDocument/2006/relationships/image" Target="../media/image100.png"/><Relationship Id="rId5" Type="http://schemas.openxmlformats.org/officeDocument/2006/relationships/image" Target="../media/image76.emf"/><Relationship Id="rId15" Type="http://schemas.openxmlformats.org/officeDocument/2006/relationships/image" Target="../media/image104.png"/><Relationship Id="rId10" Type="http://schemas.openxmlformats.org/officeDocument/2006/relationships/image" Target="../media/image99.png"/><Relationship Id="rId4" Type="http://schemas.openxmlformats.org/officeDocument/2006/relationships/oleObject" Target="../embeddings/oleObject5.bin"/><Relationship Id="rId9" Type="http://schemas.openxmlformats.org/officeDocument/2006/relationships/image" Target="../media/image980.png"/><Relationship Id="rId14" Type="http://schemas.openxmlformats.org/officeDocument/2006/relationships/image" Target="../media/image103.png"/></Relationships>
</file>

<file path=ppt/slides/_rels/slide22.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2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2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26.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notesSlide" Target="../notesSlides/notesSlide26.xml"/><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slideLayout" Target="../slideLayouts/slideLayout7.xml"/><Relationship Id="rId1" Type="http://schemas.openxmlformats.org/officeDocument/2006/relationships/tags" Target="../tags/tag49.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27.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notesSlide" Target="../notesSlides/notesSlide27.xml"/><Relationship Id="rId7" Type="http://schemas.openxmlformats.org/officeDocument/2006/relationships/image" Target="../media/image141.png"/><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140.png"/><Relationship Id="rId11" Type="http://schemas.openxmlformats.org/officeDocument/2006/relationships/image" Target="../media/image145.png"/><Relationship Id="rId5" Type="http://schemas.openxmlformats.org/officeDocument/2006/relationships/image" Target="../media/image139.png"/><Relationship Id="rId10" Type="http://schemas.openxmlformats.org/officeDocument/2006/relationships/image" Target="../media/image144.png"/><Relationship Id="rId4" Type="http://schemas.openxmlformats.org/officeDocument/2006/relationships/image" Target="../media/image138.png"/><Relationship Id="rId9" Type="http://schemas.openxmlformats.org/officeDocument/2006/relationships/image" Target="../media/image143.png"/></Relationships>
</file>

<file path=ppt/slides/_rels/slide2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slideLayout" Target="../slideLayouts/slideLayout7.xml"/><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tags" Target="../tags/tag51.xml"/><Relationship Id="rId1" Type="http://schemas.openxmlformats.org/officeDocument/2006/relationships/vmlDrawing" Target="../drawings/vmlDrawing6.vml"/><Relationship Id="rId6" Type="http://schemas.openxmlformats.org/officeDocument/2006/relationships/image" Target="../media/image77.emf"/><Relationship Id="rId11" Type="http://schemas.openxmlformats.org/officeDocument/2006/relationships/image" Target="../media/image151.png"/><Relationship Id="rId5" Type="http://schemas.openxmlformats.org/officeDocument/2006/relationships/oleObject" Target="../embeddings/oleObject6.bin"/><Relationship Id="rId10" Type="http://schemas.openxmlformats.org/officeDocument/2006/relationships/image" Target="../media/image150.png"/><Relationship Id="rId4" Type="http://schemas.openxmlformats.org/officeDocument/2006/relationships/notesSlide" Target="../notesSlides/notesSlide28.xml"/><Relationship Id="rId9" Type="http://schemas.openxmlformats.org/officeDocument/2006/relationships/image" Target="../media/image149.png"/><Relationship Id="rId14" Type="http://schemas.openxmlformats.org/officeDocument/2006/relationships/image" Target="../media/image154.png"/></Relationships>
</file>

<file path=ppt/slides/_rels/slide2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156.png"/><Relationship Id="rId7" Type="http://schemas.openxmlformats.org/officeDocument/2006/relationships/image" Target="../media/image160.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59.png"/><Relationship Id="rId11" Type="http://schemas.openxmlformats.org/officeDocument/2006/relationships/image" Target="../media/image164.png"/><Relationship Id="rId5" Type="http://schemas.openxmlformats.org/officeDocument/2006/relationships/image" Target="../media/image158.png"/><Relationship Id="rId10"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s>
</file>

<file path=ppt/slides/_rels/slide32.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s>
</file>

<file path=ppt/slides/_rels/slide33.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178.png"/><Relationship Id="rId4" Type="http://schemas.openxmlformats.org/officeDocument/2006/relationships/image" Target="../media/image177.png"/></Relationships>
</file>

<file path=ppt/slides/_rels/slide34.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image" Target="../media/image179.png"/><Relationship Id="rId7" Type="http://schemas.openxmlformats.org/officeDocument/2006/relationships/image" Target="../media/image183.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 Id="rId9" Type="http://schemas.openxmlformats.org/officeDocument/2006/relationships/image" Target="../media/image18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image" Target="../media/image840.png"/><Relationship Id="rId7" Type="http://schemas.openxmlformats.org/officeDocument/2006/relationships/image" Target="../media/image188.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87.png"/><Relationship Id="rId5" Type="http://schemas.openxmlformats.org/officeDocument/2006/relationships/image" Target="../media/image186.png"/><Relationship Id="rId10" Type="http://schemas.openxmlformats.org/officeDocument/2006/relationships/image" Target="../media/image191.png"/><Relationship Id="rId4" Type="http://schemas.openxmlformats.org/officeDocument/2006/relationships/image" Target="../media/image1460.png"/><Relationship Id="rId9" Type="http://schemas.openxmlformats.org/officeDocument/2006/relationships/image" Target="../media/image190.png"/></Relationships>
</file>

<file path=ppt/slides/_rels/slide37.xml.rels><?xml version="1.0" encoding="UTF-8" standalone="yes"?>
<Relationships xmlns="http://schemas.openxmlformats.org/package/2006/relationships"><Relationship Id="rId3" Type="http://schemas.openxmlformats.org/officeDocument/2006/relationships/image" Target="../media/image186.png"/><Relationship Id="rId7" Type="http://schemas.openxmlformats.org/officeDocument/2006/relationships/image" Target="../media/image195.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38.xml.rels><?xml version="1.0" encoding="UTF-8" standalone="yes"?>
<Relationships xmlns="http://schemas.openxmlformats.org/package/2006/relationships"><Relationship Id="rId3" Type="http://schemas.openxmlformats.org/officeDocument/2006/relationships/image" Target="../media/image196.png"/><Relationship Id="rId7" Type="http://schemas.openxmlformats.org/officeDocument/2006/relationships/image" Target="../media/image213.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12.png"/><Relationship Id="rId5" Type="http://schemas.openxmlformats.org/officeDocument/2006/relationships/image" Target="../media/image211.png"/><Relationship Id="rId4" Type="http://schemas.openxmlformats.org/officeDocument/2006/relationships/image" Target="../media/image210.png"/></Relationships>
</file>

<file path=ppt/slides/_rels/slide39.xml.rels><?xml version="1.0" encoding="UTF-8" standalone="yes"?>
<Relationships xmlns="http://schemas.openxmlformats.org/package/2006/relationships"><Relationship Id="rId8" Type="http://schemas.openxmlformats.org/officeDocument/2006/relationships/image" Target="../media/image208.png"/><Relationship Id="rId3" Type="http://schemas.openxmlformats.org/officeDocument/2006/relationships/image" Target="../media/image203.png"/><Relationship Id="rId7" Type="http://schemas.openxmlformats.org/officeDocument/2006/relationships/image" Target="../media/image207.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4.png"/></Relationships>
</file>

<file path=ppt/slides/_rels/slide40.xml.rels><?xml version="1.0" encoding="UTF-8" standalone="yes"?>
<Relationships xmlns="http://schemas.openxmlformats.org/package/2006/relationships"><Relationship Id="rId3" Type="http://schemas.openxmlformats.org/officeDocument/2006/relationships/image" Target="../media/image1960.png"/><Relationship Id="rId7" Type="http://schemas.openxmlformats.org/officeDocument/2006/relationships/image" Target="../media/image200.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8.png"/><Relationship Id="rId4" Type="http://schemas.openxmlformats.org/officeDocument/2006/relationships/image" Target="../media/image197.png"/></Relationships>
</file>

<file path=ppt/slides/_rels/slide4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02.png"/></Relationships>
</file>

<file path=ppt/slides/_rels/slide42.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209.png"/><Relationship Id="rId7" Type="http://schemas.openxmlformats.org/officeDocument/2006/relationships/image" Target="../media/image217.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214.png"/></Relationships>
</file>

<file path=ppt/slides/_rels/slide43.xml.rels><?xml version="1.0" encoding="UTF-8" standalone="yes"?>
<Relationships xmlns="http://schemas.openxmlformats.org/package/2006/relationships"><Relationship Id="rId8" Type="http://schemas.openxmlformats.org/officeDocument/2006/relationships/image" Target="../media/image224.png"/><Relationship Id="rId3" Type="http://schemas.openxmlformats.org/officeDocument/2006/relationships/image" Target="../media/image219.png"/><Relationship Id="rId7" Type="http://schemas.openxmlformats.org/officeDocument/2006/relationships/image" Target="../media/image223.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222.png"/><Relationship Id="rId11" Type="http://schemas.openxmlformats.org/officeDocument/2006/relationships/image" Target="../media/image227.png"/><Relationship Id="rId5" Type="http://schemas.openxmlformats.org/officeDocument/2006/relationships/image" Target="../media/image221.png"/><Relationship Id="rId10" Type="http://schemas.openxmlformats.org/officeDocument/2006/relationships/image" Target="../media/image226.png"/><Relationship Id="rId4" Type="http://schemas.openxmlformats.org/officeDocument/2006/relationships/image" Target="../media/image220.png"/><Relationship Id="rId9" Type="http://schemas.openxmlformats.org/officeDocument/2006/relationships/image" Target="../media/image225.png"/></Relationships>
</file>

<file path=ppt/slides/_rels/slide44.xml.rels><?xml version="1.0" encoding="UTF-8" standalone="yes"?>
<Relationships xmlns="http://schemas.openxmlformats.org/package/2006/relationships"><Relationship Id="rId8" Type="http://schemas.openxmlformats.org/officeDocument/2006/relationships/image" Target="../media/image233.png"/><Relationship Id="rId3" Type="http://schemas.openxmlformats.org/officeDocument/2006/relationships/image" Target="../media/image228.png"/><Relationship Id="rId7" Type="http://schemas.openxmlformats.org/officeDocument/2006/relationships/image" Target="../media/image232.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230.png"/><Relationship Id="rId10" Type="http://schemas.openxmlformats.org/officeDocument/2006/relationships/image" Target="../media/image235.png"/><Relationship Id="rId4" Type="http://schemas.openxmlformats.org/officeDocument/2006/relationships/image" Target="../media/image229.png"/><Relationship Id="rId9" Type="http://schemas.openxmlformats.org/officeDocument/2006/relationships/image" Target="../media/image234.png"/></Relationships>
</file>

<file path=ppt/slides/_rels/slide45.xml.rels><?xml version="1.0" encoding="UTF-8" standalone="yes"?>
<Relationships xmlns="http://schemas.openxmlformats.org/package/2006/relationships"><Relationship Id="rId8" Type="http://schemas.openxmlformats.org/officeDocument/2006/relationships/image" Target="../media/image242.png"/><Relationship Id="rId3" Type="http://schemas.openxmlformats.org/officeDocument/2006/relationships/image" Target="../media/image237.png"/><Relationship Id="rId7" Type="http://schemas.openxmlformats.org/officeDocument/2006/relationships/image" Target="../media/image241.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40.png"/><Relationship Id="rId5" Type="http://schemas.openxmlformats.org/officeDocument/2006/relationships/image" Target="../media/image239.png"/><Relationship Id="rId4" Type="http://schemas.openxmlformats.org/officeDocument/2006/relationships/image" Target="../media/image238.png"/></Relationships>
</file>

<file path=ppt/slides/_rels/slide46.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246.png"/><Relationship Id="rId4" Type="http://schemas.openxmlformats.org/officeDocument/2006/relationships/image" Target="../media/image245.png"/></Relationships>
</file>

<file path=ppt/slides/_rels/slide49.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250.png"/><Relationship Id="rId5" Type="http://schemas.openxmlformats.org/officeDocument/2006/relationships/image" Target="../media/image249.png"/><Relationship Id="rId4" Type="http://schemas.openxmlformats.org/officeDocument/2006/relationships/image" Target="../media/image248.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52.png"/></Relationships>
</file>

<file path=ppt/slides/_rels/slide52.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image" Target="../media/image262.png"/><Relationship Id="rId3" Type="http://schemas.openxmlformats.org/officeDocument/2006/relationships/image" Target="../media/image257.png"/><Relationship Id="rId7" Type="http://schemas.openxmlformats.org/officeDocument/2006/relationships/image" Target="../media/image261.png"/><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9.png"/><Relationship Id="rId4" Type="http://schemas.openxmlformats.org/officeDocument/2006/relationships/image" Target="../media/image258.png"/></Relationships>
</file>

<file path=ppt/slides/_rels/slide58.xml.rels><?xml version="1.0" encoding="UTF-8" standalone="yes"?>
<Relationships xmlns="http://schemas.openxmlformats.org/package/2006/relationships"><Relationship Id="rId8" Type="http://schemas.openxmlformats.org/officeDocument/2006/relationships/image" Target="../media/image268.png"/><Relationship Id="rId3" Type="http://schemas.openxmlformats.org/officeDocument/2006/relationships/image" Target="../media/image263.png"/><Relationship Id="rId7" Type="http://schemas.openxmlformats.org/officeDocument/2006/relationships/image" Target="../media/image267.png"/><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266.png"/><Relationship Id="rId5" Type="http://schemas.openxmlformats.org/officeDocument/2006/relationships/image" Target="../media/image265.png"/><Relationship Id="rId4" Type="http://schemas.openxmlformats.org/officeDocument/2006/relationships/image" Target="../media/image264.png"/></Relationships>
</file>

<file path=ppt/slides/_rels/slide59.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1910.png"/><Relationship Id="rId3" Type="http://schemas.openxmlformats.org/officeDocument/2006/relationships/image" Target="../media/image1860.png"/><Relationship Id="rId7" Type="http://schemas.openxmlformats.org/officeDocument/2006/relationships/image" Target="../media/image1900.png"/><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1890.png"/><Relationship Id="rId5" Type="http://schemas.openxmlformats.org/officeDocument/2006/relationships/image" Target="../media/image1880.png"/><Relationship Id="rId10" Type="http://schemas.openxmlformats.org/officeDocument/2006/relationships/image" Target="../media/image1930.png"/><Relationship Id="rId4" Type="http://schemas.openxmlformats.org/officeDocument/2006/relationships/image" Target="../media/image1870.png"/><Relationship Id="rId9" Type="http://schemas.openxmlformats.org/officeDocument/2006/relationships/image" Target="../media/image1920.png"/></Relationships>
</file>

<file path=ppt/slides/_rels/slide61.xml.rels><?xml version="1.0" encoding="UTF-8" standalone="yes"?>
<Relationships xmlns="http://schemas.openxmlformats.org/package/2006/relationships"><Relationship Id="rId3" Type="http://schemas.openxmlformats.org/officeDocument/2006/relationships/image" Target="../media/image194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hyperlink" Target="http://www.coppeliarobotics.com/" TargetMode="External"/><Relationship Id="rId4" Type="http://schemas.openxmlformats.org/officeDocument/2006/relationships/image" Target="../media/image271.png"/></Relationships>
</file>

<file path=ppt/slides/_rels/slide63.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273.png"/></Relationships>
</file>

<file path=ppt/slides/_rels/slide64.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275.png"/></Relationships>
</file>

<file path=ppt/slides/_rels/slide65.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277.png"/></Relationships>
</file>

<file path=ppt/slides/_rels/slide66.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279.png"/></Relationships>
</file>

<file path=ppt/slides/_rels/slide6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281.emf"/></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271.png"/><Relationship Id="rId5" Type="http://schemas.openxmlformats.org/officeDocument/2006/relationships/image" Target="../media/image282.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87.wmf"/><Relationship Id="rId3" Type="http://schemas.openxmlformats.org/officeDocument/2006/relationships/notesSlide" Target="../notesSlides/notesSlide72.xml"/><Relationship Id="rId7" Type="http://schemas.openxmlformats.org/officeDocument/2006/relationships/image" Target="../media/image284.wmf"/><Relationship Id="rId12"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8.bin"/><Relationship Id="rId11" Type="http://schemas.openxmlformats.org/officeDocument/2006/relationships/image" Target="../media/image286.wmf"/><Relationship Id="rId5" Type="http://schemas.openxmlformats.org/officeDocument/2006/relationships/image" Target="../media/image283.wmf"/><Relationship Id="rId15" Type="http://schemas.openxmlformats.org/officeDocument/2006/relationships/image" Target="../media/image288.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285.wmf"/><Relationship Id="rId14" Type="http://schemas.openxmlformats.org/officeDocument/2006/relationships/oleObject" Target="../embeddings/oleObject12.bin"/></Relationships>
</file>

<file path=ppt/slides/_rels/slide73.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7" Type="http://schemas.openxmlformats.org/officeDocument/2006/relationships/image" Target="../media/image291.e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4.bin"/><Relationship Id="rId5" Type="http://schemas.openxmlformats.org/officeDocument/2006/relationships/image" Target="../media/image290.emf"/><Relationship Id="rId4" Type="http://schemas.openxmlformats.org/officeDocument/2006/relationships/oleObject" Target="../embeddings/oleObject13.bin"/></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a:t>Instructor:</a:t>
            </a:r>
            <a:r>
              <a:rPr lang="zh-CN" altLang="en-US" sz="1600" dirty="0">
                <a:ea typeface="楷体_GB2312" pitchFamily="49" charset="-122"/>
              </a:rPr>
              <a:t> </a:t>
            </a:r>
            <a:r>
              <a:rPr lang="en-US" altLang="zh-CN" sz="1600" dirty="0">
                <a:ea typeface="楷体_GB2312" pitchFamily="49" charset="-122"/>
              </a:rPr>
              <a:t>Dr. </a:t>
            </a:r>
            <a:r>
              <a:rPr lang="zh-CN" altLang="en-US" sz="1600" dirty="0" smtClean="0">
                <a:latin typeface="楷体" panose="02010609060101010101" pitchFamily="49" charset="-122"/>
                <a:ea typeface="楷体" panose="02010609060101010101" pitchFamily="49" charset="-122"/>
              </a:rPr>
              <a:t>闵华松</a:t>
            </a:r>
            <a:r>
              <a:rPr lang="en-US" altLang="zh-CN" sz="1600" dirty="0" smtClean="0">
                <a:ea typeface="楷体_GB2312" pitchFamily="49" charset="-122"/>
              </a:rPr>
              <a:t>(</a:t>
            </a:r>
            <a:r>
              <a:rPr lang="en-US" altLang="zh-CN" sz="1600" dirty="0" err="1" smtClean="0">
                <a:ea typeface="楷体_GB2312" pitchFamily="49" charset="-122"/>
              </a:rPr>
              <a:t>Huasong</a:t>
            </a:r>
            <a:r>
              <a:rPr lang="en-US" altLang="zh-CN" sz="1600" dirty="0" smtClean="0">
                <a:ea typeface="楷体_GB2312" pitchFamily="49" charset="-122"/>
              </a:rPr>
              <a:t> Min)</a:t>
            </a:r>
            <a:r>
              <a:rPr lang="en-US" altLang="zh-CN" sz="1600" dirty="0">
                <a:ea typeface="楷体_GB2312" pitchFamily="49" charset="-122"/>
              </a:rPr>
              <a:t>.</a:t>
            </a:r>
            <a:r>
              <a:rPr lang="en-US" altLang="zh-CN" sz="1600" dirty="0" smtClean="0">
                <a:ea typeface="楷体_GB2312" pitchFamily="49" charset="-122"/>
              </a:rPr>
              <a:t> Professor </a:t>
            </a:r>
            <a:endParaRPr lang="zh-CN" altLang="en-US" sz="1600" dirty="0">
              <a:ea typeface="楷体_GB2312" pitchFamily="49" charset="-122"/>
            </a:endParaRPr>
          </a:p>
          <a:p>
            <a:pPr eaLnBrk="1" hangingPunct="1">
              <a:spcBef>
                <a:spcPct val="0"/>
              </a:spcBef>
              <a:buFontTx/>
              <a:buNone/>
            </a:pPr>
            <a:r>
              <a:rPr lang="en-US" altLang="zh-CN" sz="1600" b="1" dirty="0"/>
              <a:t>Office Location</a:t>
            </a:r>
            <a:r>
              <a:rPr lang="zh-CN" altLang="en-US" sz="1600" dirty="0" smtClean="0">
                <a:ea typeface="楷体_GB2312" pitchFamily="49" charset="-122"/>
              </a:rPr>
              <a:t>：</a:t>
            </a:r>
            <a:r>
              <a:rPr lang="zh-CN" altLang="en-US" sz="1600" dirty="0" smtClean="0">
                <a:latin typeface="楷体" panose="02010609060101010101" pitchFamily="49" charset="-122"/>
                <a:ea typeface="楷体" panose="02010609060101010101" pitchFamily="49" charset="-122"/>
              </a:rPr>
              <a:t>钢铁楼</a:t>
            </a:r>
            <a:r>
              <a:rPr lang="en-US" altLang="zh-CN" sz="1600" dirty="0" smtClean="0">
                <a:ea typeface="楷体_GB2312" pitchFamily="49" charset="-122"/>
              </a:rPr>
              <a:t>1110</a:t>
            </a:r>
            <a:r>
              <a:rPr lang="en-US" altLang="zh-CN" sz="1600" dirty="0">
                <a:ea typeface="楷体_GB2312" pitchFamily="49" charset="-122"/>
              </a:rPr>
              <a:t>(</a:t>
            </a:r>
            <a:r>
              <a:rPr lang="en-US" altLang="zh-CN" sz="1600" dirty="0" smtClean="0">
                <a:ea typeface="楷体_GB2312" pitchFamily="49" charset="-122"/>
              </a:rPr>
              <a:t>Room </a:t>
            </a:r>
            <a:r>
              <a:rPr lang="en-US" altLang="zh-CN" sz="1600" dirty="0">
                <a:ea typeface="楷体_GB2312" pitchFamily="49" charset="-122"/>
              </a:rPr>
              <a:t>No. 1110, </a:t>
            </a:r>
            <a:r>
              <a:rPr lang="en-US" altLang="zh-CN" sz="1600" dirty="0" smtClean="0">
                <a:ea typeface="楷体_GB2312" pitchFamily="49" charset="-122"/>
              </a:rPr>
              <a:t>GANGTIE Building)</a:t>
            </a:r>
          </a:p>
          <a:p>
            <a:pPr eaLnBrk="1" hangingPunct="1">
              <a:spcBef>
                <a:spcPct val="0"/>
              </a:spcBef>
              <a:buFontTx/>
              <a:buNone/>
            </a:pPr>
            <a:r>
              <a:rPr lang="en-US" altLang="zh-CN" sz="1600" b="1" dirty="0" smtClean="0"/>
              <a:t>Class </a:t>
            </a:r>
            <a:r>
              <a:rPr lang="en-US" altLang="zh-CN" sz="1600" b="1" dirty="0"/>
              <a:t>venue:  </a:t>
            </a:r>
            <a:r>
              <a:rPr lang="en-US" altLang="zh-CN" sz="1600" dirty="0">
                <a:ea typeface="楷体_GB2312" pitchFamily="49" charset="-122"/>
              </a:rPr>
              <a:t>Room No. </a:t>
            </a:r>
            <a:r>
              <a:rPr lang="en-US" altLang="zh-CN" sz="1600" dirty="0" smtClean="0">
                <a:ea typeface="楷体_GB2312" pitchFamily="49" charset="-122"/>
              </a:rPr>
              <a:t>F4201</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Email:  </a:t>
            </a:r>
            <a:r>
              <a:rPr lang="en-US" altLang="zh-CN" sz="1600" dirty="0" smtClean="0">
                <a:ea typeface="楷体_GB2312" pitchFamily="49" charset="-122"/>
                <a:hlinkClick r:id="rId3"/>
              </a:rPr>
              <a:t>mhuasong@wust.edu.cn</a:t>
            </a:r>
            <a:r>
              <a:rPr lang="en-US" altLang="zh-CN" sz="1600" dirty="0">
                <a:ea typeface="楷体_GB2312" pitchFamily="49" charset="-122"/>
              </a:rPr>
              <a:t> </a:t>
            </a:r>
            <a:endParaRPr lang="en-US" altLang="zh-CN" sz="1600" dirty="0" smtClean="0">
              <a:ea typeface="楷体_GB2312" pitchFamily="49" charset="-122"/>
            </a:endParaRPr>
          </a:p>
          <a:p>
            <a:pPr eaLnBrk="1" hangingPunct="1">
              <a:spcBef>
                <a:spcPct val="0"/>
              </a:spcBef>
              <a:buFontTx/>
              <a:buNone/>
            </a:pPr>
            <a:r>
              <a:rPr lang="en-US" altLang="zh-CN" sz="1600" b="1" dirty="0" smtClean="0">
                <a:ea typeface="楷体_GB2312" pitchFamily="49" charset="-122"/>
              </a:rPr>
              <a:t>Website</a:t>
            </a:r>
            <a:r>
              <a:rPr lang="en-US" altLang="zh-CN" sz="1600" dirty="0">
                <a:ea typeface="楷体_GB2312" pitchFamily="49" charset="-122"/>
              </a:rPr>
              <a:t>: </a:t>
            </a:r>
            <a:r>
              <a:rPr lang="en-US" altLang="zh-CN" sz="1600" dirty="0">
                <a:ea typeface="楷体_GB2312" pitchFamily="49" charset="-122"/>
                <a:hlinkClick r:id="rId4"/>
              </a:rPr>
              <a:t>https://</a:t>
            </a:r>
            <a:r>
              <a:rPr lang="en-US" altLang="zh-CN" sz="1600" dirty="0" smtClean="0">
                <a:ea typeface="楷体_GB2312" pitchFamily="49" charset="-122"/>
                <a:hlinkClick r:id="rId4"/>
              </a:rPr>
              <a:t>github.com/mhuasong/Basics-of-Robotics-Theory-and-Technology</a:t>
            </a:r>
            <a:r>
              <a:rPr lang="en-US" altLang="zh-CN" sz="1600" dirty="0" smtClean="0">
                <a:ea typeface="楷体_GB2312" pitchFamily="49" charset="-122"/>
              </a:rPr>
              <a:t> </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Mobile</a:t>
            </a:r>
            <a:r>
              <a:rPr lang="en-US" altLang="zh-CN" sz="1600" b="1" dirty="0" smtClean="0">
                <a:ea typeface="楷体_GB2312" pitchFamily="49" charset="-122"/>
              </a:rPr>
              <a:t>:</a:t>
            </a:r>
            <a:endParaRPr lang="en-US" altLang="zh-CN" sz="1600" dirty="0">
              <a:ea typeface="楷体_GB2312" pitchFamily="49" charset="-122"/>
            </a:endParaRPr>
          </a:p>
        </p:txBody>
      </p:sp>
    </p:spTree>
    <p:extLst>
      <p:ext uri="{BB962C8B-B14F-4D97-AF65-F5344CB8AC3E}">
        <p14:creationId xmlns:p14="http://schemas.microsoft.com/office/powerpoint/2010/main" val="27530038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1524962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200329"/>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串联</a:t>
            </a:r>
            <a:r>
              <a:rPr lang="zh-CN" altLang="en-US" sz="1200" dirty="0" smtClean="0">
                <a:latin typeface="Arial" panose="020B0604020202020204" pitchFamily="34" charset="0"/>
                <a:ea typeface="微软雅黑" panose="020B0503020204020204" charset="-122"/>
                <a:sym typeface="+mn-ea"/>
              </a:rPr>
              <a:t>机器人动力学</a:t>
            </a:r>
            <a:endParaRPr lang="en-US" altLang="zh-CN" sz="12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串联机械臂运动学</a:t>
            </a:r>
            <a:endParaRPr lang="en-US" altLang="zh-CN" sz="1200" dirty="0">
              <a:latin typeface="Arial" panose="020B0604020202020204" pitchFamily="34" charset="0"/>
              <a:ea typeface="微软雅黑" panose="020B0503020204020204" charset="-122"/>
              <a:sym typeface="+mn-ea"/>
            </a:endParaRPr>
          </a:p>
          <a:p>
            <a:pPr marL="171450" lvl="1" indent="-171450">
              <a:lnSpc>
                <a:spcPct val="150000"/>
              </a:lnSpc>
              <a:buFont typeface="Wingdings" panose="05000000000000000000" pitchFamily="2" charset="2"/>
              <a:buChar char="Ø"/>
            </a:pPr>
            <a:r>
              <a:rPr lang="zh-CN" altLang="en-US" sz="1200" dirty="0">
                <a:solidFill>
                  <a:schemeClr val="bg1">
                    <a:lumMod val="65000"/>
                  </a:schemeClr>
                </a:solidFill>
                <a:latin typeface="Arial" panose="020B0604020202020204" pitchFamily="34" charset="0"/>
                <a:ea typeface="微软雅黑" panose="020B0503020204020204" charset="-122"/>
                <a:sym typeface="+mn-ea"/>
              </a:rPr>
              <a:t>并联</a:t>
            </a:r>
            <a:r>
              <a:rPr lang="zh-CN" altLang="en-US" sz="1200" dirty="0" smtClean="0">
                <a:solidFill>
                  <a:schemeClr val="bg1">
                    <a:lumMod val="65000"/>
                  </a:schemeClr>
                </a:solidFill>
                <a:latin typeface="Arial" panose="020B0604020202020204" pitchFamily="34" charset="0"/>
                <a:ea typeface="微软雅黑" panose="020B0503020204020204" charset="-122"/>
                <a:sym typeface="+mn-ea"/>
              </a:rPr>
              <a:t>机器人</a:t>
            </a:r>
            <a:r>
              <a:rPr lang="zh-CN" altLang="en-US" sz="1200" dirty="0">
                <a:solidFill>
                  <a:schemeClr val="bg1">
                    <a:lumMod val="65000"/>
                  </a:schemeClr>
                </a:solidFill>
                <a:latin typeface="Arial" panose="020B0604020202020204" pitchFamily="34" charset="0"/>
                <a:ea typeface="微软雅黑" panose="020B0503020204020204" charset="-122"/>
                <a:sym typeface="+mn-ea"/>
              </a:rPr>
              <a:t>动力</a:t>
            </a:r>
            <a:r>
              <a:rPr lang="zh-CN" altLang="en-US" sz="1200" dirty="0" smtClean="0">
                <a:solidFill>
                  <a:schemeClr val="bg1">
                    <a:lumMod val="65000"/>
                  </a:schemeClr>
                </a:solidFill>
                <a:latin typeface="Arial" panose="020B0604020202020204" pitchFamily="34" charset="0"/>
                <a:ea typeface="微软雅黑" panose="020B0503020204020204" charset="-122"/>
                <a:sym typeface="+mn-ea"/>
              </a:rPr>
              <a:t>学</a:t>
            </a:r>
            <a:endParaRPr lang="en-US" altLang="zh-CN" sz="1200" dirty="0" smtClean="0">
              <a:solidFill>
                <a:schemeClr val="bg1">
                  <a:lumMod val="65000"/>
                </a:schemeClr>
              </a:solidFill>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solidFill>
                  <a:schemeClr val="bg1">
                    <a:lumMod val="50000"/>
                  </a:schemeClr>
                </a:solidFill>
                <a:latin typeface="Arial" panose="020B0604020202020204" pitchFamily="34" charset="0"/>
                <a:ea typeface="微软雅黑" panose="020B0503020204020204" charset="-122"/>
                <a:sym typeface="+mn-ea"/>
              </a:rPr>
              <a:t>移动机器人动力学（飞行、水下</a:t>
            </a:r>
            <a:r>
              <a:rPr lang="en-US" altLang="zh-CN" sz="1200" dirty="0" smtClean="0">
                <a:solidFill>
                  <a:schemeClr val="bg1">
                    <a:lumMod val="50000"/>
                  </a:schemeClr>
                </a:solidFill>
                <a:latin typeface="Arial" panose="020B0604020202020204" pitchFamily="34" charset="0"/>
                <a:ea typeface="微软雅黑" panose="020B0503020204020204" charset="-122"/>
                <a:sym typeface="+mn-ea"/>
              </a:rPr>
              <a:t>…)</a:t>
            </a:r>
          </a:p>
        </p:txBody>
      </p:sp>
      <p:sp>
        <p:nvSpPr>
          <p:cNvPr id="7" name="文本框 6"/>
          <p:cNvSpPr txBox="1"/>
          <p:nvPr/>
        </p:nvSpPr>
        <p:spPr>
          <a:xfrm>
            <a:off x="4319270" y="1951355"/>
            <a:ext cx="3335655" cy="461665"/>
          </a:xfrm>
          <a:prstGeom prst="rect">
            <a:avLst/>
          </a:prstGeom>
          <a:noFill/>
        </p:spPr>
        <p:txBody>
          <a:bodyPr wrap="square" rtlCol="0" anchor="t">
            <a:spAutoFit/>
          </a:bodyPr>
          <a:lstStyle/>
          <a:p>
            <a:pPr algn="l"/>
            <a:r>
              <a:rPr lang="zh-CN" altLang="en-US" sz="2400" b="1" dirty="0" smtClean="0">
                <a:latin typeface="Arial" panose="020B0604020202020204" pitchFamily="34" charset="0"/>
                <a:ea typeface="微软雅黑" panose="020B0503020204020204" charset="-122"/>
                <a:sym typeface="+mn-ea"/>
              </a:rPr>
              <a:t>动力学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5314649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36"/>
          <p:cNvSpPr txBox="1"/>
          <p:nvPr/>
        </p:nvSpPr>
        <p:spPr>
          <a:xfrm>
            <a:off x="6012160" y="1965879"/>
            <a:ext cx="2257632" cy="3028521"/>
          </a:xfrm>
          <a:prstGeom prst="rect">
            <a:avLst/>
          </a:prstGeom>
          <a:noFill/>
        </p:spPr>
        <p:txBody>
          <a:bodyPr wrap="square" rtlCol="0">
            <a:spAutoFit/>
          </a:bodyPr>
          <a:lstStyle/>
          <a:p>
            <a:pPr>
              <a:lnSpc>
                <a:spcPct val="120000"/>
              </a:lnSpc>
            </a:pPr>
            <a:r>
              <a:rPr lang="zh-CN" altLang="en-US" sz="1200" b="1" dirty="0">
                <a:solidFill>
                  <a:srgbClr val="002060"/>
                </a:solidFill>
                <a:latin typeface="宋体" panose="02010600030101010101" pitchFamily="2" charset="-122"/>
              </a:rPr>
              <a:t>正动力学</a:t>
            </a:r>
            <a:r>
              <a:rPr lang="zh-CN" altLang="en-US" sz="1200" b="1" dirty="0" smtClean="0">
                <a:solidFill>
                  <a:srgbClr val="002060"/>
                </a:solidFill>
                <a:latin typeface="宋体" panose="02010600030101010101" pitchFamily="2" charset="-122"/>
              </a:rPr>
              <a:t>问题</a:t>
            </a:r>
            <a:r>
              <a:rPr lang="zh-CN" altLang="en-US" sz="900" dirty="0" smtClean="0">
                <a:solidFill>
                  <a:schemeClr val="tx1">
                    <a:lumMod val="65000"/>
                    <a:lumOff val="35000"/>
                  </a:schemeClr>
                </a:solidFill>
                <a:latin typeface="宋体" panose="02010600030101010101" pitchFamily="2" charset="-122"/>
              </a:rPr>
              <a:t>求解</a:t>
            </a:r>
            <a:r>
              <a:rPr lang="zh-CN" altLang="en-US" sz="900" dirty="0">
                <a:solidFill>
                  <a:schemeClr val="tx1">
                    <a:lumMod val="65000"/>
                    <a:lumOff val="35000"/>
                  </a:schemeClr>
                </a:solidFill>
                <a:latin typeface="宋体" panose="02010600030101010101" pitchFamily="2" charset="-122"/>
              </a:rPr>
              <a:t>，主要用于机器人的运动仿真，判别运动过程中其加速度是否连续，系统是否鲁棒稳定</a:t>
            </a:r>
            <a:r>
              <a:rPr lang="zh-CN" altLang="en-US" sz="900" dirty="0" smtClean="0">
                <a:solidFill>
                  <a:schemeClr val="tx1">
                    <a:lumMod val="65000"/>
                    <a:lumOff val="35000"/>
                  </a:schemeClr>
                </a:solidFill>
                <a:latin typeface="宋体" panose="02010600030101010101" pitchFamily="2" charset="-122"/>
              </a:rPr>
              <a:t>。</a:t>
            </a:r>
            <a:endParaRPr lang="en-US" altLang="zh-CN" sz="900" dirty="0" smtClean="0">
              <a:solidFill>
                <a:schemeClr val="tx1">
                  <a:lumMod val="65000"/>
                  <a:lumOff val="35000"/>
                </a:schemeClr>
              </a:solidFill>
              <a:latin typeface="宋体" panose="02010600030101010101" pitchFamily="2" charset="-122"/>
            </a:endParaRPr>
          </a:p>
          <a:p>
            <a:pPr>
              <a:lnSpc>
                <a:spcPct val="120000"/>
              </a:lnSpc>
            </a:pPr>
            <a:r>
              <a:rPr lang="zh-CN" altLang="en-US" sz="1200" b="1" dirty="0" smtClean="0">
                <a:solidFill>
                  <a:srgbClr val="002060"/>
                </a:solidFill>
                <a:latin typeface="宋体" panose="02010600030101010101" pitchFamily="2" charset="-122"/>
              </a:rPr>
              <a:t>逆动力学问题</a:t>
            </a:r>
            <a:r>
              <a:rPr lang="zh-CN" altLang="en-US" sz="900" dirty="0">
                <a:solidFill>
                  <a:schemeClr val="tx1">
                    <a:lumMod val="65000"/>
                    <a:lumOff val="35000"/>
                  </a:schemeClr>
                </a:solidFill>
                <a:latin typeface="宋体" panose="02010600030101010101" pitchFamily="2" charset="-122"/>
              </a:rPr>
              <a:t>研究</a:t>
            </a:r>
            <a:r>
              <a:rPr lang="zh-CN" altLang="en-US" sz="900" dirty="0" smtClean="0">
                <a:solidFill>
                  <a:schemeClr val="tx1">
                    <a:lumMod val="65000"/>
                    <a:lumOff val="35000"/>
                  </a:schemeClr>
                </a:solidFill>
                <a:latin typeface="宋体" panose="02010600030101010101" pitchFamily="2" charset="-122"/>
              </a:rPr>
              <a:t>，</a:t>
            </a:r>
            <a:r>
              <a:rPr lang="zh-CN" altLang="en-US" sz="900" dirty="0">
                <a:solidFill>
                  <a:schemeClr val="tx1">
                    <a:lumMod val="65000"/>
                    <a:lumOff val="35000"/>
                  </a:schemeClr>
                </a:solidFill>
                <a:latin typeface="宋体" panose="02010600030101010101" pitchFamily="2" charset="-122"/>
              </a:rPr>
              <a:t>可以将这个力</a:t>
            </a:r>
            <a:r>
              <a:rPr lang="en-US" altLang="zh-CN" sz="900" dirty="0">
                <a:solidFill>
                  <a:schemeClr val="tx1">
                    <a:lumMod val="65000"/>
                    <a:lumOff val="35000"/>
                  </a:schemeClr>
                </a:solidFill>
                <a:latin typeface="宋体" panose="02010600030101010101" pitchFamily="2" charset="-122"/>
              </a:rPr>
              <a:t>/</a:t>
            </a:r>
            <a:r>
              <a:rPr lang="zh-CN" altLang="en-US" sz="900" dirty="0">
                <a:solidFill>
                  <a:schemeClr val="tx1">
                    <a:lumMod val="65000"/>
                    <a:lumOff val="35000"/>
                  </a:schemeClr>
                </a:solidFill>
                <a:latin typeface="宋体" panose="02010600030101010101" pitchFamily="2" charset="-122"/>
              </a:rPr>
              <a:t>力矩作为控制目标，实现机器人精确的运动</a:t>
            </a:r>
            <a:r>
              <a:rPr lang="zh-CN" altLang="en-US" sz="900" b="1" dirty="0">
                <a:solidFill>
                  <a:srgbClr val="FF0000"/>
                </a:solidFill>
                <a:latin typeface="宋体" panose="02010600030101010101" pitchFamily="2" charset="-122"/>
              </a:rPr>
              <a:t>控制</a:t>
            </a:r>
            <a:r>
              <a:rPr lang="zh-CN" altLang="en-US" sz="900" dirty="0">
                <a:solidFill>
                  <a:schemeClr val="tx1">
                    <a:lumMod val="65000"/>
                    <a:lumOff val="35000"/>
                  </a:schemeClr>
                </a:solidFill>
                <a:latin typeface="宋体" panose="02010600030101010101" pitchFamily="2" charset="-122"/>
              </a:rPr>
              <a:t>，改善其动力学特性</a:t>
            </a:r>
            <a:r>
              <a:rPr lang="zh-CN" altLang="en-US" sz="900" dirty="0" smtClean="0">
                <a:solidFill>
                  <a:schemeClr val="tx1">
                    <a:lumMod val="65000"/>
                    <a:lumOff val="35000"/>
                  </a:schemeClr>
                </a:solidFill>
                <a:latin typeface="宋体" panose="02010600030101010101" pitchFamily="2" charset="-122"/>
              </a:rPr>
              <a:t>。</a:t>
            </a:r>
            <a:endParaRPr lang="en-US" altLang="zh-CN" sz="900" dirty="0" smtClean="0">
              <a:solidFill>
                <a:schemeClr val="tx1">
                  <a:lumMod val="65000"/>
                  <a:lumOff val="35000"/>
                </a:schemeClr>
              </a:solidFill>
              <a:latin typeface="宋体" panose="02010600030101010101" pitchFamily="2" charset="-122"/>
            </a:endParaRPr>
          </a:p>
          <a:p>
            <a:pPr>
              <a:lnSpc>
                <a:spcPct val="120000"/>
              </a:lnSpc>
            </a:pPr>
            <a:r>
              <a:rPr lang="zh-CN" altLang="en-US" sz="1200" b="1" dirty="0">
                <a:solidFill>
                  <a:srgbClr val="002060"/>
                </a:solidFill>
                <a:latin typeface="宋体" panose="02010600030101010101" pitchFamily="2" charset="-122"/>
              </a:rPr>
              <a:t>动力学特性的数学量</a:t>
            </a:r>
            <a:r>
              <a:rPr lang="zh-CN" altLang="en-US" sz="900" dirty="0">
                <a:solidFill>
                  <a:schemeClr val="tx1">
                    <a:lumMod val="65000"/>
                    <a:lumOff val="35000"/>
                  </a:schemeClr>
                </a:solidFill>
                <a:latin typeface="宋体" panose="02010600030101010101" pitchFamily="2" charset="-122"/>
              </a:rPr>
              <a:t>：</a:t>
            </a:r>
            <a:r>
              <a:rPr lang="zh-CN" altLang="en-US" sz="900" b="1" dirty="0">
                <a:solidFill>
                  <a:srgbClr val="FF0000"/>
                </a:solidFill>
                <a:latin typeface="宋体" panose="02010600030101010101" pitchFamily="2" charset="-122"/>
              </a:rPr>
              <a:t>矢量</a:t>
            </a:r>
            <a:r>
              <a:rPr lang="zh-CN" altLang="en-US" sz="900" dirty="0">
                <a:solidFill>
                  <a:schemeClr val="tx1">
                    <a:lumMod val="65000"/>
                    <a:lumOff val="35000"/>
                  </a:schemeClr>
                </a:solidFill>
                <a:latin typeface="宋体" panose="02010600030101010101" pitchFamily="2" charset="-122"/>
              </a:rPr>
              <a:t>、</a:t>
            </a:r>
            <a:r>
              <a:rPr lang="zh-CN" altLang="en-US" sz="900" b="1" dirty="0">
                <a:solidFill>
                  <a:srgbClr val="FF0000"/>
                </a:solidFill>
                <a:latin typeface="宋体" panose="02010600030101010101" pitchFamily="2" charset="-122"/>
              </a:rPr>
              <a:t>张量</a:t>
            </a:r>
            <a:r>
              <a:rPr lang="zh-CN" altLang="en-US" sz="900" dirty="0">
                <a:solidFill>
                  <a:schemeClr val="tx1">
                    <a:lumMod val="65000"/>
                    <a:lumOff val="35000"/>
                  </a:schemeClr>
                </a:solidFill>
                <a:latin typeface="宋体" panose="02010600030101010101" pitchFamily="2" charset="-122"/>
              </a:rPr>
              <a:t>、</a:t>
            </a:r>
            <a:r>
              <a:rPr lang="zh-CN" altLang="en-US" sz="900" b="1" dirty="0">
                <a:solidFill>
                  <a:srgbClr val="FF0000"/>
                </a:solidFill>
                <a:latin typeface="宋体" panose="02010600030101010101" pitchFamily="2" charset="-122"/>
              </a:rPr>
              <a:t>矩阵</a:t>
            </a:r>
            <a:r>
              <a:rPr lang="zh-CN" altLang="en-US" sz="900" dirty="0">
                <a:solidFill>
                  <a:schemeClr val="tx1">
                    <a:lumMod val="65000"/>
                    <a:lumOff val="35000"/>
                  </a:schemeClr>
                </a:solidFill>
                <a:latin typeface="宋体" panose="02010600030101010101" pitchFamily="2" charset="-122"/>
              </a:rPr>
              <a:t>（坐标系变换）以及</a:t>
            </a:r>
            <a:r>
              <a:rPr lang="zh-CN" altLang="en-US" sz="900" b="1" dirty="0" smtClean="0">
                <a:solidFill>
                  <a:srgbClr val="FF0000"/>
                </a:solidFill>
                <a:latin typeface="宋体" panose="02010600030101010101" pitchFamily="2" charset="-122"/>
              </a:rPr>
              <a:t>旋量</a:t>
            </a:r>
            <a:r>
              <a:rPr lang="en-US" altLang="zh-CN" sz="900" dirty="0" smtClean="0">
                <a:solidFill>
                  <a:schemeClr val="tx1">
                    <a:lumMod val="65000"/>
                    <a:lumOff val="35000"/>
                  </a:schemeClr>
                </a:solidFill>
                <a:latin typeface="宋体" panose="02010600030101010101" pitchFamily="2" charset="-122"/>
              </a:rPr>
              <a:t>(</a:t>
            </a:r>
            <a:r>
              <a:rPr lang="zh-CN" altLang="en-US" sz="900" dirty="0" smtClean="0">
                <a:solidFill>
                  <a:srgbClr val="FF0000"/>
                </a:solidFill>
                <a:latin typeface="宋体" panose="02010600030101010101" pitchFamily="2" charset="-122"/>
              </a:rPr>
              <a:t>运动旋量</a:t>
            </a:r>
            <a:r>
              <a:rPr lang="zh-CN" altLang="en-US" sz="900" dirty="0" smtClean="0">
                <a:solidFill>
                  <a:schemeClr val="tx1">
                    <a:lumMod val="65000"/>
                    <a:lumOff val="35000"/>
                  </a:schemeClr>
                </a:solidFill>
                <a:latin typeface="宋体" panose="02010600030101010101" pitchFamily="2" charset="-122"/>
              </a:rPr>
              <a:t>、</a:t>
            </a:r>
            <a:r>
              <a:rPr lang="zh-CN" altLang="en-US" sz="900" dirty="0" smtClean="0">
                <a:solidFill>
                  <a:srgbClr val="FF0000"/>
                </a:solidFill>
                <a:latin typeface="宋体" panose="02010600030101010101" pitchFamily="2" charset="-122"/>
              </a:rPr>
              <a:t>力旋量</a:t>
            </a:r>
            <a:r>
              <a:rPr lang="en-US" altLang="zh-CN" sz="900" dirty="0" smtClean="0">
                <a:solidFill>
                  <a:schemeClr val="tx1">
                    <a:lumMod val="65000"/>
                    <a:lumOff val="35000"/>
                  </a:schemeClr>
                </a:solidFill>
                <a:latin typeface="宋体" panose="02010600030101010101" pitchFamily="2" charset="-122"/>
              </a:rPr>
              <a:t>)</a:t>
            </a:r>
            <a:r>
              <a:rPr lang="zh-CN" altLang="en-US" sz="900" dirty="0" smtClean="0">
                <a:solidFill>
                  <a:schemeClr val="tx1">
                    <a:lumMod val="65000"/>
                    <a:lumOff val="35000"/>
                  </a:schemeClr>
                </a:solidFill>
                <a:latin typeface="宋体" panose="02010600030101010101" pitchFamily="2" charset="-122"/>
              </a:rPr>
              <a:t>等</a:t>
            </a:r>
            <a:endParaRPr lang="en-US" altLang="zh-CN" sz="900" dirty="0" smtClean="0">
              <a:solidFill>
                <a:schemeClr val="tx1">
                  <a:lumMod val="65000"/>
                  <a:lumOff val="35000"/>
                </a:schemeClr>
              </a:solidFill>
              <a:latin typeface="宋体" panose="02010600030101010101" pitchFamily="2" charset="-122"/>
            </a:endParaRPr>
          </a:p>
          <a:p>
            <a:pPr>
              <a:lnSpc>
                <a:spcPct val="120000"/>
              </a:lnSpc>
            </a:pPr>
            <a:r>
              <a:rPr lang="zh-CN" altLang="en-US" sz="1200" b="1" dirty="0">
                <a:solidFill>
                  <a:srgbClr val="002060"/>
                </a:solidFill>
                <a:latin typeface="宋体" panose="02010600030101010101" pitchFamily="2" charset="-122"/>
              </a:rPr>
              <a:t>力学</a:t>
            </a:r>
            <a:r>
              <a:rPr lang="zh-CN" altLang="en-US" sz="1200" b="1" dirty="0" smtClean="0">
                <a:solidFill>
                  <a:srgbClr val="002060"/>
                </a:solidFill>
                <a:latin typeface="宋体" panose="02010600030101010101" pitchFamily="2" charset="-122"/>
              </a:rPr>
              <a:t>原理</a:t>
            </a:r>
            <a:r>
              <a:rPr lang="zh-CN" altLang="en-US" sz="900" dirty="0" smtClean="0">
                <a:solidFill>
                  <a:schemeClr val="tx1">
                    <a:lumMod val="65000"/>
                    <a:lumOff val="35000"/>
                  </a:schemeClr>
                </a:solidFill>
                <a:latin typeface="宋体" panose="02010600030101010101" pitchFamily="2" charset="-122"/>
              </a:rPr>
              <a:t>：能量守恒</a:t>
            </a:r>
            <a:r>
              <a:rPr lang="zh-CN" altLang="en-US" sz="900" dirty="0">
                <a:solidFill>
                  <a:schemeClr val="tx1">
                    <a:lumMod val="65000"/>
                    <a:lumOff val="35000"/>
                  </a:schemeClr>
                </a:solidFill>
                <a:latin typeface="宋体" panose="02010600030101010101" pitchFamily="2" charset="-122"/>
              </a:rPr>
              <a:t>定理、达郎贝尔原理、虚功原理、</a:t>
            </a:r>
            <a:r>
              <a:rPr lang="zh-CN" altLang="en-US" sz="900" b="1" dirty="0">
                <a:solidFill>
                  <a:srgbClr val="FF0000"/>
                </a:solidFill>
                <a:latin typeface="宋体" panose="02010600030101010101" pitchFamily="2" charset="-122"/>
              </a:rPr>
              <a:t>拉格朗日方程</a:t>
            </a:r>
            <a:r>
              <a:rPr lang="zh-CN" altLang="en-US" sz="900" dirty="0">
                <a:solidFill>
                  <a:schemeClr val="tx1">
                    <a:lumMod val="65000"/>
                    <a:lumOff val="35000"/>
                  </a:schemeClr>
                </a:solidFill>
                <a:latin typeface="宋体" panose="02010600030101010101" pitchFamily="2" charset="-122"/>
              </a:rPr>
              <a:t>、动量矩定理、哈密尔顿原理、</a:t>
            </a:r>
            <a:r>
              <a:rPr lang="zh-CN" altLang="en-US" sz="900" b="1" dirty="0">
                <a:solidFill>
                  <a:srgbClr val="FF0000"/>
                </a:solidFill>
                <a:latin typeface="宋体" panose="02010600030101010101" pitchFamily="2" charset="-122"/>
              </a:rPr>
              <a:t>牛顿</a:t>
            </a:r>
            <a:r>
              <a:rPr lang="en-US" altLang="zh-CN" sz="900" b="1" dirty="0">
                <a:solidFill>
                  <a:srgbClr val="FF0000"/>
                </a:solidFill>
                <a:latin typeface="宋体" panose="02010600030101010101" pitchFamily="2" charset="-122"/>
              </a:rPr>
              <a:t>-</a:t>
            </a:r>
            <a:r>
              <a:rPr lang="zh-CN" altLang="en-US" sz="900" b="1" dirty="0">
                <a:solidFill>
                  <a:srgbClr val="FF0000"/>
                </a:solidFill>
                <a:latin typeface="宋体" panose="02010600030101010101" pitchFamily="2" charset="-122"/>
              </a:rPr>
              <a:t>欧拉方程</a:t>
            </a:r>
            <a:r>
              <a:rPr lang="zh-CN" altLang="en-US" sz="900" dirty="0">
                <a:solidFill>
                  <a:schemeClr val="tx1">
                    <a:lumMod val="65000"/>
                    <a:lumOff val="35000"/>
                  </a:schemeClr>
                </a:solidFill>
                <a:latin typeface="宋体" panose="02010600030101010101" pitchFamily="2" charset="-122"/>
              </a:rPr>
              <a:t>、</a:t>
            </a:r>
            <a:r>
              <a:rPr lang="zh-CN" altLang="en-US" sz="900" b="1" dirty="0">
                <a:solidFill>
                  <a:srgbClr val="FF0000"/>
                </a:solidFill>
                <a:latin typeface="宋体" panose="02010600030101010101" pitchFamily="2" charset="-122"/>
              </a:rPr>
              <a:t>凯恩方程</a:t>
            </a:r>
            <a:r>
              <a:rPr lang="zh-CN" altLang="en-US" sz="900" dirty="0" smtClean="0">
                <a:solidFill>
                  <a:schemeClr val="tx1">
                    <a:lumMod val="65000"/>
                    <a:lumOff val="35000"/>
                  </a:schemeClr>
                </a:solidFill>
                <a:latin typeface="宋体" panose="02010600030101010101" pitchFamily="2" charset="-122"/>
              </a:rPr>
              <a:t>等</a:t>
            </a:r>
            <a:endParaRPr lang="en-US" altLang="zh-CN" sz="900" dirty="0" smtClean="0">
              <a:solidFill>
                <a:schemeClr val="tx1">
                  <a:lumMod val="65000"/>
                  <a:lumOff val="35000"/>
                </a:schemeClr>
              </a:solidFill>
              <a:latin typeface="宋体" panose="02010600030101010101" pitchFamily="2" charset="-122"/>
            </a:endParaRPr>
          </a:p>
          <a:p>
            <a:pPr>
              <a:lnSpc>
                <a:spcPct val="120000"/>
              </a:lnSpc>
            </a:pPr>
            <a:r>
              <a:rPr lang="zh-CN" altLang="en-US" sz="1200" b="1" dirty="0" smtClean="0">
                <a:solidFill>
                  <a:srgbClr val="002060"/>
                </a:solidFill>
                <a:latin typeface="宋体" panose="02010600030101010101" pitchFamily="2" charset="-122"/>
                <a:ea typeface="宋体" panose="02010600030101010101" pitchFamily="2" charset="-122"/>
              </a:rPr>
              <a:t>数学方法</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a:t>
            </a:r>
            <a:r>
              <a:rPr lang="zh-CN" altLang="en-US" sz="900" b="1" dirty="0" smtClean="0">
                <a:solidFill>
                  <a:srgbClr val="FF0000"/>
                </a:solidFill>
                <a:latin typeface="宋体" panose="02010600030101010101" pitchFamily="2" charset="-122"/>
                <a:ea typeface="宋体" panose="02010600030101010101" pitchFamily="2" charset="-122"/>
              </a:rPr>
              <a:t>封闭解</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a:t>
            </a:r>
            <a:r>
              <a:rPr lang="zh-CN" altLang="en-US" sz="900" dirty="0" smtClean="0">
                <a:solidFill>
                  <a:srgbClr val="FF0000"/>
                </a:solidFill>
                <a:latin typeface="宋体" panose="02010600030101010101" pitchFamily="2" charset="-122"/>
                <a:ea typeface="宋体" panose="02010600030101010101" pitchFamily="2" charset="-122"/>
              </a:rPr>
              <a:t>矢量法</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a:t>
            </a:r>
            <a:r>
              <a:rPr lang="zh-CN" altLang="en-US" sz="900" dirty="0" smtClean="0">
                <a:solidFill>
                  <a:srgbClr val="FF0000"/>
                </a:solidFill>
                <a:latin typeface="宋体" panose="02010600030101010101" pitchFamily="2" charset="-122"/>
                <a:ea typeface="宋体" panose="02010600030101010101" pitchFamily="2" charset="-122"/>
              </a:rPr>
              <a:t>矩阵变换法</a:t>
            </a:r>
            <a:r>
              <a:rPr lang="en-US" altLang="zh-CN" sz="900" dirty="0" smtClean="0">
                <a:solidFill>
                  <a:schemeClr val="tx1">
                    <a:lumMod val="65000"/>
                    <a:lumOff val="35000"/>
                  </a:schemeClr>
                </a:solidFill>
                <a:latin typeface="宋体" panose="02010600030101010101" pitchFamily="2" charset="-122"/>
                <a:ea typeface="宋体" panose="02010600030101010101" pitchFamily="2" charset="-122"/>
              </a:rPr>
              <a:t>)</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a:t>
            </a:r>
            <a:r>
              <a:rPr lang="zh-CN" altLang="en-US" sz="900" b="1" dirty="0" smtClean="0">
                <a:solidFill>
                  <a:srgbClr val="FF0000"/>
                </a:solidFill>
                <a:latin typeface="宋体" panose="02010600030101010101" pitchFamily="2" charset="-122"/>
                <a:ea typeface="宋体" panose="02010600030101010101" pitchFamily="2" charset="-122"/>
              </a:rPr>
              <a:t>数值法</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（一阶</a:t>
            </a:r>
            <a:r>
              <a:rPr lang="zh-CN" altLang="en-US" sz="900" dirty="0" smtClean="0">
                <a:solidFill>
                  <a:srgbClr val="FF0000"/>
                </a:solidFill>
                <a:latin typeface="宋体" panose="02010600030101010101" pitchFamily="2" charset="-122"/>
                <a:ea typeface="宋体" panose="02010600030101010101" pitchFamily="2" charset="-122"/>
              </a:rPr>
              <a:t>欧拉迭代</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、四阶</a:t>
            </a:r>
            <a:r>
              <a:rPr lang="zh-CN" altLang="en-US" sz="900" dirty="0" smtClean="0">
                <a:solidFill>
                  <a:srgbClr val="FF0000"/>
                </a:solidFill>
                <a:latin typeface="宋体" panose="02010600030101010101" pitchFamily="2" charset="-122"/>
                <a:ea typeface="宋体" panose="02010600030101010101" pitchFamily="2" charset="-122"/>
              </a:rPr>
              <a:t>龙格</a:t>
            </a:r>
            <a:r>
              <a:rPr lang="en-US" altLang="zh-CN" sz="900" dirty="0" smtClean="0">
                <a:solidFill>
                  <a:srgbClr val="FF0000"/>
                </a:solidFill>
                <a:latin typeface="宋体" panose="02010600030101010101" pitchFamily="2" charset="-122"/>
                <a:ea typeface="宋体" panose="02010600030101010101" pitchFamily="2" charset="-122"/>
              </a:rPr>
              <a:t>-</a:t>
            </a:r>
            <a:r>
              <a:rPr lang="zh-CN" altLang="en-US" sz="900" dirty="0" smtClean="0">
                <a:solidFill>
                  <a:srgbClr val="FF0000"/>
                </a:solidFill>
                <a:latin typeface="宋体" panose="02010600030101010101" pitchFamily="2" charset="-122"/>
                <a:ea typeface="宋体" panose="02010600030101010101" pitchFamily="2" charset="-122"/>
              </a:rPr>
              <a:t>库塔</a:t>
            </a:r>
            <a:r>
              <a:rPr lang="zh-CN" altLang="en-US" sz="900" dirty="0" smtClean="0">
                <a:solidFill>
                  <a:schemeClr val="tx1">
                    <a:lumMod val="65000"/>
                    <a:lumOff val="35000"/>
                  </a:schemeClr>
                </a:solidFill>
                <a:latin typeface="宋体" panose="02010600030101010101" pitchFamily="2" charset="-122"/>
                <a:ea typeface="宋体" panose="02010600030101010101" pitchFamily="2" charset="-122"/>
              </a:rPr>
              <a:t>迭代）</a:t>
            </a:r>
            <a:endParaRPr lang="zh-CN" altLang="en-US" sz="900" dirty="0">
              <a:solidFill>
                <a:schemeClr val="tx1">
                  <a:lumMod val="65000"/>
                  <a:lumOff val="35000"/>
                </a:schemeClr>
              </a:solidFill>
              <a:latin typeface="宋体" panose="02010600030101010101" pitchFamily="2" charset="-122"/>
              <a:ea typeface="宋体" panose="02010600030101010101" pitchFamily="2" charset="-122"/>
            </a:endParaRPr>
          </a:p>
        </p:txBody>
      </p:sp>
      <p:sp>
        <p:nvSpPr>
          <p:cNvPr id="16" name="文本框 48"/>
          <p:cNvSpPr txBox="1"/>
          <p:nvPr/>
        </p:nvSpPr>
        <p:spPr>
          <a:xfrm>
            <a:off x="6940080" y="1090426"/>
            <a:ext cx="875398" cy="644022"/>
          </a:xfrm>
          <a:prstGeom prst="rect">
            <a:avLst/>
          </a:prstGeom>
          <a:noFill/>
        </p:spPr>
        <p:txBody>
          <a:bodyPr wrap="square" rtlCol="0">
            <a:spAutoFit/>
          </a:bodyPr>
          <a:lstStyle/>
          <a:p>
            <a:pPr>
              <a:lnSpc>
                <a:spcPct val="120000"/>
              </a:lnSpc>
            </a:pPr>
            <a:r>
              <a:rPr lang="zh-CN" altLang="en-US" sz="1600" b="1" dirty="0" smtClean="0">
                <a:solidFill>
                  <a:srgbClr val="002060"/>
                </a:solidFill>
                <a:latin typeface="宋体" panose="02010600030101010101" pitchFamily="2" charset="-122"/>
                <a:ea typeface="宋体" panose="02010600030101010101" pitchFamily="2" charset="-122"/>
                <a:sym typeface="+mn-ea"/>
              </a:rPr>
              <a:t>机器人动力学</a:t>
            </a:r>
          </a:p>
        </p:txBody>
      </p:sp>
      <p:grpSp>
        <p:nvGrpSpPr>
          <p:cNvPr id="17" name="组合 16"/>
          <p:cNvGrpSpPr/>
          <p:nvPr/>
        </p:nvGrpSpPr>
        <p:grpSpPr>
          <a:xfrm>
            <a:off x="6217525" y="987574"/>
            <a:ext cx="1928153" cy="807346"/>
            <a:chOff x="1076465" y="2732150"/>
            <a:chExt cx="2570469" cy="1076293"/>
          </a:xfrm>
          <a:solidFill>
            <a:srgbClr val="0065B0"/>
          </a:solidFill>
        </p:grpSpPr>
        <p:grpSp>
          <p:nvGrpSpPr>
            <p:cNvPr id="18" name="组合 17"/>
            <p:cNvGrpSpPr/>
            <p:nvPr/>
          </p:nvGrpSpPr>
          <p:grpSpPr>
            <a:xfrm>
              <a:off x="1076465" y="2732150"/>
              <a:ext cx="777672" cy="1076293"/>
              <a:chOff x="4135438" y="709613"/>
              <a:chExt cx="3927475" cy="5435600"/>
            </a:xfrm>
            <a:grpFill/>
          </p:grpSpPr>
          <p:sp>
            <p:nvSpPr>
              <p:cNvPr id="20" name="Freeform 188"/>
              <p:cNvSpPr/>
              <p:nvPr/>
            </p:nvSpPr>
            <p:spPr bwMode="auto">
              <a:xfrm>
                <a:off x="6167438" y="4014788"/>
                <a:ext cx="1895475" cy="2130425"/>
              </a:xfrm>
              <a:custGeom>
                <a:avLst/>
                <a:gdLst>
                  <a:gd name="T0" fmla="*/ 504 w 504"/>
                  <a:gd name="T1" fmla="*/ 227 h 567"/>
                  <a:gd name="T2" fmla="*/ 504 w 504"/>
                  <a:gd name="T3" fmla="*/ 567 h 567"/>
                  <a:gd name="T4" fmla="*/ 37 w 504"/>
                  <a:gd name="T5" fmla="*/ 567 h 567"/>
                  <a:gd name="T6" fmla="*/ 92 w 504"/>
                  <a:gd name="T7" fmla="*/ 482 h 567"/>
                  <a:gd name="T8" fmla="*/ 0 w 504"/>
                  <a:gd name="T9" fmla="*/ 150 h 567"/>
                  <a:gd name="T10" fmla="*/ 220 w 504"/>
                  <a:gd name="T11" fmla="*/ 0 h 567"/>
                  <a:gd name="T12" fmla="*/ 504 w 504"/>
                  <a:gd name="T13" fmla="*/ 227 h 567"/>
                </a:gdLst>
                <a:ahLst/>
                <a:cxnLst>
                  <a:cxn ang="0">
                    <a:pos x="T0" y="T1"/>
                  </a:cxn>
                  <a:cxn ang="0">
                    <a:pos x="T2" y="T3"/>
                  </a:cxn>
                  <a:cxn ang="0">
                    <a:pos x="T4" y="T5"/>
                  </a:cxn>
                  <a:cxn ang="0">
                    <a:pos x="T6" y="T7"/>
                  </a:cxn>
                  <a:cxn ang="0">
                    <a:pos x="T8" y="T9"/>
                  </a:cxn>
                  <a:cxn ang="0">
                    <a:pos x="T10" y="T11"/>
                  </a:cxn>
                  <a:cxn ang="0">
                    <a:pos x="T12" y="T13"/>
                  </a:cxn>
                </a:cxnLst>
                <a:rect l="0" t="0" r="r" b="b"/>
                <a:pathLst>
                  <a:path w="504" h="567">
                    <a:moveTo>
                      <a:pt x="504" y="227"/>
                    </a:moveTo>
                    <a:cubicBezTo>
                      <a:pt x="504" y="457"/>
                      <a:pt x="504" y="567"/>
                      <a:pt x="504" y="567"/>
                    </a:cubicBezTo>
                    <a:cubicBezTo>
                      <a:pt x="37" y="567"/>
                      <a:pt x="37" y="567"/>
                      <a:pt x="37" y="567"/>
                    </a:cubicBezTo>
                    <a:cubicBezTo>
                      <a:pt x="92" y="482"/>
                      <a:pt x="92" y="482"/>
                      <a:pt x="92" y="482"/>
                    </a:cubicBezTo>
                    <a:cubicBezTo>
                      <a:pt x="0" y="150"/>
                      <a:pt x="0" y="150"/>
                      <a:pt x="0" y="150"/>
                    </a:cubicBezTo>
                    <a:cubicBezTo>
                      <a:pt x="98" y="144"/>
                      <a:pt x="180" y="84"/>
                      <a:pt x="220" y="0"/>
                    </a:cubicBezTo>
                    <a:cubicBezTo>
                      <a:pt x="358" y="38"/>
                      <a:pt x="504" y="106"/>
                      <a:pt x="504" y="2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1" name="Freeform 189"/>
              <p:cNvSpPr/>
              <p:nvPr/>
            </p:nvSpPr>
            <p:spPr bwMode="auto">
              <a:xfrm>
                <a:off x="7559676" y="2328863"/>
                <a:ext cx="450850" cy="209550"/>
              </a:xfrm>
              <a:custGeom>
                <a:avLst/>
                <a:gdLst>
                  <a:gd name="T0" fmla="*/ 92 w 120"/>
                  <a:gd name="T1" fmla="*/ 0 h 56"/>
                  <a:gd name="T2" fmla="*/ 120 w 120"/>
                  <a:gd name="T3" fmla="*/ 28 h 56"/>
                  <a:gd name="T4" fmla="*/ 92 w 120"/>
                  <a:gd name="T5" fmla="*/ 56 h 56"/>
                  <a:gd name="T6" fmla="*/ 28 w 120"/>
                  <a:gd name="T7" fmla="*/ 56 h 56"/>
                  <a:gd name="T8" fmla="*/ 0 w 120"/>
                  <a:gd name="T9" fmla="*/ 28 h 56"/>
                  <a:gd name="T10" fmla="*/ 8 w 120"/>
                  <a:gd name="T11" fmla="*/ 8 h 56"/>
                  <a:gd name="T12" fmla="*/ 28 w 120"/>
                  <a:gd name="T13" fmla="*/ 0 h 56"/>
                  <a:gd name="T14" fmla="*/ 92 w 120"/>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56">
                    <a:moveTo>
                      <a:pt x="92" y="0"/>
                    </a:moveTo>
                    <a:cubicBezTo>
                      <a:pt x="107" y="0"/>
                      <a:pt x="120" y="12"/>
                      <a:pt x="120" y="28"/>
                    </a:cubicBezTo>
                    <a:cubicBezTo>
                      <a:pt x="120" y="43"/>
                      <a:pt x="107" y="56"/>
                      <a:pt x="92" y="56"/>
                    </a:cubicBezTo>
                    <a:cubicBezTo>
                      <a:pt x="28" y="56"/>
                      <a:pt x="28" y="56"/>
                      <a:pt x="28" y="56"/>
                    </a:cubicBezTo>
                    <a:cubicBezTo>
                      <a:pt x="12" y="56"/>
                      <a:pt x="0" y="43"/>
                      <a:pt x="0" y="28"/>
                    </a:cubicBezTo>
                    <a:cubicBezTo>
                      <a:pt x="0" y="20"/>
                      <a:pt x="3" y="13"/>
                      <a:pt x="8" y="8"/>
                    </a:cubicBezTo>
                    <a:cubicBezTo>
                      <a:pt x="13" y="3"/>
                      <a:pt x="20" y="0"/>
                      <a:pt x="28" y="0"/>
                    </a:cubicBezTo>
                    <a:lnTo>
                      <a:pt x="9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2" name="Freeform 190"/>
              <p:cNvSpPr/>
              <p:nvPr/>
            </p:nvSpPr>
            <p:spPr bwMode="auto">
              <a:xfrm>
                <a:off x="7153276" y="1246188"/>
                <a:ext cx="390525" cy="398463"/>
              </a:xfrm>
              <a:custGeom>
                <a:avLst/>
                <a:gdLst>
                  <a:gd name="T0" fmla="*/ 93 w 104"/>
                  <a:gd name="T1" fmla="*/ 11 h 106"/>
                  <a:gd name="T2" fmla="*/ 93 w 104"/>
                  <a:gd name="T3" fmla="*/ 50 h 106"/>
                  <a:gd name="T4" fmla="*/ 48 w 104"/>
                  <a:gd name="T5" fmla="*/ 95 h 106"/>
                  <a:gd name="T6" fmla="*/ 9 w 104"/>
                  <a:gd name="T7" fmla="*/ 95 h 106"/>
                  <a:gd name="T8" fmla="*/ 0 w 104"/>
                  <a:gd name="T9" fmla="*/ 76 h 106"/>
                  <a:gd name="T10" fmla="*/ 9 w 104"/>
                  <a:gd name="T11" fmla="*/ 56 h 106"/>
                  <a:gd name="T12" fmla="*/ 54 w 104"/>
                  <a:gd name="T13" fmla="*/ 11 h 106"/>
                  <a:gd name="T14" fmla="*/ 93 w 104"/>
                  <a:gd name="T15" fmla="*/ 11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106">
                    <a:moveTo>
                      <a:pt x="93" y="11"/>
                    </a:moveTo>
                    <a:cubicBezTo>
                      <a:pt x="104" y="22"/>
                      <a:pt x="104" y="39"/>
                      <a:pt x="93" y="50"/>
                    </a:cubicBezTo>
                    <a:cubicBezTo>
                      <a:pt x="48" y="95"/>
                      <a:pt x="48" y="95"/>
                      <a:pt x="48" y="95"/>
                    </a:cubicBezTo>
                    <a:cubicBezTo>
                      <a:pt x="37" y="106"/>
                      <a:pt x="19" y="106"/>
                      <a:pt x="9" y="95"/>
                    </a:cubicBezTo>
                    <a:cubicBezTo>
                      <a:pt x="3" y="90"/>
                      <a:pt x="0" y="83"/>
                      <a:pt x="0" y="76"/>
                    </a:cubicBezTo>
                    <a:cubicBezTo>
                      <a:pt x="0" y="69"/>
                      <a:pt x="3" y="61"/>
                      <a:pt x="9" y="56"/>
                    </a:cubicBezTo>
                    <a:cubicBezTo>
                      <a:pt x="54" y="11"/>
                      <a:pt x="54" y="11"/>
                      <a:pt x="54" y="11"/>
                    </a:cubicBezTo>
                    <a:cubicBezTo>
                      <a:pt x="65" y="0"/>
                      <a:pt x="82" y="0"/>
                      <a:pt x="9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3" name="Freeform 191"/>
              <p:cNvSpPr>
                <a:spLocks noEditPoints="1"/>
              </p:cNvSpPr>
              <p:nvPr/>
            </p:nvSpPr>
            <p:spPr bwMode="auto">
              <a:xfrm>
                <a:off x="4779963" y="1235076"/>
                <a:ext cx="2640013" cy="2438400"/>
              </a:xfrm>
              <a:custGeom>
                <a:avLst/>
                <a:gdLst>
                  <a:gd name="T0" fmla="*/ 702 w 702"/>
                  <a:gd name="T1" fmla="*/ 351 h 649"/>
                  <a:gd name="T2" fmla="*/ 537 w 702"/>
                  <a:gd name="T3" fmla="*/ 649 h 649"/>
                  <a:gd name="T4" fmla="*/ 164 w 702"/>
                  <a:gd name="T5" fmla="*/ 649 h 649"/>
                  <a:gd name="T6" fmla="*/ 0 w 702"/>
                  <a:gd name="T7" fmla="*/ 351 h 649"/>
                  <a:gd name="T8" fmla="*/ 351 w 702"/>
                  <a:gd name="T9" fmla="*/ 0 h 649"/>
                  <a:gd name="T10" fmla="*/ 702 w 702"/>
                  <a:gd name="T11" fmla="*/ 351 h 649"/>
                  <a:gd name="T12" fmla="*/ 492 w 702"/>
                  <a:gd name="T13" fmla="*/ 577 h 649"/>
                  <a:gd name="T14" fmla="*/ 492 w 702"/>
                  <a:gd name="T15" fmla="*/ 261 h 649"/>
                  <a:gd name="T16" fmla="*/ 369 w 702"/>
                  <a:gd name="T17" fmla="*/ 261 h 649"/>
                  <a:gd name="T18" fmla="*/ 369 w 702"/>
                  <a:gd name="T19" fmla="*/ 404 h 649"/>
                  <a:gd name="T20" fmla="*/ 330 w 702"/>
                  <a:gd name="T21" fmla="*/ 404 h 649"/>
                  <a:gd name="T22" fmla="*/ 330 w 702"/>
                  <a:gd name="T23" fmla="*/ 261 h 649"/>
                  <a:gd name="T24" fmla="*/ 209 w 702"/>
                  <a:gd name="T25" fmla="*/ 261 h 649"/>
                  <a:gd name="T26" fmla="*/ 209 w 702"/>
                  <a:gd name="T27" fmla="*/ 577 h 649"/>
                  <a:gd name="T28" fmla="*/ 231 w 702"/>
                  <a:gd name="T29" fmla="*/ 587 h 649"/>
                  <a:gd name="T30" fmla="*/ 253 w 702"/>
                  <a:gd name="T31" fmla="*/ 577 h 649"/>
                  <a:gd name="T32" fmla="*/ 253 w 702"/>
                  <a:gd name="T33" fmla="*/ 304 h 649"/>
                  <a:gd name="T34" fmla="*/ 287 w 702"/>
                  <a:gd name="T35" fmla="*/ 304 h 649"/>
                  <a:gd name="T36" fmla="*/ 287 w 702"/>
                  <a:gd name="T37" fmla="*/ 448 h 649"/>
                  <a:gd name="T38" fmla="*/ 413 w 702"/>
                  <a:gd name="T39" fmla="*/ 448 h 649"/>
                  <a:gd name="T40" fmla="*/ 413 w 702"/>
                  <a:gd name="T41" fmla="*/ 304 h 649"/>
                  <a:gd name="T42" fmla="*/ 449 w 702"/>
                  <a:gd name="T43" fmla="*/ 304 h 649"/>
                  <a:gd name="T44" fmla="*/ 449 w 702"/>
                  <a:gd name="T45" fmla="*/ 577 h 649"/>
                  <a:gd name="T46" fmla="*/ 471 w 702"/>
                  <a:gd name="T47" fmla="*/ 587 h 649"/>
                  <a:gd name="T48" fmla="*/ 492 w 702"/>
                  <a:gd name="T49" fmla="*/ 577 h 6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02" h="649">
                    <a:moveTo>
                      <a:pt x="702" y="351"/>
                    </a:moveTo>
                    <a:cubicBezTo>
                      <a:pt x="702" y="476"/>
                      <a:pt x="636" y="586"/>
                      <a:pt x="537" y="649"/>
                    </a:cubicBezTo>
                    <a:cubicBezTo>
                      <a:pt x="164" y="649"/>
                      <a:pt x="164" y="649"/>
                      <a:pt x="164" y="649"/>
                    </a:cubicBezTo>
                    <a:cubicBezTo>
                      <a:pt x="66" y="586"/>
                      <a:pt x="0" y="476"/>
                      <a:pt x="0" y="351"/>
                    </a:cubicBezTo>
                    <a:cubicBezTo>
                      <a:pt x="0" y="157"/>
                      <a:pt x="157" y="0"/>
                      <a:pt x="351" y="0"/>
                    </a:cubicBezTo>
                    <a:cubicBezTo>
                      <a:pt x="545" y="0"/>
                      <a:pt x="702" y="157"/>
                      <a:pt x="702" y="351"/>
                    </a:cubicBezTo>
                    <a:close/>
                    <a:moveTo>
                      <a:pt x="492" y="577"/>
                    </a:moveTo>
                    <a:cubicBezTo>
                      <a:pt x="492" y="261"/>
                      <a:pt x="492" y="261"/>
                      <a:pt x="492" y="261"/>
                    </a:cubicBezTo>
                    <a:cubicBezTo>
                      <a:pt x="369" y="261"/>
                      <a:pt x="369" y="261"/>
                      <a:pt x="369" y="261"/>
                    </a:cubicBezTo>
                    <a:cubicBezTo>
                      <a:pt x="369" y="404"/>
                      <a:pt x="369" y="404"/>
                      <a:pt x="369" y="404"/>
                    </a:cubicBezTo>
                    <a:cubicBezTo>
                      <a:pt x="330" y="404"/>
                      <a:pt x="330" y="404"/>
                      <a:pt x="330" y="404"/>
                    </a:cubicBezTo>
                    <a:cubicBezTo>
                      <a:pt x="330" y="261"/>
                      <a:pt x="330" y="261"/>
                      <a:pt x="330" y="261"/>
                    </a:cubicBezTo>
                    <a:cubicBezTo>
                      <a:pt x="209" y="261"/>
                      <a:pt x="209" y="261"/>
                      <a:pt x="209" y="261"/>
                    </a:cubicBezTo>
                    <a:cubicBezTo>
                      <a:pt x="209" y="577"/>
                      <a:pt x="209" y="577"/>
                      <a:pt x="209" y="577"/>
                    </a:cubicBezTo>
                    <a:cubicBezTo>
                      <a:pt x="209" y="583"/>
                      <a:pt x="219" y="587"/>
                      <a:pt x="231" y="587"/>
                    </a:cubicBezTo>
                    <a:cubicBezTo>
                      <a:pt x="243" y="587"/>
                      <a:pt x="253" y="583"/>
                      <a:pt x="253" y="577"/>
                    </a:cubicBezTo>
                    <a:cubicBezTo>
                      <a:pt x="253" y="304"/>
                      <a:pt x="253" y="304"/>
                      <a:pt x="253" y="304"/>
                    </a:cubicBezTo>
                    <a:cubicBezTo>
                      <a:pt x="287" y="304"/>
                      <a:pt x="287" y="304"/>
                      <a:pt x="287" y="304"/>
                    </a:cubicBezTo>
                    <a:cubicBezTo>
                      <a:pt x="287" y="448"/>
                      <a:pt x="287" y="448"/>
                      <a:pt x="287" y="448"/>
                    </a:cubicBezTo>
                    <a:cubicBezTo>
                      <a:pt x="413" y="448"/>
                      <a:pt x="413" y="448"/>
                      <a:pt x="413" y="448"/>
                    </a:cubicBezTo>
                    <a:cubicBezTo>
                      <a:pt x="413" y="304"/>
                      <a:pt x="413" y="304"/>
                      <a:pt x="413" y="304"/>
                    </a:cubicBezTo>
                    <a:cubicBezTo>
                      <a:pt x="449" y="304"/>
                      <a:pt x="449" y="304"/>
                      <a:pt x="449" y="304"/>
                    </a:cubicBezTo>
                    <a:cubicBezTo>
                      <a:pt x="449" y="577"/>
                      <a:pt x="449" y="577"/>
                      <a:pt x="449" y="577"/>
                    </a:cubicBezTo>
                    <a:cubicBezTo>
                      <a:pt x="449" y="583"/>
                      <a:pt x="459" y="587"/>
                      <a:pt x="471" y="587"/>
                    </a:cubicBezTo>
                    <a:cubicBezTo>
                      <a:pt x="483" y="587"/>
                      <a:pt x="492" y="583"/>
                      <a:pt x="492" y="5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4" name="Freeform 192"/>
              <p:cNvSpPr/>
              <p:nvPr/>
            </p:nvSpPr>
            <p:spPr bwMode="auto">
              <a:xfrm>
                <a:off x="5475288" y="3781426"/>
                <a:ext cx="1249363" cy="225425"/>
              </a:xfrm>
              <a:custGeom>
                <a:avLst/>
                <a:gdLst>
                  <a:gd name="T0" fmla="*/ 298 w 332"/>
                  <a:gd name="T1" fmla="*/ 0 h 60"/>
                  <a:gd name="T2" fmla="*/ 332 w 332"/>
                  <a:gd name="T3" fmla="*/ 30 h 60"/>
                  <a:gd name="T4" fmla="*/ 298 w 332"/>
                  <a:gd name="T5" fmla="*/ 60 h 60"/>
                  <a:gd name="T6" fmla="*/ 34 w 332"/>
                  <a:gd name="T7" fmla="*/ 60 h 60"/>
                  <a:gd name="T8" fmla="*/ 0 w 332"/>
                  <a:gd name="T9" fmla="*/ 30 h 60"/>
                  <a:gd name="T10" fmla="*/ 10 w 332"/>
                  <a:gd name="T11" fmla="*/ 9 h 60"/>
                  <a:gd name="T12" fmla="*/ 34 w 332"/>
                  <a:gd name="T13" fmla="*/ 0 h 60"/>
                  <a:gd name="T14" fmla="*/ 298 w 332"/>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2" h="60">
                    <a:moveTo>
                      <a:pt x="298" y="0"/>
                    </a:moveTo>
                    <a:cubicBezTo>
                      <a:pt x="316" y="0"/>
                      <a:pt x="332" y="13"/>
                      <a:pt x="332" y="30"/>
                    </a:cubicBezTo>
                    <a:cubicBezTo>
                      <a:pt x="332" y="46"/>
                      <a:pt x="316" y="60"/>
                      <a:pt x="298" y="60"/>
                    </a:cubicBezTo>
                    <a:cubicBezTo>
                      <a:pt x="34" y="60"/>
                      <a:pt x="34" y="60"/>
                      <a:pt x="34" y="60"/>
                    </a:cubicBezTo>
                    <a:cubicBezTo>
                      <a:pt x="15" y="60"/>
                      <a:pt x="0" y="46"/>
                      <a:pt x="0" y="30"/>
                    </a:cubicBezTo>
                    <a:cubicBezTo>
                      <a:pt x="0" y="22"/>
                      <a:pt x="4" y="14"/>
                      <a:pt x="10" y="9"/>
                    </a:cubicBezTo>
                    <a:cubicBezTo>
                      <a:pt x="16" y="3"/>
                      <a:pt x="25" y="0"/>
                      <a:pt x="34" y="0"/>
                    </a:cubicBezTo>
                    <a:lnTo>
                      <a:pt x="29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5" name="Freeform 193"/>
              <p:cNvSpPr/>
              <p:nvPr/>
            </p:nvSpPr>
            <p:spPr bwMode="auto">
              <a:xfrm>
                <a:off x="5595938" y="4089401"/>
                <a:ext cx="1008063" cy="222250"/>
              </a:xfrm>
              <a:custGeom>
                <a:avLst/>
                <a:gdLst>
                  <a:gd name="T0" fmla="*/ 233 w 268"/>
                  <a:gd name="T1" fmla="*/ 0 h 59"/>
                  <a:gd name="T2" fmla="*/ 268 w 268"/>
                  <a:gd name="T3" fmla="*/ 30 h 59"/>
                  <a:gd name="T4" fmla="*/ 233 w 268"/>
                  <a:gd name="T5" fmla="*/ 59 h 59"/>
                  <a:gd name="T6" fmla="*/ 35 w 268"/>
                  <a:gd name="T7" fmla="*/ 59 h 59"/>
                  <a:gd name="T8" fmla="*/ 0 w 268"/>
                  <a:gd name="T9" fmla="*/ 30 h 59"/>
                  <a:gd name="T10" fmla="*/ 10 w 268"/>
                  <a:gd name="T11" fmla="*/ 9 h 59"/>
                  <a:gd name="T12" fmla="*/ 35 w 268"/>
                  <a:gd name="T13" fmla="*/ 0 h 59"/>
                  <a:gd name="T14" fmla="*/ 233 w 268"/>
                  <a:gd name="T15" fmla="*/ 0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8" h="59">
                    <a:moveTo>
                      <a:pt x="233" y="0"/>
                    </a:moveTo>
                    <a:cubicBezTo>
                      <a:pt x="252" y="0"/>
                      <a:pt x="268" y="13"/>
                      <a:pt x="268" y="30"/>
                    </a:cubicBezTo>
                    <a:cubicBezTo>
                      <a:pt x="268" y="46"/>
                      <a:pt x="252" y="59"/>
                      <a:pt x="233" y="59"/>
                    </a:cubicBezTo>
                    <a:cubicBezTo>
                      <a:pt x="35" y="59"/>
                      <a:pt x="35" y="59"/>
                      <a:pt x="35" y="59"/>
                    </a:cubicBezTo>
                    <a:cubicBezTo>
                      <a:pt x="16" y="59"/>
                      <a:pt x="0" y="46"/>
                      <a:pt x="0" y="30"/>
                    </a:cubicBezTo>
                    <a:cubicBezTo>
                      <a:pt x="0" y="21"/>
                      <a:pt x="4" y="14"/>
                      <a:pt x="10" y="9"/>
                    </a:cubicBezTo>
                    <a:cubicBezTo>
                      <a:pt x="17" y="3"/>
                      <a:pt x="25" y="0"/>
                      <a:pt x="35" y="0"/>
                    </a:cubicBezTo>
                    <a:lnTo>
                      <a:pt x="2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6" name="Freeform 194"/>
              <p:cNvSpPr/>
              <p:nvPr/>
            </p:nvSpPr>
            <p:spPr bwMode="auto">
              <a:xfrm>
                <a:off x="5994401" y="709613"/>
                <a:ext cx="211138" cy="450850"/>
              </a:xfrm>
              <a:custGeom>
                <a:avLst/>
                <a:gdLst>
                  <a:gd name="T0" fmla="*/ 56 w 56"/>
                  <a:gd name="T1" fmla="*/ 28 h 120"/>
                  <a:gd name="T2" fmla="*/ 56 w 56"/>
                  <a:gd name="T3" fmla="*/ 92 h 120"/>
                  <a:gd name="T4" fmla="*/ 28 w 56"/>
                  <a:gd name="T5" fmla="*/ 120 h 120"/>
                  <a:gd name="T6" fmla="*/ 8 w 56"/>
                  <a:gd name="T7" fmla="*/ 112 h 120"/>
                  <a:gd name="T8" fmla="*/ 0 w 56"/>
                  <a:gd name="T9" fmla="*/ 92 h 120"/>
                  <a:gd name="T10" fmla="*/ 0 w 56"/>
                  <a:gd name="T11" fmla="*/ 28 h 120"/>
                  <a:gd name="T12" fmla="*/ 28 w 56"/>
                  <a:gd name="T13" fmla="*/ 0 h 120"/>
                  <a:gd name="T14" fmla="*/ 56 w 56"/>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120">
                    <a:moveTo>
                      <a:pt x="56" y="28"/>
                    </a:moveTo>
                    <a:cubicBezTo>
                      <a:pt x="56" y="92"/>
                      <a:pt x="56" y="92"/>
                      <a:pt x="56" y="92"/>
                    </a:cubicBezTo>
                    <a:cubicBezTo>
                      <a:pt x="56" y="108"/>
                      <a:pt x="43" y="120"/>
                      <a:pt x="28" y="120"/>
                    </a:cubicBezTo>
                    <a:cubicBezTo>
                      <a:pt x="20" y="120"/>
                      <a:pt x="13" y="117"/>
                      <a:pt x="8" y="112"/>
                    </a:cubicBezTo>
                    <a:cubicBezTo>
                      <a:pt x="3" y="107"/>
                      <a:pt x="0" y="100"/>
                      <a:pt x="0" y="92"/>
                    </a:cubicBezTo>
                    <a:cubicBezTo>
                      <a:pt x="0" y="28"/>
                      <a:pt x="0" y="28"/>
                      <a:pt x="0" y="28"/>
                    </a:cubicBezTo>
                    <a:cubicBezTo>
                      <a:pt x="0" y="13"/>
                      <a:pt x="12" y="0"/>
                      <a:pt x="28" y="0"/>
                    </a:cubicBezTo>
                    <a:cubicBezTo>
                      <a:pt x="43" y="0"/>
                      <a:pt x="56" y="13"/>
                      <a:pt x="5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7" name="Freeform 195"/>
              <p:cNvSpPr/>
              <p:nvPr/>
            </p:nvSpPr>
            <p:spPr bwMode="auto">
              <a:xfrm>
                <a:off x="4135438" y="4014788"/>
                <a:ext cx="1892300" cy="2130425"/>
              </a:xfrm>
              <a:custGeom>
                <a:avLst/>
                <a:gdLst>
                  <a:gd name="T0" fmla="*/ 503 w 503"/>
                  <a:gd name="T1" fmla="*/ 150 h 567"/>
                  <a:gd name="T2" fmla="*/ 412 w 503"/>
                  <a:gd name="T3" fmla="*/ 482 h 567"/>
                  <a:gd name="T4" fmla="*/ 467 w 503"/>
                  <a:gd name="T5" fmla="*/ 567 h 567"/>
                  <a:gd name="T6" fmla="*/ 0 w 503"/>
                  <a:gd name="T7" fmla="*/ 567 h 567"/>
                  <a:gd name="T8" fmla="*/ 0 w 503"/>
                  <a:gd name="T9" fmla="*/ 227 h 567"/>
                  <a:gd name="T10" fmla="*/ 284 w 503"/>
                  <a:gd name="T11" fmla="*/ 0 h 567"/>
                  <a:gd name="T12" fmla="*/ 503 w 503"/>
                  <a:gd name="T13" fmla="*/ 150 h 567"/>
                </a:gdLst>
                <a:ahLst/>
                <a:cxnLst>
                  <a:cxn ang="0">
                    <a:pos x="T0" y="T1"/>
                  </a:cxn>
                  <a:cxn ang="0">
                    <a:pos x="T2" y="T3"/>
                  </a:cxn>
                  <a:cxn ang="0">
                    <a:pos x="T4" y="T5"/>
                  </a:cxn>
                  <a:cxn ang="0">
                    <a:pos x="T6" y="T7"/>
                  </a:cxn>
                  <a:cxn ang="0">
                    <a:pos x="T8" y="T9"/>
                  </a:cxn>
                  <a:cxn ang="0">
                    <a:pos x="T10" y="T11"/>
                  </a:cxn>
                  <a:cxn ang="0">
                    <a:pos x="T12" y="T13"/>
                  </a:cxn>
                </a:cxnLst>
                <a:rect l="0" t="0" r="r" b="b"/>
                <a:pathLst>
                  <a:path w="503" h="567">
                    <a:moveTo>
                      <a:pt x="503" y="150"/>
                    </a:moveTo>
                    <a:cubicBezTo>
                      <a:pt x="412" y="482"/>
                      <a:pt x="412" y="482"/>
                      <a:pt x="412" y="482"/>
                    </a:cubicBezTo>
                    <a:cubicBezTo>
                      <a:pt x="467" y="567"/>
                      <a:pt x="467" y="567"/>
                      <a:pt x="467" y="567"/>
                    </a:cubicBezTo>
                    <a:cubicBezTo>
                      <a:pt x="0" y="567"/>
                      <a:pt x="0" y="567"/>
                      <a:pt x="0" y="567"/>
                    </a:cubicBezTo>
                    <a:cubicBezTo>
                      <a:pt x="0" y="567"/>
                      <a:pt x="0" y="457"/>
                      <a:pt x="0" y="227"/>
                    </a:cubicBezTo>
                    <a:cubicBezTo>
                      <a:pt x="0" y="106"/>
                      <a:pt x="146" y="38"/>
                      <a:pt x="284" y="0"/>
                    </a:cubicBezTo>
                    <a:cubicBezTo>
                      <a:pt x="324" y="84"/>
                      <a:pt x="406" y="144"/>
                      <a:pt x="503"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8" name="Freeform 196"/>
              <p:cNvSpPr/>
              <p:nvPr/>
            </p:nvSpPr>
            <p:spPr bwMode="auto">
              <a:xfrm>
                <a:off x="4629151" y="1246188"/>
                <a:ext cx="390525" cy="398463"/>
              </a:xfrm>
              <a:custGeom>
                <a:avLst/>
                <a:gdLst>
                  <a:gd name="T0" fmla="*/ 96 w 104"/>
                  <a:gd name="T1" fmla="*/ 56 h 106"/>
                  <a:gd name="T2" fmla="*/ 104 w 104"/>
                  <a:gd name="T3" fmla="*/ 76 h 106"/>
                  <a:gd name="T4" fmla="*/ 96 w 104"/>
                  <a:gd name="T5" fmla="*/ 95 h 106"/>
                  <a:gd name="T6" fmla="*/ 56 w 104"/>
                  <a:gd name="T7" fmla="*/ 95 h 106"/>
                  <a:gd name="T8" fmla="*/ 11 w 104"/>
                  <a:gd name="T9" fmla="*/ 50 h 106"/>
                  <a:gd name="T10" fmla="*/ 11 w 104"/>
                  <a:gd name="T11" fmla="*/ 11 h 106"/>
                  <a:gd name="T12" fmla="*/ 50 w 104"/>
                  <a:gd name="T13" fmla="*/ 11 h 106"/>
                  <a:gd name="T14" fmla="*/ 96 w 104"/>
                  <a:gd name="T15" fmla="*/ 56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106">
                    <a:moveTo>
                      <a:pt x="96" y="56"/>
                    </a:moveTo>
                    <a:cubicBezTo>
                      <a:pt x="101" y="61"/>
                      <a:pt x="104" y="69"/>
                      <a:pt x="104" y="76"/>
                    </a:cubicBezTo>
                    <a:cubicBezTo>
                      <a:pt x="104" y="83"/>
                      <a:pt x="101" y="90"/>
                      <a:pt x="96" y="95"/>
                    </a:cubicBezTo>
                    <a:cubicBezTo>
                      <a:pt x="85" y="106"/>
                      <a:pt x="67" y="106"/>
                      <a:pt x="56" y="95"/>
                    </a:cubicBezTo>
                    <a:cubicBezTo>
                      <a:pt x="11" y="50"/>
                      <a:pt x="11" y="50"/>
                      <a:pt x="11" y="50"/>
                    </a:cubicBezTo>
                    <a:cubicBezTo>
                      <a:pt x="0" y="39"/>
                      <a:pt x="0" y="22"/>
                      <a:pt x="11" y="11"/>
                    </a:cubicBezTo>
                    <a:cubicBezTo>
                      <a:pt x="22" y="0"/>
                      <a:pt x="40" y="0"/>
                      <a:pt x="50" y="11"/>
                    </a:cubicBezTo>
                    <a:lnTo>
                      <a:pt x="96" y="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sp>
            <p:nvSpPr>
              <p:cNvPr id="29" name="Freeform 197"/>
              <p:cNvSpPr/>
              <p:nvPr/>
            </p:nvSpPr>
            <p:spPr bwMode="auto">
              <a:xfrm>
                <a:off x="4176713" y="2328863"/>
                <a:ext cx="452438" cy="209550"/>
              </a:xfrm>
              <a:custGeom>
                <a:avLst/>
                <a:gdLst>
                  <a:gd name="T0" fmla="*/ 92 w 120"/>
                  <a:gd name="T1" fmla="*/ 0 h 56"/>
                  <a:gd name="T2" fmla="*/ 120 w 120"/>
                  <a:gd name="T3" fmla="*/ 28 h 56"/>
                  <a:gd name="T4" fmla="*/ 92 w 120"/>
                  <a:gd name="T5" fmla="*/ 56 h 56"/>
                  <a:gd name="T6" fmla="*/ 28 w 120"/>
                  <a:gd name="T7" fmla="*/ 56 h 56"/>
                  <a:gd name="T8" fmla="*/ 0 w 120"/>
                  <a:gd name="T9" fmla="*/ 28 h 56"/>
                  <a:gd name="T10" fmla="*/ 8 w 120"/>
                  <a:gd name="T11" fmla="*/ 8 h 56"/>
                  <a:gd name="T12" fmla="*/ 28 w 120"/>
                  <a:gd name="T13" fmla="*/ 0 h 56"/>
                  <a:gd name="T14" fmla="*/ 92 w 120"/>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56">
                    <a:moveTo>
                      <a:pt x="92" y="0"/>
                    </a:moveTo>
                    <a:cubicBezTo>
                      <a:pt x="107" y="0"/>
                      <a:pt x="120" y="12"/>
                      <a:pt x="120" y="28"/>
                    </a:cubicBezTo>
                    <a:cubicBezTo>
                      <a:pt x="120" y="43"/>
                      <a:pt x="107" y="56"/>
                      <a:pt x="92" y="56"/>
                    </a:cubicBezTo>
                    <a:cubicBezTo>
                      <a:pt x="28" y="56"/>
                      <a:pt x="28" y="56"/>
                      <a:pt x="28" y="56"/>
                    </a:cubicBezTo>
                    <a:cubicBezTo>
                      <a:pt x="13" y="56"/>
                      <a:pt x="0" y="43"/>
                      <a:pt x="0" y="28"/>
                    </a:cubicBezTo>
                    <a:cubicBezTo>
                      <a:pt x="0" y="20"/>
                      <a:pt x="3" y="13"/>
                      <a:pt x="8" y="8"/>
                    </a:cubicBezTo>
                    <a:cubicBezTo>
                      <a:pt x="13" y="3"/>
                      <a:pt x="20" y="0"/>
                      <a:pt x="28" y="0"/>
                    </a:cubicBezTo>
                    <a:lnTo>
                      <a:pt x="9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90" tIns="34295" rIns="68590" bIns="3429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p>
            </p:txBody>
          </p:sp>
        </p:grpSp>
        <p:cxnSp>
          <p:nvCxnSpPr>
            <p:cNvPr id="19" name="直接连接符 18"/>
            <p:cNvCxnSpPr>
              <a:stCxn id="27" idx="3"/>
            </p:cNvCxnSpPr>
            <p:nvPr/>
          </p:nvCxnSpPr>
          <p:spPr>
            <a:xfrm>
              <a:off x="1076465" y="3808443"/>
              <a:ext cx="2570469" cy="0"/>
            </a:xfrm>
            <a:prstGeom prst="line">
              <a:avLst/>
            </a:prstGeom>
            <a:grpFill/>
            <a:ln w="19050">
              <a:solidFill>
                <a:srgbClr val="0065B0"/>
              </a:solidFill>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gn="l">
                <a:lnSpc>
                  <a:spcPct val="150000"/>
                </a:lnSpc>
              </a:pPr>
              <a:r>
                <a:rPr lang="en-US" altLang="zh-CN" sz="1000" dirty="0" smtClean="0">
                  <a:solidFill>
                    <a:schemeClr val="tx1"/>
                  </a:solidFill>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任意多边形 111"/>
          <p:cNvSpPr/>
          <p:nvPr>
            <p:custDataLst>
              <p:tags r:id="rId1"/>
            </p:custDataLst>
          </p:nvPr>
        </p:nvSpPr>
        <p:spPr>
          <a:xfrm>
            <a:off x="3214802" y="1731539"/>
            <a:ext cx="975554" cy="914027"/>
          </a:xfrm>
          <a:custGeom>
            <a:avLst/>
            <a:gdLst>
              <a:gd name="connsiteX0" fmla="*/ 184739 w 1300738"/>
              <a:gd name="connsiteY0" fmla="*/ 0 h 1218703"/>
              <a:gd name="connsiteX1" fmla="*/ 203732 w 1300738"/>
              <a:gd name="connsiteY1" fmla="*/ 2888 h 1218703"/>
              <a:gd name="connsiteX2" fmla="*/ 1300374 w 1300738"/>
              <a:gd name="connsiteY2" fmla="*/ 1211526 h 1218703"/>
              <a:gd name="connsiteX3" fmla="*/ 1300738 w 1300738"/>
              <a:gd name="connsiteY3" fmla="*/ 1218703 h 1218703"/>
              <a:gd name="connsiteX4" fmla="*/ 0 w 1300738"/>
              <a:gd name="connsiteY4" fmla="*/ 151562 h 1218703"/>
              <a:gd name="connsiteX5" fmla="*/ 184739 w 1300738"/>
              <a:gd name="connsiteY5" fmla="*/ 0 h 1218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0738" h="1218703">
                <a:moveTo>
                  <a:pt x="184739" y="0"/>
                </a:moveTo>
                <a:lnTo>
                  <a:pt x="203732" y="2888"/>
                </a:lnTo>
                <a:cubicBezTo>
                  <a:pt x="788663" y="122157"/>
                  <a:pt x="1239022" y="609546"/>
                  <a:pt x="1300374" y="1211526"/>
                </a:cubicBezTo>
                <a:lnTo>
                  <a:pt x="1300738" y="1218703"/>
                </a:lnTo>
                <a:lnTo>
                  <a:pt x="0" y="151562"/>
                </a:lnTo>
                <a:lnTo>
                  <a:pt x="184739"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11" name="任意多边形 110"/>
          <p:cNvSpPr/>
          <p:nvPr>
            <p:custDataLst>
              <p:tags r:id="rId2"/>
            </p:custDataLst>
          </p:nvPr>
        </p:nvSpPr>
        <p:spPr>
          <a:xfrm>
            <a:off x="2124793" y="1734308"/>
            <a:ext cx="968304" cy="972144"/>
          </a:xfrm>
          <a:custGeom>
            <a:avLst/>
            <a:gdLst>
              <a:gd name="connsiteX0" fmla="*/ 1096744 w 1291072"/>
              <a:gd name="connsiteY0" fmla="*/ 0 h 1296192"/>
              <a:gd name="connsiteX1" fmla="*/ 1291072 w 1291072"/>
              <a:gd name="connsiteY1" fmla="*/ 142198 h 1296192"/>
              <a:gd name="connsiteX2" fmla="*/ 33353 w 1291072"/>
              <a:gd name="connsiteY2" fmla="*/ 1296192 h 1296192"/>
              <a:gd name="connsiteX3" fmla="*/ 0 w 1291072"/>
              <a:gd name="connsiteY3" fmla="*/ 1271787 h 1296192"/>
              <a:gd name="connsiteX4" fmla="*/ 3241 w 1291072"/>
              <a:gd name="connsiteY4" fmla="*/ 1207834 h 1296192"/>
              <a:gd name="connsiteX5" fmla="*/ 967404 w 1291072"/>
              <a:gd name="connsiteY5" fmla="*/ 33139 h 1296192"/>
              <a:gd name="connsiteX6" fmla="*/ 1096744 w 1291072"/>
              <a:gd name="connsiteY6" fmla="*/ 0 h 129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1072" h="1296192">
                <a:moveTo>
                  <a:pt x="1096744" y="0"/>
                </a:moveTo>
                <a:lnTo>
                  <a:pt x="1291072" y="142198"/>
                </a:lnTo>
                <a:lnTo>
                  <a:pt x="33353" y="1296192"/>
                </a:lnTo>
                <a:lnTo>
                  <a:pt x="0" y="1271787"/>
                </a:lnTo>
                <a:lnTo>
                  <a:pt x="3241" y="1207834"/>
                </a:lnTo>
                <a:cubicBezTo>
                  <a:pt x="59874" y="652160"/>
                  <a:pt x="447968" y="194126"/>
                  <a:pt x="967404" y="33139"/>
                </a:cubicBezTo>
                <a:lnTo>
                  <a:pt x="1096744"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10" name="任意多边形 109"/>
          <p:cNvSpPr/>
          <p:nvPr>
            <p:custDataLst>
              <p:tags r:id="rId3"/>
            </p:custDataLst>
          </p:nvPr>
        </p:nvSpPr>
        <p:spPr>
          <a:xfrm>
            <a:off x="2125493" y="2798142"/>
            <a:ext cx="1013061" cy="960893"/>
          </a:xfrm>
          <a:custGeom>
            <a:avLst/>
            <a:gdLst>
              <a:gd name="connsiteX0" fmla="*/ 31112 w 1350748"/>
              <a:gd name="connsiteY0" fmla="*/ 0 h 1281190"/>
              <a:gd name="connsiteX1" fmla="*/ 1350748 w 1350748"/>
              <a:gd name="connsiteY1" fmla="*/ 1082646 h 1281190"/>
              <a:gd name="connsiteX2" fmla="*/ 1108743 w 1350748"/>
              <a:gd name="connsiteY2" fmla="*/ 1281190 h 1281190"/>
              <a:gd name="connsiteX3" fmla="*/ 1098950 w 1350748"/>
              <a:gd name="connsiteY3" fmla="*/ 1279700 h 1281190"/>
              <a:gd name="connsiteX4" fmla="*/ 2308 w 1350748"/>
              <a:gd name="connsiteY4" fmla="*/ 71062 h 1281190"/>
              <a:gd name="connsiteX5" fmla="*/ 0 w 1350748"/>
              <a:gd name="connsiteY5" fmla="*/ 25525 h 1281190"/>
              <a:gd name="connsiteX6" fmla="*/ 31112 w 1350748"/>
              <a:gd name="connsiteY6" fmla="*/ 0 h 128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0748" h="1281190">
                <a:moveTo>
                  <a:pt x="31112" y="0"/>
                </a:moveTo>
                <a:lnTo>
                  <a:pt x="1350748" y="1082646"/>
                </a:lnTo>
                <a:lnTo>
                  <a:pt x="1108743" y="1281190"/>
                </a:lnTo>
                <a:lnTo>
                  <a:pt x="1098950" y="1279700"/>
                </a:lnTo>
                <a:cubicBezTo>
                  <a:pt x="514019" y="1160432"/>
                  <a:pt x="63661" y="673043"/>
                  <a:pt x="2308" y="71062"/>
                </a:cubicBezTo>
                <a:lnTo>
                  <a:pt x="0" y="25525"/>
                </a:lnTo>
                <a:lnTo>
                  <a:pt x="31112"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09" name="任意多边形 108"/>
          <p:cNvSpPr/>
          <p:nvPr>
            <p:custDataLst>
              <p:tags r:id="rId4"/>
            </p:custDataLst>
          </p:nvPr>
        </p:nvSpPr>
        <p:spPr>
          <a:xfrm>
            <a:off x="3184162" y="2799681"/>
            <a:ext cx="1007794" cy="958900"/>
          </a:xfrm>
          <a:custGeom>
            <a:avLst/>
            <a:gdLst>
              <a:gd name="connsiteX0" fmla="*/ 1319636 w 1343725"/>
              <a:gd name="connsiteY0" fmla="*/ 0 h 1278533"/>
              <a:gd name="connsiteX1" fmla="*/ 1343725 w 1343725"/>
              <a:gd name="connsiteY1" fmla="*/ 19763 h 1278533"/>
              <a:gd name="connsiteX2" fmla="*/ 1341229 w 1343725"/>
              <a:gd name="connsiteY2" fmla="*/ 69010 h 1278533"/>
              <a:gd name="connsiteX3" fmla="*/ 244587 w 1343725"/>
              <a:gd name="connsiteY3" fmla="*/ 1277648 h 1278533"/>
              <a:gd name="connsiteX4" fmla="*/ 238767 w 1343725"/>
              <a:gd name="connsiteY4" fmla="*/ 1278533 h 1278533"/>
              <a:gd name="connsiteX5" fmla="*/ 0 w 1343725"/>
              <a:gd name="connsiteY5" fmla="*/ 1082646 h 1278533"/>
              <a:gd name="connsiteX6" fmla="*/ 1319636 w 1343725"/>
              <a:gd name="connsiteY6" fmla="*/ 0 h 127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725" h="1278533">
                <a:moveTo>
                  <a:pt x="1319636" y="0"/>
                </a:moveTo>
                <a:lnTo>
                  <a:pt x="1343725" y="19763"/>
                </a:lnTo>
                <a:lnTo>
                  <a:pt x="1341229" y="69010"/>
                </a:lnTo>
                <a:cubicBezTo>
                  <a:pt x="1279877" y="670991"/>
                  <a:pt x="829518" y="1158380"/>
                  <a:pt x="244587" y="1277648"/>
                </a:cubicBezTo>
                <a:lnTo>
                  <a:pt x="238767" y="1278533"/>
                </a:lnTo>
                <a:lnTo>
                  <a:pt x="0" y="1082646"/>
                </a:lnTo>
                <a:lnTo>
                  <a:pt x="1319636"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08" name="任意多边形 107"/>
          <p:cNvSpPr/>
          <p:nvPr>
            <p:custDataLst>
              <p:tags r:id="rId5"/>
            </p:custDataLst>
          </p:nvPr>
        </p:nvSpPr>
        <p:spPr>
          <a:xfrm>
            <a:off x="3353357" y="1033226"/>
            <a:ext cx="1840900" cy="1623968"/>
          </a:xfrm>
          <a:custGeom>
            <a:avLst/>
            <a:gdLst>
              <a:gd name="connsiteX0" fmla="*/ 1134897 w 2454533"/>
              <a:gd name="connsiteY0" fmla="*/ 0 h 2165291"/>
              <a:gd name="connsiteX1" fmla="*/ 2454533 w 2454533"/>
              <a:gd name="connsiteY1" fmla="*/ 1082646 h 2165291"/>
              <a:gd name="connsiteX2" fmla="*/ 1134897 w 2454533"/>
              <a:gd name="connsiteY2" fmla="*/ 2165291 h 2165291"/>
              <a:gd name="connsiteX3" fmla="*/ 1115999 w 2454533"/>
              <a:gd name="connsiteY3" fmla="*/ 2149787 h 2165291"/>
              <a:gd name="connsiteX4" fmla="*/ 1115635 w 2454533"/>
              <a:gd name="connsiteY4" fmla="*/ 2142610 h 2165291"/>
              <a:gd name="connsiteX5" fmla="*/ 18993 w 2454533"/>
              <a:gd name="connsiteY5" fmla="*/ 933972 h 2165291"/>
              <a:gd name="connsiteX6" fmla="*/ 0 w 2454533"/>
              <a:gd name="connsiteY6" fmla="*/ 931084 h 2165291"/>
              <a:gd name="connsiteX7" fmla="*/ 1134897 w 2454533"/>
              <a:gd name="connsiteY7" fmla="*/ 0 h 216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4533" h="2165291">
                <a:moveTo>
                  <a:pt x="1134897" y="0"/>
                </a:moveTo>
                <a:lnTo>
                  <a:pt x="2454533" y="1082646"/>
                </a:lnTo>
                <a:lnTo>
                  <a:pt x="1134897" y="2165291"/>
                </a:lnTo>
                <a:lnTo>
                  <a:pt x="1115999" y="2149787"/>
                </a:lnTo>
                <a:lnTo>
                  <a:pt x="1115635" y="2142610"/>
                </a:lnTo>
                <a:cubicBezTo>
                  <a:pt x="1054283" y="1540630"/>
                  <a:pt x="603924" y="1053241"/>
                  <a:pt x="18993" y="933972"/>
                </a:cubicBezTo>
                <a:lnTo>
                  <a:pt x="0" y="931084"/>
                </a:lnTo>
                <a:lnTo>
                  <a:pt x="1134897"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31" name="任意多边形 30"/>
          <p:cNvSpPr/>
          <p:nvPr>
            <p:custDataLst>
              <p:tags r:id="rId6"/>
            </p:custDataLst>
          </p:nvPr>
        </p:nvSpPr>
        <p:spPr>
          <a:xfrm>
            <a:off x="1116675" y="1084970"/>
            <a:ext cx="1830677" cy="1603178"/>
          </a:xfrm>
          <a:custGeom>
            <a:avLst/>
            <a:gdLst>
              <a:gd name="connsiteX0" fmla="*/ 1257719 w 2440902"/>
              <a:gd name="connsiteY0" fmla="*/ 0 h 2137570"/>
              <a:gd name="connsiteX1" fmla="*/ 2440902 w 2440902"/>
              <a:gd name="connsiteY1" fmla="*/ 865783 h 2137570"/>
              <a:gd name="connsiteX2" fmla="*/ 2311562 w 2440902"/>
              <a:gd name="connsiteY2" fmla="*/ 898922 h 2137570"/>
              <a:gd name="connsiteX3" fmla="*/ 1347399 w 2440902"/>
              <a:gd name="connsiteY3" fmla="*/ 2073617 h 2137570"/>
              <a:gd name="connsiteX4" fmla="*/ 1344158 w 2440902"/>
              <a:gd name="connsiteY4" fmla="*/ 2137570 h 2137570"/>
              <a:gd name="connsiteX5" fmla="*/ 0 w 2440902"/>
              <a:gd name="connsiteY5" fmla="*/ 1153996 h 2137570"/>
              <a:gd name="connsiteX6" fmla="*/ 1257719 w 2440902"/>
              <a:gd name="connsiteY6" fmla="*/ 0 h 213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0902" h="2137570">
                <a:moveTo>
                  <a:pt x="1257719" y="0"/>
                </a:moveTo>
                <a:lnTo>
                  <a:pt x="2440902" y="865783"/>
                </a:lnTo>
                <a:lnTo>
                  <a:pt x="2311562" y="898922"/>
                </a:lnTo>
                <a:cubicBezTo>
                  <a:pt x="1792126" y="1059909"/>
                  <a:pt x="1404032" y="1517943"/>
                  <a:pt x="1347399" y="2073617"/>
                </a:cubicBezTo>
                <a:lnTo>
                  <a:pt x="1344158" y="2137570"/>
                </a:lnTo>
                <a:lnTo>
                  <a:pt x="0" y="1153996"/>
                </a:lnTo>
                <a:lnTo>
                  <a:pt x="1257719"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05" name="任意多边形 104"/>
          <p:cNvSpPr/>
          <p:nvPr>
            <p:custDataLst>
              <p:tags r:id="rId7"/>
            </p:custDataLst>
          </p:nvPr>
        </p:nvSpPr>
        <p:spPr>
          <a:xfrm>
            <a:off x="3363237" y="2814503"/>
            <a:ext cx="1800379" cy="1609146"/>
          </a:xfrm>
          <a:custGeom>
            <a:avLst/>
            <a:gdLst>
              <a:gd name="connsiteX0" fmla="*/ 1104958 w 2400505"/>
              <a:gd name="connsiteY0" fmla="*/ 0 h 2145528"/>
              <a:gd name="connsiteX1" fmla="*/ 2400505 w 2400505"/>
              <a:gd name="connsiteY1" fmla="*/ 1062883 h 2145528"/>
              <a:gd name="connsiteX2" fmla="*/ 1080869 w 2400505"/>
              <a:gd name="connsiteY2" fmla="*/ 2145528 h 2145528"/>
              <a:gd name="connsiteX3" fmla="*/ 0 w 2400505"/>
              <a:gd name="connsiteY3" fmla="*/ 1258770 h 2145528"/>
              <a:gd name="connsiteX4" fmla="*/ 5820 w 2400505"/>
              <a:gd name="connsiteY4" fmla="*/ 1257885 h 2145528"/>
              <a:gd name="connsiteX5" fmla="*/ 1102462 w 2400505"/>
              <a:gd name="connsiteY5" fmla="*/ 49247 h 2145528"/>
              <a:gd name="connsiteX6" fmla="*/ 1104958 w 2400505"/>
              <a:gd name="connsiteY6" fmla="*/ 0 h 214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0505" h="2145528">
                <a:moveTo>
                  <a:pt x="1104958" y="0"/>
                </a:moveTo>
                <a:lnTo>
                  <a:pt x="2400505" y="1062883"/>
                </a:lnTo>
                <a:lnTo>
                  <a:pt x="1080869" y="2145528"/>
                </a:lnTo>
                <a:lnTo>
                  <a:pt x="0" y="1258770"/>
                </a:lnTo>
                <a:lnTo>
                  <a:pt x="5820" y="1257885"/>
                </a:lnTo>
                <a:cubicBezTo>
                  <a:pt x="590751" y="1138617"/>
                  <a:pt x="1041110" y="651228"/>
                  <a:pt x="1102462" y="49247"/>
                </a:cubicBezTo>
                <a:lnTo>
                  <a:pt x="1104958"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104" name="任意多边形 103"/>
          <p:cNvSpPr/>
          <p:nvPr>
            <p:custDataLst>
              <p:tags r:id="rId8"/>
            </p:custDataLst>
          </p:nvPr>
        </p:nvSpPr>
        <p:spPr>
          <a:xfrm>
            <a:off x="1159101" y="2817286"/>
            <a:ext cx="1797950" cy="1604825"/>
          </a:xfrm>
          <a:custGeom>
            <a:avLst/>
            <a:gdLst>
              <a:gd name="connsiteX0" fmla="*/ 1288524 w 2397267"/>
              <a:gd name="connsiteY0" fmla="*/ 0 h 2139766"/>
              <a:gd name="connsiteX1" fmla="*/ 1290832 w 2397267"/>
              <a:gd name="connsiteY1" fmla="*/ 45537 h 2139766"/>
              <a:gd name="connsiteX2" fmla="*/ 2387474 w 2397267"/>
              <a:gd name="connsiteY2" fmla="*/ 1254175 h 2139766"/>
              <a:gd name="connsiteX3" fmla="*/ 2397267 w 2397267"/>
              <a:gd name="connsiteY3" fmla="*/ 1255665 h 2139766"/>
              <a:gd name="connsiteX4" fmla="*/ 1319636 w 2397267"/>
              <a:gd name="connsiteY4" fmla="*/ 2139766 h 2139766"/>
              <a:gd name="connsiteX5" fmla="*/ 0 w 2397267"/>
              <a:gd name="connsiteY5" fmla="*/ 1057121 h 2139766"/>
              <a:gd name="connsiteX6" fmla="*/ 1288524 w 2397267"/>
              <a:gd name="connsiteY6" fmla="*/ 0 h 213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7267" h="2139766">
                <a:moveTo>
                  <a:pt x="1288524" y="0"/>
                </a:moveTo>
                <a:lnTo>
                  <a:pt x="1290832" y="45537"/>
                </a:lnTo>
                <a:cubicBezTo>
                  <a:pt x="1352185" y="647518"/>
                  <a:pt x="1802543" y="1134907"/>
                  <a:pt x="2387474" y="1254175"/>
                </a:cubicBezTo>
                <a:lnTo>
                  <a:pt x="2397267" y="1255665"/>
                </a:lnTo>
                <a:lnTo>
                  <a:pt x="1319636" y="2139766"/>
                </a:lnTo>
                <a:lnTo>
                  <a:pt x="0" y="1057121"/>
                </a:lnTo>
                <a:lnTo>
                  <a:pt x="1288524" y="0"/>
                </a:lnTo>
                <a:close/>
              </a:path>
            </a:pathLst>
          </a:custGeom>
          <a:solidFill>
            <a:srgbClr val="FFFFFF"/>
          </a:solidFill>
          <a:ln w="28575" cap="flat" cmpd="sng" algn="ctr">
            <a:noFill/>
            <a:prstDash val="solid"/>
            <a:miter lim="800000"/>
          </a:ln>
          <a:effectLst>
            <a:outerShdw blurRad="228600" dist="38100" dir="5400000" algn="ctr" rotWithShape="0">
              <a:srgbClr val="000000">
                <a:alpha val="54000"/>
              </a:srgbClr>
            </a:outerShdw>
          </a:effectLst>
        </p:spPr>
        <p:txBody>
          <a:bodyPr wrap="square" rtlCol="0" anchor="ctr">
            <a:noAutofit/>
          </a:bodyP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32" name="文本框 31"/>
          <p:cNvSpPr txBox="1"/>
          <p:nvPr>
            <p:custDataLst>
              <p:tags r:id="rId9"/>
            </p:custDataLst>
          </p:nvPr>
        </p:nvSpPr>
        <p:spPr>
          <a:xfrm>
            <a:off x="2534320" y="2413274"/>
            <a:ext cx="1261208" cy="300083"/>
          </a:xfrm>
          <a:prstGeom prst="rect">
            <a:avLst/>
          </a:prstGeom>
          <a:noFill/>
        </p:spPr>
        <p:txBody>
          <a:bodyPr wrap="square" bIns="0" rtlCol="0" anchor="b" anchorCtr="0">
            <a:noAutofit/>
          </a:bodyPr>
          <a:lstStyle/>
          <a:p>
            <a:pPr algn="ctr">
              <a:lnSpc>
                <a:spcPct val="120000"/>
              </a:lnSpc>
            </a:pPr>
            <a:r>
              <a:rPr lang="zh-CN" altLang="en-US" sz="2000" b="1" spc="300" dirty="0" smtClean="0">
                <a:solidFill>
                  <a:srgbClr val="002060"/>
                </a:solidFill>
                <a:latin typeface="微软雅黑" panose="020B0503020204020204" charset="-122"/>
                <a:ea typeface="微软雅黑" panose="020B0503020204020204" charset="-122"/>
              </a:rPr>
              <a:t>动力学</a:t>
            </a:r>
            <a:endParaRPr lang="zh-CN" altLang="en-US" sz="2000" b="1" spc="300" dirty="0">
              <a:solidFill>
                <a:srgbClr val="002060"/>
              </a:solidFill>
              <a:latin typeface="微软雅黑" panose="020B0503020204020204" charset="-122"/>
              <a:ea typeface="微软雅黑" panose="020B0503020204020204" charset="-122"/>
            </a:endParaRPr>
          </a:p>
        </p:txBody>
      </p:sp>
      <p:sp>
        <p:nvSpPr>
          <p:cNvPr id="33" name="文本框 32"/>
          <p:cNvSpPr txBox="1"/>
          <p:nvPr>
            <p:custDataLst>
              <p:tags r:id="rId10"/>
            </p:custDataLst>
          </p:nvPr>
        </p:nvSpPr>
        <p:spPr>
          <a:xfrm>
            <a:off x="2534320" y="2733626"/>
            <a:ext cx="1261208" cy="208229"/>
          </a:xfrm>
          <a:prstGeom prst="rect">
            <a:avLst/>
          </a:prstGeom>
          <a:noFill/>
        </p:spPr>
        <p:txBody>
          <a:bodyPr wrap="square" tIns="0" rtlCol="0">
            <a:normAutofit lnSpcReduction="10000"/>
          </a:bodyPr>
          <a:lstStyle/>
          <a:p>
            <a:pPr algn="ctr">
              <a:lnSpc>
                <a:spcPct val="120000"/>
              </a:lnSpc>
            </a:pPr>
            <a:r>
              <a:rPr lang="en-US" altLang="zh-CN" sz="900" b="1" spc="150" dirty="0" smtClean="0">
                <a:solidFill>
                  <a:srgbClr val="7030A0"/>
                </a:solidFill>
                <a:latin typeface="微软雅黑" panose="020B0503020204020204" charset="-122"/>
                <a:ea typeface="微软雅黑" panose="020B0503020204020204" charset="-122"/>
              </a:rPr>
              <a:t>Dynamics</a:t>
            </a:r>
            <a:endParaRPr lang="zh-CN" altLang="en-US" sz="900" b="1" spc="150" dirty="0">
              <a:solidFill>
                <a:srgbClr val="7030A0"/>
              </a:solidFill>
              <a:latin typeface="微软雅黑" panose="020B0503020204020204" charset="-122"/>
              <a:ea typeface="微软雅黑" panose="020B0503020204020204" charset="-122"/>
            </a:endParaRPr>
          </a:p>
        </p:txBody>
      </p:sp>
      <p:sp>
        <p:nvSpPr>
          <p:cNvPr id="36" name="六边形 35"/>
          <p:cNvSpPr/>
          <p:nvPr>
            <p:custDataLst>
              <p:tags r:id="rId11"/>
            </p:custDataLst>
          </p:nvPr>
        </p:nvSpPr>
        <p:spPr>
          <a:xfrm>
            <a:off x="2319814" y="1988015"/>
            <a:ext cx="1674761" cy="1428207"/>
          </a:xfrm>
          <a:prstGeom prst="hexagon">
            <a:avLst>
              <a:gd name="adj" fmla="val 58000"/>
              <a:gd name="vf" fmla="val 115470"/>
            </a:avLst>
          </a:prstGeom>
          <a:noFill/>
          <a:ln w="28575" cap="flat" cmpd="sng" algn="ctr">
            <a:solidFill>
              <a:srgbClr val="FFFFFF">
                <a:lumMod val="50000"/>
              </a:srgbClr>
            </a:solidFill>
            <a:prstDash val="solid"/>
            <a:miter lim="800000"/>
          </a:ln>
          <a:effectLst/>
        </p:spPr>
        <p:txBody>
          <a:bodyPr rtlCol="0" anchor="ctr"/>
          <a:lstStyle/>
          <a:p>
            <a:pPr algn="ctr">
              <a:lnSpc>
                <a:spcPct val="120000"/>
              </a:lnSpc>
            </a:pPr>
            <a:endParaRPr lang="zh-CN" altLang="en-US" sz="1350" dirty="0">
              <a:solidFill>
                <a:srgbClr val="000000">
                  <a:lumMod val="75000"/>
                  <a:lumOff val="25000"/>
                </a:srgbClr>
              </a:solidFill>
              <a:latin typeface="微软雅黑" panose="020B0503020204020204" charset="-122"/>
              <a:ea typeface="微软雅黑" panose="020B0503020204020204" charset="-122"/>
            </a:endParaRPr>
          </a:p>
        </p:txBody>
      </p:sp>
      <p:sp>
        <p:nvSpPr>
          <p:cNvPr id="60" name="文本框 59"/>
          <p:cNvSpPr txBox="1"/>
          <p:nvPr>
            <p:custDataLst>
              <p:tags r:id="rId12"/>
            </p:custDataLst>
          </p:nvPr>
        </p:nvSpPr>
        <p:spPr>
          <a:xfrm>
            <a:off x="1279202" y="1699511"/>
            <a:ext cx="1177244" cy="542816"/>
          </a:xfrm>
          <a:prstGeom prst="rect">
            <a:avLst/>
          </a:prstGeom>
          <a:noFill/>
        </p:spPr>
        <p:txBody>
          <a:bodyPr wrap="square" rtlCol="0">
            <a:normAutofit fontScale="47500" lnSpcReduction="20000"/>
          </a:bodyPr>
          <a:lstStyle/>
          <a:p>
            <a:pPr algn="ctr">
              <a:lnSpc>
                <a:spcPct val="120000"/>
              </a:lnSpc>
            </a:pPr>
            <a:r>
              <a:rPr lang="en-US" altLang="zh-CN" sz="4900" b="1" spc="300" dirty="0" smtClean="0">
                <a:solidFill>
                  <a:srgbClr val="000000">
                    <a:lumMod val="65000"/>
                    <a:lumOff val="35000"/>
                  </a:srgbClr>
                </a:solidFill>
                <a:latin typeface="微软雅黑" panose="020B0503020204020204" charset="-122"/>
                <a:ea typeface="微软雅黑" panose="020B0503020204020204" charset="-122"/>
              </a:rPr>
              <a:t>What</a:t>
            </a:r>
          </a:p>
          <a:p>
            <a:pPr algn="ctr">
              <a:lnSpc>
                <a:spcPct val="120000"/>
              </a:lnSpc>
            </a:pPr>
            <a:r>
              <a:rPr lang="en-US" altLang="zh-CN" sz="1350" b="1" spc="300" dirty="0" smtClean="0">
                <a:solidFill>
                  <a:srgbClr val="000000">
                    <a:lumMod val="65000"/>
                    <a:lumOff val="35000"/>
                  </a:srgbClr>
                </a:solidFill>
                <a:latin typeface="微软雅黑" panose="020B0503020204020204" charset="-122"/>
                <a:ea typeface="微软雅黑" panose="020B0503020204020204" charset="-122"/>
              </a:rPr>
              <a:t>Is Dynamics</a:t>
            </a:r>
            <a:endParaRPr lang="zh-CN" altLang="en-US" sz="1350" b="1" spc="300" dirty="0">
              <a:solidFill>
                <a:srgbClr val="000000">
                  <a:lumMod val="65000"/>
                  <a:lumOff val="35000"/>
                </a:srgbClr>
              </a:solidFill>
              <a:latin typeface="微软雅黑" panose="020B0503020204020204" charset="-122"/>
              <a:ea typeface="微软雅黑" panose="020B0503020204020204" charset="-122"/>
            </a:endParaRPr>
          </a:p>
        </p:txBody>
      </p:sp>
      <p:sp>
        <p:nvSpPr>
          <p:cNvPr id="68" name="文本框 67"/>
          <p:cNvSpPr txBox="1"/>
          <p:nvPr>
            <p:custDataLst>
              <p:tags r:id="rId13"/>
            </p:custDataLst>
          </p:nvPr>
        </p:nvSpPr>
        <p:spPr>
          <a:xfrm>
            <a:off x="3731294" y="3649963"/>
            <a:ext cx="1836112" cy="316835"/>
          </a:xfrm>
          <a:prstGeom prst="rect">
            <a:avLst/>
          </a:prstGeom>
          <a:noFill/>
        </p:spPr>
        <p:txBody>
          <a:bodyPr wrap="square" rtlCol="0">
            <a:noAutofit/>
          </a:bodyPr>
          <a:lstStyle/>
          <a:p>
            <a:pPr algn="ctr">
              <a:lnSpc>
                <a:spcPct val="120000"/>
              </a:lnSpc>
            </a:pPr>
            <a:r>
              <a:rPr lang="en-US" altLang="zh-CN" sz="2300" b="1" spc="300" dirty="0" smtClean="0">
                <a:solidFill>
                  <a:srgbClr val="000000">
                    <a:lumMod val="65000"/>
                    <a:lumOff val="35000"/>
                  </a:srgbClr>
                </a:solidFill>
                <a:latin typeface="微软雅黑" panose="020B0503020204020204" charset="-122"/>
                <a:ea typeface="微软雅黑" panose="020B0503020204020204" charset="-122"/>
              </a:rPr>
              <a:t>A</a:t>
            </a:r>
            <a:r>
              <a:rPr lang="en-US" altLang="zh-CN" sz="1400" b="1" spc="300" dirty="0" smtClean="0">
                <a:solidFill>
                  <a:srgbClr val="000000">
                    <a:lumMod val="65000"/>
                    <a:lumOff val="35000"/>
                  </a:srgbClr>
                </a:solidFill>
                <a:latin typeface="微软雅黑" panose="020B0503020204020204" charset="-122"/>
                <a:ea typeface="微软雅黑" panose="020B0503020204020204" charset="-122"/>
              </a:rPr>
              <a:t>pplication</a:t>
            </a:r>
            <a:endParaRPr lang="zh-CN" altLang="en-US" sz="1400" b="1" spc="300" dirty="0">
              <a:solidFill>
                <a:srgbClr val="000000">
                  <a:lumMod val="65000"/>
                  <a:lumOff val="35000"/>
                </a:srgbClr>
              </a:solidFill>
              <a:latin typeface="微软雅黑" panose="020B0503020204020204" charset="-122"/>
              <a:ea typeface="微软雅黑" panose="020B0503020204020204" charset="-122"/>
            </a:endParaRPr>
          </a:p>
        </p:txBody>
      </p:sp>
      <p:sp>
        <p:nvSpPr>
          <p:cNvPr id="98" name="boss-with-tie_81303"/>
          <p:cNvSpPr>
            <a:spLocks noChangeAspect="1"/>
          </p:cNvSpPr>
          <p:nvPr>
            <p:custDataLst>
              <p:tags r:id="rId14"/>
            </p:custDataLst>
          </p:nvPr>
        </p:nvSpPr>
        <p:spPr bwMode="auto">
          <a:xfrm>
            <a:off x="1920060" y="1388040"/>
            <a:ext cx="276032" cy="200282"/>
          </a:xfrm>
          <a:custGeom>
            <a:avLst/>
            <a:gdLst>
              <a:gd name="connsiteX0" fmla="*/ 515191 w 608979"/>
              <a:gd name="connsiteY0" fmla="*/ 87293 h 441863"/>
              <a:gd name="connsiteX1" fmla="*/ 504157 w 608979"/>
              <a:gd name="connsiteY1" fmla="*/ 98310 h 441863"/>
              <a:gd name="connsiteX2" fmla="*/ 515191 w 608979"/>
              <a:gd name="connsiteY2" fmla="*/ 109420 h 441863"/>
              <a:gd name="connsiteX3" fmla="*/ 526319 w 608979"/>
              <a:gd name="connsiteY3" fmla="*/ 98310 h 441863"/>
              <a:gd name="connsiteX4" fmla="*/ 515191 w 608979"/>
              <a:gd name="connsiteY4" fmla="*/ 87293 h 441863"/>
              <a:gd name="connsiteX5" fmla="*/ 478162 w 608979"/>
              <a:gd name="connsiteY5" fmla="*/ 87293 h 441863"/>
              <a:gd name="connsiteX6" fmla="*/ 467129 w 608979"/>
              <a:gd name="connsiteY6" fmla="*/ 98310 h 441863"/>
              <a:gd name="connsiteX7" fmla="*/ 478162 w 608979"/>
              <a:gd name="connsiteY7" fmla="*/ 109420 h 441863"/>
              <a:gd name="connsiteX8" fmla="*/ 489290 w 608979"/>
              <a:gd name="connsiteY8" fmla="*/ 98310 h 441863"/>
              <a:gd name="connsiteX9" fmla="*/ 478162 w 608979"/>
              <a:gd name="connsiteY9" fmla="*/ 87293 h 441863"/>
              <a:gd name="connsiteX10" fmla="*/ 441133 w 608979"/>
              <a:gd name="connsiteY10" fmla="*/ 87293 h 441863"/>
              <a:gd name="connsiteX11" fmla="*/ 430100 w 608979"/>
              <a:gd name="connsiteY11" fmla="*/ 98310 h 441863"/>
              <a:gd name="connsiteX12" fmla="*/ 441133 w 608979"/>
              <a:gd name="connsiteY12" fmla="*/ 109420 h 441863"/>
              <a:gd name="connsiteX13" fmla="*/ 452261 w 608979"/>
              <a:gd name="connsiteY13" fmla="*/ 98310 h 441863"/>
              <a:gd name="connsiteX14" fmla="*/ 441133 w 608979"/>
              <a:gd name="connsiteY14" fmla="*/ 87293 h 441863"/>
              <a:gd name="connsiteX15" fmla="*/ 437300 w 608979"/>
              <a:gd name="connsiteY15" fmla="*/ 8309 h 441863"/>
              <a:gd name="connsiteX16" fmla="*/ 518932 w 608979"/>
              <a:gd name="connsiteY16" fmla="*/ 8309 h 441863"/>
              <a:gd name="connsiteX17" fmla="*/ 608979 w 608979"/>
              <a:gd name="connsiteY17" fmla="*/ 98216 h 441863"/>
              <a:gd name="connsiteX18" fmla="*/ 518932 w 608979"/>
              <a:gd name="connsiteY18" fmla="*/ 188124 h 441863"/>
              <a:gd name="connsiteX19" fmla="*/ 457871 w 608979"/>
              <a:gd name="connsiteY19" fmla="*/ 188124 h 441863"/>
              <a:gd name="connsiteX20" fmla="*/ 416448 w 608979"/>
              <a:gd name="connsiteY20" fmla="*/ 229390 h 441863"/>
              <a:gd name="connsiteX21" fmla="*/ 408873 w 608979"/>
              <a:gd name="connsiteY21" fmla="*/ 226309 h 441863"/>
              <a:gd name="connsiteX22" fmla="*/ 408873 w 608979"/>
              <a:gd name="connsiteY22" fmla="*/ 183456 h 441863"/>
              <a:gd name="connsiteX23" fmla="*/ 347252 w 608979"/>
              <a:gd name="connsiteY23" fmla="*/ 98216 h 441863"/>
              <a:gd name="connsiteX24" fmla="*/ 437300 w 608979"/>
              <a:gd name="connsiteY24" fmla="*/ 8309 h 441863"/>
              <a:gd name="connsiteX25" fmla="*/ 206407 w 608979"/>
              <a:gd name="connsiteY25" fmla="*/ 368 h 441863"/>
              <a:gd name="connsiteX26" fmla="*/ 256349 w 608979"/>
              <a:gd name="connsiteY26" fmla="*/ 10919 h 441863"/>
              <a:gd name="connsiteX27" fmla="*/ 280666 w 608979"/>
              <a:gd name="connsiteY27" fmla="*/ 33611 h 441863"/>
              <a:gd name="connsiteX28" fmla="*/ 307507 w 608979"/>
              <a:gd name="connsiteY28" fmla="*/ 118492 h 441863"/>
              <a:gd name="connsiteX29" fmla="*/ 305730 w 608979"/>
              <a:gd name="connsiteY29" fmla="*/ 126149 h 441863"/>
              <a:gd name="connsiteX30" fmla="*/ 312838 w 608979"/>
              <a:gd name="connsiteY30" fmla="*/ 161820 h 441863"/>
              <a:gd name="connsiteX31" fmla="*/ 295536 w 608979"/>
              <a:gd name="connsiteY31" fmla="*/ 191888 h 441863"/>
              <a:gd name="connsiteX32" fmla="*/ 283471 w 608979"/>
              <a:gd name="connsiteY32" fmla="*/ 224944 h 441863"/>
              <a:gd name="connsiteX33" fmla="*/ 283471 w 608979"/>
              <a:gd name="connsiteY33" fmla="*/ 266311 h 441863"/>
              <a:gd name="connsiteX34" fmla="*/ 285529 w 608979"/>
              <a:gd name="connsiteY34" fmla="*/ 269766 h 441863"/>
              <a:gd name="connsiteX35" fmla="*/ 410383 w 608979"/>
              <a:gd name="connsiteY35" fmla="*/ 349698 h 441863"/>
              <a:gd name="connsiteX36" fmla="*/ 425721 w 608979"/>
              <a:gd name="connsiteY36" fmla="*/ 382007 h 441863"/>
              <a:gd name="connsiteX37" fmla="*/ 425721 w 608979"/>
              <a:gd name="connsiteY37" fmla="*/ 441863 h 441863"/>
              <a:gd name="connsiteX38" fmla="*/ 240824 w 608979"/>
              <a:gd name="connsiteY38" fmla="*/ 441863 h 441863"/>
              <a:gd name="connsiteX39" fmla="*/ 222587 w 608979"/>
              <a:gd name="connsiteY39" fmla="*/ 358569 h 441863"/>
              <a:gd name="connsiteX40" fmla="*/ 212861 w 608979"/>
              <a:gd name="connsiteY40" fmla="*/ 304689 h 441863"/>
              <a:gd name="connsiteX41" fmla="*/ 203134 w 608979"/>
              <a:gd name="connsiteY41" fmla="*/ 358569 h 441863"/>
              <a:gd name="connsiteX42" fmla="*/ 184897 w 608979"/>
              <a:gd name="connsiteY42" fmla="*/ 441863 h 441863"/>
              <a:gd name="connsiteX43" fmla="*/ 0 w 608979"/>
              <a:gd name="connsiteY43" fmla="*/ 441863 h 441863"/>
              <a:gd name="connsiteX44" fmla="*/ 0 w 608979"/>
              <a:gd name="connsiteY44" fmla="*/ 382007 h 441863"/>
              <a:gd name="connsiteX45" fmla="*/ 15245 w 608979"/>
              <a:gd name="connsiteY45" fmla="*/ 349325 h 441863"/>
              <a:gd name="connsiteX46" fmla="*/ 140005 w 608979"/>
              <a:gd name="connsiteY46" fmla="*/ 269392 h 441863"/>
              <a:gd name="connsiteX47" fmla="*/ 142157 w 608979"/>
              <a:gd name="connsiteY47" fmla="*/ 265937 h 441863"/>
              <a:gd name="connsiteX48" fmla="*/ 142157 w 608979"/>
              <a:gd name="connsiteY48" fmla="*/ 224757 h 441863"/>
              <a:gd name="connsiteX49" fmla="*/ 130092 w 608979"/>
              <a:gd name="connsiteY49" fmla="*/ 191608 h 441863"/>
              <a:gd name="connsiteX50" fmla="*/ 112696 w 608979"/>
              <a:gd name="connsiteY50" fmla="*/ 161633 h 441863"/>
              <a:gd name="connsiteX51" fmla="*/ 119430 w 608979"/>
              <a:gd name="connsiteY51" fmla="*/ 125962 h 441863"/>
              <a:gd name="connsiteX52" fmla="*/ 117747 w 608979"/>
              <a:gd name="connsiteY52" fmla="*/ 118399 h 441863"/>
              <a:gd name="connsiteX53" fmla="*/ 117466 w 608979"/>
              <a:gd name="connsiteY53" fmla="*/ 76658 h 441863"/>
              <a:gd name="connsiteX54" fmla="*/ 141876 w 608979"/>
              <a:gd name="connsiteY54" fmla="*/ 33984 h 441863"/>
              <a:gd name="connsiteX55" fmla="*/ 164509 w 608979"/>
              <a:gd name="connsiteY55" fmla="*/ 15308 h 441863"/>
              <a:gd name="connsiteX56" fmla="*/ 186393 w 608979"/>
              <a:gd name="connsiteY56" fmla="*/ 4103 h 441863"/>
              <a:gd name="connsiteX57" fmla="*/ 206407 w 608979"/>
              <a:gd name="connsiteY57" fmla="*/ 368 h 44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8979" h="441863">
                <a:moveTo>
                  <a:pt x="515191" y="87293"/>
                </a:moveTo>
                <a:cubicBezTo>
                  <a:pt x="509113" y="87293"/>
                  <a:pt x="504157" y="92241"/>
                  <a:pt x="504157" y="98310"/>
                </a:cubicBezTo>
                <a:cubicBezTo>
                  <a:pt x="504157" y="104472"/>
                  <a:pt x="509113" y="109420"/>
                  <a:pt x="515191" y="109420"/>
                </a:cubicBezTo>
                <a:cubicBezTo>
                  <a:pt x="521363" y="109420"/>
                  <a:pt x="526319" y="104472"/>
                  <a:pt x="526319" y="98310"/>
                </a:cubicBezTo>
                <a:cubicBezTo>
                  <a:pt x="526319" y="92241"/>
                  <a:pt x="521363" y="87293"/>
                  <a:pt x="515191" y="87293"/>
                </a:cubicBezTo>
                <a:close/>
                <a:moveTo>
                  <a:pt x="478162" y="87293"/>
                </a:moveTo>
                <a:cubicBezTo>
                  <a:pt x="472084" y="87293"/>
                  <a:pt x="467129" y="92241"/>
                  <a:pt x="467129" y="98310"/>
                </a:cubicBezTo>
                <a:cubicBezTo>
                  <a:pt x="467129" y="104472"/>
                  <a:pt x="472084" y="109420"/>
                  <a:pt x="478162" y="109420"/>
                </a:cubicBezTo>
                <a:cubicBezTo>
                  <a:pt x="484334" y="109420"/>
                  <a:pt x="489290" y="104472"/>
                  <a:pt x="489290" y="98310"/>
                </a:cubicBezTo>
                <a:cubicBezTo>
                  <a:pt x="489290" y="92241"/>
                  <a:pt x="484334" y="87293"/>
                  <a:pt x="478162" y="87293"/>
                </a:cubicBezTo>
                <a:close/>
                <a:moveTo>
                  <a:pt x="441133" y="87293"/>
                </a:moveTo>
                <a:cubicBezTo>
                  <a:pt x="435056" y="87293"/>
                  <a:pt x="430100" y="92241"/>
                  <a:pt x="430100" y="98310"/>
                </a:cubicBezTo>
                <a:cubicBezTo>
                  <a:pt x="430100" y="104472"/>
                  <a:pt x="435056" y="109420"/>
                  <a:pt x="441133" y="109420"/>
                </a:cubicBezTo>
                <a:cubicBezTo>
                  <a:pt x="447398" y="109420"/>
                  <a:pt x="452354" y="104472"/>
                  <a:pt x="452261" y="98310"/>
                </a:cubicBezTo>
                <a:cubicBezTo>
                  <a:pt x="452261" y="92241"/>
                  <a:pt x="447305" y="87293"/>
                  <a:pt x="441133" y="87293"/>
                </a:cubicBezTo>
                <a:close/>
                <a:moveTo>
                  <a:pt x="437300" y="8309"/>
                </a:moveTo>
                <a:lnTo>
                  <a:pt x="518932" y="8309"/>
                </a:lnTo>
                <a:cubicBezTo>
                  <a:pt x="568677" y="8309"/>
                  <a:pt x="608979" y="48548"/>
                  <a:pt x="608979" y="98216"/>
                </a:cubicBezTo>
                <a:cubicBezTo>
                  <a:pt x="608979" y="147885"/>
                  <a:pt x="568677" y="188124"/>
                  <a:pt x="518932" y="188124"/>
                </a:cubicBezTo>
                <a:lnTo>
                  <a:pt x="457871" y="188124"/>
                </a:lnTo>
                <a:lnTo>
                  <a:pt x="416448" y="229390"/>
                </a:lnTo>
                <a:cubicBezTo>
                  <a:pt x="413736" y="232284"/>
                  <a:pt x="408873" y="230323"/>
                  <a:pt x="408873" y="226309"/>
                </a:cubicBezTo>
                <a:lnTo>
                  <a:pt x="408873" y="183456"/>
                </a:lnTo>
                <a:cubicBezTo>
                  <a:pt x="373060" y="171506"/>
                  <a:pt x="347252" y="137895"/>
                  <a:pt x="347252" y="98216"/>
                </a:cubicBezTo>
                <a:cubicBezTo>
                  <a:pt x="347252" y="48548"/>
                  <a:pt x="387554" y="8309"/>
                  <a:pt x="437300" y="8309"/>
                </a:cubicBezTo>
                <a:close/>
                <a:moveTo>
                  <a:pt x="206407" y="368"/>
                </a:moveTo>
                <a:cubicBezTo>
                  <a:pt x="228105" y="-1500"/>
                  <a:pt x="244565" y="4009"/>
                  <a:pt x="256349" y="10919"/>
                </a:cubicBezTo>
                <a:cubicBezTo>
                  <a:pt x="273932" y="20818"/>
                  <a:pt x="280666" y="33611"/>
                  <a:pt x="280666" y="33611"/>
                </a:cubicBezTo>
                <a:cubicBezTo>
                  <a:pt x="280666" y="33611"/>
                  <a:pt x="321255" y="36505"/>
                  <a:pt x="307507" y="118492"/>
                </a:cubicBezTo>
                <a:cubicBezTo>
                  <a:pt x="307133" y="121013"/>
                  <a:pt x="306478" y="123628"/>
                  <a:pt x="305730" y="126149"/>
                </a:cubicBezTo>
                <a:cubicBezTo>
                  <a:pt x="313399" y="126149"/>
                  <a:pt x="321348" y="132125"/>
                  <a:pt x="312838" y="161820"/>
                </a:cubicBezTo>
                <a:cubicBezTo>
                  <a:pt x="306291" y="184978"/>
                  <a:pt x="300118" y="191514"/>
                  <a:pt x="295536" y="191888"/>
                </a:cubicBezTo>
                <a:cubicBezTo>
                  <a:pt x="293946" y="202440"/>
                  <a:pt x="289831" y="214019"/>
                  <a:pt x="283471" y="224944"/>
                </a:cubicBezTo>
                <a:lnTo>
                  <a:pt x="283471" y="266311"/>
                </a:lnTo>
                <a:cubicBezTo>
                  <a:pt x="283471" y="267805"/>
                  <a:pt x="284219" y="269205"/>
                  <a:pt x="285529" y="269766"/>
                </a:cubicBezTo>
                <a:cubicBezTo>
                  <a:pt x="297500" y="275555"/>
                  <a:pt x="356139" y="305156"/>
                  <a:pt x="410383" y="349698"/>
                </a:cubicBezTo>
                <a:cubicBezTo>
                  <a:pt x="420110" y="357729"/>
                  <a:pt x="425721" y="369775"/>
                  <a:pt x="425721" y="382007"/>
                </a:cubicBezTo>
                <a:lnTo>
                  <a:pt x="425721" y="441863"/>
                </a:lnTo>
                <a:lnTo>
                  <a:pt x="240824" y="441863"/>
                </a:lnTo>
                <a:lnTo>
                  <a:pt x="222587" y="358569"/>
                </a:lnTo>
                <a:cubicBezTo>
                  <a:pt x="259342" y="307117"/>
                  <a:pt x="219688" y="304689"/>
                  <a:pt x="212861" y="304689"/>
                </a:cubicBezTo>
                <a:cubicBezTo>
                  <a:pt x="205846" y="304689"/>
                  <a:pt x="166192" y="307117"/>
                  <a:pt x="203134" y="358569"/>
                </a:cubicBezTo>
                <a:lnTo>
                  <a:pt x="184897" y="441863"/>
                </a:lnTo>
                <a:lnTo>
                  <a:pt x="0" y="441863"/>
                </a:lnTo>
                <a:lnTo>
                  <a:pt x="0" y="382007"/>
                </a:lnTo>
                <a:cubicBezTo>
                  <a:pt x="0" y="369401"/>
                  <a:pt x="5518" y="357355"/>
                  <a:pt x="15245" y="349325"/>
                </a:cubicBezTo>
                <a:cubicBezTo>
                  <a:pt x="69582" y="304783"/>
                  <a:pt x="128221" y="275275"/>
                  <a:pt x="140005" y="269392"/>
                </a:cubicBezTo>
                <a:cubicBezTo>
                  <a:pt x="141315" y="268832"/>
                  <a:pt x="142157" y="267431"/>
                  <a:pt x="142157" y="265937"/>
                </a:cubicBezTo>
                <a:lnTo>
                  <a:pt x="142157" y="224757"/>
                </a:lnTo>
                <a:cubicBezTo>
                  <a:pt x="135797" y="213645"/>
                  <a:pt x="131682" y="202066"/>
                  <a:pt x="130092" y="191608"/>
                </a:cubicBezTo>
                <a:cubicBezTo>
                  <a:pt x="125416" y="191234"/>
                  <a:pt x="119337" y="184791"/>
                  <a:pt x="112696" y="161633"/>
                </a:cubicBezTo>
                <a:cubicBezTo>
                  <a:pt x="104373" y="132312"/>
                  <a:pt x="111855" y="126149"/>
                  <a:pt x="119430" y="125962"/>
                </a:cubicBezTo>
                <a:cubicBezTo>
                  <a:pt x="118869" y="123534"/>
                  <a:pt x="118214" y="120920"/>
                  <a:pt x="117747" y="118399"/>
                </a:cubicBezTo>
                <a:cubicBezTo>
                  <a:pt x="114754" y="103551"/>
                  <a:pt x="114006" y="89918"/>
                  <a:pt x="117466" y="76658"/>
                </a:cubicBezTo>
                <a:cubicBezTo>
                  <a:pt x="121675" y="59010"/>
                  <a:pt x="131214" y="44909"/>
                  <a:pt x="141876" y="33984"/>
                </a:cubicBezTo>
                <a:cubicBezTo>
                  <a:pt x="148610" y="26794"/>
                  <a:pt x="156372" y="20444"/>
                  <a:pt x="164509" y="15308"/>
                </a:cubicBezTo>
                <a:cubicBezTo>
                  <a:pt x="171055" y="10733"/>
                  <a:pt x="178444" y="6811"/>
                  <a:pt x="186393" y="4103"/>
                </a:cubicBezTo>
                <a:cubicBezTo>
                  <a:pt x="192659" y="2142"/>
                  <a:pt x="199393" y="741"/>
                  <a:pt x="206407" y="368"/>
                </a:cubicBezTo>
                <a:close/>
              </a:path>
            </a:pathLst>
          </a:custGeom>
          <a:solidFill>
            <a:srgbClr val="0065B0"/>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nSpc>
                <a:spcPct val="120000"/>
              </a:lnSpc>
            </a:pPr>
            <a:endParaRPr lang="zh-CN" altLang="en-US" sz="1350">
              <a:latin typeface="微软雅黑" panose="020B0503020204020204" charset="-122"/>
              <a:ea typeface="微软雅黑" panose="020B0503020204020204" charset="-122"/>
            </a:endParaRPr>
          </a:p>
        </p:txBody>
      </p:sp>
      <p:sp>
        <p:nvSpPr>
          <p:cNvPr id="64" name="文本框 63"/>
          <p:cNvSpPr txBox="1"/>
          <p:nvPr>
            <p:custDataLst>
              <p:tags r:id="rId15"/>
            </p:custDataLst>
          </p:nvPr>
        </p:nvSpPr>
        <p:spPr>
          <a:xfrm>
            <a:off x="1401978" y="3604853"/>
            <a:ext cx="1177244" cy="407057"/>
          </a:xfrm>
          <a:prstGeom prst="rect">
            <a:avLst/>
          </a:prstGeom>
          <a:noFill/>
        </p:spPr>
        <p:txBody>
          <a:bodyPr wrap="square" rtlCol="0">
            <a:noAutofit/>
          </a:bodyPr>
          <a:lstStyle/>
          <a:p>
            <a:pPr algn="ctr">
              <a:lnSpc>
                <a:spcPct val="120000"/>
              </a:lnSpc>
            </a:pPr>
            <a:r>
              <a:rPr lang="en-US" altLang="zh-CN" sz="2300" b="1" spc="300" dirty="0" smtClean="0">
                <a:solidFill>
                  <a:srgbClr val="000000">
                    <a:lumMod val="65000"/>
                    <a:lumOff val="35000"/>
                  </a:srgbClr>
                </a:solidFill>
                <a:latin typeface="微软雅黑" panose="020B0503020204020204" charset="-122"/>
                <a:ea typeface="微软雅黑" panose="020B0503020204020204" charset="-122"/>
              </a:rPr>
              <a:t>How</a:t>
            </a:r>
            <a:endParaRPr lang="zh-CN" altLang="en-US" sz="2300" b="1" spc="300" dirty="0">
              <a:solidFill>
                <a:srgbClr val="000000">
                  <a:lumMod val="65000"/>
                  <a:lumOff val="35000"/>
                </a:srgbClr>
              </a:solidFill>
              <a:latin typeface="微软雅黑" panose="020B0503020204020204" charset="-122"/>
              <a:ea typeface="微软雅黑" panose="020B0503020204020204" charset="-122"/>
            </a:endParaRPr>
          </a:p>
        </p:txBody>
      </p:sp>
      <p:sp>
        <p:nvSpPr>
          <p:cNvPr id="99" name="boss-with-tie_81303"/>
          <p:cNvSpPr>
            <a:spLocks noChangeAspect="1"/>
          </p:cNvSpPr>
          <p:nvPr>
            <p:custDataLst>
              <p:tags r:id="rId16"/>
            </p:custDataLst>
          </p:nvPr>
        </p:nvSpPr>
        <p:spPr bwMode="auto">
          <a:xfrm>
            <a:off x="4138271" y="1350166"/>
            <a:ext cx="250310" cy="276030"/>
          </a:xfrm>
          <a:custGeom>
            <a:avLst/>
            <a:gdLst>
              <a:gd name="T0" fmla="*/ 4729 w 4950"/>
              <a:gd name="T1" fmla="*/ 4345 h 5467"/>
              <a:gd name="T2" fmla="*/ 4092 w 4950"/>
              <a:gd name="T3" fmla="*/ 1833 h 5467"/>
              <a:gd name="T4" fmla="*/ 4377 w 4950"/>
              <a:gd name="T5" fmla="*/ 1164 h 5467"/>
              <a:gd name="T6" fmla="*/ 4712 w 4950"/>
              <a:gd name="T7" fmla="*/ 540 h 5467"/>
              <a:gd name="T8" fmla="*/ 4087 w 4950"/>
              <a:gd name="T9" fmla="*/ 0 h 5467"/>
              <a:gd name="T10" fmla="*/ 3608 w 4950"/>
              <a:gd name="T11" fmla="*/ 394 h 5467"/>
              <a:gd name="T12" fmla="*/ 3448 w 4950"/>
              <a:gd name="T13" fmla="*/ 367 h 5467"/>
              <a:gd name="T14" fmla="*/ 1554 w 4950"/>
              <a:gd name="T15" fmla="*/ 2064 h 5467"/>
              <a:gd name="T16" fmla="*/ 1300 w 4950"/>
              <a:gd name="T17" fmla="*/ 2702 h 5467"/>
              <a:gd name="T18" fmla="*/ 1300 w 4950"/>
              <a:gd name="T19" fmla="*/ 3375 h 5467"/>
              <a:gd name="T20" fmla="*/ 1733 w 4950"/>
              <a:gd name="T21" fmla="*/ 3611 h 5467"/>
              <a:gd name="T22" fmla="*/ 2211 w 4950"/>
              <a:gd name="T23" fmla="*/ 3329 h 5467"/>
              <a:gd name="T24" fmla="*/ 2708 w 4950"/>
              <a:gd name="T25" fmla="*/ 3218 h 5467"/>
              <a:gd name="T26" fmla="*/ 3134 w 4950"/>
              <a:gd name="T27" fmla="*/ 2918 h 5467"/>
              <a:gd name="T28" fmla="*/ 2626 w 4950"/>
              <a:gd name="T29" fmla="*/ 4345 h 5467"/>
              <a:gd name="T30" fmla="*/ 719 w 4950"/>
              <a:gd name="T31" fmla="*/ 4156 h 5467"/>
              <a:gd name="T32" fmla="*/ 2578 w 4950"/>
              <a:gd name="T33" fmla="*/ 3952 h 5467"/>
              <a:gd name="T34" fmla="*/ 220 w 4950"/>
              <a:gd name="T35" fmla="*/ 3748 h 5467"/>
              <a:gd name="T36" fmla="*/ 77 w 4950"/>
              <a:gd name="T37" fmla="*/ 4097 h 5467"/>
              <a:gd name="T38" fmla="*/ 647 w 4950"/>
              <a:gd name="T39" fmla="*/ 5263 h 5467"/>
              <a:gd name="T40" fmla="*/ 4746 w 4950"/>
              <a:gd name="T41" fmla="*/ 5467 h 5467"/>
              <a:gd name="T42" fmla="*/ 4950 w 4950"/>
              <a:gd name="T43" fmla="*/ 4549 h 5467"/>
              <a:gd name="T44" fmla="*/ 1639 w 4950"/>
              <a:gd name="T45" fmla="*/ 5059 h 5467"/>
              <a:gd name="T46" fmla="*/ 2956 w 4950"/>
              <a:gd name="T47" fmla="*/ 4753 h 5467"/>
              <a:gd name="T48" fmla="*/ 1639 w 4950"/>
              <a:gd name="T49" fmla="*/ 5059 h 5467"/>
              <a:gd name="T50" fmla="*/ 1781 w 4950"/>
              <a:gd name="T51" fmla="*/ 3183 h 5467"/>
              <a:gd name="T52" fmla="*/ 1685 w 4950"/>
              <a:gd name="T53" fmla="*/ 3183 h 5467"/>
              <a:gd name="T54" fmla="*/ 1568 w 4950"/>
              <a:gd name="T55" fmla="*/ 3039 h 5467"/>
              <a:gd name="T56" fmla="*/ 1698 w 4950"/>
              <a:gd name="T57" fmla="*/ 2881 h 5467"/>
              <a:gd name="T58" fmla="*/ 1781 w 4950"/>
              <a:gd name="T59" fmla="*/ 3183 h 5467"/>
              <a:gd name="T60" fmla="*/ 2801 w 4950"/>
              <a:gd name="T61" fmla="*/ 2547 h 5467"/>
              <a:gd name="T62" fmla="*/ 2371 w 4950"/>
              <a:gd name="T63" fmla="*/ 2949 h 5467"/>
              <a:gd name="T64" fmla="*/ 1842 w 4950"/>
              <a:gd name="T65" fmla="*/ 2448 h 5467"/>
              <a:gd name="T66" fmla="*/ 3400 w 4950"/>
              <a:gd name="T67" fmla="*/ 794 h 5467"/>
              <a:gd name="T68" fmla="*/ 3496 w 4950"/>
              <a:gd name="T69" fmla="*/ 794 h 5467"/>
              <a:gd name="T70" fmla="*/ 3664 w 4950"/>
              <a:gd name="T71" fmla="*/ 963 h 5467"/>
              <a:gd name="T72" fmla="*/ 3785 w 4950"/>
              <a:gd name="T73" fmla="*/ 1083 h 5467"/>
              <a:gd name="T74" fmla="*/ 3855 w 4950"/>
              <a:gd name="T75" fmla="*/ 1153 h 5467"/>
              <a:gd name="T76" fmla="*/ 3977 w 4950"/>
              <a:gd name="T77" fmla="*/ 1371 h 5467"/>
              <a:gd name="T78" fmla="*/ 3487 w 4950"/>
              <a:gd name="T79" fmla="*/ 1522 h 5467"/>
              <a:gd name="T80" fmla="*/ 3722 w 4950"/>
              <a:gd name="T81" fmla="*/ 4929 h 5467"/>
              <a:gd name="T82" fmla="*/ 3722 w 4950"/>
              <a:gd name="T83" fmla="*/ 4155 h 5467"/>
              <a:gd name="T84" fmla="*/ 3722 w 4950"/>
              <a:gd name="T85" fmla="*/ 4929 h 5467"/>
              <a:gd name="T86" fmla="*/ 4325 w 4950"/>
              <a:gd name="T87" fmla="*/ 5059 h 5467"/>
              <a:gd name="T88" fmla="*/ 4542 w 4950"/>
              <a:gd name="T89" fmla="*/ 4753 h 5467"/>
              <a:gd name="T90" fmla="*/ 4542 w 4950"/>
              <a:gd name="T91" fmla="*/ 5059 h 5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50" h="5467">
                <a:moveTo>
                  <a:pt x="4746" y="4345"/>
                </a:moveTo>
                <a:lnTo>
                  <a:pt x="4729" y="4345"/>
                </a:lnTo>
                <a:cubicBezTo>
                  <a:pt x="4871" y="3179"/>
                  <a:pt x="4492" y="2471"/>
                  <a:pt x="4216" y="2124"/>
                </a:cubicBezTo>
                <a:cubicBezTo>
                  <a:pt x="4196" y="2016"/>
                  <a:pt x="4153" y="1918"/>
                  <a:pt x="4092" y="1833"/>
                </a:cubicBezTo>
                <a:lnTo>
                  <a:pt x="4265" y="1660"/>
                </a:lnTo>
                <a:cubicBezTo>
                  <a:pt x="4399" y="1526"/>
                  <a:pt x="4437" y="1331"/>
                  <a:pt x="4377" y="1164"/>
                </a:cubicBezTo>
                <a:lnTo>
                  <a:pt x="4712" y="829"/>
                </a:lnTo>
                <a:cubicBezTo>
                  <a:pt x="4791" y="749"/>
                  <a:pt x="4791" y="620"/>
                  <a:pt x="4712" y="540"/>
                </a:cubicBezTo>
                <a:lnTo>
                  <a:pt x="4231" y="60"/>
                </a:lnTo>
                <a:cubicBezTo>
                  <a:pt x="4193" y="21"/>
                  <a:pt x="4141" y="0"/>
                  <a:pt x="4087" y="0"/>
                </a:cubicBezTo>
                <a:cubicBezTo>
                  <a:pt x="4033" y="0"/>
                  <a:pt x="3981" y="21"/>
                  <a:pt x="3942" y="60"/>
                </a:cubicBezTo>
                <a:lnTo>
                  <a:pt x="3608" y="394"/>
                </a:lnTo>
                <a:cubicBezTo>
                  <a:pt x="3557" y="376"/>
                  <a:pt x="3503" y="367"/>
                  <a:pt x="3448" y="367"/>
                </a:cubicBezTo>
                <a:lnTo>
                  <a:pt x="3448" y="367"/>
                </a:lnTo>
                <a:cubicBezTo>
                  <a:pt x="3321" y="367"/>
                  <a:pt x="3201" y="416"/>
                  <a:pt x="3112" y="506"/>
                </a:cubicBezTo>
                <a:lnTo>
                  <a:pt x="1554" y="2064"/>
                </a:lnTo>
                <a:cubicBezTo>
                  <a:pt x="1420" y="2198"/>
                  <a:pt x="1383" y="2392"/>
                  <a:pt x="1442" y="2560"/>
                </a:cubicBezTo>
                <a:lnTo>
                  <a:pt x="1300" y="2702"/>
                </a:lnTo>
                <a:cubicBezTo>
                  <a:pt x="1210" y="2792"/>
                  <a:pt x="1161" y="2912"/>
                  <a:pt x="1161" y="3039"/>
                </a:cubicBezTo>
                <a:cubicBezTo>
                  <a:pt x="1161" y="3166"/>
                  <a:pt x="1210" y="3285"/>
                  <a:pt x="1300" y="3375"/>
                </a:cubicBezTo>
                <a:lnTo>
                  <a:pt x="1396" y="3471"/>
                </a:lnTo>
                <a:cubicBezTo>
                  <a:pt x="1486" y="3561"/>
                  <a:pt x="1605" y="3611"/>
                  <a:pt x="1733" y="3611"/>
                </a:cubicBezTo>
                <a:cubicBezTo>
                  <a:pt x="1860" y="3611"/>
                  <a:pt x="1979" y="3561"/>
                  <a:pt x="2069" y="3471"/>
                </a:cubicBezTo>
                <a:lnTo>
                  <a:pt x="2211" y="3329"/>
                </a:lnTo>
                <a:cubicBezTo>
                  <a:pt x="2262" y="3348"/>
                  <a:pt x="2316" y="3357"/>
                  <a:pt x="2371" y="3357"/>
                </a:cubicBezTo>
                <a:cubicBezTo>
                  <a:pt x="2498" y="3357"/>
                  <a:pt x="2618" y="3307"/>
                  <a:pt x="2708" y="3218"/>
                </a:cubicBezTo>
                <a:lnTo>
                  <a:pt x="3056" y="2869"/>
                </a:lnTo>
                <a:cubicBezTo>
                  <a:pt x="3081" y="2887"/>
                  <a:pt x="3107" y="2903"/>
                  <a:pt x="3134" y="2918"/>
                </a:cubicBezTo>
                <a:cubicBezTo>
                  <a:pt x="3219" y="3256"/>
                  <a:pt x="3161" y="3596"/>
                  <a:pt x="2961" y="3930"/>
                </a:cubicBezTo>
                <a:cubicBezTo>
                  <a:pt x="2841" y="4131"/>
                  <a:pt x="2700" y="4276"/>
                  <a:pt x="2626" y="4345"/>
                </a:cubicBezTo>
                <a:lnTo>
                  <a:pt x="912" y="4345"/>
                </a:lnTo>
                <a:lnTo>
                  <a:pt x="719" y="4156"/>
                </a:lnTo>
                <a:lnTo>
                  <a:pt x="2374" y="4156"/>
                </a:lnTo>
                <a:cubicBezTo>
                  <a:pt x="2487" y="4156"/>
                  <a:pt x="2578" y="4064"/>
                  <a:pt x="2578" y="3952"/>
                </a:cubicBezTo>
                <a:cubicBezTo>
                  <a:pt x="2578" y="3839"/>
                  <a:pt x="2487" y="3748"/>
                  <a:pt x="2374" y="3748"/>
                </a:cubicBezTo>
                <a:lnTo>
                  <a:pt x="220" y="3748"/>
                </a:lnTo>
                <a:cubicBezTo>
                  <a:pt x="137" y="3748"/>
                  <a:pt x="63" y="3798"/>
                  <a:pt x="32" y="3874"/>
                </a:cubicBezTo>
                <a:cubicBezTo>
                  <a:pt x="0" y="3951"/>
                  <a:pt x="18" y="4039"/>
                  <a:pt x="77" y="4097"/>
                </a:cubicBezTo>
                <a:lnTo>
                  <a:pt x="647" y="4656"/>
                </a:lnTo>
                <a:lnTo>
                  <a:pt x="647" y="5263"/>
                </a:lnTo>
                <a:cubicBezTo>
                  <a:pt x="647" y="5375"/>
                  <a:pt x="738" y="5467"/>
                  <a:pt x="851" y="5467"/>
                </a:cubicBezTo>
                <a:lnTo>
                  <a:pt x="4746" y="5467"/>
                </a:lnTo>
                <a:cubicBezTo>
                  <a:pt x="4859" y="5467"/>
                  <a:pt x="4950" y="5375"/>
                  <a:pt x="4950" y="5263"/>
                </a:cubicBezTo>
                <a:lnTo>
                  <a:pt x="4950" y="4549"/>
                </a:lnTo>
                <a:cubicBezTo>
                  <a:pt x="4950" y="4436"/>
                  <a:pt x="4859" y="4345"/>
                  <a:pt x="4746" y="4345"/>
                </a:cubicBezTo>
                <a:close/>
                <a:moveTo>
                  <a:pt x="1639" y="5059"/>
                </a:moveTo>
                <a:lnTo>
                  <a:pt x="1327" y="4753"/>
                </a:lnTo>
                <a:lnTo>
                  <a:pt x="2956" y="4753"/>
                </a:lnTo>
                <a:cubicBezTo>
                  <a:pt x="2987" y="4867"/>
                  <a:pt x="3043" y="4971"/>
                  <a:pt x="3118" y="5059"/>
                </a:cubicBezTo>
                <a:lnTo>
                  <a:pt x="1639" y="5059"/>
                </a:lnTo>
                <a:lnTo>
                  <a:pt x="1639" y="5059"/>
                </a:lnTo>
                <a:close/>
                <a:moveTo>
                  <a:pt x="1781" y="3183"/>
                </a:moveTo>
                <a:cubicBezTo>
                  <a:pt x="1763" y="3200"/>
                  <a:pt x="1743" y="3203"/>
                  <a:pt x="1733" y="3203"/>
                </a:cubicBezTo>
                <a:cubicBezTo>
                  <a:pt x="1722" y="3203"/>
                  <a:pt x="1702" y="3200"/>
                  <a:pt x="1685" y="3183"/>
                </a:cubicBezTo>
                <a:lnTo>
                  <a:pt x="1588" y="3087"/>
                </a:lnTo>
                <a:cubicBezTo>
                  <a:pt x="1571" y="3070"/>
                  <a:pt x="1568" y="3049"/>
                  <a:pt x="1568" y="3039"/>
                </a:cubicBezTo>
                <a:cubicBezTo>
                  <a:pt x="1568" y="3028"/>
                  <a:pt x="1571" y="3008"/>
                  <a:pt x="1588" y="2991"/>
                </a:cubicBezTo>
                <a:lnTo>
                  <a:pt x="1698" y="2881"/>
                </a:lnTo>
                <a:lnTo>
                  <a:pt x="1890" y="3073"/>
                </a:lnTo>
                <a:lnTo>
                  <a:pt x="1781" y="3183"/>
                </a:lnTo>
                <a:close/>
                <a:moveTo>
                  <a:pt x="2745" y="2264"/>
                </a:moveTo>
                <a:cubicBezTo>
                  <a:pt x="2745" y="2363"/>
                  <a:pt x="2765" y="2459"/>
                  <a:pt x="2801" y="2547"/>
                </a:cubicBezTo>
                <a:lnTo>
                  <a:pt x="2419" y="2929"/>
                </a:lnTo>
                <a:cubicBezTo>
                  <a:pt x="2402" y="2946"/>
                  <a:pt x="2382" y="2949"/>
                  <a:pt x="2371" y="2949"/>
                </a:cubicBezTo>
                <a:cubicBezTo>
                  <a:pt x="2361" y="2949"/>
                  <a:pt x="2340" y="2946"/>
                  <a:pt x="2323" y="2929"/>
                </a:cubicBezTo>
                <a:lnTo>
                  <a:pt x="1842" y="2448"/>
                </a:lnTo>
                <a:cubicBezTo>
                  <a:pt x="1816" y="2422"/>
                  <a:pt x="1816" y="2379"/>
                  <a:pt x="1842" y="2352"/>
                </a:cubicBezTo>
                <a:lnTo>
                  <a:pt x="3400" y="794"/>
                </a:lnTo>
                <a:cubicBezTo>
                  <a:pt x="3417" y="777"/>
                  <a:pt x="3438" y="775"/>
                  <a:pt x="3448" y="775"/>
                </a:cubicBezTo>
                <a:cubicBezTo>
                  <a:pt x="3459" y="775"/>
                  <a:pt x="3479" y="777"/>
                  <a:pt x="3496" y="794"/>
                </a:cubicBezTo>
                <a:lnTo>
                  <a:pt x="3618" y="917"/>
                </a:lnTo>
                <a:cubicBezTo>
                  <a:pt x="3634" y="933"/>
                  <a:pt x="3649" y="948"/>
                  <a:pt x="3664" y="963"/>
                </a:cubicBezTo>
                <a:cubicBezTo>
                  <a:pt x="3671" y="970"/>
                  <a:pt x="3679" y="977"/>
                  <a:pt x="3687" y="985"/>
                </a:cubicBezTo>
                <a:lnTo>
                  <a:pt x="3785" y="1083"/>
                </a:lnTo>
                <a:cubicBezTo>
                  <a:pt x="3793" y="1091"/>
                  <a:pt x="3801" y="1099"/>
                  <a:pt x="3809" y="1107"/>
                </a:cubicBezTo>
                <a:cubicBezTo>
                  <a:pt x="3823" y="1122"/>
                  <a:pt x="3839" y="1138"/>
                  <a:pt x="3855" y="1153"/>
                </a:cubicBezTo>
                <a:lnTo>
                  <a:pt x="3977" y="1275"/>
                </a:lnTo>
                <a:cubicBezTo>
                  <a:pt x="4003" y="1302"/>
                  <a:pt x="4003" y="1345"/>
                  <a:pt x="3977" y="1371"/>
                </a:cubicBezTo>
                <a:lnTo>
                  <a:pt x="3771" y="1578"/>
                </a:lnTo>
                <a:cubicBezTo>
                  <a:pt x="3683" y="1542"/>
                  <a:pt x="3587" y="1522"/>
                  <a:pt x="3487" y="1522"/>
                </a:cubicBezTo>
                <a:cubicBezTo>
                  <a:pt x="3078" y="1522"/>
                  <a:pt x="2745" y="1855"/>
                  <a:pt x="2745" y="2264"/>
                </a:cubicBezTo>
                <a:close/>
                <a:moveTo>
                  <a:pt x="3722" y="4929"/>
                </a:moveTo>
                <a:cubicBezTo>
                  <a:pt x="3508" y="4929"/>
                  <a:pt x="3335" y="4756"/>
                  <a:pt x="3335" y="4542"/>
                </a:cubicBezTo>
                <a:cubicBezTo>
                  <a:pt x="3335" y="4329"/>
                  <a:pt x="3508" y="4155"/>
                  <a:pt x="3722" y="4155"/>
                </a:cubicBezTo>
                <a:cubicBezTo>
                  <a:pt x="3935" y="4155"/>
                  <a:pt x="4109" y="4329"/>
                  <a:pt x="4109" y="4542"/>
                </a:cubicBezTo>
                <a:cubicBezTo>
                  <a:pt x="4109" y="4756"/>
                  <a:pt x="3935" y="4929"/>
                  <a:pt x="3722" y="4929"/>
                </a:cubicBezTo>
                <a:close/>
                <a:moveTo>
                  <a:pt x="4542" y="5059"/>
                </a:moveTo>
                <a:lnTo>
                  <a:pt x="4325" y="5059"/>
                </a:lnTo>
                <a:cubicBezTo>
                  <a:pt x="4400" y="4971"/>
                  <a:pt x="4457" y="4867"/>
                  <a:pt x="4488" y="4753"/>
                </a:cubicBezTo>
                <a:lnTo>
                  <a:pt x="4542" y="4753"/>
                </a:lnTo>
                <a:lnTo>
                  <a:pt x="4542" y="5059"/>
                </a:lnTo>
                <a:lnTo>
                  <a:pt x="4542" y="5059"/>
                </a:lnTo>
                <a:close/>
              </a:path>
            </a:pathLst>
          </a:custGeom>
          <a:solidFill>
            <a:srgbClr val="0065B0"/>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nSpc>
                <a:spcPct val="120000"/>
              </a:lnSpc>
            </a:pPr>
            <a:endParaRPr lang="zh-CN" altLang="en-US" sz="1350">
              <a:latin typeface="微软雅黑" panose="020B0503020204020204" charset="-122"/>
              <a:ea typeface="微软雅黑" panose="020B0503020204020204" charset="-122"/>
            </a:endParaRPr>
          </a:p>
        </p:txBody>
      </p:sp>
      <p:sp>
        <p:nvSpPr>
          <p:cNvPr id="40" name="文本框 39"/>
          <p:cNvSpPr txBox="1"/>
          <p:nvPr>
            <p:custDataLst>
              <p:tags r:id="rId17"/>
            </p:custDataLst>
          </p:nvPr>
        </p:nvSpPr>
        <p:spPr>
          <a:xfrm>
            <a:off x="3699910" y="1709817"/>
            <a:ext cx="1321534" cy="542816"/>
          </a:xfrm>
          <a:prstGeom prst="rect">
            <a:avLst/>
          </a:prstGeom>
          <a:noFill/>
        </p:spPr>
        <p:txBody>
          <a:bodyPr wrap="square" rtlCol="0">
            <a:normAutofit fontScale="40000" lnSpcReduction="20000"/>
          </a:bodyPr>
          <a:lstStyle/>
          <a:p>
            <a:pPr algn="ctr">
              <a:lnSpc>
                <a:spcPct val="120000"/>
              </a:lnSpc>
            </a:pPr>
            <a:r>
              <a:rPr lang="en-US" altLang="zh-CN" sz="5800" b="1" spc="300" dirty="0" smtClean="0">
                <a:solidFill>
                  <a:srgbClr val="000000">
                    <a:lumMod val="65000"/>
                    <a:lumOff val="35000"/>
                  </a:srgbClr>
                </a:solidFill>
                <a:latin typeface="微软雅黑" panose="020B0503020204020204" charset="-122"/>
                <a:ea typeface="微软雅黑" panose="020B0503020204020204" charset="-122"/>
              </a:rPr>
              <a:t>Why</a:t>
            </a:r>
          </a:p>
          <a:p>
            <a:pPr algn="ctr">
              <a:lnSpc>
                <a:spcPct val="120000"/>
              </a:lnSpc>
            </a:pPr>
            <a:r>
              <a:rPr lang="en-US" altLang="zh-CN" sz="1350" b="1" spc="300" dirty="0" smtClean="0">
                <a:solidFill>
                  <a:srgbClr val="000000">
                    <a:lumMod val="65000"/>
                    <a:lumOff val="35000"/>
                  </a:srgbClr>
                </a:solidFill>
                <a:latin typeface="微软雅黑" panose="020B0503020204020204" charset="-122"/>
                <a:ea typeface="微软雅黑" panose="020B0503020204020204" charset="-122"/>
              </a:rPr>
              <a:t>study Dynamics</a:t>
            </a:r>
            <a:endParaRPr lang="zh-CN" altLang="en-US" sz="1350" b="1" spc="300" dirty="0">
              <a:solidFill>
                <a:srgbClr val="000000">
                  <a:lumMod val="65000"/>
                  <a:lumOff val="35000"/>
                </a:srgbClr>
              </a:solidFill>
              <a:latin typeface="微软雅黑" panose="020B0503020204020204" charset="-122"/>
              <a:ea typeface="微软雅黑" panose="020B0503020204020204" charset="-122"/>
            </a:endParaRPr>
          </a:p>
        </p:txBody>
      </p:sp>
      <p:pic>
        <p:nvPicPr>
          <p:cNvPr id="2" name="图片 1"/>
          <p:cNvPicPr>
            <a:picLocks noChangeAspect="1"/>
          </p:cNvPicPr>
          <p:nvPr/>
        </p:nvPicPr>
        <p:blipFill rotWithShape="1">
          <a:blip r:embed="rId20"/>
          <a:srcRect t="19484" b="3861"/>
          <a:stretch/>
        </p:blipFill>
        <p:spPr>
          <a:xfrm>
            <a:off x="1680498" y="3254679"/>
            <a:ext cx="514496" cy="304329"/>
          </a:xfrm>
          <a:prstGeom prst="rect">
            <a:avLst/>
          </a:prstGeom>
        </p:spPr>
      </p:pic>
      <p:pic>
        <p:nvPicPr>
          <p:cNvPr id="3" name="图片 2"/>
          <p:cNvPicPr>
            <a:picLocks noChangeAspect="1"/>
          </p:cNvPicPr>
          <p:nvPr/>
        </p:nvPicPr>
        <p:blipFill rotWithShape="1">
          <a:blip r:embed="rId21"/>
          <a:srcRect l="4298" r="40662" b="23359"/>
          <a:stretch/>
        </p:blipFill>
        <p:spPr>
          <a:xfrm>
            <a:off x="4110534" y="3263407"/>
            <a:ext cx="573835" cy="399522"/>
          </a:xfrm>
          <a:prstGeom prst="rect">
            <a:avLst/>
          </a:prstGeom>
        </p:spPr>
      </p:pic>
    </p:spTree>
    <p:extLst>
      <p:ext uri="{BB962C8B-B14F-4D97-AF65-F5344CB8AC3E}">
        <p14:creationId xmlns:p14="http://schemas.microsoft.com/office/powerpoint/2010/main" val="20170890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par>
                          <p:cTn id="14" fill="hold">
                            <p:stCondLst>
                              <p:cond delay="1000"/>
                            </p:stCondLst>
                            <p:childTnLst>
                              <p:par>
                                <p:cTn id="15" presetID="14" presetClass="entr" presetSubtype="1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randombar(horizont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gn="l">
                <a:lnSpc>
                  <a:spcPct val="150000"/>
                </a:lnSpc>
              </a:pPr>
              <a:r>
                <a:rPr lang="en-US" altLang="zh-CN" sz="1000" dirty="0" smtClean="0">
                  <a:solidFill>
                    <a:schemeClr val="tx1"/>
                  </a:solidFill>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pPr algn="l"/>
              <a:r>
                <a:rPr lang="zh-CN" altLang="en-US" sz="2000" b="1" dirty="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402" y="716360"/>
            <a:ext cx="1814513"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6" name="组合 125"/>
          <p:cNvGrpSpPr/>
          <p:nvPr/>
        </p:nvGrpSpPr>
        <p:grpSpPr>
          <a:xfrm>
            <a:off x="3014412" y="662284"/>
            <a:ext cx="663576" cy="725488"/>
            <a:chOff x="4219277" y="818863"/>
            <a:chExt cx="663576" cy="725488"/>
          </a:xfrm>
        </p:grpSpPr>
        <p:sp>
          <p:nvSpPr>
            <p:cNvPr id="6" name="Line 6"/>
            <p:cNvSpPr>
              <a:spLocks noChangeShapeType="1"/>
            </p:cNvSpPr>
            <p:nvPr/>
          </p:nvSpPr>
          <p:spPr bwMode="auto">
            <a:xfrm flipV="1">
              <a:off x="4279602" y="982375"/>
              <a:ext cx="0" cy="319088"/>
            </a:xfrm>
            <a:prstGeom prst="line">
              <a:avLst/>
            </a:prstGeom>
            <a:noFill/>
            <a:ln w="38100" cap="rnd">
              <a:solidFill>
                <a:srgbClr val="41719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Freeform 7"/>
            <p:cNvSpPr>
              <a:spLocks/>
            </p:cNvSpPr>
            <p:nvPr/>
          </p:nvSpPr>
          <p:spPr bwMode="auto">
            <a:xfrm>
              <a:off x="4219277" y="818863"/>
              <a:ext cx="120650" cy="179388"/>
            </a:xfrm>
            <a:custGeom>
              <a:avLst/>
              <a:gdLst>
                <a:gd name="T0" fmla="*/ 0 w 76"/>
                <a:gd name="T1" fmla="*/ 113 h 113"/>
                <a:gd name="T2" fmla="*/ 38 w 76"/>
                <a:gd name="T3" fmla="*/ 0 h 113"/>
                <a:gd name="T4" fmla="*/ 76 w 76"/>
                <a:gd name="T5" fmla="*/ 113 h 113"/>
                <a:gd name="T6" fmla="*/ 0 w 76"/>
                <a:gd name="T7" fmla="*/ 113 h 113"/>
              </a:gdLst>
              <a:ahLst/>
              <a:cxnLst>
                <a:cxn ang="0">
                  <a:pos x="T0" y="T1"/>
                </a:cxn>
                <a:cxn ang="0">
                  <a:pos x="T2" y="T3"/>
                </a:cxn>
                <a:cxn ang="0">
                  <a:pos x="T4" y="T5"/>
                </a:cxn>
                <a:cxn ang="0">
                  <a:pos x="T6" y="T7"/>
                </a:cxn>
              </a:cxnLst>
              <a:rect l="0" t="0" r="r" b="b"/>
              <a:pathLst>
                <a:path w="76" h="113">
                  <a:moveTo>
                    <a:pt x="0" y="113"/>
                  </a:moveTo>
                  <a:lnTo>
                    <a:pt x="38" y="0"/>
                  </a:lnTo>
                  <a:lnTo>
                    <a:pt x="76" y="113"/>
                  </a:lnTo>
                  <a:lnTo>
                    <a:pt x="0" y="113"/>
                  </a:lnTo>
                  <a:close/>
                </a:path>
              </a:pathLst>
            </a:custGeom>
            <a:solidFill>
              <a:srgbClr val="417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 name="Line 8"/>
            <p:cNvSpPr>
              <a:spLocks noChangeShapeType="1"/>
            </p:cNvSpPr>
            <p:nvPr/>
          </p:nvSpPr>
          <p:spPr bwMode="auto">
            <a:xfrm>
              <a:off x="4279602" y="1301463"/>
              <a:ext cx="366713" cy="184150"/>
            </a:xfrm>
            <a:prstGeom prst="line">
              <a:avLst/>
            </a:prstGeom>
            <a:noFill/>
            <a:ln w="25400" cap="rnd">
              <a:solidFill>
                <a:srgbClr val="70AD4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9"/>
            <p:cNvSpPr>
              <a:spLocks/>
            </p:cNvSpPr>
            <p:nvPr/>
          </p:nvSpPr>
          <p:spPr bwMode="auto">
            <a:xfrm>
              <a:off x="4614565" y="1437988"/>
              <a:ext cx="147638" cy="106363"/>
            </a:xfrm>
            <a:custGeom>
              <a:avLst/>
              <a:gdLst>
                <a:gd name="T0" fmla="*/ 27 w 93"/>
                <a:gd name="T1" fmla="*/ 0 h 67"/>
                <a:gd name="T2" fmla="*/ 93 w 93"/>
                <a:gd name="T3" fmla="*/ 67 h 67"/>
                <a:gd name="T4" fmla="*/ 0 w 93"/>
                <a:gd name="T5" fmla="*/ 54 h 67"/>
                <a:gd name="T6" fmla="*/ 27 w 93"/>
                <a:gd name="T7" fmla="*/ 0 h 67"/>
              </a:gdLst>
              <a:ahLst/>
              <a:cxnLst>
                <a:cxn ang="0">
                  <a:pos x="T0" y="T1"/>
                </a:cxn>
                <a:cxn ang="0">
                  <a:pos x="T2" y="T3"/>
                </a:cxn>
                <a:cxn ang="0">
                  <a:pos x="T4" y="T5"/>
                </a:cxn>
                <a:cxn ang="0">
                  <a:pos x="T6" y="T7"/>
                </a:cxn>
              </a:cxnLst>
              <a:rect l="0" t="0" r="r" b="b"/>
              <a:pathLst>
                <a:path w="93" h="67">
                  <a:moveTo>
                    <a:pt x="27" y="0"/>
                  </a:moveTo>
                  <a:lnTo>
                    <a:pt x="93" y="67"/>
                  </a:lnTo>
                  <a:lnTo>
                    <a:pt x="0" y="54"/>
                  </a:lnTo>
                  <a:lnTo>
                    <a:pt x="27" y="0"/>
                  </a:lnTo>
                  <a:close/>
                </a:path>
              </a:pathLst>
            </a:custGeom>
            <a:solidFill>
              <a:srgbClr val="70AD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Line 10"/>
            <p:cNvSpPr>
              <a:spLocks noChangeShapeType="1"/>
            </p:cNvSpPr>
            <p:nvPr/>
          </p:nvSpPr>
          <p:spPr bwMode="auto">
            <a:xfrm>
              <a:off x="4279602" y="1301463"/>
              <a:ext cx="474663" cy="0"/>
            </a:xfrm>
            <a:prstGeom prst="line">
              <a:avLst/>
            </a:prstGeom>
            <a:noFill/>
            <a:ln w="25400" cap="rnd">
              <a:solidFill>
                <a:srgbClr val="ED7D3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11"/>
            <p:cNvSpPr>
              <a:spLocks/>
            </p:cNvSpPr>
            <p:nvPr/>
          </p:nvSpPr>
          <p:spPr bwMode="auto">
            <a:xfrm>
              <a:off x="4741565" y="1255425"/>
              <a:ext cx="141288" cy="93663"/>
            </a:xfrm>
            <a:custGeom>
              <a:avLst/>
              <a:gdLst>
                <a:gd name="T0" fmla="*/ 0 w 89"/>
                <a:gd name="T1" fmla="*/ 0 h 59"/>
                <a:gd name="T2" fmla="*/ 89 w 89"/>
                <a:gd name="T3" fmla="*/ 29 h 59"/>
                <a:gd name="T4" fmla="*/ 0 w 89"/>
                <a:gd name="T5" fmla="*/ 59 h 59"/>
                <a:gd name="T6" fmla="*/ 0 w 89"/>
                <a:gd name="T7" fmla="*/ 0 h 59"/>
              </a:gdLst>
              <a:ahLst/>
              <a:cxnLst>
                <a:cxn ang="0">
                  <a:pos x="T0" y="T1"/>
                </a:cxn>
                <a:cxn ang="0">
                  <a:pos x="T2" y="T3"/>
                </a:cxn>
                <a:cxn ang="0">
                  <a:pos x="T4" y="T5"/>
                </a:cxn>
                <a:cxn ang="0">
                  <a:pos x="T6" y="T7"/>
                </a:cxn>
              </a:cxnLst>
              <a:rect l="0" t="0" r="r" b="b"/>
              <a:pathLst>
                <a:path w="89" h="59">
                  <a:moveTo>
                    <a:pt x="0" y="0"/>
                  </a:moveTo>
                  <a:lnTo>
                    <a:pt x="89" y="29"/>
                  </a:lnTo>
                  <a:lnTo>
                    <a:pt x="0" y="59"/>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pic>
        <p:nvPicPr>
          <p:cNvPr id="1053"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3659" y="717152"/>
            <a:ext cx="181610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Rectangle 67"/>
          <p:cNvSpPr>
            <a:spLocks noChangeArrowheads="1"/>
          </p:cNvSpPr>
          <p:nvPr/>
        </p:nvSpPr>
        <p:spPr bwMode="auto">
          <a:xfrm>
            <a:off x="3263340" y="741658"/>
            <a:ext cx="1104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5B9BD5"/>
                </a:solidFill>
                <a:effectLst/>
                <a:latin typeface="Calibri" panose="020F0502020204030204" pitchFamily="34" charset="0"/>
              </a:rPr>
              <a:t>Joint Space</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0" name="Rectangle 68"/>
          <p:cNvSpPr>
            <a:spLocks noChangeArrowheads="1"/>
          </p:cNvSpPr>
          <p:nvPr/>
        </p:nvSpPr>
        <p:spPr bwMode="auto">
          <a:xfrm>
            <a:off x="2407310" y="4570622"/>
            <a:ext cx="1514475"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5B9BD5"/>
                </a:solidFill>
                <a:effectLst/>
                <a:latin typeface="Calibri" panose="020F0502020204030204" pitchFamily="34" charset="0"/>
              </a:rPr>
              <a:t>Cartesian Space</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nvGrpSpPr>
          <p:cNvPr id="121" name="组合 120"/>
          <p:cNvGrpSpPr/>
          <p:nvPr/>
        </p:nvGrpSpPr>
        <p:grpSpPr>
          <a:xfrm>
            <a:off x="3828708" y="1781859"/>
            <a:ext cx="2084388" cy="587375"/>
            <a:chOff x="4722515" y="1865025"/>
            <a:chExt cx="2084388" cy="587375"/>
          </a:xfrm>
        </p:grpSpPr>
        <p:pic>
          <p:nvPicPr>
            <p:cNvPr id="1093" name="Picture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515" y="2125375"/>
              <a:ext cx="20843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4" name="Picture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2515" y="2125375"/>
              <a:ext cx="2084388"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Freeform 71"/>
            <p:cNvSpPr>
              <a:spLocks noEditPoints="1"/>
            </p:cNvSpPr>
            <p:nvPr/>
          </p:nvSpPr>
          <p:spPr bwMode="auto">
            <a:xfrm>
              <a:off x="4757440" y="2149188"/>
              <a:ext cx="1997075" cy="241300"/>
            </a:xfrm>
            <a:custGeom>
              <a:avLst/>
              <a:gdLst>
                <a:gd name="T0" fmla="*/ 32 w 1258"/>
                <a:gd name="T1" fmla="*/ 38 h 152"/>
                <a:gd name="T2" fmla="*/ 1182 w 1258"/>
                <a:gd name="T3" fmla="*/ 38 h 152"/>
                <a:gd name="T4" fmla="*/ 1182 w 1258"/>
                <a:gd name="T5" fmla="*/ 0 h 152"/>
                <a:gd name="T6" fmla="*/ 1258 w 1258"/>
                <a:gd name="T7" fmla="*/ 76 h 152"/>
                <a:gd name="T8" fmla="*/ 1182 w 1258"/>
                <a:gd name="T9" fmla="*/ 152 h 152"/>
                <a:gd name="T10" fmla="*/ 1182 w 1258"/>
                <a:gd name="T11" fmla="*/ 114 h 152"/>
                <a:gd name="T12" fmla="*/ 32 w 1258"/>
                <a:gd name="T13" fmla="*/ 114 h 152"/>
                <a:gd name="T14" fmla="*/ 32 w 1258"/>
                <a:gd name="T15" fmla="*/ 38 h 152"/>
                <a:gd name="T16" fmla="*/ 13 w 1258"/>
                <a:gd name="T17" fmla="*/ 38 h 152"/>
                <a:gd name="T18" fmla="*/ 26 w 1258"/>
                <a:gd name="T19" fmla="*/ 38 h 152"/>
                <a:gd name="T20" fmla="*/ 26 w 1258"/>
                <a:gd name="T21" fmla="*/ 114 h 152"/>
                <a:gd name="T22" fmla="*/ 13 w 1258"/>
                <a:gd name="T23" fmla="*/ 114 h 152"/>
                <a:gd name="T24" fmla="*/ 13 w 1258"/>
                <a:gd name="T25" fmla="*/ 38 h 152"/>
                <a:gd name="T26" fmla="*/ 0 w 1258"/>
                <a:gd name="T27" fmla="*/ 38 h 152"/>
                <a:gd name="T28" fmla="*/ 7 w 1258"/>
                <a:gd name="T29" fmla="*/ 38 h 152"/>
                <a:gd name="T30" fmla="*/ 7 w 1258"/>
                <a:gd name="T31" fmla="*/ 114 h 152"/>
                <a:gd name="T32" fmla="*/ 0 w 1258"/>
                <a:gd name="T33" fmla="*/ 114 h 152"/>
                <a:gd name="T34" fmla="*/ 0 w 1258"/>
                <a:gd name="T35" fmla="*/ 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8" h="152">
                  <a:moveTo>
                    <a:pt x="32" y="38"/>
                  </a:moveTo>
                  <a:lnTo>
                    <a:pt x="1182" y="38"/>
                  </a:lnTo>
                  <a:lnTo>
                    <a:pt x="1182" y="0"/>
                  </a:lnTo>
                  <a:lnTo>
                    <a:pt x="1258" y="76"/>
                  </a:lnTo>
                  <a:lnTo>
                    <a:pt x="1182" y="152"/>
                  </a:lnTo>
                  <a:lnTo>
                    <a:pt x="1182" y="114"/>
                  </a:lnTo>
                  <a:lnTo>
                    <a:pt x="32" y="114"/>
                  </a:lnTo>
                  <a:lnTo>
                    <a:pt x="32" y="38"/>
                  </a:lnTo>
                  <a:close/>
                  <a:moveTo>
                    <a:pt x="13" y="38"/>
                  </a:moveTo>
                  <a:lnTo>
                    <a:pt x="26" y="38"/>
                  </a:lnTo>
                  <a:lnTo>
                    <a:pt x="26" y="114"/>
                  </a:lnTo>
                  <a:lnTo>
                    <a:pt x="13" y="114"/>
                  </a:lnTo>
                  <a:lnTo>
                    <a:pt x="13" y="38"/>
                  </a:lnTo>
                  <a:close/>
                  <a:moveTo>
                    <a:pt x="0" y="38"/>
                  </a:moveTo>
                  <a:lnTo>
                    <a:pt x="7" y="38"/>
                  </a:lnTo>
                  <a:lnTo>
                    <a:pt x="7" y="114"/>
                  </a:lnTo>
                  <a:lnTo>
                    <a:pt x="0" y="114"/>
                  </a:lnTo>
                  <a:lnTo>
                    <a:pt x="0" y="38"/>
                  </a:lnTo>
                  <a:close/>
                </a:path>
              </a:pathLst>
            </a:custGeom>
            <a:solidFill>
              <a:srgbClr val="4F88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72"/>
            <p:cNvSpPr>
              <a:spLocks/>
            </p:cNvSpPr>
            <p:nvPr/>
          </p:nvSpPr>
          <p:spPr bwMode="auto">
            <a:xfrm>
              <a:off x="4808240" y="2149188"/>
              <a:ext cx="1946275" cy="241300"/>
            </a:xfrm>
            <a:custGeom>
              <a:avLst/>
              <a:gdLst>
                <a:gd name="T0" fmla="*/ 0 w 1226"/>
                <a:gd name="T1" fmla="*/ 38 h 152"/>
                <a:gd name="T2" fmla="*/ 1150 w 1226"/>
                <a:gd name="T3" fmla="*/ 38 h 152"/>
                <a:gd name="T4" fmla="*/ 1150 w 1226"/>
                <a:gd name="T5" fmla="*/ 0 h 152"/>
                <a:gd name="T6" fmla="*/ 1226 w 1226"/>
                <a:gd name="T7" fmla="*/ 76 h 152"/>
                <a:gd name="T8" fmla="*/ 1150 w 1226"/>
                <a:gd name="T9" fmla="*/ 152 h 152"/>
                <a:gd name="T10" fmla="*/ 1150 w 1226"/>
                <a:gd name="T11" fmla="*/ 114 h 152"/>
                <a:gd name="T12" fmla="*/ 0 w 1226"/>
                <a:gd name="T13" fmla="*/ 114 h 152"/>
                <a:gd name="T14" fmla="*/ 0 w 1226"/>
                <a:gd name="T15" fmla="*/ 38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6" h="152">
                  <a:moveTo>
                    <a:pt x="0" y="38"/>
                  </a:moveTo>
                  <a:lnTo>
                    <a:pt x="1150" y="38"/>
                  </a:lnTo>
                  <a:lnTo>
                    <a:pt x="1150" y="0"/>
                  </a:lnTo>
                  <a:lnTo>
                    <a:pt x="1226" y="76"/>
                  </a:lnTo>
                  <a:lnTo>
                    <a:pt x="1150" y="152"/>
                  </a:lnTo>
                  <a:lnTo>
                    <a:pt x="1150" y="114"/>
                  </a:lnTo>
                  <a:lnTo>
                    <a:pt x="0" y="114"/>
                  </a:lnTo>
                  <a:lnTo>
                    <a:pt x="0" y="38"/>
                  </a:lnTo>
                  <a:close/>
                </a:path>
              </a:pathLst>
            </a:cu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Rectangle 73"/>
            <p:cNvSpPr>
              <a:spLocks noChangeArrowheads="1"/>
            </p:cNvSpPr>
            <p:nvPr/>
          </p:nvSpPr>
          <p:spPr bwMode="auto">
            <a:xfrm>
              <a:off x="4778077" y="2209513"/>
              <a:ext cx="20638" cy="120650"/>
            </a:xfrm>
            <a:prstGeom prst="rect">
              <a:avLst/>
            </a:pr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Rectangle 74"/>
            <p:cNvSpPr>
              <a:spLocks noChangeArrowheads="1"/>
            </p:cNvSpPr>
            <p:nvPr/>
          </p:nvSpPr>
          <p:spPr bwMode="auto">
            <a:xfrm>
              <a:off x="4757440" y="2209513"/>
              <a:ext cx="11113" cy="120650"/>
            </a:xfrm>
            <a:prstGeom prst="rect">
              <a:avLst/>
            </a:pr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Rectangle 75"/>
            <p:cNvSpPr>
              <a:spLocks noChangeArrowheads="1"/>
            </p:cNvSpPr>
            <p:nvPr/>
          </p:nvSpPr>
          <p:spPr bwMode="auto">
            <a:xfrm>
              <a:off x="4749502" y="1884075"/>
              <a:ext cx="319088"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smtClean="0">
                  <a:ln>
                    <a:noFill/>
                  </a:ln>
                  <a:solidFill>
                    <a:srgbClr val="5B9BD5"/>
                  </a:solidFill>
                  <a:effectLst/>
                  <a:latin typeface="黑体" panose="02010609060101010101" pitchFamily="49" charset="-122"/>
                  <a:ea typeface="黑体" panose="02010609060101010101" pitchFamily="49" charset="-122"/>
                </a:rPr>
                <a:t>逆解</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9" name="Rectangle 76"/>
            <p:cNvSpPr>
              <a:spLocks noChangeArrowheads="1"/>
            </p:cNvSpPr>
            <p:nvPr/>
          </p:nvSpPr>
          <p:spPr bwMode="auto">
            <a:xfrm>
              <a:off x="5159077" y="1865025"/>
              <a:ext cx="177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smtClean="0">
                  <a:ln>
                    <a:noFill/>
                  </a:ln>
                  <a:solidFill>
                    <a:srgbClr val="5B9BD5"/>
                  </a:solidFill>
                  <a:effectLst/>
                  <a:latin typeface="Calibri" panose="020F050202020403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1" name="Rectangle 77"/>
            <p:cNvSpPr>
              <a:spLocks noChangeArrowheads="1"/>
            </p:cNvSpPr>
            <p:nvPr/>
          </p:nvSpPr>
          <p:spPr bwMode="auto">
            <a:xfrm>
              <a:off x="5220990" y="1865025"/>
              <a:ext cx="15107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5B9BD5"/>
                  </a:solidFill>
                  <a:effectLst/>
                  <a:latin typeface="Calibri" panose="020F0502020204030204" pitchFamily="34" charset="0"/>
                </a:rPr>
                <a:t>Inverse </a:t>
              </a:r>
              <a:r>
                <a:rPr kumimoji="0" lang="en-US" altLang="zh-CN" sz="1600" b="0" i="0" u="none" strike="noStrike" cap="none" normalizeH="0" baseline="0" dirty="0" smtClean="0">
                  <a:ln>
                    <a:noFill/>
                  </a:ln>
                  <a:solidFill>
                    <a:srgbClr val="5B9BD5"/>
                  </a:solidFill>
                  <a:effectLst/>
                  <a:latin typeface="Calibri" panose="020F0502020204030204" pitchFamily="34" charset="0"/>
                </a:rPr>
                <a:t>Dynamics)</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125" name="组合 124"/>
          <p:cNvGrpSpPr/>
          <p:nvPr/>
        </p:nvGrpSpPr>
        <p:grpSpPr>
          <a:xfrm>
            <a:off x="2728287" y="3080256"/>
            <a:ext cx="1264921" cy="1452563"/>
            <a:chOff x="2728287" y="3080256"/>
            <a:chExt cx="1264921" cy="1452563"/>
          </a:xfrm>
        </p:grpSpPr>
        <p:grpSp>
          <p:nvGrpSpPr>
            <p:cNvPr id="123" name="组合 122"/>
            <p:cNvGrpSpPr/>
            <p:nvPr/>
          </p:nvGrpSpPr>
          <p:grpSpPr>
            <a:xfrm>
              <a:off x="2728287" y="3080256"/>
              <a:ext cx="1137444" cy="1452563"/>
              <a:chOff x="3982740" y="3115976"/>
              <a:chExt cx="1137444" cy="1452563"/>
            </a:xfrm>
          </p:grpSpPr>
          <p:sp>
            <p:nvSpPr>
              <p:cNvPr id="30" name="Line 23"/>
              <p:cNvSpPr>
                <a:spLocks noChangeShapeType="1"/>
              </p:cNvSpPr>
              <p:nvPr/>
            </p:nvSpPr>
            <p:spPr bwMode="auto">
              <a:xfrm flipV="1">
                <a:off x="4043065" y="3281076"/>
                <a:ext cx="0" cy="803275"/>
              </a:xfrm>
              <a:prstGeom prst="line">
                <a:avLst/>
              </a:prstGeom>
              <a:noFill/>
              <a:ln w="38100" cap="rnd">
                <a:solidFill>
                  <a:srgbClr val="41719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24"/>
              <p:cNvSpPr>
                <a:spLocks/>
              </p:cNvSpPr>
              <p:nvPr/>
            </p:nvSpPr>
            <p:spPr bwMode="auto">
              <a:xfrm>
                <a:off x="3982740" y="3115976"/>
                <a:ext cx="119063" cy="180975"/>
              </a:xfrm>
              <a:custGeom>
                <a:avLst/>
                <a:gdLst>
                  <a:gd name="T0" fmla="*/ 0 w 75"/>
                  <a:gd name="T1" fmla="*/ 114 h 114"/>
                  <a:gd name="T2" fmla="*/ 38 w 75"/>
                  <a:gd name="T3" fmla="*/ 0 h 114"/>
                  <a:gd name="T4" fmla="*/ 75 w 75"/>
                  <a:gd name="T5" fmla="*/ 114 h 114"/>
                  <a:gd name="T6" fmla="*/ 0 w 75"/>
                  <a:gd name="T7" fmla="*/ 114 h 114"/>
                </a:gdLst>
                <a:ahLst/>
                <a:cxnLst>
                  <a:cxn ang="0">
                    <a:pos x="T0" y="T1"/>
                  </a:cxn>
                  <a:cxn ang="0">
                    <a:pos x="T2" y="T3"/>
                  </a:cxn>
                  <a:cxn ang="0">
                    <a:pos x="T4" y="T5"/>
                  </a:cxn>
                  <a:cxn ang="0">
                    <a:pos x="T6" y="T7"/>
                  </a:cxn>
                </a:cxnLst>
                <a:rect l="0" t="0" r="r" b="b"/>
                <a:pathLst>
                  <a:path w="75" h="114">
                    <a:moveTo>
                      <a:pt x="0" y="114"/>
                    </a:moveTo>
                    <a:lnTo>
                      <a:pt x="38" y="0"/>
                    </a:lnTo>
                    <a:lnTo>
                      <a:pt x="75" y="114"/>
                    </a:lnTo>
                    <a:lnTo>
                      <a:pt x="0" y="114"/>
                    </a:lnTo>
                    <a:close/>
                  </a:path>
                </a:pathLst>
              </a:custGeom>
              <a:solidFill>
                <a:srgbClr val="417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Line 25"/>
              <p:cNvSpPr>
                <a:spLocks noChangeShapeType="1"/>
              </p:cNvSpPr>
              <p:nvPr/>
            </p:nvSpPr>
            <p:spPr bwMode="auto">
              <a:xfrm>
                <a:off x="4043065" y="4084351"/>
                <a:ext cx="849313" cy="425450"/>
              </a:xfrm>
              <a:prstGeom prst="line">
                <a:avLst/>
              </a:prstGeom>
              <a:noFill/>
              <a:ln w="25400" cap="rnd">
                <a:solidFill>
                  <a:srgbClr val="70AD4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26"/>
              <p:cNvSpPr>
                <a:spLocks/>
              </p:cNvSpPr>
              <p:nvPr/>
            </p:nvSpPr>
            <p:spPr bwMode="auto">
              <a:xfrm>
                <a:off x="4860627" y="4462176"/>
                <a:ext cx="147638" cy="106363"/>
              </a:xfrm>
              <a:custGeom>
                <a:avLst/>
                <a:gdLst>
                  <a:gd name="T0" fmla="*/ 27 w 93"/>
                  <a:gd name="T1" fmla="*/ 0 h 67"/>
                  <a:gd name="T2" fmla="*/ 93 w 93"/>
                  <a:gd name="T3" fmla="*/ 67 h 67"/>
                  <a:gd name="T4" fmla="*/ 0 w 93"/>
                  <a:gd name="T5" fmla="*/ 54 h 67"/>
                  <a:gd name="T6" fmla="*/ 27 w 93"/>
                  <a:gd name="T7" fmla="*/ 0 h 67"/>
                </a:gdLst>
                <a:ahLst/>
                <a:cxnLst>
                  <a:cxn ang="0">
                    <a:pos x="T0" y="T1"/>
                  </a:cxn>
                  <a:cxn ang="0">
                    <a:pos x="T2" y="T3"/>
                  </a:cxn>
                  <a:cxn ang="0">
                    <a:pos x="T4" y="T5"/>
                  </a:cxn>
                  <a:cxn ang="0">
                    <a:pos x="T6" y="T7"/>
                  </a:cxn>
                </a:cxnLst>
                <a:rect l="0" t="0" r="r" b="b"/>
                <a:pathLst>
                  <a:path w="93" h="67">
                    <a:moveTo>
                      <a:pt x="27" y="0"/>
                    </a:moveTo>
                    <a:lnTo>
                      <a:pt x="93" y="67"/>
                    </a:lnTo>
                    <a:lnTo>
                      <a:pt x="0" y="54"/>
                    </a:lnTo>
                    <a:lnTo>
                      <a:pt x="27" y="0"/>
                    </a:lnTo>
                    <a:close/>
                  </a:path>
                </a:pathLst>
              </a:custGeom>
              <a:solidFill>
                <a:srgbClr val="70AD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Line 27"/>
              <p:cNvSpPr>
                <a:spLocks noChangeShapeType="1"/>
              </p:cNvSpPr>
              <p:nvPr/>
            </p:nvSpPr>
            <p:spPr bwMode="auto">
              <a:xfrm>
                <a:off x="4042271" y="4084351"/>
                <a:ext cx="1077913" cy="0"/>
              </a:xfrm>
              <a:prstGeom prst="line">
                <a:avLst/>
              </a:prstGeom>
              <a:noFill/>
              <a:ln w="25400" cap="rnd">
                <a:solidFill>
                  <a:srgbClr val="ED7D3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8"/>
            <p:cNvSpPr>
              <a:spLocks/>
            </p:cNvSpPr>
            <p:nvPr/>
          </p:nvSpPr>
          <p:spPr bwMode="auto">
            <a:xfrm>
              <a:off x="3851920" y="4001006"/>
              <a:ext cx="141288" cy="95250"/>
            </a:xfrm>
            <a:custGeom>
              <a:avLst/>
              <a:gdLst>
                <a:gd name="T0" fmla="*/ 0 w 89"/>
                <a:gd name="T1" fmla="*/ 0 h 60"/>
                <a:gd name="T2" fmla="*/ 89 w 89"/>
                <a:gd name="T3" fmla="*/ 30 h 60"/>
                <a:gd name="T4" fmla="*/ 0 w 89"/>
                <a:gd name="T5" fmla="*/ 60 h 60"/>
                <a:gd name="T6" fmla="*/ 0 w 89"/>
                <a:gd name="T7" fmla="*/ 0 h 60"/>
              </a:gdLst>
              <a:ahLst/>
              <a:cxnLst>
                <a:cxn ang="0">
                  <a:pos x="T0" y="T1"/>
                </a:cxn>
                <a:cxn ang="0">
                  <a:pos x="T2" y="T3"/>
                </a:cxn>
                <a:cxn ang="0">
                  <a:pos x="T4" y="T5"/>
                </a:cxn>
                <a:cxn ang="0">
                  <a:pos x="T6" y="T7"/>
                </a:cxn>
              </a:cxnLst>
              <a:rect l="0" t="0" r="r" b="b"/>
              <a:pathLst>
                <a:path w="89" h="60">
                  <a:moveTo>
                    <a:pt x="0" y="0"/>
                  </a:moveTo>
                  <a:lnTo>
                    <a:pt x="89" y="30"/>
                  </a:lnTo>
                  <a:lnTo>
                    <a:pt x="0" y="60"/>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4" name="组合 123"/>
          <p:cNvGrpSpPr/>
          <p:nvPr/>
        </p:nvGrpSpPr>
        <p:grpSpPr>
          <a:xfrm>
            <a:off x="3874746" y="2934503"/>
            <a:ext cx="2206520" cy="592137"/>
            <a:chOff x="5176541" y="3127595"/>
            <a:chExt cx="2206520" cy="592137"/>
          </a:xfrm>
        </p:grpSpPr>
        <p:pic>
          <p:nvPicPr>
            <p:cNvPr id="1103" name="Picture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6541" y="3127595"/>
              <a:ext cx="2133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4" name="Picture 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6541" y="3127595"/>
              <a:ext cx="21336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Freeform 81"/>
            <p:cNvSpPr>
              <a:spLocks noEditPoints="1"/>
            </p:cNvSpPr>
            <p:nvPr/>
          </p:nvSpPr>
          <p:spPr bwMode="auto">
            <a:xfrm>
              <a:off x="5209878" y="3151407"/>
              <a:ext cx="2052638" cy="241300"/>
            </a:xfrm>
            <a:custGeom>
              <a:avLst/>
              <a:gdLst>
                <a:gd name="T0" fmla="*/ 1261 w 1293"/>
                <a:gd name="T1" fmla="*/ 114 h 152"/>
                <a:gd name="T2" fmla="*/ 76 w 1293"/>
                <a:gd name="T3" fmla="*/ 114 h 152"/>
                <a:gd name="T4" fmla="*/ 76 w 1293"/>
                <a:gd name="T5" fmla="*/ 152 h 152"/>
                <a:gd name="T6" fmla="*/ 0 w 1293"/>
                <a:gd name="T7" fmla="*/ 76 h 152"/>
                <a:gd name="T8" fmla="*/ 76 w 1293"/>
                <a:gd name="T9" fmla="*/ 0 h 152"/>
                <a:gd name="T10" fmla="*/ 76 w 1293"/>
                <a:gd name="T11" fmla="*/ 38 h 152"/>
                <a:gd name="T12" fmla="*/ 1261 w 1293"/>
                <a:gd name="T13" fmla="*/ 38 h 152"/>
                <a:gd name="T14" fmla="*/ 1261 w 1293"/>
                <a:gd name="T15" fmla="*/ 114 h 152"/>
                <a:gd name="T16" fmla="*/ 1280 w 1293"/>
                <a:gd name="T17" fmla="*/ 114 h 152"/>
                <a:gd name="T18" fmla="*/ 1268 w 1293"/>
                <a:gd name="T19" fmla="*/ 114 h 152"/>
                <a:gd name="T20" fmla="*/ 1268 w 1293"/>
                <a:gd name="T21" fmla="*/ 38 h 152"/>
                <a:gd name="T22" fmla="*/ 1280 w 1293"/>
                <a:gd name="T23" fmla="*/ 38 h 152"/>
                <a:gd name="T24" fmla="*/ 1280 w 1293"/>
                <a:gd name="T25" fmla="*/ 114 h 152"/>
                <a:gd name="T26" fmla="*/ 1293 w 1293"/>
                <a:gd name="T27" fmla="*/ 114 h 152"/>
                <a:gd name="T28" fmla="*/ 1287 w 1293"/>
                <a:gd name="T29" fmla="*/ 114 h 152"/>
                <a:gd name="T30" fmla="*/ 1287 w 1293"/>
                <a:gd name="T31" fmla="*/ 38 h 152"/>
                <a:gd name="T32" fmla="*/ 1293 w 1293"/>
                <a:gd name="T33" fmla="*/ 38 h 152"/>
                <a:gd name="T34" fmla="*/ 1293 w 1293"/>
                <a:gd name="T35" fmla="*/ 11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3" h="152">
                  <a:moveTo>
                    <a:pt x="1261" y="114"/>
                  </a:moveTo>
                  <a:lnTo>
                    <a:pt x="76" y="114"/>
                  </a:lnTo>
                  <a:lnTo>
                    <a:pt x="76" y="152"/>
                  </a:lnTo>
                  <a:lnTo>
                    <a:pt x="0" y="76"/>
                  </a:lnTo>
                  <a:lnTo>
                    <a:pt x="76" y="0"/>
                  </a:lnTo>
                  <a:lnTo>
                    <a:pt x="76" y="38"/>
                  </a:lnTo>
                  <a:lnTo>
                    <a:pt x="1261" y="38"/>
                  </a:lnTo>
                  <a:lnTo>
                    <a:pt x="1261" y="114"/>
                  </a:lnTo>
                  <a:close/>
                  <a:moveTo>
                    <a:pt x="1280" y="114"/>
                  </a:moveTo>
                  <a:lnTo>
                    <a:pt x="1268" y="114"/>
                  </a:lnTo>
                  <a:lnTo>
                    <a:pt x="1268" y="38"/>
                  </a:lnTo>
                  <a:lnTo>
                    <a:pt x="1280" y="38"/>
                  </a:lnTo>
                  <a:lnTo>
                    <a:pt x="1280" y="114"/>
                  </a:lnTo>
                  <a:close/>
                  <a:moveTo>
                    <a:pt x="1293" y="114"/>
                  </a:moveTo>
                  <a:lnTo>
                    <a:pt x="1287" y="114"/>
                  </a:lnTo>
                  <a:lnTo>
                    <a:pt x="1287" y="38"/>
                  </a:lnTo>
                  <a:lnTo>
                    <a:pt x="1293" y="38"/>
                  </a:lnTo>
                  <a:lnTo>
                    <a:pt x="1293" y="114"/>
                  </a:ln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82"/>
            <p:cNvSpPr>
              <a:spLocks/>
            </p:cNvSpPr>
            <p:nvPr/>
          </p:nvSpPr>
          <p:spPr bwMode="auto">
            <a:xfrm>
              <a:off x="5209878" y="3151407"/>
              <a:ext cx="2001838" cy="241300"/>
            </a:xfrm>
            <a:custGeom>
              <a:avLst/>
              <a:gdLst>
                <a:gd name="T0" fmla="*/ 1261 w 1261"/>
                <a:gd name="T1" fmla="*/ 114 h 152"/>
                <a:gd name="T2" fmla="*/ 76 w 1261"/>
                <a:gd name="T3" fmla="*/ 114 h 152"/>
                <a:gd name="T4" fmla="*/ 76 w 1261"/>
                <a:gd name="T5" fmla="*/ 152 h 152"/>
                <a:gd name="T6" fmla="*/ 0 w 1261"/>
                <a:gd name="T7" fmla="*/ 76 h 152"/>
                <a:gd name="T8" fmla="*/ 76 w 1261"/>
                <a:gd name="T9" fmla="*/ 0 h 152"/>
                <a:gd name="T10" fmla="*/ 76 w 1261"/>
                <a:gd name="T11" fmla="*/ 38 h 152"/>
                <a:gd name="T12" fmla="*/ 1261 w 1261"/>
                <a:gd name="T13" fmla="*/ 38 h 152"/>
                <a:gd name="T14" fmla="*/ 1261 w 1261"/>
                <a:gd name="T15" fmla="*/ 114 h 1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1" h="152">
                  <a:moveTo>
                    <a:pt x="1261" y="114"/>
                  </a:moveTo>
                  <a:lnTo>
                    <a:pt x="76" y="114"/>
                  </a:lnTo>
                  <a:lnTo>
                    <a:pt x="76" y="152"/>
                  </a:lnTo>
                  <a:lnTo>
                    <a:pt x="0" y="76"/>
                  </a:lnTo>
                  <a:lnTo>
                    <a:pt x="76" y="0"/>
                  </a:lnTo>
                  <a:lnTo>
                    <a:pt x="76" y="38"/>
                  </a:lnTo>
                  <a:lnTo>
                    <a:pt x="1261" y="38"/>
                  </a:lnTo>
                  <a:lnTo>
                    <a:pt x="1261" y="114"/>
                  </a:lnTo>
                  <a:close/>
                </a:path>
              </a:pathLst>
            </a:cu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Rectangle 83"/>
            <p:cNvSpPr>
              <a:spLocks noChangeArrowheads="1"/>
            </p:cNvSpPr>
            <p:nvPr/>
          </p:nvSpPr>
          <p:spPr bwMode="auto">
            <a:xfrm>
              <a:off x="7222828" y="3211732"/>
              <a:ext cx="19050" cy="120650"/>
            </a:xfrm>
            <a:prstGeom prst="rect">
              <a:avLst/>
            </a:pr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Rectangle 84"/>
            <p:cNvSpPr>
              <a:spLocks noChangeArrowheads="1"/>
            </p:cNvSpPr>
            <p:nvPr/>
          </p:nvSpPr>
          <p:spPr bwMode="auto">
            <a:xfrm>
              <a:off x="7252991" y="3211732"/>
              <a:ext cx="9525" cy="120650"/>
            </a:xfrm>
            <a:prstGeom prst="rect">
              <a:avLst/>
            </a:prstGeom>
            <a:noFill/>
            <a:ln w="6350" cap="sq">
              <a:solidFill>
                <a:srgbClr val="41719C"/>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Rectangle 85"/>
            <p:cNvSpPr>
              <a:spLocks noChangeArrowheads="1"/>
            </p:cNvSpPr>
            <p:nvPr/>
          </p:nvSpPr>
          <p:spPr bwMode="auto">
            <a:xfrm>
              <a:off x="5209878" y="3405407"/>
              <a:ext cx="319088"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203864"/>
                  </a:solidFill>
                  <a:effectLst/>
                  <a:latin typeface="黑体" panose="02010609060101010101" pitchFamily="49" charset="-122"/>
                  <a:ea typeface="黑体" panose="02010609060101010101" pitchFamily="49" charset="-122"/>
                </a:rPr>
                <a:t>正解</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70" name="Rectangle 86"/>
            <p:cNvSpPr>
              <a:spLocks noChangeArrowheads="1"/>
            </p:cNvSpPr>
            <p:nvPr/>
          </p:nvSpPr>
          <p:spPr bwMode="auto">
            <a:xfrm>
              <a:off x="5619453" y="3386357"/>
              <a:ext cx="177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smtClean="0">
                  <a:ln>
                    <a:noFill/>
                  </a:ln>
                  <a:solidFill>
                    <a:srgbClr val="203864"/>
                  </a:solidFill>
                  <a:effectLst/>
                  <a:latin typeface="Calibri" panose="020F050202020403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71" name="Rectangle 87"/>
            <p:cNvSpPr>
              <a:spLocks noChangeArrowheads="1"/>
            </p:cNvSpPr>
            <p:nvPr/>
          </p:nvSpPr>
          <p:spPr bwMode="auto">
            <a:xfrm>
              <a:off x="5681366" y="3386357"/>
              <a:ext cx="15416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203864"/>
                  </a:solidFill>
                  <a:effectLst/>
                  <a:latin typeface="Calibri" panose="020F0502020204030204" pitchFamily="34" charset="0"/>
                </a:rPr>
                <a:t>Forward </a:t>
              </a:r>
              <a:r>
                <a:rPr kumimoji="0" lang="en-US" altLang="zh-CN" sz="1600" b="0" i="0" u="none" strike="noStrike" cap="none" normalizeH="0" baseline="0" dirty="0" smtClean="0">
                  <a:ln>
                    <a:noFill/>
                  </a:ln>
                  <a:solidFill>
                    <a:srgbClr val="203864"/>
                  </a:solidFill>
                  <a:effectLst/>
                  <a:latin typeface="Calibri" panose="020F0502020204030204" pitchFamily="34" charset="0"/>
                </a:rPr>
                <a:t>Dynamics</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72" name="Rectangle 88"/>
            <p:cNvSpPr>
              <a:spLocks noChangeArrowheads="1"/>
            </p:cNvSpPr>
            <p:nvPr/>
          </p:nvSpPr>
          <p:spPr bwMode="auto">
            <a:xfrm>
              <a:off x="7205261" y="3386357"/>
              <a:ext cx="177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smtClean="0">
                  <a:ln>
                    <a:noFill/>
                  </a:ln>
                  <a:solidFill>
                    <a:srgbClr val="203864"/>
                  </a:solidFill>
                  <a:effectLst/>
                  <a:latin typeface="Calibri" panose="020F0502020204030204" pitchFamily="34"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grpSp>
      <mc:AlternateContent xmlns:mc="http://schemas.openxmlformats.org/markup-compatibility/2006" xmlns:a14="http://schemas.microsoft.com/office/drawing/2010/main">
        <mc:Choice Requires="a14">
          <p:sp>
            <p:nvSpPr>
              <p:cNvPr id="127" name="矩形 126"/>
              <p:cNvSpPr/>
              <p:nvPr/>
            </p:nvSpPr>
            <p:spPr>
              <a:xfrm>
                <a:off x="3904308" y="3490883"/>
                <a:ext cx="2203808" cy="4147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𝑀</m:t>
                          </m:r>
                        </m:e>
                        <m:sup>
                          <m:r>
                            <a:rPr lang="zh-CN" altLang="en-US" sz="1400" i="0">
                              <a:latin typeface="Cambria Math" panose="02040503050406030204" pitchFamily="18" charset="0"/>
                            </a:rPr>
                            <m:t>−1</m:t>
                          </m:r>
                        </m:sup>
                      </m:s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d>
                        <m:dPr>
                          <m:ctrlPr>
                            <a:rPr lang="zh-CN" altLang="en-US" sz="1400" i="1">
                              <a:latin typeface="Cambria Math" panose="02040503050406030204" pitchFamily="18" charset="0"/>
                            </a:rPr>
                          </m:ctrlPr>
                        </m:dPr>
                        <m:e>
                          <m:r>
                            <a:rPr lang="zh-CN" altLang="en-US" sz="1400" i="1">
                              <a:latin typeface="Cambria Math" panose="02040503050406030204" pitchFamily="18" charset="0"/>
                            </a:rPr>
                            <m:t>𝜏</m:t>
                          </m:r>
                          <m:r>
                            <a:rPr lang="zh-CN" altLang="en-US" sz="1400" i="0">
                              <a:latin typeface="Cambria Math" panose="02040503050406030204" pitchFamily="18" charset="0"/>
                            </a:rPr>
                            <m:t>−</m:t>
                          </m:r>
                          <m:r>
                            <a:rPr lang="zh-CN" altLang="en-US" sz="1400" i="1">
                              <a:latin typeface="Cambria Math" panose="02040503050406030204" pitchFamily="18" charset="0"/>
                            </a:rPr>
                            <m:t>h</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r>
                                <a:rPr lang="zh-CN" altLang="en-US" sz="1400" i="0">
                                  <a:latin typeface="Cambria Math" panose="02040503050406030204" pitchFamily="18" charset="0"/>
                                </a:rPr>
                                <m:t>,</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d>
                        </m:e>
                      </m:d>
                    </m:oMath>
                  </m:oMathPara>
                </a14:m>
                <a:endParaRPr lang="zh-CN" altLang="en-US" sz="1400" dirty="0"/>
              </a:p>
            </p:txBody>
          </p:sp>
        </mc:Choice>
        <mc:Fallback xmlns="">
          <p:sp>
            <p:nvSpPr>
              <p:cNvPr id="127" name="矩形 126"/>
              <p:cNvSpPr>
                <a:spLocks noRot="1" noChangeAspect="1" noMove="1" noResize="1" noEditPoints="1" noAdjustHandles="1" noChangeArrowheads="1" noChangeShapeType="1" noTextEdit="1"/>
              </p:cNvSpPr>
              <p:nvPr/>
            </p:nvSpPr>
            <p:spPr>
              <a:xfrm>
                <a:off x="3904308" y="3490883"/>
                <a:ext cx="2203808" cy="41472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4" name="矩形 1023"/>
              <p:cNvSpPr/>
              <p:nvPr/>
            </p:nvSpPr>
            <p:spPr>
              <a:xfrm>
                <a:off x="4017484" y="2304183"/>
                <a:ext cx="1820434" cy="3354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𝜏</m:t>
                      </m:r>
                      <m:r>
                        <a:rPr lang="zh-CN" altLang="en-US" sz="1400" i="0">
                          <a:latin typeface="Cambria Math" panose="02040503050406030204" pitchFamily="18" charset="0"/>
                        </a:rPr>
                        <m:t>=</m:t>
                      </m:r>
                      <m:r>
                        <a:rPr lang="zh-CN" altLang="en-US" sz="1400" i="1">
                          <a:latin typeface="Cambria Math" panose="02040503050406030204" pitchFamily="18" charset="0"/>
                        </a:rPr>
                        <m:t>𝑀</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m:t>
                      </m:r>
                      <m:r>
                        <a:rPr lang="zh-CN" altLang="en-US" sz="1400" i="1">
                          <a:latin typeface="Cambria Math" panose="02040503050406030204" pitchFamily="18" charset="0"/>
                        </a:rPr>
                        <m:t>h</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r>
                            <a:rPr lang="zh-CN" altLang="en-US" sz="1400" i="0">
                              <a:latin typeface="Cambria Math" panose="02040503050406030204" pitchFamily="18" charset="0"/>
                            </a:rPr>
                            <m:t>,</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d>
                    </m:oMath>
                  </m:oMathPara>
                </a14:m>
                <a:endParaRPr lang="zh-CN" altLang="en-US" sz="1400" dirty="0"/>
              </a:p>
            </p:txBody>
          </p:sp>
        </mc:Choice>
        <mc:Fallback xmlns="">
          <p:sp>
            <p:nvSpPr>
              <p:cNvPr id="1024" name="矩形 1023"/>
              <p:cNvSpPr>
                <a:spLocks noRot="1" noChangeAspect="1" noMove="1" noResize="1" noEditPoints="1" noAdjustHandles="1" noChangeArrowheads="1" noChangeShapeType="1" noTextEdit="1"/>
              </p:cNvSpPr>
              <p:nvPr/>
            </p:nvSpPr>
            <p:spPr>
              <a:xfrm>
                <a:off x="4017484" y="2304183"/>
                <a:ext cx="1820434" cy="335476"/>
              </a:xfrm>
              <a:prstGeom prst="rect">
                <a:avLst/>
              </a:prstGeom>
              <a:blipFill>
                <a:blip r:embed="rId10"/>
                <a:stretch>
                  <a:fillRect/>
                </a:stretch>
              </a:blipFill>
            </p:spPr>
            <p:txBody>
              <a:bodyPr/>
              <a:lstStyle/>
              <a:p>
                <a:r>
                  <a:rPr lang="zh-CN" altLang="en-US">
                    <a:noFill/>
                  </a:rPr>
                  <a:t> </a:t>
                </a:r>
              </a:p>
            </p:txBody>
          </p:sp>
        </mc:Fallback>
      </mc:AlternateContent>
      <p:grpSp>
        <p:nvGrpSpPr>
          <p:cNvPr id="135" name="组合 134"/>
          <p:cNvGrpSpPr/>
          <p:nvPr/>
        </p:nvGrpSpPr>
        <p:grpSpPr>
          <a:xfrm>
            <a:off x="7118211" y="3130449"/>
            <a:ext cx="1264921" cy="1452563"/>
            <a:chOff x="2728287" y="3080256"/>
            <a:chExt cx="1264921" cy="1452563"/>
          </a:xfrm>
        </p:grpSpPr>
        <p:grpSp>
          <p:nvGrpSpPr>
            <p:cNvPr id="136" name="组合 135"/>
            <p:cNvGrpSpPr/>
            <p:nvPr/>
          </p:nvGrpSpPr>
          <p:grpSpPr>
            <a:xfrm>
              <a:off x="2728287" y="3080256"/>
              <a:ext cx="1137444" cy="1452563"/>
              <a:chOff x="3982740" y="3115976"/>
              <a:chExt cx="1137444" cy="1452563"/>
            </a:xfrm>
          </p:grpSpPr>
          <p:sp>
            <p:nvSpPr>
              <p:cNvPr id="138" name="Line 23"/>
              <p:cNvSpPr>
                <a:spLocks noChangeShapeType="1"/>
              </p:cNvSpPr>
              <p:nvPr/>
            </p:nvSpPr>
            <p:spPr bwMode="auto">
              <a:xfrm flipV="1">
                <a:off x="4043065" y="3281076"/>
                <a:ext cx="0" cy="803275"/>
              </a:xfrm>
              <a:prstGeom prst="line">
                <a:avLst/>
              </a:prstGeom>
              <a:noFill/>
              <a:ln w="38100" cap="rnd">
                <a:solidFill>
                  <a:srgbClr val="41719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24"/>
              <p:cNvSpPr>
                <a:spLocks/>
              </p:cNvSpPr>
              <p:nvPr/>
            </p:nvSpPr>
            <p:spPr bwMode="auto">
              <a:xfrm>
                <a:off x="3982740" y="3115976"/>
                <a:ext cx="119063" cy="180975"/>
              </a:xfrm>
              <a:custGeom>
                <a:avLst/>
                <a:gdLst>
                  <a:gd name="T0" fmla="*/ 0 w 75"/>
                  <a:gd name="T1" fmla="*/ 114 h 114"/>
                  <a:gd name="T2" fmla="*/ 38 w 75"/>
                  <a:gd name="T3" fmla="*/ 0 h 114"/>
                  <a:gd name="T4" fmla="*/ 75 w 75"/>
                  <a:gd name="T5" fmla="*/ 114 h 114"/>
                  <a:gd name="T6" fmla="*/ 0 w 75"/>
                  <a:gd name="T7" fmla="*/ 114 h 114"/>
                </a:gdLst>
                <a:ahLst/>
                <a:cxnLst>
                  <a:cxn ang="0">
                    <a:pos x="T0" y="T1"/>
                  </a:cxn>
                  <a:cxn ang="0">
                    <a:pos x="T2" y="T3"/>
                  </a:cxn>
                  <a:cxn ang="0">
                    <a:pos x="T4" y="T5"/>
                  </a:cxn>
                  <a:cxn ang="0">
                    <a:pos x="T6" y="T7"/>
                  </a:cxn>
                </a:cxnLst>
                <a:rect l="0" t="0" r="r" b="b"/>
                <a:pathLst>
                  <a:path w="75" h="114">
                    <a:moveTo>
                      <a:pt x="0" y="114"/>
                    </a:moveTo>
                    <a:lnTo>
                      <a:pt x="38" y="0"/>
                    </a:lnTo>
                    <a:lnTo>
                      <a:pt x="75" y="114"/>
                    </a:lnTo>
                    <a:lnTo>
                      <a:pt x="0" y="114"/>
                    </a:lnTo>
                    <a:close/>
                  </a:path>
                </a:pathLst>
              </a:custGeom>
              <a:solidFill>
                <a:srgbClr val="417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Line 25"/>
              <p:cNvSpPr>
                <a:spLocks noChangeShapeType="1"/>
              </p:cNvSpPr>
              <p:nvPr/>
            </p:nvSpPr>
            <p:spPr bwMode="auto">
              <a:xfrm>
                <a:off x="4043065" y="4084351"/>
                <a:ext cx="849313" cy="425450"/>
              </a:xfrm>
              <a:prstGeom prst="line">
                <a:avLst/>
              </a:prstGeom>
              <a:noFill/>
              <a:ln w="25400" cap="rnd">
                <a:solidFill>
                  <a:srgbClr val="70AD4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26"/>
              <p:cNvSpPr>
                <a:spLocks/>
              </p:cNvSpPr>
              <p:nvPr/>
            </p:nvSpPr>
            <p:spPr bwMode="auto">
              <a:xfrm>
                <a:off x="4860627" y="4462176"/>
                <a:ext cx="147638" cy="106363"/>
              </a:xfrm>
              <a:custGeom>
                <a:avLst/>
                <a:gdLst>
                  <a:gd name="T0" fmla="*/ 27 w 93"/>
                  <a:gd name="T1" fmla="*/ 0 h 67"/>
                  <a:gd name="T2" fmla="*/ 93 w 93"/>
                  <a:gd name="T3" fmla="*/ 67 h 67"/>
                  <a:gd name="T4" fmla="*/ 0 w 93"/>
                  <a:gd name="T5" fmla="*/ 54 h 67"/>
                  <a:gd name="T6" fmla="*/ 27 w 93"/>
                  <a:gd name="T7" fmla="*/ 0 h 67"/>
                </a:gdLst>
                <a:ahLst/>
                <a:cxnLst>
                  <a:cxn ang="0">
                    <a:pos x="T0" y="T1"/>
                  </a:cxn>
                  <a:cxn ang="0">
                    <a:pos x="T2" y="T3"/>
                  </a:cxn>
                  <a:cxn ang="0">
                    <a:pos x="T4" y="T5"/>
                  </a:cxn>
                  <a:cxn ang="0">
                    <a:pos x="T6" y="T7"/>
                  </a:cxn>
                </a:cxnLst>
                <a:rect l="0" t="0" r="r" b="b"/>
                <a:pathLst>
                  <a:path w="93" h="67">
                    <a:moveTo>
                      <a:pt x="27" y="0"/>
                    </a:moveTo>
                    <a:lnTo>
                      <a:pt x="93" y="67"/>
                    </a:lnTo>
                    <a:lnTo>
                      <a:pt x="0" y="54"/>
                    </a:lnTo>
                    <a:lnTo>
                      <a:pt x="27" y="0"/>
                    </a:lnTo>
                    <a:close/>
                  </a:path>
                </a:pathLst>
              </a:custGeom>
              <a:solidFill>
                <a:srgbClr val="70AD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Line 27"/>
              <p:cNvSpPr>
                <a:spLocks noChangeShapeType="1"/>
              </p:cNvSpPr>
              <p:nvPr/>
            </p:nvSpPr>
            <p:spPr bwMode="auto">
              <a:xfrm>
                <a:off x="4042271" y="4084351"/>
                <a:ext cx="1077913" cy="0"/>
              </a:xfrm>
              <a:prstGeom prst="line">
                <a:avLst/>
              </a:prstGeom>
              <a:noFill/>
              <a:ln w="25400" cap="rnd">
                <a:solidFill>
                  <a:srgbClr val="ED7D3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7" name="Freeform 28"/>
            <p:cNvSpPr>
              <a:spLocks/>
            </p:cNvSpPr>
            <p:nvPr/>
          </p:nvSpPr>
          <p:spPr bwMode="auto">
            <a:xfrm>
              <a:off x="3851920" y="4001006"/>
              <a:ext cx="141288" cy="95250"/>
            </a:xfrm>
            <a:custGeom>
              <a:avLst/>
              <a:gdLst>
                <a:gd name="T0" fmla="*/ 0 w 89"/>
                <a:gd name="T1" fmla="*/ 0 h 60"/>
                <a:gd name="T2" fmla="*/ 89 w 89"/>
                <a:gd name="T3" fmla="*/ 30 h 60"/>
                <a:gd name="T4" fmla="*/ 0 w 89"/>
                <a:gd name="T5" fmla="*/ 60 h 60"/>
                <a:gd name="T6" fmla="*/ 0 w 89"/>
                <a:gd name="T7" fmla="*/ 0 h 60"/>
              </a:gdLst>
              <a:ahLst/>
              <a:cxnLst>
                <a:cxn ang="0">
                  <a:pos x="T0" y="T1"/>
                </a:cxn>
                <a:cxn ang="0">
                  <a:pos x="T2" y="T3"/>
                </a:cxn>
                <a:cxn ang="0">
                  <a:pos x="T4" y="T5"/>
                </a:cxn>
                <a:cxn ang="0">
                  <a:pos x="T6" y="T7"/>
                </a:cxn>
              </a:cxnLst>
              <a:rect l="0" t="0" r="r" b="b"/>
              <a:pathLst>
                <a:path w="89" h="60">
                  <a:moveTo>
                    <a:pt x="0" y="0"/>
                  </a:moveTo>
                  <a:lnTo>
                    <a:pt x="89" y="30"/>
                  </a:lnTo>
                  <a:lnTo>
                    <a:pt x="0" y="60"/>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3" name="组合 142"/>
          <p:cNvGrpSpPr/>
          <p:nvPr/>
        </p:nvGrpSpPr>
        <p:grpSpPr>
          <a:xfrm>
            <a:off x="7350857" y="662616"/>
            <a:ext cx="663576" cy="725488"/>
            <a:chOff x="4219277" y="818863"/>
            <a:chExt cx="663576" cy="725488"/>
          </a:xfrm>
        </p:grpSpPr>
        <p:sp>
          <p:nvSpPr>
            <p:cNvPr id="144" name="Line 6"/>
            <p:cNvSpPr>
              <a:spLocks noChangeShapeType="1"/>
            </p:cNvSpPr>
            <p:nvPr/>
          </p:nvSpPr>
          <p:spPr bwMode="auto">
            <a:xfrm flipV="1">
              <a:off x="4279602" y="982375"/>
              <a:ext cx="0" cy="319088"/>
            </a:xfrm>
            <a:prstGeom prst="line">
              <a:avLst/>
            </a:prstGeom>
            <a:noFill/>
            <a:ln w="38100" cap="rnd">
              <a:solidFill>
                <a:srgbClr val="41719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Freeform 7"/>
            <p:cNvSpPr>
              <a:spLocks/>
            </p:cNvSpPr>
            <p:nvPr/>
          </p:nvSpPr>
          <p:spPr bwMode="auto">
            <a:xfrm>
              <a:off x="4219277" y="818863"/>
              <a:ext cx="120650" cy="179388"/>
            </a:xfrm>
            <a:custGeom>
              <a:avLst/>
              <a:gdLst>
                <a:gd name="T0" fmla="*/ 0 w 76"/>
                <a:gd name="T1" fmla="*/ 113 h 113"/>
                <a:gd name="T2" fmla="*/ 38 w 76"/>
                <a:gd name="T3" fmla="*/ 0 h 113"/>
                <a:gd name="T4" fmla="*/ 76 w 76"/>
                <a:gd name="T5" fmla="*/ 113 h 113"/>
                <a:gd name="T6" fmla="*/ 0 w 76"/>
                <a:gd name="T7" fmla="*/ 113 h 113"/>
              </a:gdLst>
              <a:ahLst/>
              <a:cxnLst>
                <a:cxn ang="0">
                  <a:pos x="T0" y="T1"/>
                </a:cxn>
                <a:cxn ang="0">
                  <a:pos x="T2" y="T3"/>
                </a:cxn>
                <a:cxn ang="0">
                  <a:pos x="T4" y="T5"/>
                </a:cxn>
                <a:cxn ang="0">
                  <a:pos x="T6" y="T7"/>
                </a:cxn>
              </a:cxnLst>
              <a:rect l="0" t="0" r="r" b="b"/>
              <a:pathLst>
                <a:path w="76" h="113">
                  <a:moveTo>
                    <a:pt x="0" y="113"/>
                  </a:moveTo>
                  <a:lnTo>
                    <a:pt x="38" y="0"/>
                  </a:lnTo>
                  <a:lnTo>
                    <a:pt x="76" y="113"/>
                  </a:lnTo>
                  <a:lnTo>
                    <a:pt x="0" y="113"/>
                  </a:lnTo>
                  <a:close/>
                </a:path>
              </a:pathLst>
            </a:custGeom>
            <a:solidFill>
              <a:srgbClr val="4171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Line 8"/>
            <p:cNvSpPr>
              <a:spLocks noChangeShapeType="1"/>
            </p:cNvSpPr>
            <p:nvPr/>
          </p:nvSpPr>
          <p:spPr bwMode="auto">
            <a:xfrm>
              <a:off x="4279602" y="1301463"/>
              <a:ext cx="366713" cy="184150"/>
            </a:xfrm>
            <a:prstGeom prst="line">
              <a:avLst/>
            </a:prstGeom>
            <a:noFill/>
            <a:ln w="25400" cap="rnd">
              <a:solidFill>
                <a:srgbClr val="70AD4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9"/>
            <p:cNvSpPr>
              <a:spLocks/>
            </p:cNvSpPr>
            <p:nvPr/>
          </p:nvSpPr>
          <p:spPr bwMode="auto">
            <a:xfrm>
              <a:off x="4614565" y="1437988"/>
              <a:ext cx="147638" cy="106363"/>
            </a:xfrm>
            <a:custGeom>
              <a:avLst/>
              <a:gdLst>
                <a:gd name="T0" fmla="*/ 27 w 93"/>
                <a:gd name="T1" fmla="*/ 0 h 67"/>
                <a:gd name="T2" fmla="*/ 93 w 93"/>
                <a:gd name="T3" fmla="*/ 67 h 67"/>
                <a:gd name="T4" fmla="*/ 0 w 93"/>
                <a:gd name="T5" fmla="*/ 54 h 67"/>
                <a:gd name="T6" fmla="*/ 27 w 93"/>
                <a:gd name="T7" fmla="*/ 0 h 67"/>
              </a:gdLst>
              <a:ahLst/>
              <a:cxnLst>
                <a:cxn ang="0">
                  <a:pos x="T0" y="T1"/>
                </a:cxn>
                <a:cxn ang="0">
                  <a:pos x="T2" y="T3"/>
                </a:cxn>
                <a:cxn ang="0">
                  <a:pos x="T4" y="T5"/>
                </a:cxn>
                <a:cxn ang="0">
                  <a:pos x="T6" y="T7"/>
                </a:cxn>
              </a:cxnLst>
              <a:rect l="0" t="0" r="r" b="b"/>
              <a:pathLst>
                <a:path w="93" h="67">
                  <a:moveTo>
                    <a:pt x="27" y="0"/>
                  </a:moveTo>
                  <a:lnTo>
                    <a:pt x="93" y="67"/>
                  </a:lnTo>
                  <a:lnTo>
                    <a:pt x="0" y="54"/>
                  </a:lnTo>
                  <a:lnTo>
                    <a:pt x="27" y="0"/>
                  </a:lnTo>
                  <a:close/>
                </a:path>
              </a:pathLst>
            </a:custGeom>
            <a:solidFill>
              <a:srgbClr val="70AD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Line 10"/>
            <p:cNvSpPr>
              <a:spLocks noChangeShapeType="1"/>
            </p:cNvSpPr>
            <p:nvPr/>
          </p:nvSpPr>
          <p:spPr bwMode="auto">
            <a:xfrm>
              <a:off x="4279602" y="1301463"/>
              <a:ext cx="474663" cy="0"/>
            </a:xfrm>
            <a:prstGeom prst="line">
              <a:avLst/>
            </a:prstGeom>
            <a:noFill/>
            <a:ln w="25400" cap="rnd">
              <a:solidFill>
                <a:srgbClr val="ED7D3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11"/>
            <p:cNvSpPr>
              <a:spLocks/>
            </p:cNvSpPr>
            <p:nvPr/>
          </p:nvSpPr>
          <p:spPr bwMode="auto">
            <a:xfrm>
              <a:off x="4741565" y="1255425"/>
              <a:ext cx="141288" cy="93663"/>
            </a:xfrm>
            <a:custGeom>
              <a:avLst/>
              <a:gdLst>
                <a:gd name="T0" fmla="*/ 0 w 89"/>
                <a:gd name="T1" fmla="*/ 0 h 59"/>
                <a:gd name="T2" fmla="*/ 89 w 89"/>
                <a:gd name="T3" fmla="*/ 29 h 59"/>
                <a:gd name="T4" fmla="*/ 0 w 89"/>
                <a:gd name="T5" fmla="*/ 59 h 59"/>
                <a:gd name="T6" fmla="*/ 0 w 89"/>
                <a:gd name="T7" fmla="*/ 0 h 59"/>
              </a:gdLst>
              <a:ahLst/>
              <a:cxnLst>
                <a:cxn ang="0">
                  <a:pos x="T0" y="T1"/>
                </a:cxn>
                <a:cxn ang="0">
                  <a:pos x="T2" y="T3"/>
                </a:cxn>
                <a:cxn ang="0">
                  <a:pos x="T4" y="T5"/>
                </a:cxn>
                <a:cxn ang="0">
                  <a:pos x="T6" y="T7"/>
                </a:cxn>
              </a:cxnLst>
              <a:rect l="0" t="0" r="r" b="b"/>
              <a:pathLst>
                <a:path w="89" h="59">
                  <a:moveTo>
                    <a:pt x="0" y="0"/>
                  </a:moveTo>
                  <a:lnTo>
                    <a:pt x="89" y="29"/>
                  </a:lnTo>
                  <a:lnTo>
                    <a:pt x="0" y="59"/>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50" name="Rectangle 67"/>
          <p:cNvSpPr>
            <a:spLocks noChangeArrowheads="1"/>
          </p:cNvSpPr>
          <p:nvPr/>
        </p:nvSpPr>
        <p:spPr bwMode="auto">
          <a:xfrm>
            <a:off x="7662852" y="784573"/>
            <a:ext cx="11049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5B9BD5"/>
                </a:solidFill>
                <a:effectLst/>
                <a:latin typeface="Calibri" panose="020F0502020204030204" pitchFamily="34" charset="0"/>
              </a:rPr>
              <a:t>Joint Space</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151" name="Rectangle 68"/>
          <p:cNvSpPr>
            <a:spLocks noChangeArrowheads="1"/>
          </p:cNvSpPr>
          <p:nvPr/>
        </p:nvSpPr>
        <p:spPr bwMode="auto">
          <a:xfrm>
            <a:off x="6643812" y="4544218"/>
            <a:ext cx="1514475"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smtClean="0">
                <a:ln>
                  <a:noFill/>
                </a:ln>
                <a:solidFill>
                  <a:srgbClr val="5B9BD5"/>
                </a:solidFill>
                <a:effectLst/>
                <a:latin typeface="Calibri" panose="020F0502020204030204" pitchFamily="34" charset="0"/>
              </a:rPr>
              <a:t>Cartesian Space</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95689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200329"/>
          </a:xfrm>
          <a:prstGeom prst="rect">
            <a:avLst/>
          </a:prstGeom>
        </p:spPr>
        <p:txBody>
          <a:bodyPr wrap="square">
            <a:spAutoFit/>
          </a:bodyPr>
          <a:lstStyle/>
          <a:p>
            <a:pPr>
              <a:lnSpc>
                <a:spcPct val="150000"/>
              </a:lnSpc>
            </a:pPr>
            <a:r>
              <a:rPr lang="en-US" altLang="zh-CN" sz="1200" dirty="0" smtClean="0">
                <a:latin typeface="Arial" panose="020B0604020202020204" pitchFamily="34" charset="0"/>
                <a:ea typeface="微软雅黑" panose="020B0503020204020204" charset="-122"/>
                <a:sym typeface="+mn-ea"/>
              </a:rPr>
              <a:t>1778</a:t>
            </a:r>
            <a:r>
              <a:rPr lang="zh-CN" altLang="en-US" sz="1200" dirty="0">
                <a:latin typeface="Arial" panose="020B0604020202020204" pitchFamily="34" charset="0"/>
                <a:ea typeface="微软雅黑" panose="020B0503020204020204" charset="-122"/>
                <a:sym typeface="+mn-ea"/>
              </a:rPr>
              <a:t>年，</a:t>
            </a:r>
            <a:r>
              <a:rPr lang="en-US" altLang="zh-CN" sz="1200" dirty="0">
                <a:latin typeface="Arial" panose="020B0604020202020204" pitchFamily="34" charset="0"/>
                <a:ea typeface="微软雅黑" panose="020B0503020204020204" charset="-122"/>
                <a:sym typeface="+mn-ea"/>
              </a:rPr>
              <a:t>Lagrange</a:t>
            </a:r>
            <a:r>
              <a:rPr lang="zh-CN" altLang="en-US" sz="1200" dirty="0">
                <a:latin typeface="Arial" panose="020B0604020202020204" pitchFamily="34" charset="0"/>
                <a:ea typeface="微软雅黑" panose="020B0503020204020204" charset="-122"/>
                <a:sym typeface="+mn-ea"/>
              </a:rPr>
              <a:t>出版了</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分析力学</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一书，引入广义坐标，运用达郎贝尔原理得到的力学方程，把力学体系的运动方程从以力为基本概念的牛顿形式，改变为以能量为基本概念的分析力学形式。</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09114" cy="523220"/>
          </a:xfrm>
          <a:prstGeom prst="rect">
            <a:avLst/>
          </a:prstGeom>
          <a:noFill/>
        </p:spPr>
        <p:txBody>
          <a:bodyPr wrap="square" rtlCol="0" anchor="t">
            <a:spAutoFit/>
          </a:bodyPr>
          <a:lstStyle/>
          <a:p>
            <a:r>
              <a:rPr lang="en-US" altLang="zh-CN" sz="2800" b="1" dirty="0">
                <a:latin typeface="Arial" panose="020B0604020202020204" pitchFamily="34" charset="0"/>
                <a:ea typeface="微软雅黑" panose="020B0503020204020204" charset="-122"/>
                <a:sym typeface="+mn-ea"/>
              </a:rPr>
              <a:t>Lagrange</a:t>
            </a:r>
            <a:r>
              <a:rPr lang="zh-CN" altLang="en-US" sz="2800" b="1" dirty="0">
                <a:latin typeface="Arial" panose="020B0604020202020204" pitchFamily="34" charset="0"/>
                <a:ea typeface="微软雅黑" panose="020B0503020204020204" charset="-122"/>
                <a:sym typeface="+mn-ea"/>
              </a:rPr>
              <a:t>动力学方法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01</a:t>
            </a:r>
          </a:p>
        </p:txBody>
      </p:sp>
      <p:sp>
        <p:nvSpPr>
          <p:cNvPr id="4" name="文本框 3"/>
          <p:cNvSpPr txBox="1"/>
          <p:nvPr/>
        </p:nvSpPr>
        <p:spPr>
          <a:xfrm>
            <a:off x="965835" y="4418918"/>
            <a:ext cx="7056784" cy="523220"/>
          </a:xfrm>
          <a:prstGeom prst="rect">
            <a:avLst/>
          </a:prstGeom>
          <a:noFill/>
        </p:spPr>
        <p:txBody>
          <a:bodyPr wrap="square" rtlCol="0">
            <a:spAutoFit/>
          </a:bodyPr>
          <a:lstStyle/>
          <a:p>
            <a:r>
              <a:rPr lang="zh-CN" altLang="en-US" sz="1400" b="1" dirty="0" smtClean="0">
                <a:solidFill>
                  <a:srgbClr val="FF0000"/>
                </a:solidFill>
                <a:latin typeface="Arial" panose="020B0604020202020204" pitchFamily="34" charset="0"/>
                <a:ea typeface="微软雅黑" panose="020B0503020204020204" charset="-122"/>
                <a:sym typeface="+mn-ea"/>
              </a:rPr>
              <a:t>现代机器人动力学，</a:t>
            </a:r>
            <a:r>
              <a:rPr lang="zh-CN" altLang="en-US" sz="1400" b="1" dirty="0">
                <a:solidFill>
                  <a:srgbClr val="FF0000"/>
                </a:solidFill>
                <a:latin typeface="Arial" panose="020B0604020202020204" pitchFamily="34" charset="0"/>
                <a:ea typeface="微软雅黑" panose="020B0503020204020204" charset="-122"/>
                <a:sym typeface="+mn-ea"/>
              </a:rPr>
              <a:t>已经</a:t>
            </a:r>
            <a:r>
              <a:rPr lang="zh-CN" altLang="en-US" sz="1400" b="1" dirty="0" smtClean="0">
                <a:solidFill>
                  <a:srgbClr val="FF0000"/>
                </a:solidFill>
                <a:latin typeface="Arial" panose="020B0604020202020204" pitchFamily="34" charset="0"/>
                <a:ea typeface="微软雅黑" panose="020B0503020204020204" charset="-122"/>
                <a:sym typeface="+mn-ea"/>
              </a:rPr>
              <a:t>很少纯粹使用</a:t>
            </a:r>
            <a:r>
              <a:rPr lang="en-US" altLang="zh-CN" sz="1400" b="1" dirty="0" smtClean="0">
                <a:solidFill>
                  <a:srgbClr val="FF0000"/>
                </a:solidFill>
                <a:latin typeface="Arial" panose="020B0604020202020204" pitchFamily="34" charset="0"/>
                <a:ea typeface="微软雅黑" panose="020B0503020204020204" charset="-122"/>
                <a:sym typeface="+mn-ea"/>
              </a:rPr>
              <a:t>Lagrange</a:t>
            </a:r>
            <a:r>
              <a:rPr lang="zh-CN" altLang="en-US" sz="1400" b="1" dirty="0" smtClean="0">
                <a:solidFill>
                  <a:srgbClr val="FF0000"/>
                </a:solidFill>
                <a:latin typeface="Arial" panose="020B0604020202020204" pitchFamily="34" charset="0"/>
                <a:ea typeface="微软雅黑" panose="020B0503020204020204" charset="-122"/>
                <a:sym typeface="+mn-ea"/>
              </a:rPr>
              <a:t>动力学方程进行求解了，但</a:t>
            </a:r>
            <a:r>
              <a:rPr lang="en-US" altLang="zh-CN" sz="1400" b="1" dirty="0" smtClean="0">
                <a:solidFill>
                  <a:srgbClr val="FF0000"/>
                </a:solidFill>
                <a:latin typeface="Arial" panose="020B0604020202020204" pitchFamily="34" charset="0"/>
                <a:ea typeface="微软雅黑" panose="020B0503020204020204" charset="-122"/>
                <a:sym typeface="+mn-ea"/>
              </a:rPr>
              <a:t>Lagrange</a:t>
            </a:r>
            <a:r>
              <a:rPr lang="zh-CN" altLang="en-US" sz="1400" b="1" dirty="0" smtClean="0">
                <a:solidFill>
                  <a:srgbClr val="FF0000"/>
                </a:solidFill>
                <a:latin typeface="Arial" panose="020B0604020202020204" pitchFamily="34" charset="0"/>
                <a:ea typeface="微软雅黑" panose="020B0503020204020204" charset="-122"/>
                <a:sym typeface="+mn-ea"/>
              </a:rPr>
              <a:t>逆动力学方程的一般形式通常被用来结合迭代算法或其他机器学习算法进行求解</a:t>
            </a:r>
            <a:endParaRPr lang="zh-CN" altLang="en-US" sz="1400" b="1" dirty="0">
              <a:solidFill>
                <a:srgbClr val="FF0000"/>
              </a:solidFill>
              <a:latin typeface="Arial" panose="020B0604020202020204" pitchFamily="34" charset="0"/>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err="1">
                  <a:latin typeface="Arial" panose="020B0604020202020204" pitchFamily="34" charset="0"/>
                  <a:ea typeface="微软雅黑" panose="020B0503020204020204" charset="-122"/>
                  <a:sym typeface="+mn-ea"/>
                </a:rPr>
                <a:t>Lagrangian</a:t>
              </a:r>
              <a:r>
                <a:rPr lang="en-US" altLang="zh-CN" sz="1000" dirty="0">
                  <a:latin typeface="Arial" panose="020B0604020202020204" pitchFamily="34" charset="0"/>
                  <a:ea typeface="微软雅黑" panose="020B0503020204020204" charset="-122"/>
                  <a:sym typeface="+mn-ea"/>
                </a:rPr>
                <a:t> Formulation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Lagrange</a:t>
              </a:r>
              <a:r>
                <a:rPr lang="zh-CN" altLang="en-US" sz="2000" b="1" dirty="0">
                  <a:latin typeface="Arial" panose="020B0604020202020204" pitchFamily="34" charset="0"/>
                  <a:ea typeface="微软雅黑" panose="020B0503020204020204" charset="-122"/>
                  <a:sym typeface="+mn-ea"/>
                </a:rPr>
                <a:t>动力学方法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056" name="Picture 8" descr="http://p4.itc.cn/q_70/images03/20200702/1a0ebf5f28d2444cb4c339a0c02804ee.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06010" y="1084886"/>
            <a:ext cx="3697306" cy="230286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s://5b0988e595225.cdn.sohucs.com/q_70,c_zoom,w_640/images/20180619/969dc901cf30402eb29c2e54f4c113a9.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237353" y="1084887"/>
            <a:ext cx="4262639" cy="230286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4" name="矩形 13"/>
              <p:cNvSpPr/>
              <p:nvPr/>
            </p:nvSpPr>
            <p:spPr>
              <a:xfrm>
                <a:off x="6156176" y="3387746"/>
                <a:ext cx="145270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𝑓</m:t>
                      </m:r>
                      <m:r>
                        <a:rPr lang="zh-CN" altLang="en-US" sz="1600" i="0">
                          <a:latin typeface="Cambria Math" panose="02040503050406030204" pitchFamily="18" charset="0"/>
                        </a:rPr>
                        <m:t>−</m:t>
                      </m:r>
                      <m:r>
                        <a:rPr lang="zh-CN" altLang="en-US" sz="1600" i="1">
                          <a:latin typeface="Cambria Math" panose="02040503050406030204" pitchFamily="18" charset="0"/>
                        </a:rPr>
                        <m:t>𝑚𝑔</m:t>
                      </m:r>
                      <m:r>
                        <a:rPr lang="zh-CN" altLang="en-US" sz="1600" i="0">
                          <a:latin typeface="Cambria Math" panose="02040503050406030204" pitchFamily="18" charset="0"/>
                        </a:rPr>
                        <m:t>=</m:t>
                      </m:r>
                      <m:r>
                        <a:rPr lang="zh-CN" altLang="en-US" sz="1600" i="1">
                          <a:latin typeface="Cambria Math" panose="02040503050406030204" pitchFamily="18" charset="0"/>
                        </a:rPr>
                        <m:t>𝑚</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6156176" y="3387746"/>
                <a:ext cx="1452705" cy="338554"/>
              </a:xfrm>
              <a:prstGeom prst="rect">
                <a:avLst/>
              </a:prstGeom>
              <a:blipFill>
                <a:blip r:embed="rId5"/>
                <a:stretch>
                  <a:fillRect r="-12605" b="-10909"/>
                </a:stretch>
              </a:blipFill>
            </p:spPr>
            <p:txBody>
              <a:bodyPr/>
              <a:lstStyle/>
              <a:p>
                <a:r>
                  <a:rPr lang="zh-CN" altLang="en-US">
                    <a:noFill/>
                  </a:rPr>
                  <a:t> </a:t>
                </a:r>
              </a:p>
            </p:txBody>
          </p:sp>
        </mc:Fallback>
      </mc:AlternateContent>
      <p:sp>
        <p:nvSpPr>
          <p:cNvPr id="15" name="矩形 14"/>
          <p:cNvSpPr/>
          <p:nvPr/>
        </p:nvSpPr>
        <p:spPr>
          <a:xfrm>
            <a:off x="6084168" y="724535"/>
            <a:ext cx="1415772" cy="338554"/>
          </a:xfrm>
          <a:prstGeom prst="rect">
            <a:avLst/>
          </a:prstGeom>
        </p:spPr>
        <p:txBody>
          <a:bodyPr wrap="none">
            <a:spAutoFit/>
          </a:bodyPr>
          <a:lstStyle/>
          <a:p>
            <a:r>
              <a:rPr lang="zh-CN" altLang="zh-CN" sz="1600" dirty="0">
                <a:solidFill>
                  <a:srgbClr val="002060"/>
                </a:solidFill>
                <a:latin typeface="Calibri" panose="020F0502020204030204" pitchFamily="34" charset="0"/>
                <a:cs typeface="Times New Roman" panose="02020603050405020304" pitchFamily="18" charset="0"/>
              </a:rPr>
              <a:t>牛顿第二定律</a:t>
            </a:r>
            <a:endParaRPr lang="zh-CN" altLang="en-US" sz="1600" dirty="0">
              <a:solidFill>
                <a:srgbClr val="002060"/>
              </a:solidFill>
            </a:endParaRPr>
          </a:p>
        </p:txBody>
      </p:sp>
      <p:sp>
        <p:nvSpPr>
          <p:cNvPr id="17" name="矩形 16"/>
          <p:cNvSpPr/>
          <p:nvPr/>
        </p:nvSpPr>
        <p:spPr>
          <a:xfrm>
            <a:off x="1431214" y="729218"/>
            <a:ext cx="1826141" cy="338554"/>
          </a:xfrm>
          <a:prstGeom prst="rect">
            <a:avLst/>
          </a:prstGeom>
        </p:spPr>
        <p:txBody>
          <a:bodyPr wrap="none">
            <a:spAutoFit/>
          </a:bodyPr>
          <a:lstStyle/>
          <a:p>
            <a:r>
              <a:rPr lang="zh-CN" altLang="en-US" sz="1600" dirty="0">
                <a:solidFill>
                  <a:srgbClr val="002060"/>
                </a:solidFill>
              </a:rPr>
              <a:t>拉格朗日分析力学</a:t>
            </a:r>
          </a:p>
        </p:txBody>
      </p:sp>
      <mc:AlternateContent xmlns:mc="http://schemas.openxmlformats.org/markup-compatibility/2006" xmlns:a14="http://schemas.microsoft.com/office/drawing/2010/main">
        <mc:Choice Requires="a14">
          <p:sp>
            <p:nvSpPr>
              <p:cNvPr id="18" name="矩形 17"/>
              <p:cNvSpPr/>
              <p:nvPr/>
            </p:nvSpPr>
            <p:spPr>
              <a:xfrm>
                <a:off x="366358" y="3302057"/>
                <a:ext cx="3815788" cy="553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ℒ</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𝑥</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e>
                      </m:d>
                      <m:r>
                        <a:rPr lang="zh-CN" altLang="en-US" sz="1600" i="0">
                          <a:latin typeface="Cambria Math" panose="02040503050406030204" pitchFamily="18" charset="0"/>
                        </a:rPr>
                        <m:t>=</m:t>
                      </m:r>
                      <m:r>
                        <a:rPr lang="zh-CN" altLang="en-US" sz="1600" i="0">
                          <a:latin typeface="Cambria Math" panose="02040503050406030204" pitchFamily="18" charset="0"/>
                        </a:rPr>
                        <m:t>𝒦</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𝑥</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e>
                      </m:d>
                      <m:r>
                        <a:rPr lang="zh-CN" altLang="en-US" sz="1600" i="0">
                          <a:latin typeface="Cambria Math" panose="02040503050406030204" pitchFamily="18" charset="0"/>
                        </a:rPr>
                        <m:t>−</m:t>
                      </m:r>
                      <m:r>
                        <a:rPr lang="zh-CN" altLang="en-US" sz="1600" i="0">
                          <a:latin typeface="Cambria Math" panose="02040503050406030204" pitchFamily="18" charset="0"/>
                        </a:rPr>
                        <m:t>𝒫</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𝑥</m:t>
                          </m:r>
                        </m:e>
                      </m:d>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0">
                              <a:latin typeface="Cambria Math" panose="02040503050406030204" pitchFamily="18" charset="0"/>
                            </a:rPr>
                            <m:t>2</m:t>
                          </m:r>
                        </m:den>
                      </m:f>
                      <m:r>
                        <a:rPr lang="zh-CN" altLang="en-US" sz="1600" i="1">
                          <a:latin typeface="Cambria Math" panose="02040503050406030204" pitchFamily="18" charset="0"/>
                        </a:rPr>
                        <m:t>𝑚</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r>
                        <a:rPr lang="zh-CN" altLang="en-US" sz="1600" i="0">
                          <a:latin typeface="Cambria Math" panose="02040503050406030204" pitchFamily="18" charset="0"/>
                        </a:rPr>
                        <m:t>−</m:t>
                      </m:r>
                      <m:r>
                        <a:rPr lang="zh-CN" altLang="en-US" sz="1600" i="1">
                          <a:latin typeface="Cambria Math" panose="02040503050406030204" pitchFamily="18" charset="0"/>
                        </a:rPr>
                        <m:t>𝑚𝑔𝑥</m:t>
                      </m:r>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366358" y="3302057"/>
                <a:ext cx="3815788" cy="55335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253204" y="3939902"/>
                <a:ext cx="2686376" cy="5605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𝑓</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𝑑</m:t>
                          </m:r>
                        </m:num>
                        <m:den>
                          <m:r>
                            <a:rPr lang="zh-CN" altLang="en-US" sz="1600" i="1">
                              <a:latin typeface="Cambria Math" panose="02040503050406030204" pitchFamily="18" charset="0"/>
                            </a:rPr>
                            <m:t>𝑑𝑡</m:t>
                          </m:r>
                        </m:den>
                      </m:f>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0">
                              <a:latin typeface="Cambria Math" panose="02040503050406030204" pitchFamily="18" charset="0"/>
                            </a:rPr>
                            <m:t>ℒ</m:t>
                          </m:r>
                        </m:num>
                        <m:den>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0">
                              <a:latin typeface="Cambria Math" panose="02040503050406030204" pitchFamily="18" charset="0"/>
                            </a:rPr>
                            <m:t>ℒ</m:t>
                          </m:r>
                        </m:num>
                        <m:den>
                          <m:r>
                            <a:rPr lang="zh-CN" altLang="en-US" sz="1600" i="0">
                              <a:latin typeface="Cambria Math" panose="02040503050406030204" pitchFamily="18" charset="0"/>
                            </a:rPr>
                            <m:t>𝜕</m:t>
                          </m:r>
                          <m:r>
                            <a:rPr lang="zh-CN" altLang="en-US" sz="1600" i="1">
                              <a:latin typeface="Cambria Math" panose="02040503050406030204" pitchFamily="18" charset="0"/>
                            </a:rPr>
                            <m:t>𝑥</m:t>
                          </m:r>
                        </m:den>
                      </m:f>
                      <m:r>
                        <a:rPr lang="zh-CN" altLang="en-US" sz="1600" i="0">
                          <a:latin typeface="Cambria Math" panose="02040503050406030204" pitchFamily="18" charset="0"/>
                        </a:rPr>
                        <m:t>=</m:t>
                      </m:r>
                      <m:r>
                        <a:rPr lang="zh-CN" altLang="en-US" sz="1600" i="1">
                          <a:latin typeface="Cambria Math" panose="02040503050406030204" pitchFamily="18" charset="0"/>
                        </a:rPr>
                        <m:t>𝑚</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r>
                        <a:rPr lang="zh-CN" altLang="en-US" sz="1600" i="0">
                          <a:latin typeface="Cambria Math" panose="02040503050406030204" pitchFamily="18" charset="0"/>
                        </a:rPr>
                        <m:t>+</m:t>
                      </m:r>
                      <m:r>
                        <a:rPr lang="zh-CN" altLang="en-US" sz="1600" i="1">
                          <a:latin typeface="Cambria Math" panose="02040503050406030204" pitchFamily="18" charset="0"/>
                        </a:rPr>
                        <m:t>𝑚𝑔</m:t>
                      </m:r>
                    </m:oMath>
                  </m:oMathPara>
                </a14:m>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3253204" y="3939902"/>
                <a:ext cx="2686376" cy="560538"/>
              </a:xfrm>
              <a:prstGeom prst="rect">
                <a:avLst/>
              </a:prstGeom>
              <a:blipFill>
                <a:blip r:embed="rId7"/>
                <a:stretch>
                  <a:fillRect/>
                </a:stretch>
              </a:blipFill>
            </p:spPr>
            <p:txBody>
              <a:bodyPr/>
              <a:lstStyle/>
              <a:p>
                <a:r>
                  <a:rPr lang="zh-CN" altLang="en-US">
                    <a:noFill/>
                  </a:rPr>
                  <a:t> </a:t>
                </a:r>
              </a:p>
            </p:txBody>
          </p:sp>
        </mc:Fallback>
      </mc:AlternateContent>
      <p:sp>
        <p:nvSpPr>
          <p:cNvPr id="20" name="矩形 19"/>
          <p:cNvSpPr/>
          <p:nvPr/>
        </p:nvSpPr>
        <p:spPr>
          <a:xfrm>
            <a:off x="2300012" y="4642481"/>
            <a:ext cx="4399960" cy="338554"/>
          </a:xfrm>
          <a:prstGeom prst="rect">
            <a:avLst/>
          </a:prstGeom>
        </p:spPr>
        <p:txBody>
          <a:bodyPr wrap="square">
            <a:spAutoFit/>
          </a:bodyPr>
          <a:lstStyle/>
          <a:p>
            <a:r>
              <a:rPr lang="zh-CN" altLang="en-US" sz="1600" b="1" dirty="0">
                <a:solidFill>
                  <a:srgbClr val="FF0000"/>
                </a:solidFill>
              </a:rPr>
              <a:t>牛顿方程和拉格朗日方程推导的结果是一致的</a:t>
            </a:r>
          </a:p>
        </p:txBody>
      </p:sp>
    </p:spTree>
    <p:extLst>
      <p:ext uri="{BB962C8B-B14F-4D97-AF65-F5344CB8AC3E}">
        <p14:creationId xmlns:p14="http://schemas.microsoft.com/office/powerpoint/2010/main" val="15906970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err="1">
                  <a:latin typeface="Arial" panose="020B0604020202020204" pitchFamily="34" charset="0"/>
                  <a:ea typeface="微软雅黑" panose="020B0503020204020204" charset="-122"/>
                  <a:sym typeface="+mn-ea"/>
                </a:rPr>
                <a:t>Lagrangian</a:t>
              </a:r>
              <a:r>
                <a:rPr lang="en-US" altLang="zh-CN" sz="1000" dirty="0">
                  <a:latin typeface="Arial" panose="020B0604020202020204" pitchFamily="34" charset="0"/>
                  <a:ea typeface="微软雅黑" panose="020B0503020204020204" charset="-122"/>
                  <a:sym typeface="+mn-ea"/>
                </a:rPr>
                <a:t> Formulation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Lagrange</a:t>
              </a:r>
              <a:r>
                <a:rPr lang="zh-CN" altLang="en-US" sz="2000" b="1" dirty="0">
                  <a:latin typeface="Arial" panose="020B0604020202020204" pitchFamily="34" charset="0"/>
                  <a:ea typeface="微软雅黑" panose="020B0503020204020204" charset="-122"/>
                  <a:sym typeface="+mn-ea"/>
                </a:rPr>
                <a:t>动力学方法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对象 2"/>
          <p:cNvGraphicFramePr>
            <a:graphicFrameLocks noChangeAspect="1"/>
          </p:cNvGraphicFramePr>
          <p:nvPr>
            <p:extLst>
              <p:ext uri="{D42A27DB-BD31-4B8C-83A1-F6EECF244321}">
                <p14:modId xmlns:p14="http://schemas.microsoft.com/office/powerpoint/2010/main" val="2827924923"/>
              </p:ext>
            </p:extLst>
          </p:nvPr>
        </p:nvGraphicFramePr>
        <p:xfrm>
          <a:off x="328414" y="1151763"/>
          <a:ext cx="4819650" cy="2152650"/>
        </p:xfrm>
        <a:graphic>
          <a:graphicData uri="http://schemas.openxmlformats.org/presentationml/2006/ole">
            <mc:AlternateContent xmlns:mc="http://schemas.openxmlformats.org/markup-compatibility/2006">
              <mc:Choice xmlns:v="urn:schemas-microsoft-com:vml" Requires="v">
                <p:oleObj spid="_x0000_s3161" name="Visio" r:id="rId4" imgW="6467622" imgH="2885915" progId="Visio.Drawing.15">
                  <p:embed/>
                </p:oleObj>
              </mc:Choice>
              <mc:Fallback>
                <p:oleObj name="Visio" r:id="rId4" imgW="6467622" imgH="2885915"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414" y="1151763"/>
                        <a:ext cx="4819650"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295781" y="820373"/>
            <a:ext cx="3076483" cy="400110"/>
          </a:xfrm>
          <a:prstGeom prst="rect">
            <a:avLst/>
          </a:prstGeom>
        </p:spPr>
        <p:txBody>
          <a:bodyPr wrap="none">
            <a:spAutoFit/>
          </a:bodyPr>
          <a:lstStyle/>
          <a:p>
            <a:r>
              <a:rPr lang="zh-CN" altLang="zh-CN" sz="2000" dirty="0">
                <a:solidFill>
                  <a:srgbClr val="002060"/>
                </a:solidFill>
                <a:latin typeface="Calibri" panose="020F0502020204030204" pitchFamily="34" charset="0"/>
                <a:cs typeface="Times New Roman" panose="02020603050405020304" pitchFamily="18" charset="0"/>
              </a:rPr>
              <a:t>在重力作用下的</a:t>
            </a:r>
            <a:r>
              <a:rPr lang="en-US" altLang="zh-CN" sz="2000" dirty="0">
                <a:solidFill>
                  <a:srgbClr val="002060"/>
                </a:solidFill>
                <a:latin typeface="Calibri" panose="020F0502020204030204" pitchFamily="34" charset="0"/>
                <a:cs typeface="Times New Roman" panose="02020603050405020304" pitchFamily="18" charset="0"/>
              </a:rPr>
              <a:t>2R</a:t>
            </a:r>
            <a:r>
              <a:rPr lang="zh-CN" altLang="zh-CN" sz="2000" dirty="0">
                <a:solidFill>
                  <a:srgbClr val="002060"/>
                </a:solidFill>
                <a:latin typeface="Calibri" panose="020F0502020204030204" pitchFamily="34" charset="0"/>
                <a:cs typeface="Times New Roman" panose="02020603050405020304" pitchFamily="18" charset="0"/>
              </a:rPr>
              <a:t>机械臂</a:t>
            </a:r>
            <a:r>
              <a:rPr lang="zh-CN" altLang="zh-CN" sz="2000" dirty="0">
                <a:solidFill>
                  <a:srgbClr val="002060"/>
                </a:solidFill>
                <a:ea typeface="Calibri" panose="020F0502020204030204" pitchFamily="34" charset="0"/>
                <a:cs typeface="Times New Roman" panose="02020603050405020304" pitchFamily="18" charset="0"/>
              </a:rPr>
              <a:t> </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5" name="矩形 4"/>
              <p:cNvSpPr/>
              <p:nvPr/>
            </p:nvSpPr>
            <p:spPr>
              <a:xfrm>
                <a:off x="6329104" y="1258778"/>
                <a:ext cx="1326324" cy="43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1</m:t>
                                    </m:r>
                                  </m:sub>
                                </m:sSub>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
                        </m:e>
                      </m:d>
                    </m:oMath>
                  </m:oMathPara>
                </a14:m>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6329104" y="1258778"/>
                <a:ext cx="1326324" cy="43755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6329104" y="1797649"/>
                <a:ext cx="1604670" cy="437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m:t>
                                        </m:r>
                                      </m:sub>
                                    </m:sSub>
                                  </m:e>
                                </m:acc>
                              </m:e>
                            </m:m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1</m:t>
                                        </m:r>
                                      </m:sub>
                                    </m:sSub>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
                        </m:e>
                      </m:d>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acc>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6329104" y="1797649"/>
                <a:ext cx="1604670" cy="43755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156176" y="2583947"/>
                <a:ext cx="2524729" cy="5405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2</m:t>
                                    </m:r>
                                  </m:sub>
                                </m:sSub>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6156176" y="2583947"/>
                <a:ext cx="2524729" cy="540533"/>
              </a:xfrm>
              <a:prstGeom prst="rect">
                <a:avLst/>
              </a:prstGeom>
              <a:blipFill>
                <a:blip r:embed="rId8"/>
                <a:stretch>
                  <a:fillRect t="-71910" r="-13285" b="-1078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4617490" y="3327361"/>
                <a:ext cx="4130974" cy="5405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m:t>
                                        </m:r>
                                      </m:sub>
                                    </m:sSub>
                                  </m:e>
                                </m:acc>
                              </m:e>
                            </m:m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2</m:t>
                                        </m:r>
                                      </m:sub>
                                    </m:sSub>
                                  </m:e>
                                </m:acc>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
                              </m:e>
                            </m:mr>
                            <m:mr>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2</m:t>
                                              </m:r>
                                            </m:sub>
                                          </m:sSub>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acc>
                              </m:e>
                            </m:mr>
                            <m:m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acc>
                              </m:e>
                            </m:mr>
                          </m:m>
                        </m:e>
                      </m:d>
                    </m:oMath>
                  </m:oMathPara>
                </a14:m>
                <a:endParaRPr lang="zh-CN" altLang="en-US" sz="1200" dirty="0"/>
              </a:p>
            </p:txBody>
          </p:sp>
        </mc:Choice>
        <mc:Fallback xmlns="">
          <p:sp>
            <p:nvSpPr>
              <p:cNvPr id="8" name="矩形 7"/>
              <p:cNvSpPr>
                <a:spLocks noRot="1" noChangeAspect="1" noMove="1" noResize="1" noEditPoints="1" noAdjustHandles="1" noChangeArrowheads="1" noChangeShapeType="1" noTextEdit="1"/>
              </p:cNvSpPr>
              <p:nvPr/>
            </p:nvSpPr>
            <p:spPr>
              <a:xfrm>
                <a:off x="4617490" y="3327361"/>
                <a:ext cx="4130974" cy="540533"/>
              </a:xfrm>
              <a:prstGeom prst="rect">
                <a:avLst/>
              </a:prstGeom>
              <a:blipFill>
                <a:blip r:embed="rId9"/>
                <a:stretch>
                  <a:fillRect t="-72727" r="-1475" b="-1102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513247" y="4247748"/>
                <a:ext cx="2509854" cy="871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ℒ</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a:latin typeface="Cambria Math" panose="02040503050406030204" pitchFamily="18" charset="0"/>
                            </a:rPr>
                            <m:t>, </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a:latin typeface="Cambria Math" panose="02040503050406030204" pitchFamily="18" charset="0"/>
                            </a:rPr>
                            <m:t>=1</m:t>
                          </m:r>
                        </m:sub>
                        <m:sup>
                          <m:r>
                            <a:rPr lang="zh-CN" altLang="en-US">
                              <a:latin typeface="Cambria Math" panose="02040503050406030204" pitchFamily="18" charset="0"/>
                            </a:rPr>
                            <m:t>2</m:t>
                          </m:r>
                        </m:sup>
                        <m:e>
                          <m:d>
                            <m:dPr>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a:latin typeface="Cambria Math" panose="02040503050406030204" pitchFamily="18" charset="0"/>
                                    </a:rPr>
                                    <m:t>𝒦</m:t>
                                  </m:r>
                                </m:e>
                                <m:sub>
                                  <m:r>
                                    <a:rPr lang="zh-CN" altLang="en-US" i="1">
                                      <a:latin typeface="Cambria Math" panose="02040503050406030204" pitchFamily="18" charset="0"/>
                                    </a:rPr>
                                    <m:t>𝑖</m:t>
                                  </m:r>
                                </m:sub>
                              </m:sSub>
                            </m:e>
                          </m:d>
                        </m:e>
                      </m:nary>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𝒫</m:t>
                          </m:r>
                        </m:e>
                        <m:sub>
                          <m:r>
                            <a:rPr lang="zh-CN" altLang="en-US" i="1">
                              <a:latin typeface="Cambria Math" panose="02040503050406030204" pitchFamily="18" charset="0"/>
                            </a:rPr>
                            <m:t>𝑖</m:t>
                          </m:r>
                        </m:sub>
                      </m:sSub>
                      <m:r>
                        <a:rPr lang="en-US" altLang="zh-CN" i="1">
                          <a:latin typeface="Cambria Math" panose="02040503050406030204" pitchFamily="18" charset="0"/>
                        </a:rPr>
                        <m:t>)</m:t>
                      </m:r>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2513247" y="4247748"/>
                <a:ext cx="2509854" cy="871136"/>
              </a:xfrm>
              <a:prstGeom prst="rect">
                <a:avLst/>
              </a:prstGeom>
              <a:blipFill>
                <a:blip r:embed="rId10"/>
                <a:stretch>
                  <a:fillRect/>
                </a:stretch>
              </a:blipFill>
            </p:spPr>
            <p:txBody>
              <a:bodyPr/>
              <a:lstStyle/>
              <a:p>
                <a:r>
                  <a:rPr lang="zh-CN" altLang="en-US">
                    <a:noFill/>
                  </a:rPr>
                  <a:t> </a:t>
                </a:r>
              </a:p>
            </p:txBody>
          </p:sp>
        </mc:Fallback>
      </mc:AlternateContent>
      <p:sp>
        <p:nvSpPr>
          <p:cNvPr id="10" name="矩形 9"/>
          <p:cNvSpPr/>
          <p:nvPr/>
        </p:nvSpPr>
        <p:spPr>
          <a:xfrm>
            <a:off x="6329104" y="1258778"/>
            <a:ext cx="2347352" cy="10969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7933774" y="1563638"/>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1</a:t>
            </a:r>
            <a:endParaRPr lang="zh-CN" altLang="en-US" sz="1400" b="1" dirty="0">
              <a:solidFill>
                <a:srgbClr val="0070C0"/>
              </a:solidFill>
            </a:endParaRPr>
          </a:p>
        </p:txBody>
      </p:sp>
      <p:sp>
        <p:nvSpPr>
          <p:cNvPr id="12" name="矩形 11"/>
          <p:cNvSpPr/>
          <p:nvPr/>
        </p:nvSpPr>
        <p:spPr>
          <a:xfrm>
            <a:off x="4716016" y="2583947"/>
            <a:ext cx="3960440" cy="1355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4918484" y="2778054"/>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2</a:t>
            </a:r>
            <a:endParaRPr lang="zh-CN" altLang="en-US" sz="1400" b="1" dirty="0">
              <a:solidFill>
                <a:srgbClr val="0070C0"/>
              </a:solidFill>
            </a:endParaRPr>
          </a:p>
        </p:txBody>
      </p:sp>
      <p:sp>
        <p:nvSpPr>
          <p:cNvPr id="2" name="矩形 1"/>
          <p:cNvSpPr/>
          <p:nvPr/>
        </p:nvSpPr>
        <p:spPr>
          <a:xfrm>
            <a:off x="103129" y="3398373"/>
            <a:ext cx="2093843" cy="276999"/>
          </a:xfrm>
          <a:prstGeom prst="rect">
            <a:avLst/>
          </a:prstGeom>
        </p:spPr>
        <p:txBody>
          <a:bodyPr wrap="none">
            <a:spAutoFit/>
          </a:bodyPr>
          <a:lstStyle/>
          <a:p>
            <a:r>
              <a:rPr lang="zh-CN" altLang="zh-CN" sz="1200" dirty="0">
                <a:ea typeface="Times New Roman" panose="02020603050405020304" pitchFamily="18" charset="0"/>
              </a:rPr>
              <a:t> </a:t>
            </a:r>
            <a:r>
              <a:rPr lang="en-US" altLang="zh-CN" sz="1200" dirty="0">
                <a:ea typeface="Times New Roman" panose="02020603050405020304" pitchFamily="18" charset="0"/>
              </a:rPr>
              <a:t>a)</a:t>
            </a:r>
            <a:r>
              <a:rPr lang="zh-CN" altLang="zh-CN" sz="1200" dirty="0">
                <a:latin typeface="Calibri" panose="020F0502020204030204" pitchFamily="34" charset="0"/>
                <a:cs typeface="Times New Roman" panose="02020603050405020304" pitchFamily="18" charset="0"/>
              </a:rPr>
              <a:t>在重力作用下的</a:t>
            </a:r>
            <a:r>
              <a:rPr lang="en-US" altLang="zh-CN" sz="1200" dirty="0">
                <a:latin typeface="Times New Roman" panose="02020603050405020304" pitchFamily="18" charset="0"/>
              </a:rPr>
              <a:t>2R</a:t>
            </a:r>
            <a:r>
              <a:rPr lang="zh-CN" altLang="zh-CN" sz="1200" dirty="0">
                <a:latin typeface="Calibri" panose="020F0502020204030204" pitchFamily="34" charset="0"/>
                <a:cs typeface="Times New Roman" panose="02020603050405020304" pitchFamily="18" charset="0"/>
              </a:rPr>
              <a:t>机械臂</a:t>
            </a:r>
            <a:r>
              <a:rPr lang="zh-CN" altLang="zh-CN" sz="1200" dirty="0">
                <a:ea typeface="Calibri" panose="020F0502020204030204" pitchFamily="34" charset="0"/>
                <a:cs typeface="Times New Roman" panose="02020603050405020304" pitchFamily="18" charset="0"/>
              </a:rPr>
              <a:t> </a:t>
            </a:r>
            <a:endParaRPr lang="zh-CN" altLang="en-US" sz="1200" dirty="0"/>
          </a:p>
        </p:txBody>
      </p:sp>
      <mc:AlternateContent xmlns:mc="http://schemas.openxmlformats.org/markup-compatibility/2006" xmlns:a14="http://schemas.microsoft.com/office/drawing/2010/main">
        <mc:Choice Requires="a14">
          <p:sp>
            <p:nvSpPr>
              <p:cNvPr id="13" name="矩形 12"/>
              <p:cNvSpPr/>
              <p:nvPr/>
            </p:nvSpPr>
            <p:spPr>
              <a:xfrm>
                <a:off x="3098163" y="3386606"/>
                <a:ext cx="1447319" cy="337272"/>
              </a:xfrm>
              <a:prstGeom prst="rect">
                <a:avLst/>
              </a:prstGeom>
            </p:spPr>
            <p:txBody>
              <a:bodyPr wrap="none">
                <a:spAutoFit/>
              </a:bodyPr>
              <a:lstStyle/>
              <a:p>
                <a:r>
                  <a:rPr lang="en-US" altLang="zh-CN" sz="1200" dirty="0">
                    <a:latin typeface="Times New Roman" panose="02020603050405020304" pitchFamily="18" charset="0"/>
                  </a:rPr>
                  <a:t>b)</a:t>
                </a:r>
                <a14:m>
                  <m:oMath xmlns:m="http://schemas.openxmlformats.org/officeDocument/2006/math">
                    <m:r>
                      <a:rPr lang="en-US" altLang="zh-CN" sz="1200" i="1">
                        <a:latin typeface="Cambria Math" panose="02040503050406030204" pitchFamily="18" charset="0"/>
                        <a:cs typeface="Times New Roman" panose="02020603050405020304" pitchFamily="18" charset="0"/>
                      </a:rPr>
                      <m:t> </m:t>
                    </m:r>
                    <m:r>
                      <a:rPr lang="en-US" altLang="zh-CN" sz="1200" i="1">
                        <a:latin typeface="Cambria Math" panose="02040503050406030204" pitchFamily="18" charset="0"/>
                        <a:cs typeface="Times New Roman" panose="02020603050405020304" pitchFamily="18" charset="0"/>
                      </a:rPr>
                      <m:t>𝜃</m:t>
                    </m:r>
                    <m:r>
                      <a:rPr lang="en-US" altLang="zh-CN" sz="1200" i="1">
                        <a:latin typeface="Cambria Math" panose="02040503050406030204" pitchFamily="18" charset="0"/>
                        <a:cs typeface="Times New Roman" panose="02020603050405020304" pitchFamily="18" charset="0"/>
                      </a:rPr>
                      <m:t>=(0,</m:t>
                    </m:r>
                    <m:f>
                      <m:fPr>
                        <m:ctrlPr>
                          <a:rPr lang="zh-CN" altLang="zh-CN" sz="1200" i="1">
                            <a:latin typeface="Cambria Math" panose="02040503050406030204" pitchFamily="18" charset="0"/>
                            <a:ea typeface="Cambria Math" panose="02040503050406030204" pitchFamily="18" charset="0"/>
                          </a:rPr>
                        </m:ctrlPr>
                      </m:fPr>
                      <m:num>
                        <m:r>
                          <a:rPr lang="en-US" altLang="zh-CN" sz="1200" i="1">
                            <a:latin typeface="Cambria Math" panose="02040503050406030204" pitchFamily="18" charset="0"/>
                            <a:cs typeface="Calibri" panose="020F0502020204030204" pitchFamily="34" charset="0"/>
                          </a:rPr>
                          <m:t>𝜋</m:t>
                        </m:r>
                      </m:num>
                      <m:den>
                        <m:r>
                          <a:rPr lang="en-US" altLang="zh-CN" sz="1200" i="1">
                            <a:latin typeface="Cambria Math" panose="02040503050406030204" pitchFamily="18" charset="0"/>
                            <a:cs typeface="Times New Roman" panose="02020603050405020304" pitchFamily="18" charset="0"/>
                          </a:rPr>
                          <m:t>2</m:t>
                        </m:r>
                      </m:den>
                    </m:f>
                    <m:r>
                      <a:rPr lang="en-US" altLang="zh-CN" sz="1200" i="1">
                        <a:latin typeface="Cambria Math" panose="02040503050406030204" pitchFamily="18" charset="0"/>
                        <a:cs typeface="Times New Roman" panose="02020603050405020304" pitchFamily="18" charset="0"/>
                      </a:rPr>
                      <m:t>)</m:t>
                    </m:r>
                  </m:oMath>
                </a14:m>
                <a:r>
                  <a:rPr lang="zh-CN" altLang="zh-CN" sz="1200" dirty="0">
                    <a:latin typeface="Calibri" panose="020F0502020204030204" pitchFamily="34" charset="0"/>
                    <a:cs typeface="Times New Roman" panose="02020603050405020304" pitchFamily="18" charset="0"/>
                  </a:rPr>
                  <a:t>的位形</a:t>
                </a:r>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3098163" y="3386606"/>
                <a:ext cx="1447319" cy="337272"/>
              </a:xfrm>
              <a:prstGeom prst="rect">
                <a:avLst/>
              </a:prstGeom>
              <a:blipFill>
                <a:blip r:embed="rId11"/>
                <a:stretch>
                  <a:fillRect b="-18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710944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err="1">
                  <a:latin typeface="Arial" panose="020B0604020202020204" pitchFamily="34" charset="0"/>
                  <a:ea typeface="微软雅黑" panose="020B0503020204020204" charset="-122"/>
                  <a:sym typeface="+mn-ea"/>
                </a:rPr>
                <a:t>Lagrangian</a:t>
              </a:r>
              <a:r>
                <a:rPr lang="en-US" altLang="zh-CN" sz="1000" dirty="0">
                  <a:latin typeface="Arial" panose="020B0604020202020204" pitchFamily="34" charset="0"/>
                  <a:ea typeface="微软雅黑" panose="020B0503020204020204" charset="-122"/>
                  <a:sym typeface="+mn-ea"/>
                </a:rPr>
                <a:t> Formulation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Lagrange</a:t>
              </a:r>
              <a:r>
                <a:rPr lang="zh-CN" altLang="en-US" sz="2000" b="1" dirty="0">
                  <a:latin typeface="Arial" panose="020B0604020202020204" pitchFamily="34" charset="0"/>
                  <a:ea typeface="微软雅黑" panose="020B0503020204020204" charset="-122"/>
                  <a:sym typeface="+mn-ea"/>
                </a:rPr>
                <a:t>动力学方法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对象 2"/>
          <p:cNvGraphicFramePr>
            <a:graphicFrameLocks noChangeAspect="1"/>
          </p:cNvGraphicFramePr>
          <p:nvPr>
            <p:extLst>
              <p:ext uri="{D42A27DB-BD31-4B8C-83A1-F6EECF244321}">
                <p14:modId xmlns:p14="http://schemas.microsoft.com/office/powerpoint/2010/main" val="171870916"/>
              </p:ext>
            </p:extLst>
          </p:nvPr>
        </p:nvGraphicFramePr>
        <p:xfrm>
          <a:off x="220910" y="1258778"/>
          <a:ext cx="4819650" cy="2152650"/>
        </p:xfrm>
        <a:graphic>
          <a:graphicData uri="http://schemas.openxmlformats.org/presentationml/2006/ole">
            <mc:AlternateContent xmlns:mc="http://schemas.openxmlformats.org/markup-compatibility/2006">
              <mc:Choice xmlns:v="urn:schemas-microsoft-com:vml" Requires="v">
                <p:oleObj spid="_x0000_s4183" name="Visio" r:id="rId4" imgW="6467622" imgH="2885915" progId="Visio.Drawing.15">
                  <p:embed/>
                </p:oleObj>
              </mc:Choice>
              <mc:Fallback>
                <p:oleObj name="Visio" r:id="rId4" imgW="6467622" imgH="2885915" progId="Visio.Drawing.15">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10" y="1258778"/>
                        <a:ext cx="4819650"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342619" y="699542"/>
            <a:ext cx="2499402" cy="338554"/>
          </a:xfrm>
          <a:prstGeom prst="rect">
            <a:avLst/>
          </a:prstGeom>
        </p:spPr>
        <p:txBody>
          <a:bodyPr wrap="none">
            <a:spAutoFit/>
          </a:bodyPr>
          <a:lstStyle/>
          <a:p>
            <a:r>
              <a:rPr lang="zh-CN" altLang="zh-CN" sz="1600" dirty="0">
                <a:solidFill>
                  <a:srgbClr val="002060"/>
                </a:solidFill>
                <a:latin typeface="Calibri" panose="020F0502020204030204" pitchFamily="34" charset="0"/>
                <a:cs typeface="Times New Roman" panose="02020603050405020304" pitchFamily="18" charset="0"/>
              </a:rPr>
              <a:t>在重力作用下的</a:t>
            </a:r>
            <a:r>
              <a:rPr lang="en-US" altLang="zh-CN" sz="1600" dirty="0">
                <a:solidFill>
                  <a:srgbClr val="002060"/>
                </a:solidFill>
                <a:latin typeface="Calibri" panose="020F0502020204030204" pitchFamily="34" charset="0"/>
                <a:cs typeface="Times New Roman" panose="02020603050405020304" pitchFamily="18" charset="0"/>
              </a:rPr>
              <a:t>2R</a:t>
            </a:r>
            <a:r>
              <a:rPr lang="zh-CN" altLang="zh-CN" sz="1600" dirty="0">
                <a:solidFill>
                  <a:srgbClr val="002060"/>
                </a:solidFill>
                <a:latin typeface="Calibri" panose="020F0502020204030204" pitchFamily="34" charset="0"/>
                <a:cs typeface="Times New Roman" panose="02020603050405020304" pitchFamily="18" charset="0"/>
              </a:rPr>
              <a:t>机械臂</a:t>
            </a:r>
            <a:r>
              <a:rPr lang="zh-CN" altLang="zh-CN" sz="1600" dirty="0">
                <a:solidFill>
                  <a:srgbClr val="002060"/>
                </a:solidFill>
                <a:ea typeface="Calibri" panose="020F0502020204030204" pitchFamily="34" charset="0"/>
                <a:cs typeface="Times New Roman" panose="02020603050405020304" pitchFamily="18" charset="0"/>
              </a:rPr>
              <a:t> </a:t>
            </a:r>
            <a:endParaRPr lang="zh-CN" altLang="en-US" sz="1600" dirty="0">
              <a:solidFill>
                <a:srgbClr val="002060"/>
              </a:solidFill>
            </a:endParaRPr>
          </a:p>
        </p:txBody>
      </p:sp>
      <p:sp>
        <p:nvSpPr>
          <p:cNvPr id="10" name="矩形 9"/>
          <p:cNvSpPr/>
          <p:nvPr/>
        </p:nvSpPr>
        <p:spPr>
          <a:xfrm>
            <a:off x="5184576" y="1258778"/>
            <a:ext cx="3672408" cy="10969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7993384" y="1535344"/>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1</a:t>
            </a:r>
            <a:endParaRPr lang="zh-CN" altLang="en-US" sz="1400" b="1" dirty="0">
              <a:solidFill>
                <a:srgbClr val="0070C0"/>
              </a:solidFill>
            </a:endParaRPr>
          </a:p>
        </p:txBody>
      </p:sp>
      <p:sp>
        <p:nvSpPr>
          <p:cNvPr id="12" name="矩形 11"/>
          <p:cNvSpPr/>
          <p:nvPr/>
        </p:nvSpPr>
        <p:spPr>
          <a:xfrm>
            <a:off x="4608512" y="2583947"/>
            <a:ext cx="4248472" cy="13559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4890870" y="2700324"/>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2</a:t>
            </a:r>
            <a:endParaRPr lang="zh-CN" altLang="en-US" sz="1400" b="1" dirty="0">
              <a:solidFill>
                <a:srgbClr val="0070C0"/>
              </a:solidFill>
            </a:endParaRPr>
          </a:p>
        </p:txBody>
      </p:sp>
      <mc:AlternateContent xmlns:mc="http://schemas.openxmlformats.org/markup-compatibility/2006" xmlns:a14="http://schemas.microsoft.com/office/drawing/2010/main">
        <mc:Choice Requires="a14">
          <p:sp>
            <p:nvSpPr>
              <p:cNvPr id="2" name="矩形 1"/>
              <p:cNvSpPr/>
              <p:nvPr/>
            </p:nvSpPr>
            <p:spPr>
              <a:xfrm>
                <a:off x="5208425" y="1279521"/>
                <a:ext cx="2639120" cy="4380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𝒦</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0">
                              <a:latin typeface="Cambria Math" panose="02040503050406030204" pitchFamily="18" charset="0"/>
                            </a:rPr>
                            <m:t>1</m:t>
                          </m:r>
                        </m:sub>
                      </m:sSub>
                      <m:d>
                        <m:dPr>
                          <m:ctrlPr>
                            <a:rPr lang="zh-CN" altLang="en-US" sz="1200" i="1">
                              <a:latin typeface="Cambria Math" panose="02040503050406030204" pitchFamily="18" charset="0"/>
                            </a:rPr>
                          </m:ctrlPr>
                        </m:dPr>
                        <m:e>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1</m:t>
                                      </m:r>
                                    </m:sub>
                                  </m:sSub>
                                </m:e>
                              </m:acc>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1</m:t>
                                      </m:r>
                                    </m:sub>
                                  </m:sSub>
                                </m:e>
                              </m:acc>
                            </m:e>
                            <m:sup>
                              <m:r>
                                <a:rPr lang="zh-CN" altLang="en-US" sz="1200" i="0">
                                  <a:latin typeface="Cambria Math" panose="02040503050406030204" pitchFamily="18" charset="0"/>
                                </a:rPr>
                                <m:t>2</m:t>
                              </m:r>
                            </m:sup>
                          </m:sSup>
                        </m:e>
                      </m:d>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0">
                              <a:latin typeface="Cambria Math" panose="02040503050406030204" pitchFamily="18" charset="0"/>
                            </a:rPr>
                            <m:t>1</m:t>
                          </m:r>
                        </m:sub>
                      </m:sSub>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0">
                                      <a:latin typeface="Cambria Math" panose="02040503050406030204" pitchFamily="18" charset="0"/>
                                    </a:rPr>
                                    <m:t>1</m:t>
                                  </m:r>
                                </m:sub>
                              </m:sSub>
                            </m:e>
                          </m:acc>
                        </m:e>
                        <m:sup>
                          <m:r>
                            <a:rPr lang="zh-CN" altLang="en-US" sz="1200" i="0">
                              <a:latin typeface="Cambria Math" panose="02040503050406030204" pitchFamily="18" charset="0"/>
                            </a:rPr>
                            <m:t>2</m:t>
                          </m:r>
                        </m:sup>
                      </m:sSup>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acc>
                        </m:e>
                        <m:sup>
                          <m:r>
                            <a:rPr lang="zh-CN" altLang="en-US" sz="1200" i="0">
                              <a:latin typeface="Cambria Math" panose="02040503050406030204" pitchFamily="18" charset="0"/>
                            </a:rPr>
                            <m:t>2</m:t>
                          </m:r>
                        </m:sup>
                      </m:sSup>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5208425" y="1279521"/>
                <a:ext cx="2639120" cy="43800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808338" y="2627280"/>
                <a:ext cx="1700850" cy="4380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𝒦</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0">
                              <a:latin typeface="Cambria Math" panose="02040503050406030204" pitchFamily="18" charset="0"/>
                            </a:rPr>
                            <m:t>2</m:t>
                          </m:r>
                        </m:sub>
                      </m:sSub>
                      <m:d>
                        <m:dPr>
                          <m:ctrlPr>
                            <a:rPr lang="zh-CN" altLang="en-US" sz="1200" i="1">
                              <a:latin typeface="Cambria Math" panose="02040503050406030204" pitchFamily="18" charset="0"/>
                            </a:rPr>
                          </m:ctrlPr>
                        </m:dPr>
                        <m:e>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𝑥</m:t>
                                      </m:r>
                                    </m:e>
                                    <m:sub>
                                      <m:r>
                                        <a:rPr lang="zh-CN" altLang="en-US" sz="1200" i="0">
                                          <a:latin typeface="Cambria Math" panose="02040503050406030204" pitchFamily="18" charset="0"/>
                                        </a:rPr>
                                        <m:t>2</m:t>
                                      </m:r>
                                    </m:sub>
                                  </m:sSub>
                                </m:e>
                              </m:acc>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𝑦</m:t>
                                      </m:r>
                                    </m:e>
                                    <m:sub>
                                      <m:r>
                                        <a:rPr lang="zh-CN" altLang="en-US" sz="1200" i="0">
                                          <a:latin typeface="Cambria Math" panose="02040503050406030204" pitchFamily="18" charset="0"/>
                                        </a:rPr>
                                        <m:t>2</m:t>
                                      </m:r>
                                    </m:sub>
                                  </m:sSub>
                                </m:e>
                              </m:acc>
                            </m:e>
                            <m:sup>
                              <m:r>
                                <a:rPr lang="zh-CN" altLang="en-US" sz="1200" i="0">
                                  <a:latin typeface="Cambria Math" panose="02040503050406030204" pitchFamily="18" charset="0"/>
                                </a:rPr>
                                <m:t>2</m:t>
                              </m:r>
                            </m:sup>
                          </m:sSup>
                        </m:e>
                      </m:d>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5808338" y="2627280"/>
                <a:ext cx="1700850" cy="43800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464496" y="2925945"/>
                <a:ext cx="4572000" cy="43813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000" i="1">
                              <a:latin typeface="Cambria Math" panose="02040503050406030204" pitchFamily="18" charset="0"/>
                            </a:rPr>
                          </m:ctrlPr>
                        </m:dPr>
                        <m:e>
                          <m:r>
                            <a:rPr lang="zh-CN" altLang="en-US" sz="1000">
                              <a:latin typeface="Cambria Math" panose="02040503050406030204" pitchFamily="18" charset="0"/>
                            </a:rPr>
                            <m:t>=</m:t>
                          </m:r>
                          <m:f>
                            <m:fPr>
                              <m:ctrlPr>
                                <a:rPr lang="zh-CN" altLang="en-US" sz="1000" i="1">
                                  <a:latin typeface="Cambria Math" panose="02040503050406030204" pitchFamily="18" charset="0"/>
                                </a:rPr>
                              </m:ctrlPr>
                            </m:fPr>
                            <m:num>
                              <m:r>
                                <a:rPr lang="zh-CN" altLang="en-US" sz="1000" i="0">
                                  <a:latin typeface="Cambria Math" panose="02040503050406030204" pitchFamily="18" charset="0"/>
                                </a:rPr>
                                <m:t>1</m:t>
                              </m:r>
                            </m:num>
                            <m:den>
                              <m:r>
                                <a:rPr lang="zh-CN" altLang="en-US" sz="1000" i="0">
                                  <a:latin typeface="Cambria Math" panose="02040503050406030204" pitchFamily="18" charset="0"/>
                                </a:rPr>
                                <m:t>2</m:t>
                              </m:r>
                            </m:den>
                          </m:f>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+2</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e>
                          </m:d>
                          <m:sSup>
                            <m:sSupPr>
                              <m:ctrlPr>
                                <a:rPr lang="zh-CN" altLang="en-US" sz="1000" i="1">
                                  <a:latin typeface="Cambria Math" panose="02040503050406030204" pitchFamily="18" charset="0"/>
                                </a:rPr>
                              </m:ctrlPr>
                            </m:sSupPr>
                            <m:e>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1</m:t>
                                      </m:r>
                                    </m:sub>
                                  </m:sSub>
                                </m:e>
                              </m:acc>
                            </m:e>
                            <m:sup>
                              <m:r>
                                <a:rPr lang="zh-CN" altLang="en-US" sz="1000" i="0">
                                  <a:latin typeface="Cambria Math" panose="02040503050406030204" pitchFamily="18" charset="0"/>
                                </a:rPr>
                                <m:t>2</m:t>
                              </m:r>
                            </m:sup>
                          </m:sSup>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+2</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d>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1</m:t>
                                  </m:r>
                                </m:sub>
                              </m:sSub>
                            </m:e>
                          </m:acc>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acc>
                          <m:r>
                            <a:rPr lang="zh-CN" altLang="en-US" sz="1000" i="0">
                              <a:latin typeface="Cambria Math" panose="02040503050406030204" pitchFamily="18" charset="0"/>
                            </a:rPr>
                            <m:t>+</m:t>
                          </m:r>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sSup>
                            <m:sSupPr>
                              <m:ctrlPr>
                                <a:rPr lang="zh-CN" altLang="en-US" sz="1000" i="1">
                                  <a:latin typeface="Cambria Math" panose="02040503050406030204" pitchFamily="18" charset="0"/>
                                </a:rPr>
                              </m:ctrlPr>
                            </m:sSupPr>
                            <m:e>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acc>
                            </m:e>
                            <m:sup>
                              <m:r>
                                <a:rPr lang="zh-CN" altLang="en-US" sz="1000" i="0">
                                  <a:latin typeface="Cambria Math" panose="02040503050406030204" pitchFamily="18" charset="0"/>
                                </a:rPr>
                                <m:t>2</m:t>
                              </m:r>
                            </m:sup>
                          </m:sSup>
                        </m:e>
                      </m:d>
                    </m:oMath>
                  </m:oMathPara>
                </a14:m>
                <a:endParaRPr lang="zh-CN" altLang="en-US" sz="1000" dirty="0"/>
              </a:p>
            </p:txBody>
          </p:sp>
        </mc:Choice>
        <mc:Fallback xmlns="">
          <p:sp>
            <p:nvSpPr>
              <p:cNvPr id="14" name="矩形 13"/>
              <p:cNvSpPr>
                <a:spLocks noRot="1" noChangeAspect="1" noMove="1" noResize="1" noEditPoints="1" noAdjustHandles="1" noChangeArrowheads="1" noChangeShapeType="1" noTextEdit="1"/>
              </p:cNvSpPr>
              <p:nvPr/>
            </p:nvSpPr>
            <p:spPr>
              <a:xfrm>
                <a:off x="4464496" y="2925945"/>
                <a:ext cx="4572000" cy="438133"/>
              </a:xfrm>
              <a:prstGeom prst="rect">
                <a:avLst/>
              </a:prstGeom>
              <a:blipFill>
                <a:blip r:embed="rId8"/>
                <a:stretch>
                  <a:fillRect t="-173611" r="-14133" b="-25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208425" y="1800692"/>
                <a:ext cx="2048766"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𝒫</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0">
                              <a:latin typeface="Cambria Math" panose="02040503050406030204" pitchFamily="18" charset="0"/>
                            </a:rPr>
                            <m:t>1</m:t>
                          </m:r>
                        </m:sub>
                      </m:sSub>
                      <m:r>
                        <a:rPr lang="zh-CN" altLang="en-US" sz="1200" b="1" i="1">
                          <a:latin typeface="Cambria Math" panose="02040503050406030204" pitchFamily="18" charset="0"/>
                        </a:rPr>
                        <m:t>𝒈</m:t>
                      </m:r>
                      <m:sSub>
                        <m:sSubPr>
                          <m:ctrlPr>
                            <a:rPr lang="zh-CN" altLang="en-US" sz="1200" b="1" i="1">
                              <a:latin typeface="Cambria Math" panose="02040503050406030204" pitchFamily="18" charset="0"/>
                            </a:rPr>
                          </m:ctrlPr>
                        </m:sSubPr>
                        <m:e>
                          <m:r>
                            <a:rPr lang="zh-CN" altLang="en-US" sz="1200" b="0" i="1">
                              <a:latin typeface="Cambria Math" panose="02040503050406030204" pitchFamily="18" charset="0"/>
                            </a:rPr>
                            <m:t>𝑦</m:t>
                          </m:r>
                        </m:e>
                        <m:sub>
                          <m:r>
                            <a:rPr lang="zh-CN" altLang="en-US" sz="1200" b="0" i="0">
                              <a:latin typeface="Cambria Math" panose="02040503050406030204" pitchFamily="18" charset="0"/>
                            </a:rPr>
                            <m:t>1</m:t>
                          </m:r>
                        </m:sub>
                      </m:sSub>
                      <m:r>
                        <a:rPr lang="zh-CN" altLang="en-US" sz="1200" b="0" i="0">
                          <a:latin typeface="Cambria Math" panose="02040503050406030204" pitchFamily="18" charset="0"/>
                        </a:rPr>
                        <m:t>=</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𝑚</m:t>
                          </m:r>
                        </m:e>
                        <m:sub>
                          <m:r>
                            <a:rPr lang="zh-CN" altLang="en-US" sz="1200" b="0" i="0">
                              <a:latin typeface="Cambria Math" panose="02040503050406030204" pitchFamily="18" charset="0"/>
                            </a:rPr>
                            <m:t>1</m:t>
                          </m:r>
                        </m:sub>
                      </m:sSub>
                      <m:r>
                        <a:rPr lang="zh-CN" altLang="en-US" sz="1200" b="1" i="1">
                          <a:latin typeface="Cambria Math" panose="02040503050406030204" pitchFamily="18" charset="0"/>
                        </a:rPr>
                        <m:t>𝒈</m:t>
                      </m:r>
                      <m:sSub>
                        <m:sSubPr>
                          <m:ctrlPr>
                            <a:rPr lang="zh-CN" altLang="en-US" sz="1200" b="1" i="1">
                              <a:latin typeface="Cambria Math" panose="02040503050406030204" pitchFamily="18" charset="0"/>
                            </a:rPr>
                          </m:ctrlPr>
                        </m:sSubPr>
                        <m:e>
                          <m:r>
                            <a:rPr lang="zh-CN" altLang="en-US" sz="1200" b="0" i="1">
                              <a:latin typeface="Cambria Math" panose="02040503050406030204" pitchFamily="18" charset="0"/>
                            </a:rPr>
                            <m:t>𝐿</m:t>
                          </m:r>
                        </m:e>
                        <m:sub>
                          <m:r>
                            <a:rPr lang="zh-CN" altLang="en-US" sz="1200" b="0" i="0">
                              <a:latin typeface="Cambria Math" panose="02040503050406030204" pitchFamily="18" charset="0"/>
                            </a:rPr>
                            <m:t>1</m:t>
                          </m:r>
                        </m:sub>
                      </m:sSub>
                      <m:r>
                        <a:rPr lang="zh-CN" altLang="en-US" sz="1200" b="0" i="1">
                          <a:latin typeface="Cambria Math" panose="02040503050406030204" pitchFamily="18" charset="0"/>
                        </a:rPr>
                        <m:t>𝑠𝑖𝑛</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𝜃</m:t>
                          </m:r>
                        </m:e>
                        <m:sub>
                          <m:r>
                            <a:rPr lang="zh-CN" altLang="en-US" sz="1200" b="0" i="0">
                              <a:latin typeface="Cambria Math" panose="02040503050406030204" pitchFamily="18" charset="0"/>
                            </a:rPr>
                            <m:t>1</m:t>
                          </m:r>
                        </m:sub>
                      </m:sSub>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5208425" y="1800692"/>
                <a:ext cx="2048766" cy="27699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040559" y="3428162"/>
                <a:ext cx="3773425" cy="3031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𝒫</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0">
                                  <a:latin typeface="Cambria Math" panose="02040503050406030204" pitchFamily="18" charset="0"/>
                                </a:rPr>
                                <m:t>2</m:t>
                              </m:r>
                            </m:sub>
                          </m:sSub>
                          <m:r>
                            <a:rPr lang="zh-CN" altLang="en-US" sz="1200" b="1" i="1">
                              <a:latin typeface="Cambria Math" panose="02040503050406030204" pitchFamily="18" charset="0"/>
                            </a:rPr>
                            <m:t>𝒈</m:t>
                          </m:r>
                          <m:sSub>
                            <m:sSubPr>
                              <m:ctrlPr>
                                <a:rPr lang="zh-CN" altLang="en-US" sz="1200" b="1" i="1">
                                  <a:latin typeface="Cambria Math" panose="02040503050406030204" pitchFamily="18" charset="0"/>
                                </a:rPr>
                              </m:ctrlPr>
                            </m:sSubPr>
                            <m:e>
                              <m:r>
                                <a:rPr lang="zh-CN" altLang="en-US" sz="1200" b="0" i="1">
                                  <a:latin typeface="Cambria Math" panose="02040503050406030204" pitchFamily="18" charset="0"/>
                                </a:rPr>
                                <m:t>𝑦</m:t>
                              </m:r>
                            </m:e>
                            <m:sub>
                              <m:r>
                                <a:rPr lang="zh-CN" altLang="en-US" sz="1200" b="0" i="0">
                                  <a:latin typeface="Cambria Math" panose="02040503050406030204" pitchFamily="18" charset="0"/>
                                </a:rPr>
                                <m:t>2</m:t>
                              </m:r>
                            </m:sub>
                          </m:sSub>
                          <m:r>
                            <a:rPr lang="zh-CN" altLang="en-US" sz="1200" b="0" i="0">
                              <a:latin typeface="Cambria Math" panose="02040503050406030204" pitchFamily="18" charset="0"/>
                            </a:rPr>
                            <m:t>=</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𝑚</m:t>
                              </m:r>
                            </m:e>
                            <m:sub>
                              <m:r>
                                <a:rPr lang="zh-CN" altLang="en-US" sz="1200" b="0" i="0">
                                  <a:latin typeface="Cambria Math" panose="02040503050406030204" pitchFamily="18" charset="0"/>
                                </a:rPr>
                                <m:t>2</m:t>
                              </m:r>
                            </m:sub>
                          </m:sSub>
                          <m:r>
                            <a:rPr lang="zh-CN" altLang="en-US" sz="1200" b="1" i="1">
                              <a:latin typeface="Cambria Math" panose="02040503050406030204" pitchFamily="18" charset="0"/>
                            </a:rPr>
                            <m:t>𝒈</m:t>
                          </m:r>
                          <m:r>
                            <a:rPr lang="zh-CN" altLang="en-US" sz="1200" b="0" i="0">
                              <a:latin typeface="Cambria Math" panose="02040503050406030204" pitchFamily="18" charset="0"/>
                            </a:rPr>
                            <m:t>(</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𝐿</m:t>
                              </m:r>
                            </m:e>
                            <m:sub>
                              <m:r>
                                <a:rPr lang="zh-CN" altLang="en-US" sz="1200" b="0" i="0">
                                  <a:latin typeface="Cambria Math" panose="02040503050406030204" pitchFamily="18" charset="0"/>
                                </a:rPr>
                                <m:t>1</m:t>
                              </m:r>
                            </m:sub>
                          </m:sSub>
                          <m:r>
                            <a:rPr lang="zh-CN" altLang="en-US" sz="1200" b="0" i="1">
                              <a:latin typeface="Cambria Math" panose="02040503050406030204" pitchFamily="18" charset="0"/>
                            </a:rPr>
                            <m:t>𝑠𝑖𝑛</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𝜃</m:t>
                              </m:r>
                            </m:e>
                            <m:sub>
                              <m:r>
                                <a:rPr lang="zh-CN" altLang="en-US" sz="1200" b="0" i="0">
                                  <a:latin typeface="Cambria Math" panose="02040503050406030204" pitchFamily="18" charset="0"/>
                                </a:rPr>
                                <m:t>1</m:t>
                              </m:r>
                            </m:sub>
                          </m:sSub>
                          <m:r>
                            <a:rPr lang="zh-CN" altLang="en-US" sz="1200" b="0" i="0">
                              <a:latin typeface="Cambria Math" panose="02040503050406030204" pitchFamily="18" charset="0"/>
                            </a:rPr>
                            <m:t>+</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𝐿</m:t>
                              </m:r>
                            </m:e>
                            <m:sub>
                              <m:r>
                                <a:rPr lang="zh-CN" altLang="en-US" sz="1200" b="0" i="0">
                                  <a:latin typeface="Cambria Math" panose="02040503050406030204" pitchFamily="18" charset="0"/>
                                </a:rPr>
                                <m:t>2</m:t>
                              </m:r>
                            </m:sub>
                          </m:sSub>
                          <m:r>
                            <a:rPr lang="zh-CN" altLang="en-US" sz="1200" b="0" i="1">
                              <a:latin typeface="Cambria Math" panose="02040503050406030204" pitchFamily="18" charset="0"/>
                            </a:rPr>
                            <m:t>𝑠𝑖𝑛</m:t>
                          </m:r>
                          <m:sSub>
                            <m:sSubPr>
                              <m:ctrlPr>
                                <a:rPr lang="zh-CN" altLang="en-US" sz="1200" b="0" i="1">
                                  <a:latin typeface="Cambria Math" panose="02040503050406030204" pitchFamily="18" charset="0"/>
                                </a:rPr>
                              </m:ctrlPr>
                            </m:sSubPr>
                            <m:e>
                              <m:d>
                                <m:dPr>
                                  <m:endChr m:val=""/>
                                  <m:ctrlPr>
                                    <a:rPr lang="zh-CN" altLang="en-US" sz="1200" b="0" i="1">
                                      <a:latin typeface="Cambria Math" panose="02040503050406030204" pitchFamily="18" charset="0"/>
                                    </a:rPr>
                                  </m:ctrlPr>
                                </m:dPr>
                                <m:e>
                                  <m:r>
                                    <a:rPr lang="zh-CN" altLang="en-US" sz="1200" b="0" i="1">
                                      <a:latin typeface="Cambria Math" panose="02040503050406030204" pitchFamily="18" charset="0"/>
                                    </a:rPr>
                                    <m:t>𝜃</m:t>
                                  </m:r>
                                </m:e>
                              </m:d>
                            </m:e>
                            <m:sub>
                              <m:r>
                                <a:rPr lang="zh-CN" altLang="en-US" sz="1200" b="0" i="0">
                                  <a:latin typeface="Cambria Math" panose="02040503050406030204" pitchFamily="18" charset="0"/>
                                </a:rPr>
                                <m:t>1</m:t>
                              </m:r>
                            </m:sub>
                          </m:sSub>
                          <m:r>
                            <a:rPr lang="zh-CN" altLang="en-US" sz="1200" b="0" i="0">
                              <a:latin typeface="Cambria Math" panose="02040503050406030204" pitchFamily="18" charset="0"/>
                            </a:rPr>
                            <m:t>+</m:t>
                          </m:r>
                          <m:sSub>
                            <m:sSubPr>
                              <m:ctrlPr>
                                <a:rPr lang="zh-CN" altLang="en-US" sz="1200" b="0" i="1">
                                  <a:latin typeface="Cambria Math" panose="02040503050406030204" pitchFamily="18" charset="0"/>
                                </a:rPr>
                              </m:ctrlPr>
                            </m:sSubPr>
                            <m:e>
                              <m:r>
                                <a:rPr lang="zh-CN" altLang="en-US" sz="1200" b="0" i="1">
                                  <a:latin typeface="Cambria Math" panose="02040503050406030204" pitchFamily="18" charset="0"/>
                                </a:rPr>
                                <m:t>𝜃</m:t>
                              </m:r>
                            </m:e>
                            <m:sub>
                              <m:r>
                                <a:rPr lang="zh-CN" altLang="en-US" sz="1200" b="0" i="0">
                                  <a:latin typeface="Cambria Math" panose="02040503050406030204" pitchFamily="18" charset="0"/>
                                </a:rPr>
                                <m:t>2</m:t>
                              </m:r>
                            </m:sub>
                          </m:sSub>
                          <m:r>
                            <a:rPr lang="zh-CN" altLang="en-US" sz="1200" b="0" i="0">
                              <a:latin typeface="Cambria Math" panose="02040503050406030204" pitchFamily="18" charset="0"/>
                            </a:rPr>
                            <m:t>)</m:t>
                          </m:r>
                        </m:e>
                      </m:d>
                    </m:oMath>
                  </m:oMathPara>
                </a14:m>
                <a:endParaRPr lang="zh-CN" altLang="en-US" sz="1200" dirty="0"/>
              </a:p>
            </p:txBody>
          </p:sp>
        </mc:Choice>
        <mc:Fallback xmlns="">
          <p:sp>
            <p:nvSpPr>
              <p:cNvPr id="16" name="矩形 15"/>
              <p:cNvSpPr>
                <a:spLocks noRot="1" noChangeAspect="1" noMove="1" noResize="1" noEditPoints="1" noAdjustHandles="1" noChangeArrowheads="1" noChangeShapeType="1" noTextEdit="1"/>
              </p:cNvSpPr>
              <p:nvPr/>
            </p:nvSpPr>
            <p:spPr>
              <a:xfrm>
                <a:off x="5040559" y="3428162"/>
                <a:ext cx="3773425" cy="303160"/>
              </a:xfrm>
              <a:prstGeom prst="rect">
                <a:avLst/>
              </a:prstGeom>
              <a:blipFill>
                <a:blip r:embed="rId10"/>
                <a:stretch>
                  <a:fillRect t="-128000" r="-5008" b="-194000"/>
                </a:stretch>
              </a:blipFill>
            </p:spPr>
            <p:txBody>
              <a:bodyPr/>
              <a:lstStyle/>
              <a:p>
                <a:r>
                  <a:rPr lang="zh-CN" altLang="en-US">
                    <a:noFill/>
                  </a:rPr>
                  <a:t> </a:t>
                </a:r>
              </a:p>
            </p:txBody>
          </p:sp>
        </mc:Fallback>
      </mc:AlternateContent>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矩形 18"/>
              <p:cNvSpPr/>
              <p:nvPr/>
            </p:nvSpPr>
            <p:spPr>
              <a:xfrm>
                <a:off x="5308849" y="4423780"/>
                <a:ext cx="2893548" cy="6209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𝜏</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𝑑</m:t>
                          </m:r>
                        </m:num>
                        <m:den>
                          <m:r>
                            <a:rPr lang="zh-CN" altLang="en-US" sz="1600" i="1">
                              <a:latin typeface="Cambria Math" panose="02040503050406030204" pitchFamily="18" charset="0"/>
                            </a:rPr>
                            <m:t>𝑑𝑡</m:t>
                          </m:r>
                        </m:den>
                      </m:f>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0">
                              <a:latin typeface="Cambria Math" panose="02040503050406030204" pitchFamily="18" charset="0"/>
                            </a:rPr>
                            <m:t>ℒ</m:t>
                          </m:r>
                        </m:num>
                        <m:den>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𝑖</m:t>
                                  </m:r>
                                </m:sub>
                              </m:sSub>
                            </m:e>
                          </m:acc>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0">
                              <a:latin typeface="Cambria Math" panose="02040503050406030204" pitchFamily="18" charset="0"/>
                            </a:rPr>
                            <m:t>ℒ</m:t>
                          </m:r>
                        </m:num>
                        <m:den>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𝑖</m:t>
                              </m:r>
                            </m:sub>
                          </m:sSub>
                        </m:den>
                      </m:f>
                      <m:r>
                        <a:rPr lang="zh-CN" altLang="en-US" sz="1600" i="0">
                          <a:latin typeface="Cambria Math" panose="02040503050406030204" pitchFamily="18" charset="0"/>
                        </a:rPr>
                        <m:t> ,  </m:t>
                      </m:r>
                      <m:r>
                        <a:rPr lang="zh-CN" altLang="en-US" sz="1600" i="1">
                          <a:latin typeface="Cambria Math" panose="02040503050406030204" pitchFamily="18" charset="0"/>
                        </a:rPr>
                        <m:t>𝑖</m:t>
                      </m:r>
                      <m:r>
                        <a:rPr lang="zh-CN" altLang="en-US" sz="1600" i="0">
                          <a:latin typeface="Cambria Math" panose="02040503050406030204" pitchFamily="18" charset="0"/>
                        </a:rPr>
                        <m:t>=1, 2</m:t>
                      </m:r>
                    </m:oMath>
                  </m:oMathPara>
                </a14:m>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5308849" y="4423780"/>
                <a:ext cx="2893548" cy="620939"/>
              </a:xfrm>
              <a:prstGeom prst="rect">
                <a:avLst/>
              </a:prstGeom>
              <a:blipFill>
                <a:blip r:embed="rId11"/>
                <a:stretch>
                  <a:fillRect/>
                </a:stretch>
              </a:blipFill>
            </p:spPr>
            <p:txBody>
              <a:bodyPr/>
              <a:lstStyle/>
              <a:p>
                <a:r>
                  <a:rPr lang="zh-CN" altLang="en-US">
                    <a:noFill/>
                  </a:rPr>
                  <a:t> </a:t>
                </a:r>
              </a:p>
            </p:txBody>
          </p:sp>
        </mc:Fallback>
      </mc:AlternateContent>
      <p:sp>
        <p:nvSpPr>
          <p:cNvPr id="20" name="矩形 19"/>
          <p:cNvSpPr/>
          <p:nvPr/>
        </p:nvSpPr>
        <p:spPr>
          <a:xfrm>
            <a:off x="5621718" y="4006358"/>
            <a:ext cx="2324675" cy="417422"/>
          </a:xfrm>
          <a:prstGeom prst="rect">
            <a:avLst/>
          </a:prstGeom>
        </p:spPr>
        <p:txBody>
          <a:bodyPr wrap="none">
            <a:spAutoFit/>
          </a:bodyPr>
          <a:lstStyle/>
          <a:p>
            <a:pPr>
              <a:lnSpc>
                <a:spcPct val="150000"/>
              </a:lnSpc>
            </a:pPr>
            <a:r>
              <a:rPr lang="en-US" altLang="zh-CN" sz="1600" b="1" i="1"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Lagrangian</a:t>
            </a:r>
            <a:r>
              <a:rPr lang="en-US" altLang="zh-CN" sz="1600" b="1" i="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 Formulation</a:t>
            </a:r>
            <a:endParaRPr lang="zh-CN" altLang="en-US" sz="1600" b="1" i="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21" name="圆角矩形 20"/>
          <p:cNvSpPr/>
          <p:nvPr/>
        </p:nvSpPr>
        <p:spPr>
          <a:xfrm>
            <a:off x="5193372" y="4423780"/>
            <a:ext cx="3096344" cy="6209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矩形 21"/>
              <p:cNvSpPr/>
              <p:nvPr/>
            </p:nvSpPr>
            <p:spPr>
              <a:xfrm>
                <a:off x="251520" y="3508630"/>
                <a:ext cx="3564174" cy="862544"/>
              </a:xfrm>
              <a:prstGeom prst="rect">
                <a:avLst/>
              </a:prstGeom>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𝜏</m:t>
                          </m:r>
                        </m:e>
                        <m:sub>
                          <m:r>
                            <a:rPr lang="en-US" altLang="zh-CN" sz="1000" i="1">
                              <a:latin typeface="Cambria Math" panose="02040503050406030204" pitchFamily="18" charset="0"/>
                              <a:cs typeface="MV Boli" panose="02000500030200090000" pitchFamily="2" charset="0"/>
                            </a:rPr>
                            <m:t>1</m:t>
                          </m:r>
                        </m:sub>
                      </m:sSub>
                      <m:r>
                        <a:rPr lang="en-US" altLang="zh-CN" sz="1000" i="1">
                          <a:latin typeface="Cambria Math" panose="02040503050406030204" pitchFamily="18" charset="0"/>
                          <a:cs typeface="MV Boli" panose="02000500030200090000" pitchFamily="2" charset="0"/>
                        </a:rPr>
                        <m:t>=</m:t>
                      </m:r>
                      <m:d>
                        <m:d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1</m:t>
                              </m:r>
                            </m:sub>
                          </m:sSub>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e>
                            <m:sup>
                              <m:r>
                                <a:rPr lang="en-US" altLang="zh-CN" sz="1000" i="1">
                                  <a:latin typeface="Cambria Math" panose="02040503050406030204" pitchFamily="18" charset="0"/>
                                  <a:cs typeface="MV Boli" panose="02000500030200090000" pitchFamily="2" charset="0"/>
                                </a:rPr>
                                <m:t>2</m:t>
                              </m:r>
                            </m:sup>
                          </m:sSup>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d>
                            <m:d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dPr>
                            <m:e>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e>
                                <m:sup>
                                  <m:r>
                                    <a:rPr lang="en-US" altLang="zh-CN" sz="1000" i="1">
                                      <a:latin typeface="Cambria Math" panose="02040503050406030204" pitchFamily="18" charset="0"/>
                                      <a:cs typeface="MV Boli" panose="02000500030200090000" pitchFamily="2" charset="0"/>
                                    </a:rPr>
                                    <m:t>2</m:t>
                                  </m:r>
                                </m:sup>
                              </m:sSup>
                              <m:r>
                                <a:rPr lang="en-US" altLang="zh-CN" sz="1000" i="1">
                                  <a:latin typeface="Cambria Math" panose="02040503050406030204" pitchFamily="18" charset="0"/>
                                  <a:cs typeface="MV Boli" panose="02000500030200090000" pitchFamily="2" charset="0"/>
                                </a:rPr>
                                <m:t>+</m:t>
                              </m:r>
                              <m:r>
                                <a:rPr lang="en-US" altLang="zh-CN" sz="1000">
                                  <a:latin typeface="Cambria Math" panose="02040503050406030204" pitchFamily="18" charset="0"/>
                                  <a:cs typeface="MV Boli" panose="02000500030200090000" pitchFamily="2" charset="0"/>
                                </a:rPr>
                                <m:t>2</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𝑐𝑜𝑠</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m:t>
                              </m:r>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e>
                                <m:sup>
                                  <m:r>
                                    <a:rPr lang="en-US" altLang="zh-CN" sz="1000" i="1">
                                      <a:latin typeface="Cambria Math" panose="02040503050406030204" pitchFamily="18" charset="0"/>
                                      <a:cs typeface="MV Boli" panose="02000500030200090000" pitchFamily="2" charset="0"/>
                                    </a:rPr>
                                    <m:t>2</m:t>
                                  </m:r>
                                </m:sup>
                              </m:sSup>
                            </m:e>
                          </m:d>
                        </m:e>
                      </m:d>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e>
                      </m:acc>
                    </m:oMath>
                  </m:oMathPara>
                </a14:m>
                <a:endParaRPr lang="zh-CN" altLang="zh-CN" sz="10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d>
                        <m:d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dPr>
                        <m:e>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e>
                            <m:sup>
                              <m:r>
                                <a:rPr lang="en-US" altLang="zh-CN" sz="1000" i="1">
                                  <a:latin typeface="Cambria Math" panose="02040503050406030204" pitchFamily="18" charset="0"/>
                                  <a:cs typeface="MV Boli" panose="02000500030200090000" pitchFamily="2" charset="0"/>
                                </a:rPr>
                                <m:t>2</m:t>
                              </m:r>
                            </m:sup>
                          </m:sSup>
                          <m:r>
                            <a:rPr lang="en-US" altLang="zh-CN" sz="1000">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𝑐𝑜𝑠</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d>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acc>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𝑠𝑖𝑛</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d>
                        <m:d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000" i="1">
                              <a:latin typeface="Cambria Math" panose="02040503050406030204" pitchFamily="18" charset="0"/>
                              <a:cs typeface="MV Boli" panose="02000500030200090000" pitchFamily="2" charset="0"/>
                            </a:rPr>
                            <m:t>2</m:t>
                          </m:r>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e>
                          </m:acc>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acc>
                          <m:r>
                            <a:rPr lang="en-US" altLang="zh-CN" sz="1000">
                              <a:latin typeface="Cambria Math" panose="02040503050406030204" pitchFamily="18" charset="0"/>
                              <a:cs typeface="MV Boli" panose="02000500030200090000" pitchFamily="2" charset="0"/>
                            </a:rPr>
                            <m:t>+</m:t>
                          </m:r>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acc>
                            </m:e>
                            <m:sup>
                              <m:r>
                                <a:rPr lang="en-US" altLang="zh-CN" sz="1000" i="1">
                                  <a:latin typeface="Cambria Math" panose="02040503050406030204" pitchFamily="18" charset="0"/>
                                  <a:cs typeface="MV Boli" panose="02000500030200090000" pitchFamily="2" charset="0"/>
                                </a:rPr>
                                <m:t>2</m:t>
                              </m:r>
                            </m:sup>
                          </m:sSup>
                        </m:e>
                      </m:d>
                    </m:oMath>
                  </m:oMathPara>
                </a14:m>
                <a:endParaRPr lang="zh-CN" altLang="zh-CN" sz="10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cs typeface="MV Boli" panose="02000500030200090000" pitchFamily="2" charset="0"/>
                        </a:rPr>
                        <m:t>+</m:t>
                      </m:r>
                      <m:d>
                        <m:d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1</m:t>
                              </m:r>
                            </m:sub>
                          </m:sSub>
                          <m:r>
                            <a:rPr lang="en-US" altLang="zh-CN" sz="1000" i="1">
                              <a:latin typeface="Cambria Math" panose="02040503050406030204" pitchFamily="18" charset="0"/>
                              <a:cs typeface="MV Boli" panose="02000500030200090000" pitchFamily="2" charset="0"/>
                            </a:rPr>
                            <m:t>+</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e>
                      </m:d>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r>
                        <a:rPr lang="en-US" altLang="zh-CN" sz="1000" b="1" i="1">
                          <a:latin typeface="Cambria Math" panose="02040503050406030204" pitchFamily="18" charset="0"/>
                          <a:cs typeface="MV Boli" panose="02000500030200090000" pitchFamily="2" charset="0"/>
                        </a:rPr>
                        <m:t>𝒈</m:t>
                      </m:r>
                      <m:r>
                        <a:rPr lang="en-US" altLang="zh-CN" sz="1000" i="1">
                          <a:latin typeface="Cambria Math" panose="02040503050406030204" pitchFamily="18" charset="0"/>
                          <a:cs typeface="MV Boli" panose="02000500030200090000" pitchFamily="2" charset="0"/>
                        </a:rPr>
                        <m:t>𝑐𝑜𝑠</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r>
                        <a:rPr lang="en-US" altLang="zh-CN" sz="1000" i="1">
                          <a:latin typeface="Cambria Math" panose="02040503050406030204" pitchFamily="18" charset="0"/>
                          <a:cs typeface="MV Boli" panose="02000500030200090000" pitchFamily="2" charset="0"/>
                        </a:rPr>
                        <m:t>+</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r>
                        <a:rPr lang="en-US" altLang="zh-CN" sz="1000" b="1" i="1">
                          <a:latin typeface="Cambria Math" panose="02040503050406030204" pitchFamily="18" charset="0"/>
                          <a:cs typeface="MV Boli" panose="02000500030200090000" pitchFamily="2" charset="0"/>
                        </a:rPr>
                        <m:t>𝒈</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𝑐𝑜𝑠</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m:t>
                          </m:r>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r>
                        <a:rPr lang="en-US" altLang="zh-CN" sz="1000" i="1">
                          <a:latin typeface="Cambria Math" panose="02040503050406030204" pitchFamily="18" charset="0"/>
                          <a:cs typeface="MV Boli" panose="02000500030200090000" pitchFamily="2" charset="0"/>
                        </a:rPr>
                        <m:t>+</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m:t>
                      </m:r>
                    </m:oMath>
                  </m:oMathPara>
                </a14:m>
                <a:endParaRPr lang="zh-CN" altLang="en-US" sz="1000" dirty="0"/>
              </a:p>
            </p:txBody>
          </p:sp>
        </mc:Choice>
        <mc:Fallback xmlns="">
          <p:sp>
            <p:nvSpPr>
              <p:cNvPr id="22" name="矩形 21"/>
              <p:cNvSpPr>
                <a:spLocks noRot="1" noChangeAspect="1" noMove="1" noResize="1" noEditPoints="1" noAdjustHandles="1" noChangeArrowheads="1" noChangeShapeType="1" noTextEdit="1"/>
              </p:cNvSpPr>
              <p:nvPr/>
            </p:nvSpPr>
            <p:spPr>
              <a:xfrm>
                <a:off x="251520" y="3508630"/>
                <a:ext cx="3564174" cy="862544"/>
              </a:xfrm>
              <a:prstGeom prst="rect">
                <a:avLst/>
              </a:prstGeom>
              <a:blipFill>
                <a:blip r:embed="rId12"/>
                <a:stretch>
                  <a:fillRect b="-14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41863" y="4468376"/>
                <a:ext cx="3804757" cy="526939"/>
              </a:xfrm>
              <a:prstGeom prst="rect">
                <a:avLst/>
              </a:prstGeom>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𝜏</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d>
                        <m:d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dPr>
                        <m:e>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e>
                            <m:sup>
                              <m:r>
                                <a:rPr lang="en-US" altLang="zh-CN" sz="1000" i="1">
                                  <a:latin typeface="Cambria Math" panose="02040503050406030204" pitchFamily="18" charset="0"/>
                                  <a:cs typeface="MV Boli" panose="02000500030200090000" pitchFamily="2" charset="0"/>
                                </a:rPr>
                                <m:t>2</m:t>
                              </m:r>
                            </m:sup>
                          </m:sSup>
                          <m:r>
                            <a:rPr lang="en-US" altLang="zh-CN" sz="1000">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𝑐𝑜𝑠</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d>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e>
                      </m:acc>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e>
                        <m:sup>
                          <m:r>
                            <a:rPr lang="en-US" altLang="zh-CN" sz="1000" i="1">
                              <a:latin typeface="Cambria Math" panose="02040503050406030204" pitchFamily="18" charset="0"/>
                              <a:cs typeface="MV Boli" panose="02000500030200090000" pitchFamily="2" charset="0"/>
                            </a:rPr>
                            <m:t>2</m:t>
                          </m:r>
                        </m:sup>
                      </m:sSup>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e>
                      </m:acc>
                      <m:r>
                        <a:rPr lang="en-US" altLang="zh-CN" sz="1000" i="1">
                          <a:latin typeface="Cambria Math" panose="02040503050406030204" pitchFamily="18" charset="0"/>
                          <a:cs typeface="MV Boli" panose="02000500030200090000" pitchFamily="2" charset="0"/>
                        </a:rPr>
                        <m:t>+</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1</m:t>
                          </m:r>
                        </m:sub>
                      </m:sSub>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sSup>
                        <m:sSup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pPr>
                        <m:e>
                          <m:acc>
                            <m:accPr>
                              <m:chr m:val="̇"/>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accPr>
                            <m:e>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e>
                          </m:acc>
                        </m:e>
                        <m:sup>
                          <m:r>
                            <a:rPr lang="en-US" altLang="zh-CN" sz="1000" i="1">
                              <a:latin typeface="Cambria Math" panose="02040503050406030204" pitchFamily="18" charset="0"/>
                              <a:cs typeface="MV Boli" panose="02000500030200090000" pitchFamily="2" charset="0"/>
                            </a:rPr>
                            <m:t>2</m:t>
                          </m:r>
                        </m:sup>
                      </m:sSup>
                      <m:r>
                        <a:rPr lang="en-US" altLang="zh-CN" sz="1000" i="1">
                          <a:latin typeface="Cambria Math" panose="02040503050406030204" pitchFamily="18" charset="0"/>
                          <a:cs typeface="MV Boli" panose="02000500030200090000" pitchFamily="2" charset="0"/>
                        </a:rPr>
                        <m:t>𝑠𝑖𝑛</m:t>
                      </m:r>
                      <m:sSub>
                        <m:sSubPr>
                          <m:ctrlPr>
                            <a:rPr lang="zh-CN" altLang="zh-CN" sz="10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oMath>
                  </m:oMathPara>
                </a14:m>
                <a:endParaRPr lang="zh-CN" altLang="zh-CN" sz="10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000" i="1">
                          <a:latin typeface="Cambria Math" panose="02040503050406030204" pitchFamily="18" charset="0"/>
                          <a:cs typeface="MV Boli" panose="02000500030200090000" pitchFamily="2" charset="0"/>
                        </a:rPr>
                        <m:t>+</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𝑚</m:t>
                          </m:r>
                        </m:e>
                        <m:sub>
                          <m:r>
                            <a:rPr lang="en-US" altLang="zh-CN" sz="1000" i="1">
                              <a:latin typeface="Cambria Math" panose="02040503050406030204" pitchFamily="18" charset="0"/>
                              <a:cs typeface="MV Boli" panose="02000500030200090000" pitchFamily="2" charset="0"/>
                            </a:rPr>
                            <m:t>2</m:t>
                          </m:r>
                        </m:sub>
                      </m:sSub>
                      <m:r>
                        <a:rPr lang="en-US" altLang="zh-CN" sz="1000" b="1" i="1">
                          <a:latin typeface="Cambria Math" panose="02040503050406030204" pitchFamily="18" charset="0"/>
                          <a:cs typeface="MV Boli" panose="02000500030200090000" pitchFamily="2" charset="0"/>
                        </a:rPr>
                        <m:t>𝒈</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𝐿</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𝑐𝑜𝑠</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m:t>
                          </m:r>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1</m:t>
                          </m:r>
                        </m:sub>
                      </m:sSub>
                      <m:r>
                        <a:rPr lang="en-US" altLang="zh-CN" sz="1000" i="1">
                          <a:latin typeface="Cambria Math" panose="02040503050406030204" pitchFamily="18" charset="0"/>
                          <a:cs typeface="MV Boli" panose="02000500030200090000" pitchFamily="2" charset="0"/>
                        </a:rPr>
                        <m:t>+</m:t>
                      </m:r>
                      <m:sSub>
                        <m:sSubPr>
                          <m:ctrlPr>
                            <a:rPr lang="zh-CN" altLang="zh-CN" sz="10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000" i="1">
                              <a:latin typeface="Cambria Math" panose="02040503050406030204" pitchFamily="18" charset="0"/>
                              <a:cs typeface="MV Boli" panose="02000500030200090000" pitchFamily="2" charset="0"/>
                            </a:rPr>
                            <m:t>𝜃</m:t>
                          </m:r>
                        </m:e>
                        <m:sub>
                          <m:r>
                            <a:rPr lang="en-US" altLang="zh-CN" sz="1000" i="1">
                              <a:latin typeface="Cambria Math" panose="02040503050406030204" pitchFamily="18" charset="0"/>
                              <a:cs typeface="MV Boli" panose="02000500030200090000" pitchFamily="2" charset="0"/>
                            </a:rPr>
                            <m:t>2</m:t>
                          </m:r>
                        </m:sub>
                      </m:sSub>
                      <m:r>
                        <a:rPr lang="en-US" altLang="zh-CN" sz="1000" i="1">
                          <a:latin typeface="Cambria Math" panose="02040503050406030204" pitchFamily="18" charset="0"/>
                          <a:cs typeface="MV Boli" panose="02000500030200090000" pitchFamily="2" charset="0"/>
                        </a:rPr>
                        <m:t>)</m:t>
                      </m:r>
                    </m:oMath>
                  </m:oMathPara>
                </a14:m>
                <a:endParaRPr lang="zh-CN" altLang="en-US" sz="1000" dirty="0"/>
              </a:p>
            </p:txBody>
          </p:sp>
        </mc:Choice>
        <mc:Fallback xmlns="">
          <p:sp>
            <p:nvSpPr>
              <p:cNvPr id="23" name="矩形 22"/>
              <p:cNvSpPr>
                <a:spLocks noRot="1" noChangeAspect="1" noMove="1" noResize="1" noEditPoints="1" noAdjustHandles="1" noChangeArrowheads="1" noChangeShapeType="1" noTextEdit="1"/>
              </p:cNvSpPr>
              <p:nvPr/>
            </p:nvSpPr>
            <p:spPr>
              <a:xfrm>
                <a:off x="441863" y="4468376"/>
                <a:ext cx="3804757" cy="526939"/>
              </a:xfrm>
              <a:prstGeom prst="rect">
                <a:avLst/>
              </a:prstGeom>
              <a:blipFill>
                <a:blip r:embed="rId13"/>
                <a:stretch>
                  <a:fillRect b="-2326"/>
                </a:stretch>
              </a:blipFill>
            </p:spPr>
            <p:txBody>
              <a:bodyPr/>
              <a:lstStyle/>
              <a:p>
                <a:r>
                  <a:rPr lang="zh-CN" altLang="en-US">
                    <a:noFill/>
                  </a:rPr>
                  <a:t> </a:t>
                </a:r>
              </a:p>
            </p:txBody>
          </p:sp>
        </mc:Fallback>
      </mc:AlternateContent>
      <p:sp>
        <p:nvSpPr>
          <p:cNvPr id="24" name="矩形 23"/>
          <p:cNvSpPr/>
          <p:nvPr/>
        </p:nvSpPr>
        <p:spPr>
          <a:xfrm>
            <a:off x="441863" y="3579742"/>
            <a:ext cx="3836767" cy="8440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3611510" y="3579742"/>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1</a:t>
            </a:r>
            <a:endParaRPr lang="zh-CN" altLang="en-US" sz="1400" b="1" dirty="0">
              <a:solidFill>
                <a:srgbClr val="0070C0"/>
              </a:solidFill>
            </a:endParaRPr>
          </a:p>
        </p:txBody>
      </p:sp>
      <p:sp>
        <p:nvSpPr>
          <p:cNvPr id="26" name="矩形 25"/>
          <p:cNvSpPr/>
          <p:nvPr/>
        </p:nvSpPr>
        <p:spPr>
          <a:xfrm>
            <a:off x="441863" y="4468376"/>
            <a:ext cx="3836767" cy="6751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3609777" y="4761630"/>
            <a:ext cx="635110" cy="307777"/>
          </a:xfrm>
          <a:prstGeom prst="rect">
            <a:avLst/>
          </a:prstGeom>
          <a:noFill/>
        </p:spPr>
        <p:txBody>
          <a:bodyPr wrap="none" rtlCol="0">
            <a:spAutoFit/>
          </a:bodyPr>
          <a:lstStyle/>
          <a:p>
            <a:r>
              <a:rPr lang="zh-CN" altLang="en-US" sz="1400" b="1" dirty="0" smtClean="0">
                <a:solidFill>
                  <a:srgbClr val="0070C0"/>
                </a:solidFill>
              </a:rPr>
              <a:t>连杆</a:t>
            </a:r>
            <a:r>
              <a:rPr lang="en-US" altLang="zh-CN" sz="1400" b="1" dirty="0" smtClean="0">
                <a:solidFill>
                  <a:srgbClr val="0070C0"/>
                </a:solidFill>
              </a:rPr>
              <a:t>2</a:t>
            </a:r>
            <a:endParaRPr lang="zh-CN" altLang="en-US" sz="1400" b="1" dirty="0">
              <a:solidFill>
                <a:srgbClr val="0070C0"/>
              </a:solidFill>
            </a:endParaRPr>
          </a:p>
        </p:txBody>
      </p:sp>
    </p:spTree>
    <p:extLst>
      <p:ext uri="{BB962C8B-B14F-4D97-AF65-F5344CB8AC3E}">
        <p14:creationId xmlns:p14="http://schemas.microsoft.com/office/powerpoint/2010/main" val="8516089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err="1">
                  <a:latin typeface="Arial" panose="020B0604020202020204" pitchFamily="34" charset="0"/>
                  <a:ea typeface="微软雅黑" panose="020B0503020204020204" charset="-122"/>
                  <a:sym typeface="+mn-ea"/>
                </a:rPr>
                <a:t>Lagrangian</a:t>
              </a:r>
              <a:r>
                <a:rPr lang="en-US" altLang="zh-CN" sz="1000" dirty="0">
                  <a:latin typeface="Arial" panose="020B0604020202020204" pitchFamily="34" charset="0"/>
                  <a:ea typeface="微软雅黑" panose="020B0503020204020204" charset="-122"/>
                  <a:sym typeface="+mn-ea"/>
                </a:rPr>
                <a:t> Formulation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Lagrange</a:t>
              </a:r>
              <a:r>
                <a:rPr lang="zh-CN" altLang="en-US" sz="2000" b="1" dirty="0">
                  <a:latin typeface="Arial" panose="020B0604020202020204" pitchFamily="34" charset="0"/>
                  <a:ea typeface="微软雅黑" panose="020B0503020204020204" charset="-122"/>
                  <a:sym typeface="+mn-ea"/>
                </a:rPr>
                <a:t>动力学方法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对象 2"/>
          <p:cNvGraphicFramePr>
            <a:graphicFrameLocks noChangeAspect="1"/>
          </p:cNvGraphicFramePr>
          <p:nvPr/>
        </p:nvGraphicFramePr>
        <p:xfrm>
          <a:off x="220910" y="1258778"/>
          <a:ext cx="4819650" cy="2152650"/>
        </p:xfrm>
        <a:graphic>
          <a:graphicData uri="http://schemas.openxmlformats.org/presentationml/2006/ole">
            <mc:AlternateContent xmlns:mc="http://schemas.openxmlformats.org/markup-compatibility/2006">
              <mc:Choice xmlns:v="urn:schemas-microsoft-com:vml" Requires="v">
                <p:oleObj spid="_x0000_s5206" name="Visio" r:id="rId4" imgW="6467622" imgH="2885915" progId="Visio.Drawing.15">
                  <p:embed/>
                </p:oleObj>
              </mc:Choice>
              <mc:Fallback>
                <p:oleObj name="Visio" r:id="rId4" imgW="6467622" imgH="2885915" progId="Visio.Drawing.15">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10" y="1258778"/>
                        <a:ext cx="4819650"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404771" y="627534"/>
            <a:ext cx="2031325" cy="418063"/>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拉格朗日动力学方程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5864442" y="3507854"/>
            <a:ext cx="2324675" cy="417422"/>
          </a:xfrm>
          <a:prstGeom prst="rect">
            <a:avLst/>
          </a:prstGeom>
        </p:spPr>
        <p:txBody>
          <a:bodyPr wrap="none">
            <a:spAutoFit/>
          </a:bodyPr>
          <a:lstStyle/>
          <a:p>
            <a:pPr>
              <a:lnSpc>
                <a:spcPct val="150000"/>
              </a:lnSpc>
            </a:pPr>
            <a:r>
              <a:rPr lang="en-US" altLang="zh-CN" sz="1600" b="1" i="1" dirty="0" err="1">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Lagrangian</a:t>
            </a:r>
            <a:r>
              <a:rPr lang="en-US" altLang="zh-CN" sz="1600" b="1" i="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rPr>
              <a:t> Formulation</a:t>
            </a:r>
            <a:endParaRPr lang="zh-CN" altLang="en-US" sz="1600" b="1" i="1"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21" name="圆角矩形 20"/>
          <p:cNvSpPr/>
          <p:nvPr/>
        </p:nvSpPr>
        <p:spPr>
          <a:xfrm>
            <a:off x="5436096" y="4039043"/>
            <a:ext cx="3096344" cy="9491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矩形 4"/>
              <p:cNvSpPr/>
              <p:nvPr/>
            </p:nvSpPr>
            <p:spPr>
              <a:xfrm>
                <a:off x="5665060" y="4083918"/>
                <a:ext cx="2723438" cy="3702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𝜏</m:t>
                          </m:r>
                          <m:r>
                            <a:rPr lang="zh-CN" altLang="en-US" sz="1600" i="0">
                              <a:latin typeface="Cambria Math" panose="02040503050406030204" pitchFamily="18" charset="0"/>
                            </a:rPr>
                            <m:t>=</m:t>
                          </m:r>
                          <m:r>
                            <a:rPr lang="zh-CN" altLang="en-US" sz="1600" i="1">
                              <a:latin typeface="Cambria Math" panose="02040503050406030204" pitchFamily="18" charset="0"/>
                            </a:rPr>
                            <m:t>𝑀</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r>
                            <a:rPr lang="zh-CN" altLang="en-US" sz="1600" i="1">
                              <a:latin typeface="Cambria Math" panose="02040503050406030204" pitchFamily="18" charset="0"/>
                            </a:rPr>
                            <m:t>𝑐</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r>
                                <a:rPr lang="zh-CN" altLang="en-US" sz="1600" i="0">
                                  <a:latin typeface="Cambria Math" panose="02040503050406030204" pitchFamily="18" charset="0"/>
                                </a:rPr>
                                <m:t>, </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r>
                            <a:rPr lang="zh-CN" altLang="en-US" sz="1600" i="0">
                              <a:latin typeface="Cambria Math" panose="02040503050406030204" pitchFamily="18" charset="0"/>
                            </a:rPr>
                            <m:t>+</m:t>
                          </m:r>
                          <m:r>
                            <a:rPr lang="zh-CN" altLang="en-US" sz="1600" b="1" i="1">
                              <a:latin typeface="Cambria Math" panose="02040503050406030204" pitchFamily="18" charset="0"/>
                            </a:rPr>
                            <m:t>𝒈</m:t>
                          </m:r>
                          <m:r>
                            <a:rPr lang="zh-CN" altLang="en-US" sz="1600" b="0" i="0">
                              <a:latin typeface="Cambria Math" panose="02040503050406030204" pitchFamily="18" charset="0"/>
                            </a:rPr>
                            <m:t>(</m:t>
                          </m:r>
                          <m:r>
                            <a:rPr lang="zh-CN" altLang="en-US" sz="1600" b="0" i="1">
                              <a:latin typeface="Cambria Math" panose="02040503050406030204" pitchFamily="18" charset="0"/>
                            </a:rPr>
                            <m:t>𝜃</m:t>
                          </m:r>
                        </m:e>
                      </m:d>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5665060" y="4083918"/>
                <a:ext cx="2723438" cy="370294"/>
              </a:xfrm>
              <a:prstGeom prst="rect">
                <a:avLst/>
              </a:prstGeom>
              <a:blipFill>
                <a:blip r:embed="rId6"/>
                <a:stretch>
                  <a:fillRect t="-142623" r="-19911" b="-218033"/>
                </a:stretch>
              </a:blipFill>
            </p:spPr>
            <p:txBody>
              <a:bodyPr/>
              <a:lstStyle/>
              <a:p>
                <a:r>
                  <a:rPr lang="zh-CN" altLang="en-US">
                    <a:noFill/>
                  </a:rPr>
                  <a:t> </a:t>
                </a:r>
              </a:p>
            </p:txBody>
          </p:sp>
        </mc:Fallback>
      </mc:AlternateContent>
      <p:sp>
        <p:nvSpPr>
          <p:cNvPr id="6" name="文本框 5"/>
          <p:cNvSpPr txBox="1"/>
          <p:nvPr/>
        </p:nvSpPr>
        <p:spPr>
          <a:xfrm>
            <a:off x="2130881" y="1179672"/>
            <a:ext cx="426720" cy="369332"/>
          </a:xfrm>
          <a:prstGeom prst="rect">
            <a:avLst/>
          </a:prstGeom>
          <a:noFill/>
        </p:spPr>
        <p:txBody>
          <a:bodyPr wrap="none" rtlCol="0">
            <a:spAutoFit/>
          </a:bodyPr>
          <a:lstStyle/>
          <a:p>
            <a:r>
              <a:rPr lang="en-US" altLang="zh-CN" dirty="0" smtClean="0"/>
              <a:t>2R</a:t>
            </a:r>
            <a:endParaRPr lang="zh-CN" altLang="en-US" dirty="0"/>
          </a:p>
        </p:txBody>
      </p:sp>
      <p:pic>
        <p:nvPicPr>
          <p:cNvPr id="7" name="图片 6"/>
          <p:cNvPicPr>
            <a:picLocks noChangeAspect="1"/>
          </p:cNvPicPr>
          <p:nvPr/>
        </p:nvPicPr>
        <p:blipFill>
          <a:blip r:embed="rId7"/>
          <a:stretch>
            <a:fillRect/>
          </a:stretch>
        </p:blipFill>
        <p:spPr>
          <a:xfrm>
            <a:off x="6161072" y="1614131"/>
            <a:ext cx="1731414" cy="1847248"/>
          </a:xfrm>
          <a:prstGeom prst="rect">
            <a:avLst/>
          </a:prstGeom>
        </p:spPr>
      </p:pic>
      <p:sp>
        <p:nvSpPr>
          <p:cNvPr id="8" name="文本框 7"/>
          <p:cNvSpPr txBox="1"/>
          <p:nvPr/>
        </p:nvSpPr>
        <p:spPr>
          <a:xfrm>
            <a:off x="6084168" y="1258778"/>
            <a:ext cx="1415772" cy="338554"/>
          </a:xfrm>
          <a:prstGeom prst="rect">
            <a:avLst/>
          </a:prstGeom>
          <a:noFill/>
        </p:spPr>
        <p:txBody>
          <a:bodyPr wrap="none" rtlCol="0">
            <a:spAutoFit/>
          </a:bodyPr>
          <a:lstStyle/>
          <a:p>
            <a:r>
              <a:rPr lang="zh-CN" altLang="en-US" sz="1600" dirty="0" smtClean="0">
                <a:solidFill>
                  <a:srgbClr val="002060"/>
                </a:solidFill>
              </a:rPr>
              <a:t>操作臂动力学</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9" name="矩形 8"/>
              <p:cNvSpPr/>
              <p:nvPr/>
            </p:nvSpPr>
            <p:spPr>
              <a:xfrm>
                <a:off x="468560" y="3461379"/>
                <a:ext cx="4572000" cy="46544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000" i="1">
                          <a:latin typeface="Cambria Math" panose="02040503050406030204" pitchFamily="18" charset="0"/>
                        </a:rPr>
                        <m:t>𝑀</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𝜃</m:t>
                          </m:r>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1</m:t>
                                    </m:r>
                                  </m:sub>
                                </m:sSub>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d>
                                  <m:dPr>
                                    <m:ctrlPr>
                                      <a:rPr lang="zh-CN" altLang="en-US" sz="1000" i="1">
                                        <a:latin typeface="Cambria Math" panose="02040503050406030204" pitchFamily="18" charset="0"/>
                                      </a:rPr>
                                    </m:ctrlPr>
                                  </m:dPr>
                                  <m:e>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+2</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e>
                                </m:d>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d>
                                  <m:dPr>
                                    <m:ctrlPr>
                                      <a:rPr lang="zh-CN" altLang="en-US" sz="1000" i="1">
                                        <a:latin typeface="Cambria Math" panose="02040503050406030204" pitchFamily="18" charset="0"/>
                                      </a:rPr>
                                    </m:ctrlPr>
                                  </m:dPr>
                                  <m:e>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d>
                              </m:e>
                            </m:m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d>
                                  <m:dPr>
                                    <m:ctrlPr>
                                      <a:rPr lang="zh-CN" altLang="en-US" sz="1000" i="1">
                                        <a:latin typeface="Cambria Math" panose="02040503050406030204" pitchFamily="18" charset="0"/>
                                      </a:rPr>
                                    </m:ctrlPr>
                                  </m:dPr>
                                  <m:e>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d>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sSup>
                                  <m:sSupPr>
                                    <m:ctrlPr>
                                      <a:rPr lang="zh-CN" altLang="en-US" sz="1000" i="1">
                                        <a:latin typeface="Cambria Math" panose="02040503050406030204" pitchFamily="18" charset="0"/>
                                      </a:rPr>
                                    </m:ctrlPr>
                                  </m:sSup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e>
                                  <m:sup>
                                    <m:r>
                                      <a:rPr lang="zh-CN" altLang="en-US" sz="1000" i="0">
                                        <a:latin typeface="Cambria Math" panose="02040503050406030204" pitchFamily="18" charset="0"/>
                                      </a:rPr>
                                      <m:t>2</m:t>
                                    </m:r>
                                  </m:sup>
                                </m:sSup>
                              </m:e>
                            </m:mr>
                          </m:m>
                        </m:e>
                      </m:d>
                    </m:oMath>
                  </m:oMathPara>
                </a14:m>
                <a:endParaRPr lang="zh-CN" altLang="en-US" sz="1000" dirty="0"/>
              </a:p>
            </p:txBody>
          </p:sp>
        </mc:Choice>
        <mc:Fallback xmlns="">
          <p:sp>
            <p:nvSpPr>
              <p:cNvPr id="9" name="矩形 8"/>
              <p:cNvSpPr>
                <a:spLocks noRot="1" noChangeAspect="1" noMove="1" noResize="1" noEditPoints="1" noAdjustHandles="1" noChangeArrowheads="1" noChangeShapeType="1" noTextEdit="1"/>
              </p:cNvSpPr>
              <p:nvPr/>
            </p:nvSpPr>
            <p:spPr>
              <a:xfrm>
                <a:off x="468560" y="3461379"/>
                <a:ext cx="4572000" cy="4654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83568" y="3945671"/>
                <a:ext cx="2493695" cy="5814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000" i="1">
                          <a:latin typeface="Cambria Math" panose="02040503050406030204" pitchFamily="18" charset="0"/>
                        </a:rPr>
                        <m:t>𝑐</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𝜃</m:t>
                          </m:r>
                          <m:r>
                            <a:rPr lang="zh-CN" altLang="en-US" sz="1000" i="0">
                              <a:latin typeface="Cambria Math" panose="02040503050406030204" pitchFamily="18" charset="0"/>
                            </a:rPr>
                            <m:t>, </m:t>
                          </m:r>
                          <m:acc>
                            <m:accPr>
                              <m:chr m:val="̇"/>
                              <m:ctrlPr>
                                <a:rPr lang="zh-CN" altLang="en-US" sz="1000" i="1">
                                  <a:latin typeface="Cambria Math" panose="02040503050406030204" pitchFamily="18" charset="0"/>
                                </a:rPr>
                              </m:ctrlPr>
                            </m:accPr>
                            <m:e>
                              <m:r>
                                <a:rPr lang="zh-CN" altLang="en-US" sz="1000" i="1">
                                  <a:latin typeface="Cambria Math" panose="02040503050406030204" pitchFamily="18" charset="0"/>
                                </a:rPr>
                                <m:t>𝜃</m:t>
                              </m:r>
                            </m:e>
                          </m:acc>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1"/>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d>
                                  <m:dPr>
                                    <m:ctrlPr>
                                      <a:rPr lang="zh-CN" altLang="en-US" sz="1000" i="1">
                                        <a:latin typeface="Cambria Math" panose="02040503050406030204" pitchFamily="18" charset="0"/>
                                      </a:rPr>
                                    </m:ctrlPr>
                                  </m:dPr>
                                  <m:e>
                                    <m:r>
                                      <a:rPr lang="zh-CN" altLang="en-US" sz="1000" i="0">
                                        <a:latin typeface="Cambria Math" panose="02040503050406030204" pitchFamily="18" charset="0"/>
                                      </a:rPr>
                                      <m:t>2</m:t>
                                    </m:r>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1</m:t>
                                            </m:r>
                                          </m:sub>
                                        </m:sSub>
                                      </m:e>
                                    </m:acc>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acc>
                                    <m:r>
                                      <a:rPr lang="zh-CN" altLang="en-US" sz="1000" i="0">
                                        <a:latin typeface="Cambria Math" panose="02040503050406030204" pitchFamily="18" charset="0"/>
                                      </a:rPr>
                                      <m:t>+</m:t>
                                    </m:r>
                                    <m:sSup>
                                      <m:sSupPr>
                                        <m:ctrlPr>
                                          <a:rPr lang="zh-CN" altLang="en-US" sz="1000" i="1">
                                            <a:latin typeface="Cambria Math" panose="02040503050406030204" pitchFamily="18" charset="0"/>
                                          </a:rPr>
                                        </m:ctrlPr>
                                      </m:sSupPr>
                                      <m:e>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acc>
                                      </m:e>
                                      <m:sup>
                                        <m:r>
                                          <a:rPr lang="zh-CN" altLang="en-US" sz="1000" i="0">
                                            <a:latin typeface="Cambria Math" panose="02040503050406030204" pitchFamily="18" charset="0"/>
                                          </a:rPr>
                                          <m:t>2</m:t>
                                        </m:r>
                                      </m:sup>
                                    </m:sSup>
                                  </m:e>
                                </m:d>
                              </m:e>
                            </m:m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𝑚</m:t>
                                    </m:r>
                                  </m:e>
                                  <m:sub>
                                    <m:r>
                                      <a:rPr lang="zh-CN" altLang="en-US" sz="1000" i="0">
                                        <a:latin typeface="Cambria Math" panose="02040503050406030204" pitchFamily="18" charset="0"/>
                                      </a:rPr>
                                      <m:t>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𝐿</m:t>
                                    </m:r>
                                  </m:e>
                                  <m:sub>
                                    <m:r>
                                      <a:rPr lang="zh-CN" altLang="en-US" sz="1000" i="0">
                                        <a:latin typeface="Cambria Math" panose="02040503050406030204" pitchFamily="18" charset="0"/>
                                      </a:rPr>
                                      <m:t>2</m:t>
                                    </m:r>
                                  </m:sub>
                                </m:sSub>
                                <m:sSup>
                                  <m:sSupPr>
                                    <m:ctrlPr>
                                      <a:rPr lang="zh-CN" altLang="en-US" sz="1000" i="1">
                                        <a:latin typeface="Cambria Math" panose="02040503050406030204" pitchFamily="18" charset="0"/>
                                      </a:rPr>
                                    </m:ctrlPr>
                                  </m:sSupPr>
                                  <m:e>
                                    <m:acc>
                                      <m:accPr>
                                        <m:chr m:val="̇"/>
                                        <m:ctrlPr>
                                          <a:rPr lang="zh-CN" altLang="en-US" sz="1000" i="1">
                                            <a:latin typeface="Cambria Math" panose="02040503050406030204" pitchFamily="18" charset="0"/>
                                          </a:rPr>
                                        </m:ctrlPr>
                                      </m:acc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1</m:t>
                                            </m:r>
                                          </m:sub>
                                        </m:sSub>
                                      </m:e>
                                    </m:acc>
                                  </m:e>
                                  <m:sup>
                                    <m:r>
                                      <a:rPr lang="zh-CN" altLang="en-US" sz="1000" i="0">
                                        <a:latin typeface="Cambria Math" panose="02040503050406030204" pitchFamily="18" charset="0"/>
                                      </a:rPr>
                                      <m:t>2</m:t>
                                    </m:r>
                                  </m:sup>
                                </m:sSup>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mr>
                          </m:m>
                        </m:e>
                      </m:d>
                    </m:oMath>
                  </m:oMathPara>
                </a14:m>
                <a:endParaRPr lang="zh-CN" altLang="en-US" sz="1000" dirty="0"/>
              </a:p>
            </p:txBody>
          </p:sp>
        </mc:Choice>
        <mc:Fallback xmlns="">
          <p:sp>
            <p:nvSpPr>
              <p:cNvPr id="17" name="矩形 16"/>
              <p:cNvSpPr>
                <a:spLocks noRot="1" noChangeAspect="1" noMove="1" noResize="1" noEditPoints="1" noAdjustHandles="1" noChangeArrowheads="1" noChangeShapeType="1" noTextEdit="1"/>
              </p:cNvSpPr>
              <p:nvPr/>
            </p:nvSpPr>
            <p:spPr>
              <a:xfrm>
                <a:off x="683568" y="3945671"/>
                <a:ext cx="2493695" cy="581441"/>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30071" y="4522255"/>
                <a:ext cx="4572000" cy="46596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000" b="1" i="1">
                          <a:latin typeface="Cambria Math" panose="02040503050406030204" pitchFamily="18" charset="0"/>
                        </a:rPr>
                        <m:t>𝒈</m:t>
                      </m:r>
                      <m:d>
                        <m:dPr>
                          <m:ctrlPr>
                            <a:rPr lang="zh-CN" altLang="en-US" sz="1000" b="1" i="1">
                              <a:latin typeface="Cambria Math" panose="02040503050406030204" pitchFamily="18" charset="0"/>
                            </a:rPr>
                          </m:ctrlPr>
                        </m:dPr>
                        <m:e>
                          <m:r>
                            <a:rPr lang="zh-CN" altLang="en-US" sz="1000" b="0" i="1">
                              <a:latin typeface="Cambria Math" panose="02040503050406030204" pitchFamily="18" charset="0"/>
                            </a:rPr>
                            <m:t>𝜃</m:t>
                          </m:r>
                        </m:e>
                      </m:d>
                      <m:r>
                        <a:rPr lang="zh-CN" altLang="en-US" sz="1000" b="0" i="0">
                          <a:latin typeface="Cambria Math" panose="02040503050406030204" pitchFamily="18" charset="0"/>
                        </a:rPr>
                        <m:t>=</m:t>
                      </m:r>
                      <m:d>
                        <m:dPr>
                          <m:begChr m:val="["/>
                          <m:endChr m:val="]"/>
                          <m:ctrlPr>
                            <a:rPr lang="zh-CN" altLang="en-US" sz="1000" b="0" i="1">
                              <a:latin typeface="Cambria Math" panose="02040503050406030204" pitchFamily="18" charset="0"/>
                            </a:rPr>
                          </m:ctrlPr>
                        </m:dPr>
                        <m:e>
                          <m:m>
                            <m:mPr>
                              <m:mcs>
                                <m:mc>
                                  <m:mcPr>
                                    <m:count m:val="1"/>
                                    <m:mcJc m:val="center"/>
                                  </m:mcPr>
                                </m:mc>
                              </m:mcs>
                              <m:ctrlPr>
                                <a:rPr lang="zh-CN" altLang="en-US" sz="1000" b="0" i="1">
                                  <a:latin typeface="Cambria Math" panose="02040503050406030204" pitchFamily="18" charset="0"/>
                                </a:rPr>
                              </m:ctrlPr>
                            </m:mPr>
                            <m:mr>
                              <m:e>
                                <m:d>
                                  <m:dPr>
                                    <m:begChr m:val=""/>
                                    <m:ctrlPr>
                                      <a:rPr lang="zh-CN" altLang="en-US" sz="1000" b="0" i="1">
                                        <a:latin typeface="Cambria Math" panose="02040503050406030204" pitchFamily="18" charset="0"/>
                                      </a:rPr>
                                    </m:ctrlPr>
                                  </m:dPr>
                                  <m:e>
                                    <m:d>
                                      <m:dPr>
                                        <m:ctrlPr>
                                          <a:rPr lang="zh-CN" altLang="en-US" sz="1000" b="0" i="1">
                                            <a:latin typeface="Cambria Math" panose="02040503050406030204" pitchFamily="18" charset="0"/>
                                          </a:rPr>
                                        </m:ctrlPr>
                                      </m:dPr>
                                      <m:e>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𝑚</m:t>
                                            </m:r>
                                          </m:e>
                                          <m:sub>
                                            <m:r>
                                              <a:rPr lang="zh-CN" altLang="en-US" sz="1000" b="0" i="0">
                                                <a:latin typeface="Cambria Math" panose="02040503050406030204" pitchFamily="18" charset="0"/>
                                              </a:rPr>
                                              <m:t>1</m:t>
                                            </m:r>
                                          </m:sub>
                                        </m:sSub>
                                        <m:r>
                                          <a:rPr lang="zh-CN" altLang="en-US" sz="1000" b="0" i="0">
                                            <a:latin typeface="Cambria Math" panose="02040503050406030204" pitchFamily="18" charset="0"/>
                                          </a:rPr>
                                          <m:t>+</m:t>
                                        </m:r>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𝑚</m:t>
                                            </m:r>
                                          </m:e>
                                          <m:sub>
                                            <m:r>
                                              <a:rPr lang="zh-CN" altLang="en-US" sz="1000" b="0" i="0">
                                                <a:latin typeface="Cambria Math" panose="02040503050406030204" pitchFamily="18" charset="0"/>
                                              </a:rPr>
                                              <m:t>2</m:t>
                                            </m:r>
                                          </m:sub>
                                        </m:sSub>
                                      </m:e>
                                    </m:d>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𝐿</m:t>
                                        </m:r>
                                      </m:e>
                                      <m:sub>
                                        <m:r>
                                          <a:rPr lang="zh-CN" altLang="en-US" sz="1000" b="0" i="0">
                                            <a:latin typeface="Cambria Math" panose="02040503050406030204" pitchFamily="18" charset="0"/>
                                          </a:rPr>
                                          <m:t>1</m:t>
                                        </m:r>
                                      </m:sub>
                                    </m:sSub>
                                    <m:r>
                                      <a:rPr lang="zh-CN" altLang="en-US" sz="1000" b="1" i="1">
                                        <a:latin typeface="Cambria Math" panose="02040503050406030204" pitchFamily="18" charset="0"/>
                                      </a:rPr>
                                      <m:t>𝒈</m:t>
                                    </m:r>
                                    <m:r>
                                      <a:rPr lang="zh-CN" altLang="en-US" sz="1000" b="0" i="1">
                                        <a:latin typeface="Cambria Math" panose="02040503050406030204" pitchFamily="18" charset="0"/>
                                      </a:rPr>
                                      <m:t>𝑐𝑜𝑠</m:t>
                                    </m:r>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𝜃</m:t>
                                        </m:r>
                                      </m:e>
                                      <m:sub>
                                        <m:r>
                                          <a:rPr lang="zh-CN" altLang="en-US" sz="1000" b="0" i="0">
                                            <a:latin typeface="Cambria Math" panose="02040503050406030204" pitchFamily="18" charset="0"/>
                                          </a:rPr>
                                          <m:t>1</m:t>
                                        </m:r>
                                      </m:sub>
                                    </m:sSub>
                                    <m:r>
                                      <a:rPr lang="zh-CN" altLang="en-US" sz="1000" b="0" i="0">
                                        <a:latin typeface="Cambria Math" panose="02040503050406030204" pitchFamily="18" charset="0"/>
                                      </a:rPr>
                                      <m:t>+</m:t>
                                    </m:r>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𝑚</m:t>
                                        </m:r>
                                      </m:e>
                                      <m:sub>
                                        <m:r>
                                          <a:rPr lang="zh-CN" altLang="en-US" sz="1000" b="0" i="0">
                                            <a:latin typeface="Cambria Math" panose="02040503050406030204" pitchFamily="18" charset="0"/>
                                          </a:rPr>
                                          <m:t>2</m:t>
                                        </m:r>
                                      </m:sub>
                                    </m:sSub>
                                    <m:r>
                                      <a:rPr lang="zh-CN" altLang="en-US" sz="1000" b="1" i="1">
                                        <a:latin typeface="Cambria Math" panose="02040503050406030204" pitchFamily="18" charset="0"/>
                                      </a:rPr>
                                      <m:t>𝒈</m:t>
                                    </m:r>
                                    <m:sSub>
                                      <m:sSubPr>
                                        <m:ctrlPr>
                                          <a:rPr lang="zh-CN" altLang="en-US" sz="1000" b="1" i="1">
                                            <a:latin typeface="Cambria Math" panose="02040503050406030204" pitchFamily="18" charset="0"/>
                                          </a:rPr>
                                        </m:ctrlPr>
                                      </m:sSubPr>
                                      <m:e>
                                        <m:r>
                                          <a:rPr lang="zh-CN" altLang="en-US" sz="1000" b="0" i="1">
                                            <a:latin typeface="Cambria Math" panose="02040503050406030204" pitchFamily="18" charset="0"/>
                                          </a:rPr>
                                          <m:t>𝐿</m:t>
                                        </m:r>
                                      </m:e>
                                      <m:sub>
                                        <m:r>
                                          <a:rPr lang="zh-CN" altLang="en-US" sz="1000" b="0" i="0">
                                            <a:latin typeface="Cambria Math" panose="02040503050406030204" pitchFamily="18" charset="0"/>
                                          </a:rPr>
                                          <m:t>2</m:t>
                                        </m:r>
                                      </m:sub>
                                    </m:sSub>
                                    <m:r>
                                      <a:rPr lang="zh-CN" altLang="en-US" sz="1000" b="0" i="1">
                                        <a:latin typeface="Cambria Math" panose="02040503050406030204" pitchFamily="18" charset="0"/>
                                      </a:rPr>
                                      <m:t>𝑐𝑜𝑠</m:t>
                                    </m:r>
                                    <m:sSub>
                                      <m:sSubPr>
                                        <m:ctrlPr>
                                          <a:rPr lang="zh-CN" altLang="en-US" sz="1000" b="0" i="1">
                                            <a:latin typeface="Cambria Math" panose="02040503050406030204" pitchFamily="18" charset="0"/>
                                          </a:rPr>
                                        </m:ctrlPr>
                                      </m:sSubPr>
                                      <m:e>
                                        <m:d>
                                          <m:dPr>
                                            <m:endChr m:val=""/>
                                            <m:ctrlPr>
                                              <a:rPr lang="zh-CN" altLang="en-US" sz="1000" b="0" i="1">
                                                <a:latin typeface="Cambria Math" panose="02040503050406030204" pitchFamily="18" charset="0"/>
                                              </a:rPr>
                                            </m:ctrlPr>
                                          </m:dPr>
                                          <m:e>
                                            <m:r>
                                              <a:rPr lang="zh-CN" altLang="en-US" sz="1000" b="0" i="1">
                                                <a:latin typeface="Cambria Math" panose="02040503050406030204" pitchFamily="18" charset="0"/>
                                              </a:rPr>
                                              <m:t>𝜃</m:t>
                                            </m:r>
                                          </m:e>
                                        </m:d>
                                      </m:e>
                                      <m:sub>
                                        <m:r>
                                          <a:rPr lang="zh-CN" altLang="en-US" sz="1000" b="0" i="0">
                                            <a:latin typeface="Cambria Math" panose="02040503050406030204" pitchFamily="18" charset="0"/>
                                          </a:rPr>
                                          <m:t>1</m:t>
                                        </m:r>
                                      </m:sub>
                                    </m:sSub>
                                    <m:r>
                                      <a:rPr lang="zh-CN" altLang="en-US" sz="1000" b="0" i="0">
                                        <a:latin typeface="Cambria Math" panose="02040503050406030204" pitchFamily="18" charset="0"/>
                                      </a:rPr>
                                      <m:t>+</m:t>
                                    </m:r>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𝜃</m:t>
                                        </m:r>
                                      </m:e>
                                      <m:sub>
                                        <m:r>
                                          <a:rPr lang="zh-CN" altLang="en-US" sz="1000" b="0" i="0">
                                            <a:latin typeface="Cambria Math" panose="02040503050406030204" pitchFamily="18" charset="0"/>
                                          </a:rPr>
                                          <m:t>2</m:t>
                                        </m:r>
                                      </m:sub>
                                    </m:sSub>
                                  </m:e>
                                </m:d>
                              </m:e>
                            </m:mr>
                            <m:mr>
                              <m:e>
                                <m:d>
                                  <m:dPr>
                                    <m:begChr m:val=""/>
                                    <m:ctrlPr>
                                      <a:rPr lang="zh-CN" altLang="en-US" sz="1000" b="0" i="1">
                                        <a:latin typeface="Cambria Math" panose="02040503050406030204" pitchFamily="18" charset="0"/>
                                      </a:rPr>
                                    </m:ctrlPr>
                                  </m:dPr>
                                  <m:e>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𝑚</m:t>
                                        </m:r>
                                      </m:e>
                                      <m:sub>
                                        <m:r>
                                          <a:rPr lang="zh-CN" altLang="en-US" sz="1000" b="0" i="0">
                                            <a:latin typeface="Cambria Math" panose="02040503050406030204" pitchFamily="18" charset="0"/>
                                          </a:rPr>
                                          <m:t>2</m:t>
                                        </m:r>
                                      </m:sub>
                                    </m:sSub>
                                    <m:r>
                                      <a:rPr lang="zh-CN" altLang="en-US" sz="1000" b="1" i="1">
                                        <a:latin typeface="Cambria Math" panose="02040503050406030204" pitchFamily="18" charset="0"/>
                                      </a:rPr>
                                      <m:t>𝒈</m:t>
                                    </m:r>
                                    <m:sSub>
                                      <m:sSubPr>
                                        <m:ctrlPr>
                                          <a:rPr lang="zh-CN" altLang="en-US" sz="1000" b="1" i="1">
                                            <a:latin typeface="Cambria Math" panose="02040503050406030204" pitchFamily="18" charset="0"/>
                                          </a:rPr>
                                        </m:ctrlPr>
                                      </m:sSubPr>
                                      <m:e>
                                        <m:r>
                                          <a:rPr lang="zh-CN" altLang="en-US" sz="1000" b="0" i="1">
                                            <a:latin typeface="Cambria Math" panose="02040503050406030204" pitchFamily="18" charset="0"/>
                                          </a:rPr>
                                          <m:t>𝐿</m:t>
                                        </m:r>
                                      </m:e>
                                      <m:sub>
                                        <m:r>
                                          <a:rPr lang="zh-CN" altLang="en-US" sz="1000" b="0" i="0">
                                            <a:latin typeface="Cambria Math" panose="02040503050406030204" pitchFamily="18" charset="0"/>
                                          </a:rPr>
                                          <m:t>2</m:t>
                                        </m:r>
                                      </m:sub>
                                    </m:sSub>
                                    <m:r>
                                      <a:rPr lang="zh-CN" altLang="en-US" sz="1000" b="0" i="1">
                                        <a:latin typeface="Cambria Math" panose="02040503050406030204" pitchFamily="18" charset="0"/>
                                      </a:rPr>
                                      <m:t>𝑐𝑜𝑠</m:t>
                                    </m:r>
                                    <m:sSub>
                                      <m:sSubPr>
                                        <m:ctrlPr>
                                          <a:rPr lang="zh-CN" altLang="en-US" sz="1000" b="0" i="1">
                                            <a:latin typeface="Cambria Math" panose="02040503050406030204" pitchFamily="18" charset="0"/>
                                          </a:rPr>
                                        </m:ctrlPr>
                                      </m:sSubPr>
                                      <m:e>
                                        <m:d>
                                          <m:dPr>
                                            <m:endChr m:val=""/>
                                            <m:ctrlPr>
                                              <a:rPr lang="zh-CN" altLang="en-US" sz="1000" b="0" i="1">
                                                <a:latin typeface="Cambria Math" panose="02040503050406030204" pitchFamily="18" charset="0"/>
                                              </a:rPr>
                                            </m:ctrlPr>
                                          </m:dPr>
                                          <m:e>
                                            <m:r>
                                              <a:rPr lang="zh-CN" altLang="en-US" sz="1000" b="0" i="1">
                                                <a:latin typeface="Cambria Math" panose="02040503050406030204" pitchFamily="18" charset="0"/>
                                              </a:rPr>
                                              <m:t>𝜃</m:t>
                                            </m:r>
                                          </m:e>
                                        </m:d>
                                      </m:e>
                                      <m:sub>
                                        <m:r>
                                          <a:rPr lang="zh-CN" altLang="en-US" sz="1000" b="0" i="0">
                                            <a:latin typeface="Cambria Math" panose="02040503050406030204" pitchFamily="18" charset="0"/>
                                          </a:rPr>
                                          <m:t>1</m:t>
                                        </m:r>
                                      </m:sub>
                                    </m:sSub>
                                    <m:r>
                                      <a:rPr lang="zh-CN" altLang="en-US" sz="1000" b="0" i="0">
                                        <a:latin typeface="Cambria Math" panose="02040503050406030204" pitchFamily="18" charset="0"/>
                                      </a:rPr>
                                      <m:t>+</m:t>
                                    </m:r>
                                    <m:sSub>
                                      <m:sSubPr>
                                        <m:ctrlPr>
                                          <a:rPr lang="zh-CN" altLang="en-US" sz="1000" b="0" i="1">
                                            <a:latin typeface="Cambria Math" panose="02040503050406030204" pitchFamily="18" charset="0"/>
                                          </a:rPr>
                                        </m:ctrlPr>
                                      </m:sSubPr>
                                      <m:e>
                                        <m:r>
                                          <a:rPr lang="zh-CN" altLang="en-US" sz="1000" b="0" i="1">
                                            <a:latin typeface="Cambria Math" panose="02040503050406030204" pitchFamily="18" charset="0"/>
                                          </a:rPr>
                                          <m:t>𝜃</m:t>
                                        </m:r>
                                      </m:e>
                                      <m:sub>
                                        <m:r>
                                          <a:rPr lang="zh-CN" altLang="en-US" sz="1000" b="0" i="0">
                                            <a:latin typeface="Cambria Math" panose="02040503050406030204" pitchFamily="18" charset="0"/>
                                          </a:rPr>
                                          <m:t>2</m:t>
                                        </m:r>
                                      </m:sub>
                                    </m:sSub>
                                  </m:e>
                                </m:d>
                              </m:e>
                            </m:mr>
                          </m:m>
                        </m:e>
                      </m:d>
                    </m:oMath>
                  </m:oMathPara>
                </a14:m>
                <a:endParaRPr lang="zh-CN" altLang="en-US" sz="1000" dirty="0"/>
              </a:p>
            </p:txBody>
          </p:sp>
        </mc:Choice>
        <mc:Fallback xmlns="">
          <p:sp>
            <p:nvSpPr>
              <p:cNvPr id="27" name="矩形 26"/>
              <p:cNvSpPr>
                <a:spLocks noRot="1" noChangeAspect="1" noMove="1" noResize="1" noEditPoints="1" noAdjustHandles="1" noChangeArrowheads="1" noChangeShapeType="1" noTextEdit="1"/>
              </p:cNvSpPr>
              <p:nvPr/>
            </p:nvSpPr>
            <p:spPr>
              <a:xfrm>
                <a:off x="-30071" y="4522255"/>
                <a:ext cx="4572000" cy="465961"/>
              </a:xfrm>
              <a:prstGeom prst="rect">
                <a:avLst/>
              </a:prstGeom>
              <a:blipFill>
                <a:blip r:embed="rId10"/>
                <a:stretch>
                  <a:fillRect t="-72368" b="-110526"/>
                </a:stretch>
              </a:blipFill>
            </p:spPr>
            <p:txBody>
              <a:bodyPr/>
              <a:lstStyle/>
              <a:p>
                <a:r>
                  <a:rPr lang="zh-CN" altLang="en-US">
                    <a:noFill/>
                  </a:rPr>
                  <a:t> </a:t>
                </a:r>
              </a:p>
            </p:txBody>
          </p:sp>
        </mc:Fallback>
      </mc:AlternateContent>
      <p:sp>
        <p:nvSpPr>
          <p:cNvPr id="28" name="矩形 27"/>
          <p:cNvSpPr/>
          <p:nvPr/>
        </p:nvSpPr>
        <p:spPr>
          <a:xfrm>
            <a:off x="4760241" y="3469663"/>
            <a:ext cx="971286" cy="461665"/>
          </a:xfrm>
          <a:prstGeom prst="rect">
            <a:avLst/>
          </a:prstGeom>
        </p:spPr>
        <p:txBody>
          <a:bodyPr wrap="square">
            <a:spAutoFit/>
          </a:bodyPr>
          <a:lstStyle/>
          <a:p>
            <a:r>
              <a:rPr lang="zh-CN" altLang="zh-CN" sz="1200" dirty="0">
                <a:solidFill>
                  <a:srgbClr val="002060"/>
                </a:solidFill>
              </a:rPr>
              <a:t>对称正定的质量矩阵</a:t>
            </a:r>
            <a:endParaRPr lang="zh-CN" altLang="en-US" sz="1200" dirty="0">
              <a:solidFill>
                <a:srgbClr val="002060"/>
              </a:solidFill>
            </a:endParaRPr>
          </a:p>
        </p:txBody>
      </p:sp>
      <p:sp>
        <p:nvSpPr>
          <p:cNvPr id="29" name="矩形 28"/>
          <p:cNvSpPr/>
          <p:nvPr/>
        </p:nvSpPr>
        <p:spPr>
          <a:xfrm>
            <a:off x="3183701" y="4094130"/>
            <a:ext cx="1261884" cy="276999"/>
          </a:xfrm>
          <a:prstGeom prst="rect">
            <a:avLst/>
          </a:prstGeom>
        </p:spPr>
        <p:txBody>
          <a:bodyPr wrap="none">
            <a:spAutoFit/>
          </a:bodyPr>
          <a:lstStyle/>
          <a:p>
            <a:r>
              <a:rPr lang="zh-CN" altLang="zh-CN" sz="1200" dirty="0">
                <a:solidFill>
                  <a:srgbClr val="002060"/>
                </a:solidFill>
              </a:rPr>
              <a:t>向心力和科氏力</a:t>
            </a:r>
            <a:endParaRPr lang="zh-CN" altLang="en-US" sz="1200" dirty="0">
              <a:solidFill>
                <a:srgbClr val="002060"/>
              </a:solidFill>
            </a:endParaRPr>
          </a:p>
        </p:txBody>
      </p:sp>
      <p:sp>
        <p:nvSpPr>
          <p:cNvPr id="31" name="矩形 30"/>
          <p:cNvSpPr/>
          <p:nvPr/>
        </p:nvSpPr>
        <p:spPr>
          <a:xfrm>
            <a:off x="3770664" y="4625152"/>
            <a:ext cx="646331" cy="276999"/>
          </a:xfrm>
          <a:prstGeom prst="rect">
            <a:avLst/>
          </a:prstGeom>
        </p:spPr>
        <p:txBody>
          <a:bodyPr wrap="none">
            <a:spAutoFit/>
          </a:bodyPr>
          <a:lstStyle/>
          <a:p>
            <a:r>
              <a:rPr lang="zh-CN" altLang="zh-CN" sz="1200" dirty="0">
                <a:solidFill>
                  <a:srgbClr val="002060"/>
                </a:solidFill>
              </a:rPr>
              <a:t>重力矩</a:t>
            </a:r>
            <a:endParaRPr lang="zh-CN" altLang="en-US" sz="1200" dirty="0">
              <a:solidFill>
                <a:srgbClr val="002060"/>
              </a:solidFill>
            </a:endParaRPr>
          </a:p>
        </p:txBody>
      </p:sp>
      <mc:AlternateContent xmlns:mc="http://schemas.openxmlformats.org/markup-compatibility/2006" xmlns:a14="http://schemas.microsoft.com/office/drawing/2010/main">
        <mc:Choice Requires="a14">
          <p:sp>
            <p:nvSpPr>
              <p:cNvPr id="33" name="矩形 32"/>
              <p:cNvSpPr/>
              <p:nvPr/>
            </p:nvSpPr>
            <p:spPr>
              <a:xfrm>
                <a:off x="5665269" y="4514047"/>
                <a:ext cx="2496004" cy="46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𝑀</m:t>
                          </m:r>
                        </m:e>
                        <m:sup>
                          <m:r>
                            <a:rPr lang="zh-CN" altLang="en-US" sz="1600" i="0">
                              <a:latin typeface="Cambria Math" panose="02040503050406030204" pitchFamily="18" charset="0"/>
                            </a:rPr>
                            <m:t>−1</m:t>
                          </m:r>
                        </m:sup>
                      </m:s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d>
                        <m:dPr>
                          <m:ctrlPr>
                            <a:rPr lang="zh-CN" altLang="en-US" sz="1600" i="1">
                              <a:latin typeface="Cambria Math" panose="02040503050406030204" pitchFamily="18" charset="0"/>
                            </a:rPr>
                          </m:ctrlPr>
                        </m:dPr>
                        <m:e>
                          <m:r>
                            <a:rPr lang="zh-CN" altLang="en-US" sz="1600" i="1">
                              <a:latin typeface="Cambria Math" panose="02040503050406030204" pitchFamily="18" charset="0"/>
                            </a:rPr>
                            <m:t>𝜏</m:t>
                          </m:r>
                          <m:r>
                            <a:rPr lang="zh-CN" altLang="en-US" sz="1600" i="0">
                              <a:latin typeface="Cambria Math" panose="02040503050406030204" pitchFamily="18" charset="0"/>
                            </a:rPr>
                            <m:t>−</m:t>
                          </m:r>
                          <m:r>
                            <a:rPr lang="zh-CN" altLang="en-US" sz="1600" i="1">
                              <a:latin typeface="Cambria Math" panose="02040503050406030204" pitchFamily="18" charset="0"/>
                            </a:rPr>
                            <m:t>h</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e>
                      </m:d>
                    </m:oMath>
                  </m:oMathPara>
                </a14:m>
                <a:endParaRPr lang="zh-CN" altLang="en-US" sz="1600" dirty="0"/>
              </a:p>
            </p:txBody>
          </p:sp>
        </mc:Choice>
        <mc:Fallback xmlns="">
          <p:sp>
            <p:nvSpPr>
              <p:cNvPr id="33" name="矩形 32"/>
              <p:cNvSpPr>
                <a:spLocks noRot="1" noChangeAspect="1" noMove="1" noResize="1" noEditPoints="1" noAdjustHandles="1" noChangeArrowheads="1" noChangeShapeType="1" noTextEdit="1"/>
              </p:cNvSpPr>
              <p:nvPr/>
            </p:nvSpPr>
            <p:spPr>
              <a:xfrm>
                <a:off x="5665269" y="4514047"/>
                <a:ext cx="2496004" cy="460832"/>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958879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031325"/>
          </a:xfrm>
          <a:prstGeom prst="rect">
            <a:avLst/>
          </a:prstGeom>
        </p:spPr>
        <p:txBody>
          <a:bodyPr wrap="square">
            <a:spAutoFit/>
          </a:bodyPr>
          <a:lstStyle/>
          <a:p>
            <a:pPr marL="171450" indent="-171450">
              <a:lnSpc>
                <a:spcPct val="150000"/>
              </a:lnSpc>
              <a:buFont typeface="Wingdings" panose="05000000000000000000" pitchFamily="2" charset="2"/>
              <a:buChar char="u"/>
            </a:pPr>
            <a:r>
              <a:rPr lang="zh-CN" altLang="en-US" sz="1200" dirty="0">
                <a:latin typeface="Arial" panose="020B0604020202020204" pitchFamily="34" charset="0"/>
                <a:ea typeface="微软雅黑" panose="020B0503020204020204" charset="-122"/>
                <a:sym typeface="+mn-ea"/>
              </a:rPr>
              <a:t>依据牛顿第二运动定律，建立的力平衡方程称为牛顿方程；而欧拉方程建立在角动量定理的基础上</a:t>
            </a:r>
            <a:r>
              <a:rPr lang="zh-CN" altLang="en-US" sz="1200" dirty="0" smtClean="0">
                <a:latin typeface="Arial" panose="020B0604020202020204" pitchFamily="34" charset="0"/>
                <a:ea typeface="微软雅黑" panose="020B0503020204020204" charset="-122"/>
                <a:sym typeface="+mn-ea"/>
              </a:rPr>
              <a:t>，用绕</a:t>
            </a:r>
            <a:r>
              <a:rPr lang="zh-CN" altLang="en-US" sz="1200" dirty="0">
                <a:latin typeface="Arial" panose="020B0604020202020204" pitchFamily="34" charset="0"/>
                <a:ea typeface="微软雅黑" panose="020B0503020204020204" charset="-122"/>
                <a:sym typeface="+mn-ea"/>
              </a:rPr>
              <a:t>质心</a:t>
            </a:r>
            <a:r>
              <a:rPr lang="zh-CN" altLang="en-US" sz="1200" dirty="0" smtClean="0">
                <a:latin typeface="Arial" panose="020B0604020202020204" pitchFamily="34" charset="0"/>
                <a:ea typeface="微软雅黑" panose="020B0503020204020204" charset="-122"/>
                <a:sym typeface="+mn-ea"/>
              </a:rPr>
              <a:t>旋转角速度、</a:t>
            </a:r>
            <a:r>
              <a:rPr lang="zh-CN" altLang="en-US" sz="1200" dirty="0">
                <a:latin typeface="Arial" panose="020B0604020202020204" pitchFamily="34" charset="0"/>
                <a:ea typeface="微软雅黑" panose="020B0503020204020204" charset="-122"/>
                <a:sym typeface="+mn-ea"/>
              </a:rPr>
              <a:t>角加速度去描述这个三维空间旋转运动。将两个公式组合起来去解决机器人的正逆动力学求解的方程被称为牛顿</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欧拉方程</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u"/>
            </a:pPr>
            <a:r>
              <a:rPr lang="zh-CN" altLang="zh-CN" sz="1200" dirty="0">
                <a:latin typeface="Arial" panose="020B0604020202020204" pitchFamily="34" charset="0"/>
                <a:ea typeface="微软雅黑" panose="020B0503020204020204" charset="-122"/>
              </a:rPr>
              <a:t>基于矢量三角形法的递归牛顿</a:t>
            </a:r>
            <a:r>
              <a:rPr lang="en-US" altLang="zh-CN" sz="1200" dirty="0">
                <a:latin typeface="Arial" panose="020B0604020202020204" pitchFamily="34" charset="0"/>
                <a:ea typeface="微软雅黑" panose="020B0503020204020204" charset="-122"/>
              </a:rPr>
              <a:t>-</a:t>
            </a:r>
            <a:r>
              <a:rPr lang="zh-CN" altLang="zh-CN" sz="1200" dirty="0">
                <a:latin typeface="Arial" panose="020B0604020202020204" pitchFamily="34" charset="0"/>
                <a:ea typeface="微软雅黑" panose="020B0503020204020204" charset="-122"/>
              </a:rPr>
              <a:t>欧拉动力学方法</a:t>
            </a:r>
            <a:r>
              <a:rPr lang="en-US" altLang="zh-CN" sz="1200" dirty="0">
                <a:latin typeface="Arial" panose="020B0604020202020204" pitchFamily="34" charset="0"/>
                <a:ea typeface="微软雅黑" panose="020B0503020204020204" charset="-122"/>
              </a:rPr>
              <a:t>(RNEA)</a:t>
            </a: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340177" y="1187356"/>
            <a:ext cx="3709114" cy="1384995"/>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基于矢量三角形法的递归牛顿</a:t>
            </a:r>
            <a:r>
              <a:rPr lang="en-US" altLang="zh-CN" sz="2800" b="1" dirty="0">
                <a:latin typeface="Arial" panose="020B0604020202020204" pitchFamily="34" charset="0"/>
                <a:ea typeface="微软雅黑" panose="020B0503020204020204" charset="-122"/>
                <a:sym typeface="+mn-ea"/>
              </a:rPr>
              <a:t>-</a:t>
            </a:r>
            <a:r>
              <a:rPr lang="zh-CN" altLang="en-US" sz="2800" b="1" dirty="0">
                <a:latin typeface="Arial" panose="020B0604020202020204" pitchFamily="34" charset="0"/>
                <a:ea typeface="微软雅黑" panose="020B0503020204020204" charset="-122"/>
                <a:sym typeface="+mn-ea"/>
              </a:rPr>
              <a:t>欧拉动力学方法</a:t>
            </a:r>
            <a:r>
              <a:rPr lang="en-US" altLang="zh-CN" sz="2800" b="1" dirty="0">
                <a:latin typeface="Arial" panose="020B0604020202020204" pitchFamily="34" charset="0"/>
                <a:ea typeface="微软雅黑" panose="020B0503020204020204" charset="-122"/>
                <a:sym typeface="+mn-ea"/>
              </a:rPr>
              <a:t>(RNEA)</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02</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10084381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908165" cy="598805"/>
            <a:chOff x="-372" y="345"/>
            <a:chExt cx="10879"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1508746" cy="418063"/>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1756001" y="1384046"/>
                <a:ext cx="103650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𝐹</m:t>
                          </m:r>
                        </m:e>
                        <m:sub>
                          <m:r>
                            <a:rPr lang="zh-CN" altLang="en-US" sz="1600" i="1">
                              <a:latin typeface="Cambria Math" panose="02040503050406030204" pitchFamily="18" charset="0"/>
                            </a:rPr>
                            <m:t>𝑐</m:t>
                          </m:r>
                        </m:sub>
                      </m:sSub>
                      <m:r>
                        <a:rPr lang="zh-CN" altLang="en-US" sz="1600" i="0">
                          <a:latin typeface="Cambria Math" panose="02040503050406030204" pitchFamily="18" charset="0"/>
                        </a:rPr>
                        <m:t>=</m:t>
                      </m:r>
                      <m:r>
                        <a:rPr lang="zh-CN" altLang="en-US" sz="1600" i="1">
                          <a:latin typeface="Cambria Math" panose="02040503050406030204" pitchFamily="18" charset="0"/>
                        </a:rPr>
                        <m:t>𝑚</m:t>
                      </m:r>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𝑣</m:t>
                              </m:r>
                            </m:e>
                            <m:sub>
                              <m:r>
                                <a:rPr lang="zh-CN" altLang="en-US" sz="1600" i="1">
                                  <a:latin typeface="Cambria Math" panose="02040503050406030204" pitchFamily="18" charset="0"/>
                                </a:rPr>
                                <m:t>𝑐</m:t>
                              </m:r>
                            </m:sub>
                          </m:sSub>
                        </m:e>
                      </m:acc>
                    </m:oMath>
                  </m:oMathPara>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756001" y="1384046"/>
                <a:ext cx="1036502"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292080" y="1384046"/>
                <a:ext cx="197445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1">
                              <a:latin typeface="Cambria Math" panose="02040503050406030204" pitchFamily="18" charset="0"/>
                            </a:rPr>
                            <m:t>𝑐</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𝐼</m:t>
                          </m:r>
                        </m:e>
                        <m:sub>
                          <m:r>
                            <a:rPr lang="zh-CN" altLang="en-US" sz="1600" i="1">
                              <a:latin typeface="Cambria Math" panose="02040503050406030204" pitchFamily="18" charset="0"/>
                            </a:rPr>
                            <m:t>𝑐</m:t>
                          </m:r>
                        </m:sub>
                      </m:sSub>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𝜔</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𝐼</m:t>
                          </m:r>
                        </m:e>
                        <m:sub>
                          <m:r>
                            <a:rPr lang="zh-CN" altLang="en-US" sz="1600" i="1">
                              <a:latin typeface="Cambria Math" panose="02040503050406030204" pitchFamily="18" charset="0"/>
                            </a:rPr>
                            <m:t>𝑐</m:t>
                          </m:r>
                        </m:sub>
                      </m:sSub>
                      <m:r>
                        <a:rPr lang="zh-CN" altLang="en-US" sz="1600" i="1">
                          <a:latin typeface="Cambria Math" panose="02040503050406030204" pitchFamily="18" charset="0"/>
                        </a:rPr>
                        <m:t>𝜔</m:t>
                      </m:r>
                    </m:oMath>
                  </m:oMathPara>
                </a14:m>
                <a:endParaRPr lang="zh-CN" altLang="en-US" sz="1600" dirty="0"/>
              </a:p>
            </p:txBody>
          </p:sp>
        </mc:Choice>
        <mc:Fallback xmlns="">
          <p:sp>
            <p:nvSpPr>
              <p:cNvPr id="10" name="矩形 9"/>
              <p:cNvSpPr>
                <a:spLocks noRot="1" noChangeAspect="1" noMove="1" noResize="1" noEditPoints="1" noAdjustHandles="1" noChangeArrowheads="1" noChangeShapeType="1" noTextEdit="1"/>
              </p:cNvSpPr>
              <p:nvPr/>
            </p:nvSpPr>
            <p:spPr>
              <a:xfrm>
                <a:off x="5292080" y="1384046"/>
                <a:ext cx="1974450" cy="338554"/>
              </a:xfrm>
              <a:prstGeom prst="rect">
                <a:avLst/>
              </a:prstGeom>
              <a:blipFill>
                <a:blip r:embed="rId4"/>
                <a:stretch>
                  <a:fillRect/>
                </a:stretch>
              </a:blipFill>
            </p:spPr>
            <p:txBody>
              <a:bodyPr/>
              <a:lstStyle/>
              <a:p>
                <a:r>
                  <a:rPr lang="zh-CN" altLang="en-US">
                    <a:noFill/>
                  </a:rPr>
                  <a:t> </a:t>
                </a:r>
              </a:p>
            </p:txBody>
          </p:sp>
        </mc:Fallback>
      </mc:AlternateContent>
      <p:pic>
        <p:nvPicPr>
          <p:cNvPr id="11" name="图片 10"/>
          <p:cNvPicPr>
            <a:picLocks noChangeAspect="1"/>
          </p:cNvPicPr>
          <p:nvPr/>
        </p:nvPicPr>
        <p:blipFill>
          <a:blip r:embed="rId5"/>
          <a:stretch>
            <a:fillRect/>
          </a:stretch>
        </p:blipFill>
        <p:spPr>
          <a:xfrm>
            <a:off x="1403648" y="2139702"/>
            <a:ext cx="2505075" cy="447675"/>
          </a:xfrm>
          <a:prstGeom prst="rect">
            <a:avLst/>
          </a:prstGeom>
        </p:spPr>
      </p:pic>
      <p:pic>
        <p:nvPicPr>
          <p:cNvPr id="12" name="图片 11"/>
          <p:cNvPicPr>
            <a:picLocks noChangeAspect="1"/>
          </p:cNvPicPr>
          <p:nvPr/>
        </p:nvPicPr>
        <p:blipFill>
          <a:blip r:embed="rId6"/>
          <a:stretch>
            <a:fillRect/>
          </a:stretch>
        </p:blipFill>
        <p:spPr>
          <a:xfrm>
            <a:off x="1403648" y="2618302"/>
            <a:ext cx="2505075" cy="1742659"/>
          </a:xfrm>
          <a:prstGeom prst="rect">
            <a:avLst/>
          </a:prstGeom>
        </p:spPr>
      </p:pic>
      <p:pic>
        <p:nvPicPr>
          <p:cNvPr id="13" name="图片 12"/>
          <p:cNvPicPr>
            <a:picLocks noChangeAspect="1"/>
          </p:cNvPicPr>
          <p:nvPr/>
        </p:nvPicPr>
        <p:blipFill>
          <a:blip r:embed="rId7"/>
          <a:stretch>
            <a:fillRect/>
          </a:stretch>
        </p:blipFill>
        <p:spPr>
          <a:xfrm>
            <a:off x="1270297" y="4515966"/>
            <a:ext cx="2771775" cy="476250"/>
          </a:xfrm>
          <a:prstGeom prst="rect">
            <a:avLst/>
          </a:prstGeom>
        </p:spPr>
      </p:pic>
      <p:pic>
        <p:nvPicPr>
          <p:cNvPr id="14" name="图片 13"/>
          <p:cNvPicPr>
            <a:picLocks noChangeAspect="1"/>
          </p:cNvPicPr>
          <p:nvPr/>
        </p:nvPicPr>
        <p:blipFill>
          <a:blip r:embed="rId8"/>
          <a:stretch>
            <a:fillRect/>
          </a:stretch>
        </p:blipFill>
        <p:spPr>
          <a:xfrm>
            <a:off x="4926166" y="2139702"/>
            <a:ext cx="2963137" cy="1737910"/>
          </a:xfrm>
          <a:prstGeom prst="rect">
            <a:avLst/>
          </a:prstGeom>
        </p:spPr>
      </p:pic>
      <p:pic>
        <p:nvPicPr>
          <p:cNvPr id="15" name="图片 14"/>
          <p:cNvPicPr>
            <a:picLocks noChangeAspect="1"/>
          </p:cNvPicPr>
          <p:nvPr/>
        </p:nvPicPr>
        <p:blipFill>
          <a:blip r:embed="rId9"/>
          <a:stretch>
            <a:fillRect/>
          </a:stretch>
        </p:blipFill>
        <p:spPr>
          <a:xfrm>
            <a:off x="4963002" y="4144491"/>
            <a:ext cx="2905125" cy="742950"/>
          </a:xfrm>
          <a:prstGeom prst="rect">
            <a:avLst/>
          </a:prstGeom>
        </p:spPr>
      </p:pic>
    </p:spTree>
    <p:extLst>
      <p:ext uri="{BB962C8B-B14F-4D97-AF65-F5344CB8AC3E}">
        <p14:creationId xmlns:p14="http://schemas.microsoft.com/office/powerpoint/2010/main" val="35665407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534052" y="1263500"/>
            <a:ext cx="7866814" cy="2706364"/>
            <a:chOff x="1501" y="1839"/>
            <a:chExt cx="11909" cy="3952"/>
          </a:xfrm>
        </p:grpSpPr>
        <p:grpSp>
          <p:nvGrpSpPr>
            <p:cNvPr id="17" name="组合 16"/>
            <p:cNvGrpSpPr/>
            <p:nvPr/>
          </p:nvGrpSpPr>
          <p:grpSpPr>
            <a:xfrm>
              <a:off x="5354" y="1839"/>
              <a:ext cx="769" cy="1327"/>
              <a:chOff x="4532190" y="1556792"/>
              <a:chExt cx="651284" cy="1123547"/>
            </a:xfrm>
          </p:grpSpPr>
          <p:cxnSp>
            <p:nvCxnSpPr>
              <p:cNvPr id="39" name="直接连接符 38"/>
              <p:cNvCxnSpPr/>
              <p:nvPr/>
            </p:nvCxnSpPr>
            <p:spPr>
              <a:xfrm>
                <a:off x="4858515" y="2064060"/>
                <a:ext cx="0" cy="616279"/>
              </a:xfrm>
              <a:prstGeom prst="line">
                <a:avLst/>
              </a:prstGeom>
              <a:ln w="38100">
                <a:solidFill>
                  <a:srgbClr val="558ED5"/>
                </a:solidFill>
                <a:prstDash val="sysDot"/>
              </a:ln>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4532190" y="1556792"/>
                <a:ext cx="651284" cy="651284"/>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t>1</a:t>
                </a:r>
                <a:endParaRPr lang="zh-CN" altLang="en-US" sz="2800" b="1" dirty="0"/>
              </a:p>
            </p:txBody>
          </p:sp>
        </p:grpSp>
        <p:grpSp>
          <p:nvGrpSpPr>
            <p:cNvPr id="19" name="组合 18"/>
            <p:cNvGrpSpPr/>
            <p:nvPr/>
          </p:nvGrpSpPr>
          <p:grpSpPr>
            <a:xfrm>
              <a:off x="8779" y="1839"/>
              <a:ext cx="769" cy="1327"/>
              <a:chOff x="7432024" y="1556792"/>
              <a:chExt cx="651284" cy="1123547"/>
            </a:xfrm>
          </p:grpSpPr>
          <p:cxnSp>
            <p:nvCxnSpPr>
              <p:cNvPr id="37" name="直接连接符 36"/>
              <p:cNvCxnSpPr/>
              <p:nvPr/>
            </p:nvCxnSpPr>
            <p:spPr>
              <a:xfrm>
                <a:off x="7758349" y="2064060"/>
                <a:ext cx="0" cy="616279"/>
              </a:xfrm>
              <a:prstGeom prst="line">
                <a:avLst/>
              </a:prstGeom>
              <a:ln w="38100">
                <a:solidFill>
                  <a:srgbClr val="558ED5"/>
                </a:solidFill>
                <a:prstDash val="sysDot"/>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7432024" y="1556792"/>
                <a:ext cx="651284" cy="651284"/>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t>2</a:t>
                </a:r>
                <a:endParaRPr lang="zh-CN" altLang="en-US" sz="2800" b="1" dirty="0"/>
              </a:p>
            </p:txBody>
          </p:sp>
        </p:grpSp>
        <p:grpSp>
          <p:nvGrpSpPr>
            <p:cNvPr id="20" name="组合 19"/>
            <p:cNvGrpSpPr/>
            <p:nvPr/>
          </p:nvGrpSpPr>
          <p:grpSpPr>
            <a:xfrm>
              <a:off x="11867" y="1841"/>
              <a:ext cx="769" cy="1327"/>
              <a:chOff x="10045806" y="1557958"/>
              <a:chExt cx="651284" cy="1123547"/>
            </a:xfrm>
          </p:grpSpPr>
          <p:cxnSp>
            <p:nvCxnSpPr>
              <p:cNvPr id="35" name="直接连接符 34"/>
              <p:cNvCxnSpPr/>
              <p:nvPr/>
            </p:nvCxnSpPr>
            <p:spPr>
              <a:xfrm>
                <a:off x="10372131" y="2065226"/>
                <a:ext cx="0" cy="616279"/>
              </a:xfrm>
              <a:prstGeom prst="line">
                <a:avLst/>
              </a:prstGeom>
              <a:ln w="38100">
                <a:solidFill>
                  <a:srgbClr val="558ED5"/>
                </a:solidFill>
                <a:prstDash val="sysDot"/>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0045806" y="1557958"/>
                <a:ext cx="651284" cy="651284"/>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t>3</a:t>
                </a:r>
                <a:endParaRPr lang="zh-CN" altLang="en-US" sz="2800" b="1" dirty="0"/>
              </a:p>
            </p:txBody>
          </p:sp>
        </p:grpSp>
        <p:grpSp>
          <p:nvGrpSpPr>
            <p:cNvPr id="21" name="组合 20"/>
            <p:cNvGrpSpPr/>
            <p:nvPr/>
          </p:nvGrpSpPr>
          <p:grpSpPr>
            <a:xfrm>
              <a:off x="9164" y="3167"/>
              <a:ext cx="4246" cy="953"/>
              <a:chOff x="7757666" y="2680527"/>
              <a:chExt cx="3146048" cy="806450"/>
            </a:xfrm>
          </p:grpSpPr>
          <p:sp>
            <p:nvSpPr>
              <p:cNvPr id="33" name="圆角矩形 32"/>
              <p:cNvSpPr/>
              <p:nvPr/>
            </p:nvSpPr>
            <p:spPr>
              <a:xfrm>
                <a:off x="7757666" y="2680527"/>
                <a:ext cx="3146048" cy="806450"/>
              </a:xfrm>
              <a:prstGeom prst="roundRect">
                <a:avLst>
                  <a:gd name="adj" fmla="val 50000"/>
                </a:avLst>
              </a:prstGeom>
              <a:solidFill>
                <a:srgbClr val="558ED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latin typeface="宋体" panose="02010600030101010101" pitchFamily="2" charset="-122"/>
                  <a:ea typeface="宋体" panose="02010600030101010101" pitchFamily="2" charset="-122"/>
                </a:endParaRPr>
              </a:p>
            </p:txBody>
          </p:sp>
          <p:sp>
            <p:nvSpPr>
              <p:cNvPr id="34" name="TextBox 13"/>
              <p:cNvSpPr txBox="1"/>
              <p:nvPr/>
            </p:nvSpPr>
            <p:spPr>
              <a:xfrm>
                <a:off x="8277181" y="2904920"/>
                <a:ext cx="241990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350" b="1" dirty="0">
                    <a:solidFill>
                      <a:schemeClr val="bg1"/>
                    </a:solidFill>
                    <a:latin typeface="宋体" panose="02010600030101010101" pitchFamily="2" charset="-122"/>
                    <a:sym typeface="+mn-ea"/>
                  </a:rPr>
                  <a:t>计算力和力矩的内推法</a:t>
                </a:r>
                <a:endParaRPr lang="zh-CN" altLang="en-US" sz="1350" b="1" dirty="0">
                  <a:solidFill>
                    <a:schemeClr val="bg1"/>
                  </a:solidFill>
                  <a:latin typeface="宋体" panose="02010600030101010101" pitchFamily="2" charset="-122"/>
                  <a:ea typeface="宋体" panose="02010600030101010101" pitchFamily="2" charset="-122"/>
                </a:endParaRPr>
              </a:p>
            </p:txBody>
          </p:sp>
        </p:grpSp>
        <p:grpSp>
          <p:nvGrpSpPr>
            <p:cNvPr id="22" name="组合 21"/>
            <p:cNvGrpSpPr/>
            <p:nvPr/>
          </p:nvGrpSpPr>
          <p:grpSpPr>
            <a:xfrm>
              <a:off x="5354" y="3167"/>
              <a:ext cx="4395" cy="953"/>
              <a:chOff x="4532190" y="2680527"/>
              <a:chExt cx="3720400" cy="806450"/>
            </a:xfrm>
          </p:grpSpPr>
          <p:sp>
            <p:nvSpPr>
              <p:cNvPr id="31" name="圆角矩形 30"/>
              <p:cNvSpPr/>
              <p:nvPr/>
            </p:nvSpPr>
            <p:spPr>
              <a:xfrm>
                <a:off x="4532190" y="2680527"/>
                <a:ext cx="3720400" cy="806450"/>
              </a:xfrm>
              <a:prstGeom prst="roundRect">
                <a:avLst>
                  <a:gd name="adj" fmla="val 50000"/>
                </a:avLst>
              </a:prstGeom>
              <a:solidFill>
                <a:srgbClr val="558ED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latin typeface="宋体" panose="02010600030101010101" pitchFamily="2" charset="-122"/>
                  <a:ea typeface="宋体" panose="02010600030101010101" pitchFamily="2" charset="-122"/>
                </a:endParaRPr>
              </a:p>
            </p:txBody>
          </p:sp>
          <p:sp>
            <p:nvSpPr>
              <p:cNvPr id="32" name="TextBox 16"/>
              <p:cNvSpPr txBox="1"/>
              <p:nvPr/>
            </p:nvSpPr>
            <p:spPr>
              <a:xfrm>
                <a:off x="5391401" y="2924944"/>
                <a:ext cx="2736305"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350" b="1" dirty="0">
                    <a:solidFill>
                      <a:schemeClr val="bg1"/>
                    </a:solidFill>
                    <a:latin typeface="宋体" panose="02010600030101010101" pitchFamily="2" charset="-122"/>
                    <a:sym typeface="+mn-ea"/>
                  </a:rPr>
                  <a:t>作用在连杆上的力和力矩</a:t>
                </a:r>
                <a:endParaRPr lang="zh-CN" altLang="en-US" sz="1350" b="1" dirty="0">
                  <a:solidFill>
                    <a:schemeClr val="bg1"/>
                  </a:solidFill>
                  <a:latin typeface="宋体" panose="02010600030101010101" pitchFamily="2" charset="-122"/>
                  <a:ea typeface="宋体" panose="02010600030101010101" pitchFamily="2" charset="-122"/>
                </a:endParaRPr>
              </a:p>
            </p:txBody>
          </p:sp>
        </p:grpSp>
        <p:grpSp>
          <p:nvGrpSpPr>
            <p:cNvPr id="23" name="组合 22"/>
            <p:cNvGrpSpPr/>
            <p:nvPr/>
          </p:nvGrpSpPr>
          <p:grpSpPr>
            <a:xfrm>
              <a:off x="1501" y="2891"/>
              <a:ext cx="4982" cy="1504"/>
              <a:chOff x="1270670" y="2447256"/>
              <a:chExt cx="4217314" cy="1272988"/>
            </a:xfrm>
          </p:grpSpPr>
          <p:grpSp>
            <p:nvGrpSpPr>
              <p:cNvPr id="27" name="组合 26"/>
              <p:cNvGrpSpPr/>
              <p:nvPr/>
            </p:nvGrpSpPr>
            <p:grpSpPr>
              <a:xfrm>
                <a:off x="1270670" y="2447256"/>
                <a:ext cx="4217314" cy="1272988"/>
                <a:chOff x="1246093" y="2792504"/>
                <a:chExt cx="6461594" cy="1272988"/>
              </a:xfrm>
              <a:effectLst>
                <a:outerShdw blurRad="50800" dist="38100" algn="l" rotWithShape="0">
                  <a:prstClr val="black">
                    <a:alpha val="40000"/>
                  </a:prstClr>
                </a:outerShdw>
              </a:effectLst>
            </p:grpSpPr>
            <p:sp>
              <p:nvSpPr>
                <p:cNvPr id="29" name="圆角矩形 28"/>
                <p:cNvSpPr/>
                <p:nvPr/>
              </p:nvSpPr>
              <p:spPr>
                <a:xfrm>
                  <a:off x="1464976" y="3025587"/>
                  <a:ext cx="6242711" cy="806823"/>
                </a:xfrm>
                <a:prstGeom prst="roundRect">
                  <a:avLst>
                    <a:gd name="adj" fmla="val 50000"/>
                  </a:avLst>
                </a:prstGeom>
                <a:solidFill>
                  <a:srgbClr val="558ED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latin typeface="宋体" panose="02010600030101010101" pitchFamily="2" charset="-122"/>
                    <a:ea typeface="宋体" panose="02010600030101010101" pitchFamily="2" charset="-122"/>
                  </a:endParaRPr>
                </a:p>
              </p:txBody>
            </p:sp>
            <p:sp>
              <p:nvSpPr>
                <p:cNvPr id="30" name="椭圆 29"/>
                <p:cNvSpPr/>
                <p:nvPr/>
              </p:nvSpPr>
              <p:spPr>
                <a:xfrm>
                  <a:off x="1246093" y="2792504"/>
                  <a:ext cx="2023551" cy="127298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latin typeface="宋体" panose="02010600030101010101" pitchFamily="2" charset="-122"/>
                    <a:ea typeface="宋体" panose="02010600030101010101" pitchFamily="2" charset="-122"/>
                  </a:endParaRPr>
                </a:p>
              </p:txBody>
            </p:sp>
          </p:grpSp>
          <p:sp>
            <p:nvSpPr>
              <p:cNvPr id="28" name="TextBox 19"/>
              <p:cNvSpPr txBox="1"/>
              <p:nvPr/>
            </p:nvSpPr>
            <p:spPr>
              <a:xfrm>
                <a:off x="2320365" y="2889561"/>
                <a:ext cx="29514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350" b="1" dirty="0">
                    <a:solidFill>
                      <a:schemeClr val="bg1"/>
                    </a:solidFill>
                    <a:latin typeface="宋体" panose="02010600030101010101" pitchFamily="2" charset="-122"/>
                  </a:rPr>
                  <a:t>计算速度和加速度的外推法</a:t>
                </a:r>
                <a:endParaRPr lang="zh-CN" altLang="en-US" sz="1350" b="1" dirty="0">
                  <a:solidFill>
                    <a:schemeClr val="bg1"/>
                  </a:solidFill>
                  <a:latin typeface="宋体" panose="02010600030101010101" pitchFamily="2" charset="-122"/>
                  <a:ea typeface="宋体" panose="02010600030101010101" pitchFamily="2" charset="-122"/>
                </a:endParaRPr>
              </a:p>
            </p:txBody>
          </p:sp>
        </p:grpSp>
        <p:sp>
          <p:nvSpPr>
            <p:cNvPr id="24" name="矩形 23"/>
            <p:cNvSpPr/>
            <p:nvPr/>
          </p:nvSpPr>
          <p:spPr>
            <a:xfrm>
              <a:off x="3265" y="4443"/>
              <a:ext cx="2859" cy="1348"/>
            </a:xfrm>
            <a:prstGeom prst="rect">
              <a:avLst/>
            </a:prstGeom>
          </p:spPr>
          <p:txBody>
            <a:bodyPr wrap="square">
              <a:spAutoFit/>
            </a:bodyPr>
            <a:lstStyle/>
            <a:p>
              <a:pPr algn="ctr">
                <a:lnSpc>
                  <a:spcPct val="120000"/>
                </a:lnSpc>
              </a:pPr>
              <a:r>
                <a:rPr lang="zh-CN" altLang="en-US" sz="900" dirty="0">
                  <a:latin typeface="Arial" panose="020B0604020202020204" pitchFamily="34" charset="0"/>
                  <a:ea typeface="微软雅黑" panose="020B0503020204020204" charset="-122"/>
                  <a:sym typeface="+mn-ea"/>
                </a:rPr>
                <a:t>已知各关节</a:t>
              </a:r>
              <a:r>
                <a:rPr lang="zh-CN" altLang="en-US" sz="900" dirty="0" smtClean="0">
                  <a:latin typeface="Arial" panose="020B0604020202020204" pitchFamily="34" charset="0"/>
                  <a:ea typeface="微软雅黑" panose="020B0503020204020204" charset="-122"/>
                  <a:sym typeface="+mn-ea"/>
                </a:rPr>
                <a:t>的位置、速度</a:t>
              </a:r>
              <a:r>
                <a:rPr lang="zh-CN" altLang="en-US" sz="900" dirty="0">
                  <a:latin typeface="Arial" panose="020B0604020202020204" pitchFamily="34" charset="0"/>
                  <a:ea typeface="微软雅黑" panose="020B0503020204020204" charset="-122"/>
                  <a:sym typeface="+mn-ea"/>
                </a:rPr>
                <a:t>、加速度，可以采用递推的方式，从连杆</a:t>
              </a:r>
              <a:r>
                <a:rPr lang="en-US" altLang="zh-CN" sz="900" dirty="0">
                  <a:latin typeface="Arial" panose="020B0604020202020204" pitchFamily="34" charset="0"/>
                  <a:ea typeface="微软雅黑" panose="020B0503020204020204" charset="-122"/>
                  <a:sym typeface="+mn-ea"/>
                </a:rPr>
                <a:t>1</a:t>
              </a:r>
              <a:r>
                <a:rPr lang="zh-CN" altLang="en-US" sz="900" dirty="0">
                  <a:latin typeface="Arial" panose="020B0604020202020204" pitchFamily="34" charset="0"/>
                  <a:ea typeface="微软雅黑" panose="020B0503020204020204" charset="-122"/>
                  <a:sym typeface="+mn-ea"/>
                </a:rPr>
                <a:t>开始向外递推，直到连杆</a:t>
              </a:r>
              <a:r>
                <a:rPr lang="en-US" altLang="zh-CN" sz="900" dirty="0">
                  <a:latin typeface="Arial" panose="020B0604020202020204" pitchFamily="34" charset="0"/>
                  <a:ea typeface="微软雅黑" panose="020B0503020204020204" charset="-122"/>
                  <a:sym typeface="+mn-ea"/>
                </a:rPr>
                <a:t>n,</a:t>
              </a:r>
              <a:r>
                <a:rPr lang="zh-CN" altLang="en-US" sz="900" dirty="0">
                  <a:latin typeface="Arial" panose="020B0604020202020204" pitchFamily="34" charset="0"/>
                  <a:ea typeface="微软雅黑" panose="020B0503020204020204" charset="-122"/>
                  <a:sym typeface="+mn-ea"/>
                </a:rPr>
                <a:t>依次得到各连杆质心的速度和加速度。</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25" name="矩形 24"/>
            <p:cNvSpPr/>
            <p:nvPr/>
          </p:nvSpPr>
          <p:spPr>
            <a:xfrm>
              <a:off x="6490" y="4443"/>
              <a:ext cx="2859" cy="1085"/>
            </a:xfrm>
            <a:prstGeom prst="rect">
              <a:avLst/>
            </a:prstGeom>
          </p:spPr>
          <p:txBody>
            <a:bodyPr wrap="square">
              <a:spAutoFit/>
            </a:bodyPr>
            <a:lstStyle/>
            <a:p>
              <a:pPr algn="ctr">
                <a:lnSpc>
                  <a:spcPct val="120000"/>
                </a:lnSpc>
              </a:pPr>
              <a:r>
                <a:rPr lang="zh-CN" altLang="en-US" sz="900" dirty="0">
                  <a:latin typeface="Arial" panose="020B0604020202020204" pitchFamily="34" charset="0"/>
                  <a:ea typeface="微软雅黑" panose="020B0503020204020204" charset="-122"/>
                  <a:sym typeface="+mn-ea"/>
                </a:rPr>
                <a:t>计算出连杆的角速度、角加速度以及线加速度后，采用牛顿</a:t>
              </a:r>
              <a:r>
                <a:rPr lang="en-US" altLang="zh-CN" sz="900" dirty="0">
                  <a:latin typeface="Arial" panose="020B0604020202020204" pitchFamily="34" charset="0"/>
                  <a:ea typeface="微软雅黑" panose="020B0503020204020204" charset="-122"/>
                  <a:sym typeface="+mn-ea"/>
                </a:rPr>
                <a:t>-</a:t>
              </a:r>
              <a:r>
                <a:rPr lang="zh-CN" altLang="en-US" sz="900" dirty="0">
                  <a:latin typeface="Arial" panose="020B0604020202020204" pitchFamily="34" charset="0"/>
                  <a:ea typeface="微软雅黑" panose="020B0503020204020204" charset="-122"/>
                  <a:sym typeface="+mn-ea"/>
                </a:rPr>
                <a:t>欧拉方程计算出作用在连杆质心的惯性力和力矩。</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26" name="矩形 25"/>
            <p:cNvSpPr/>
            <p:nvPr/>
          </p:nvSpPr>
          <p:spPr>
            <a:xfrm>
              <a:off x="9778" y="4443"/>
              <a:ext cx="2859" cy="842"/>
            </a:xfrm>
            <a:prstGeom prst="rect">
              <a:avLst/>
            </a:prstGeom>
          </p:spPr>
          <p:txBody>
            <a:bodyPr wrap="square">
              <a:spAutoFit/>
            </a:bodyPr>
            <a:lstStyle/>
            <a:p>
              <a:pPr algn="ctr">
                <a:lnSpc>
                  <a:spcPct val="120000"/>
                </a:lnSpc>
              </a:pPr>
              <a:r>
                <a:rPr lang="zh-CN" altLang="en-US" sz="900" dirty="0">
                  <a:latin typeface="Arial" panose="020B0604020202020204" pitchFamily="34" charset="0"/>
                  <a:ea typeface="微软雅黑" panose="020B0503020204020204" charset="-122"/>
                  <a:sym typeface="+mn-ea"/>
                </a:rPr>
                <a:t>计算出每个连杆上的力和力矩后</a:t>
              </a:r>
              <a:r>
                <a:rPr lang="zh-CN" altLang="en-US" sz="900" dirty="0" smtClean="0">
                  <a:latin typeface="Arial" panose="020B0604020202020204" pitchFamily="34" charset="0"/>
                  <a:ea typeface="微软雅黑" panose="020B0503020204020204" charset="-122"/>
                  <a:sym typeface="+mn-ea"/>
                </a:rPr>
                <a:t>，从末端开始递</a:t>
              </a:r>
              <a:r>
                <a:rPr lang="zh-CN" altLang="en-US" sz="900" dirty="0">
                  <a:latin typeface="Arial" panose="020B0604020202020204" pitchFamily="34" charset="0"/>
                  <a:ea typeface="微软雅黑" panose="020B0503020204020204" charset="-122"/>
                  <a:sym typeface="+mn-ea"/>
                </a:rPr>
                <a:t>推</a:t>
              </a:r>
              <a:r>
                <a:rPr lang="zh-CN" altLang="en-US" sz="900" dirty="0" smtClean="0">
                  <a:latin typeface="Arial" panose="020B0604020202020204" pitchFamily="34" charset="0"/>
                  <a:ea typeface="微软雅黑" panose="020B0503020204020204" charset="-122"/>
                  <a:sym typeface="+mn-ea"/>
                </a:rPr>
                <a:t>计算</a:t>
              </a:r>
              <a:r>
                <a:rPr lang="zh-CN" altLang="en-US" sz="900" dirty="0">
                  <a:latin typeface="Arial" panose="020B0604020202020204" pitchFamily="34" charset="0"/>
                  <a:ea typeface="微软雅黑" panose="020B0503020204020204" charset="-122"/>
                  <a:sym typeface="+mn-ea"/>
                </a:rPr>
                <a:t>产生这些力和力矩所需要的关节力或力矩。</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grpSp>
      <p:pic>
        <p:nvPicPr>
          <p:cNvPr id="41" name="图片 40" descr="resource"/>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745490" y="2187218"/>
            <a:ext cx="607695" cy="607695"/>
          </a:xfrm>
          <a:prstGeom prst="rect">
            <a:avLst/>
          </a:prstGeom>
        </p:spPr>
      </p:pic>
      <p:grpSp>
        <p:nvGrpSpPr>
          <p:cNvPr id="42" name="组合 41"/>
          <p:cNvGrpSpPr/>
          <p:nvPr/>
        </p:nvGrpSpPr>
        <p:grpSpPr>
          <a:xfrm>
            <a:off x="-247650" y="207010"/>
            <a:ext cx="6908165" cy="598805"/>
            <a:chOff x="-372" y="345"/>
            <a:chExt cx="10879" cy="943"/>
          </a:xfrm>
        </p:grpSpPr>
        <p:sp>
          <p:nvSpPr>
            <p:cNvPr id="43" name="矩形 42"/>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4" name="文本框 43"/>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5" name="椭圆 4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874642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97825" y="1306965"/>
            <a:ext cx="3493264" cy="338554"/>
          </a:xfrm>
          <a:prstGeom prst="rect">
            <a:avLst/>
          </a:prstGeom>
        </p:spPr>
        <p:txBody>
          <a:bodyPr wrap="none">
            <a:spAutoFit/>
          </a:bodyPr>
          <a:lstStyle/>
          <a:p>
            <a:r>
              <a:rPr lang="zh-CN" altLang="en-US" sz="1600" b="1" dirty="0" smtClean="0">
                <a:solidFill>
                  <a:srgbClr val="002060"/>
                </a:solidFill>
              </a:rPr>
              <a:t>第一步：计算</a:t>
            </a:r>
            <a:r>
              <a:rPr lang="zh-CN" altLang="en-US" sz="1600" b="1" dirty="0">
                <a:solidFill>
                  <a:srgbClr val="002060"/>
                </a:solidFill>
              </a:rPr>
              <a:t>速度和加速度的外推法</a:t>
            </a:r>
          </a:p>
        </p:txBody>
      </p:sp>
      <mc:AlternateContent xmlns:mc="http://schemas.openxmlformats.org/markup-compatibility/2006" xmlns:a14="http://schemas.microsoft.com/office/drawing/2010/main">
        <mc:Choice Requires="a14">
          <p:sp>
            <p:nvSpPr>
              <p:cNvPr id="3" name="矩形 2"/>
              <p:cNvSpPr/>
              <p:nvPr/>
            </p:nvSpPr>
            <p:spPr>
              <a:xfrm>
                <a:off x="4357267" y="1311414"/>
                <a:ext cx="1221553" cy="317844"/>
              </a:xfrm>
              <a:prstGeom prst="rect">
                <a:avLst/>
              </a:prstGeom>
            </p:spPr>
            <p:txBody>
              <a:bodyPr wrap="none">
                <a:spAutoFit/>
              </a:bodyPr>
              <a:lstStyle/>
              <a:p>
                <a:r>
                  <a:rPr lang="zh-CN" altLang="zh-CN" sz="1400" dirty="0" smtClean="0">
                    <a:solidFill>
                      <a:srgbClr val="002060"/>
                    </a:solidFill>
                    <a:cs typeface="MV Boli" panose="02000500030200090000" pitchFamily="2" charset="0"/>
                  </a:rPr>
                  <a:t>已知</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𝜃</m:t>
                    </m:r>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rPr>
                        </m:ctrlPr>
                      </m:accPr>
                      <m:e>
                        <m:r>
                          <a:rPr lang="en-US" altLang="zh-CN" sz="1400" i="1">
                            <a:solidFill>
                              <a:srgbClr val="002060"/>
                            </a:solidFill>
                            <a:latin typeface="Cambria Math" panose="02040503050406030204" pitchFamily="18" charset="0"/>
                            <a:cs typeface="Times New Roman" panose="02020603050405020304" pitchFamily="18" charset="0"/>
                          </a:rPr>
                          <m:t>𝜃</m:t>
                        </m:r>
                      </m:e>
                    </m:acc>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solidFill>
                              <a:srgbClr val="002060"/>
                            </a:solidFill>
                            <a:latin typeface="Cambria Math" panose="02040503050406030204" pitchFamily="18" charset="0"/>
                            <a:cs typeface="MV Boli" panose="02000500030200090000" pitchFamily="2" charset="0"/>
                          </a:rPr>
                          <m:t>𝜃</m:t>
                        </m:r>
                      </m:e>
                    </m:acc>
                  </m:oMath>
                </a14:m>
                <a:endParaRPr lang="zh-CN" altLang="en-US" sz="14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4357267" y="1311414"/>
                <a:ext cx="1221553" cy="317844"/>
              </a:xfrm>
              <a:prstGeom prst="rect">
                <a:avLst/>
              </a:prstGeom>
              <a:blipFill>
                <a:blip r:embed="rId4"/>
                <a:stretch>
                  <a:fillRect l="-1500" t="-5769" r="-12500"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838931" y="2219892"/>
                <a:ext cx="4572000" cy="610424"/>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r>
                        <a:rPr lang="zh-CN" altLang="en-US" sz="1400" i="0">
                          <a:latin typeface="Cambria Math" panose="02040503050406030204" pitchFamily="18" charset="0"/>
                        </a:rPr>
                        <m:t>={</m:t>
                      </m:r>
                      <m:m>
                        <m:mPr>
                          <m:mcs>
                            <m:mc>
                              <m:mcPr>
                                <m:count m:val="1"/>
                                <m:mcJc m:val="center"/>
                              </m:mcPr>
                            </m:mc>
                          </m:mcs>
                          <m:ctrlPr>
                            <a:rPr lang="zh-CN" altLang="en-US" sz="1400" i="1">
                              <a:latin typeface="Cambria Math" panose="02040503050406030204" pitchFamily="18" charset="0"/>
                            </a:rPr>
                          </m:ctrlPr>
                        </m:mPr>
                        <m:mr>
                          <m:e>
                            <m:sPre>
                              <m:sPrePr>
                                <m:ctrlPr>
                                  <a:rPr lang="zh-CN" altLang="en-US" sz="1400" i="1">
                                    <a:latin typeface="Cambria Math" panose="02040503050406030204" pitchFamily="18" charset="0"/>
                                  </a:rPr>
                                </m:ctrlPr>
                              </m:sPrePr>
                              <m:sub>
                                <m:r>
                                  <a:rPr lang="zh-CN" altLang="en-US" sz="1400" i="1">
                                    <a:latin typeface="Cambria Math" panose="02040503050406030204" pitchFamily="18" charset="0"/>
                                  </a:rPr>
                                  <m:t>𝑖</m:t>
                                </m: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r>
                                  <a:rPr lang="zh-CN" altLang="en-US" sz="1400" i="1">
                                    <a:latin typeface="Cambria Math" panose="02040503050406030204" pitchFamily="18" charset="0"/>
                                  </a:rPr>
                                  <m:t>𝑅</m:t>
                                </m:r>
                              </m:e>
                            </m:sPr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𝑍</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     </m:t>
                            </m:r>
                            <m:r>
                              <a:rPr lang="zh-CN" altLang="en-US" sz="1400" i="0">
                                <a:latin typeface="Cambria Math" panose="02040503050406030204" pitchFamily="18" charset="0"/>
                              </a:rPr>
                              <m:t>关节</m:t>
                            </m:r>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0">
                                <a:latin typeface="Cambria Math" panose="02040503050406030204" pitchFamily="18" charset="0"/>
                              </a:rPr>
                              <m:t>为转动关节</m:t>
                            </m:r>
                          </m:e>
                        </m:mr>
                        <m:mr>
                          <m:e>
                            <m:sPre>
                              <m:sPrePr>
                                <m:ctrlPr>
                                  <a:rPr lang="zh-CN" altLang="en-US" sz="1400" i="1">
                                    <a:latin typeface="Cambria Math" panose="02040503050406030204" pitchFamily="18" charset="0"/>
                                  </a:rPr>
                                </m:ctrlPr>
                              </m:sPrePr>
                              <m:sub>
                                <m:r>
                                  <a:rPr lang="zh-CN" altLang="en-US" sz="1400" i="1">
                                    <a:latin typeface="Cambria Math" panose="02040503050406030204" pitchFamily="18" charset="0"/>
                                  </a:rPr>
                                  <m:t>𝑖</m:t>
                                </m: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r>
                                  <a:rPr lang="zh-CN" altLang="en-US" sz="1400" i="1">
                                    <a:latin typeface="Cambria Math" panose="02040503050406030204" pitchFamily="18" charset="0"/>
                                  </a:rPr>
                                  <m:t>𝑅</m:t>
                                </m:r>
                              </m:e>
                            </m:sPr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                 </m:t>
                            </m:r>
                            <m:r>
                              <a:rPr lang="zh-CN" altLang="en-US" sz="1400" i="0">
                                <a:latin typeface="Cambria Math" panose="02040503050406030204" pitchFamily="18" charset="0"/>
                              </a:rPr>
                              <m:t>关节</m:t>
                            </m:r>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0">
                                <a:latin typeface="Cambria Math" panose="02040503050406030204" pitchFamily="18" charset="0"/>
                              </a:rPr>
                              <m:t>为移动关节</m:t>
                            </m:r>
                          </m:e>
                        </m:mr>
                      </m:m>
                    </m:oMath>
                  </m:oMathPara>
                </a14:m>
                <a:endParaRPr lang="zh-CN" altLang="en-US" sz="1400" dirty="0"/>
              </a:p>
            </p:txBody>
          </p:sp>
        </mc:Choice>
        <mc:Fallback xmlns="">
          <p:sp>
            <p:nvSpPr>
              <p:cNvPr id="5" name="矩形 4"/>
              <p:cNvSpPr>
                <a:spLocks noRot="1" noChangeAspect="1" noMove="1" noResize="1" noEditPoints="1" noAdjustHandles="1" noChangeArrowheads="1" noChangeShapeType="1" noTextEdit="1"/>
              </p:cNvSpPr>
              <p:nvPr/>
            </p:nvSpPr>
            <p:spPr>
              <a:xfrm>
                <a:off x="1838931" y="2219892"/>
                <a:ext cx="4572000" cy="61042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979712" y="3108056"/>
                <a:ext cx="5976664" cy="61042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r>
                        <a:rPr lang="zh-CN" altLang="en-US" sz="1400" i="0">
                          <a:latin typeface="Cambria Math" panose="02040503050406030204" pitchFamily="18" charset="0"/>
                        </a:rPr>
                        <m:t>={</m:t>
                      </m:r>
                      <m:m>
                        <m:mPr>
                          <m:mcs>
                            <m:mc>
                              <m:mcPr>
                                <m:count m:val="1"/>
                                <m:mcJc m:val="center"/>
                              </m:mcPr>
                            </m:mc>
                          </m:mcs>
                          <m:ctrlPr>
                            <a:rPr lang="zh-CN" altLang="en-US" sz="1400" i="1">
                              <a:latin typeface="Cambria Math" panose="02040503050406030204" pitchFamily="18" charset="0"/>
                            </a:rPr>
                          </m:ctrlPr>
                        </m:mPr>
                        <m:mr>
                          <m:e>
                            <m:sPre>
                              <m:sPrePr>
                                <m:ctrlPr>
                                  <a:rPr lang="zh-CN" altLang="en-US" sz="1400" i="1">
                                    <a:latin typeface="Cambria Math" panose="02040503050406030204" pitchFamily="18" charset="0"/>
                                  </a:rPr>
                                </m:ctrlPr>
                              </m:sPrePr>
                              <m:sub>
                                <m:r>
                                  <a:rPr lang="zh-CN" altLang="en-US" sz="1400" i="1">
                                    <a:latin typeface="Cambria Math" panose="02040503050406030204" pitchFamily="18" charset="0"/>
                                  </a:rPr>
                                  <m:t>𝑖</m:t>
                                </m: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r>
                                  <a:rPr lang="zh-CN" altLang="en-US" sz="1400" i="1">
                                    <a:latin typeface="Cambria Math" panose="02040503050406030204" pitchFamily="18" charset="0"/>
                                  </a:rPr>
                                  <m:t>𝑅</m:t>
                                </m:r>
                              </m:e>
                            </m:sPre>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r>
                                  <a:rPr lang="zh-CN" altLang="en-US" sz="1400" i="1">
                                    <a:latin typeface="Cambria Math" panose="02040503050406030204" pitchFamily="18" charset="0"/>
                                  </a:rPr>
                                  <m:t>𝑖</m:t>
                                </m: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r>
                                  <a:rPr lang="zh-CN" altLang="en-US" sz="1400" i="1">
                                    <a:latin typeface="Cambria Math" panose="02040503050406030204" pitchFamily="18" charset="0"/>
                                  </a:rPr>
                                  <m:t>𝑅</m:t>
                                </m:r>
                              </m:e>
                            </m:sPr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𝑍</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𝑍</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 </m:t>
                            </m:r>
                            <m:r>
                              <a:rPr lang="zh-CN" altLang="en-US" sz="1400" i="0">
                                <a:latin typeface="Cambria Math" panose="02040503050406030204" pitchFamily="18" charset="0"/>
                              </a:rPr>
                              <m:t>关节</m:t>
                            </m:r>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0">
                                <a:latin typeface="Cambria Math" panose="02040503050406030204" pitchFamily="18" charset="0"/>
                              </a:rPr>
                              <m:t>为转动关节</m:t>
                            </m:r>
                          </m:e>
                        </m:mr>
                        <m:mr>
                          <m:e>
                            <m:sPre>
                              <m:sPrePr>
                                <m:ctrlPr>
                                  <a:rPr lang="zh-CN" altLang="en-US" sz="1400" i="1">
                                    <a:latin typeface="Cambria Math" panose="02040503050406030204" pitchFamily="18" charset="0"/>
                                  </a:rPr>
                                </m:ctrlPr>
                              </m:sPrePr>
                              <m:sub>
                                <m:r>
                                  <a:rPr lang="zh-CN" altLang="en-US" sz="1400" i="1">
                                    <a:latin typeface="Cambria Math" panose="02040503050406030204" pitchFamily="18" charset="0"/>
                                  </a:rPr>
                                  <m:t>𝑖</m:t>
                                </m: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r>
                                  <a:rPr lang="zh-CN" altLang="en-US" sz="1400" i="1">
                                    <a:latin typeface="Cambria Math" panose="02040503050406030204" pitchFamily="18" charset="0"/>
                                  </a:rPr>
                                  <m:t>𝑅</m:t>
                                </m:r>
                              </m:e>
                            </m:sPre>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                                 </m:t>
                            </m:r>
                            <m:r>
                              <a:rPr lang="zh-CN" altLang="en-US" sz="1400" i="0">
                                <a:latin typeface="Cambria Math" panose="02040503050406030204" pitchFamily="18" charset="0"/>
                              </a:rPr>
                              <m:t>关节</m:t>
                            </m:r>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0">
                                <a:latin typeface="Cambria Math" panose="02040503050406030204" pitchFamily="18" charset="0"/>
                              </a:rPr>
                              <m:t>为移动关节</m:t>
                            </m:r>
                          </m:e>
                        </m:mr>
                      </m:m>
                    </m:oMath>
                  </m:oMathPara>
                </a14:m>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1979712" y="3108056"/>
                <a:ext cx="5976664" cy="610424"/>
              </a:xfrm>
              <a:prstGeom prst="rect">
                <a:avLst/>
              </a:prstGeom>
              <a:blipFill>
                <a:blip r:embed="rId6"/>
                <a:stretch>
                  <a:fillRect/>
                </a:stretch>
              </a:blipFill>
            </p:spPr>
            <p:txBody>
              <a:bodyPr/>
              <a:lstStyle/>
              <a:p>
                <a:r>
                  <a:rPr lang="zh-CN" altLang="en-US">
                    <a:noFill/>
                  </a:rPr>
                  <a:t> </a:t>
                </a:r>
              </a:p>
            </p:txBody>
          </p:sp>
        </mc:Fallback>
      </mc:AlternateContent>
      <p:sp>
        <p:nvSpPr>
          <p:cNvPr id="7" name="圆角矩形 6"/>
          <p:cNvSpPr/>
          <p:nvPr/>
        </p:nvSpPr>
        <p:spPr>
          <a:xfrm>
            <a:off x="1691680" y="2139702"/>
            <a:ext cx="6264696" cy="18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885035" y="4080240"/>
            <a:ext cx="3877985" cy="338554"/>
          </a:xfrm>
          <a:prstGeom prst="rect">
            <a:avLst/>
          </a:prstGeom>
          <a:noFill/>
        </p:spPr>
        <p:txBody>
          <a:bodyPr wrap="none" rtlCol="0">
            <a:spAutoFit/>
          </a:bodyPr>
          <a:lstStyle/>
          <a:p>
            <a:r>
              <a:rPr lang="zh-CN" altLang="en-US" sz="1600" dirty="0" smtClean="0">
                <a:solidFill>
                  <a:srgbClr val="002060"/>
                </a:solidFill>
              </a:rPr>
              <a:t>连杆质心角速度、角加速度“传递”公式</a:t>
            </a:r>
            <a:endParaRPr lang="zh-CN" altLang="en-US" sz="1600" dirty="0">
              <a:solidFill>
                <a:srgbClr val="002060"/>
              </a:solidFill>
            </a:endParaRPr>
          </a:p>
        </p:txBody>
      </p:sp>
      <p:grpSp>
        <p:nvGrpSpPr>
          <p:cNvPr id="15" name="组合 14"/>
          <p:cNvGrpSpPr/>
          <p:nvPr/>
        </p:nvGrpSpPr>
        <p:grpSpPr>
          <a:xfrm>
            <a:off x="-247650" y="207010"/>
            <a:ext cx="6908165" cy="598805"/>
            <a:chOff x="-372" y="345"/>
            <a:chExt cx="10879"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9" name="椭圆 1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759405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2"/>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3" name="矩形 2"/>
              <p:cNvSpPr/>
              <p:nvPr/>
            </p:nvSpPr>
            <p:spPr>
              <a:xfrm>
                <a:off x="4309251" y="1288479"/>
                <a:ext cx="1221553" cy="317844"/>
              </a:xfrm>
              <a:prstGeom prst="rect">
                <a:avLst/>
              </a:prstGeom>
            </p:spPr>
            <p:txBody>
              <a:bodyPr wrap="none">
                <a:spAutoFit/>
              </a:bodyPr>
              <a:lstStyle/>
              <a:p>
                <a:r>
                  <a:rPr lang="zh-CN" altLang="zh-CN" sz="1400" dirty="0" smtClean="0">
                    <a:solidFill>
                      <a:srgbClr val="002060"/>
                    </a:solidFill>
                    <a:cs typeface="MV Boli" panose="02000500030200090000" pitchFamily="2" charset="0"/>
                  </a:rPr>
                  <a:t>已知</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𝜃</m:t>
                    </m:r>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rPr>
                        </m:ctrlPr>
                      </m:accPr>
                      <m:e>
                        <m:r>
                          <a:rPr lang="en-US" altLang="zh-CN" sz="1400" i="1">
                            <a:solidFill>
                              <a:srgbClr val="002060"/>
                            </a:solidFill>
                            <a:latin typeface="Cambria Math" panose="02040503050406030204" pitchFamily="18" charset="0"/>
                            <a:cs typeface="Times New Roman" panose="02020603050405020304" pitchFamily="18" charset="0"/>
                          </a:rPr>
                          <m:t>𝜃</m:t>
                        </m:r>
                      </m:e>
                    </m:acc>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solidFill>
                              <a:srgbClr val="002060"/>
                            </a:solidFill>
                            <a:latin typeface="Cambria Math" panose="02040503050406030204" pitchFamily="18" charset="0"/>
                            <a:cs typeface="MV Boli" panose="02000500030200090000" pitchFamily="2" charset="0"/>
                          </a:rPr>
                          <m:t>𝜃</m:t>
                        </m:r>
                      </m:e>
                    </m:acc>
                  </m:oMath>
                </a14:m>
                <a:endParaRPr lang="zh-CN" altLang="en-US" sz="14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4309251" y="1288479"/>
                <a:ext cx="1221553" cy="317844"/>
              </a:xfrm>
              <a:prstGeom prst="rect">
                <a:avLst/>
              </a:prstGeom>
              <a:blipFill>
                <a:blip r:embed="rId5"/>
                <a:stretch>
                  <a:fillRect l="-1500" t="-3774" r="-12500" b="-13208"/>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1217911937"/>
              </p:ext>
            </p:extLst>
          </p:nvPr>
        </p:nvGraphicFramePr>
        <p:xfrm>
          <a:off x="797825" y="1681784"/>
          <a:ext cx="2924175" cy="2057400"/>
        </p:xfrm>
        <a:graphic>
          <a:graphicData uri="http://schemas.openxmlformats.org/presentationml/2006/ole">
            <mc:AlternateContent xmlns:mc="http://schemas.openxmlformats.org/markup-compatibility/2006">
              <mc:Choice xmlns:v="urn:schemas-microsoft-com:vml" Requires="v">
                <p:oleObj spid="_x0000_s6226" name="Visio" r:id="rId6" imgW="4495587" imgH="3171825" progId="Visio.Drawing.15">
                  <p:embed/>
                </p:oleObj>
              </mc:Choice>
              <mc:Fallback>
                <p:oleObj name="Visio" r:id="rId6" imgW="4495587" imgH="3171825"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7825" y="1681784"/>
                        <a:ext cx="2924175"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1" name="矩形 10"/>
              <p:cNvSpPr/>
              <p:nvPr/>
            </p:nvSpPr>
            <p:spPr>
              <a:xfrm>
                <a:off x="4570985" y="1914577"/>
                <a:ext cx="3205429" cy="343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400" i="1" smtClean="0">
                              <a:latin typeface="Cambria Math" panose="02040503050406030204" pitchFamily="18" charset="0"/>
                            </a:rPr>
                          </m:ctrlPr>
                        </m:sPrePr>
                        <m:sub/>
                        <m:sup>
                          <m:r>
                            <a:rPr lang="zh-CN" altLang="en-US" sz="1400" i="0">
                              <a:latin typeface="Cambria Math" panose="02040503050406030204" pitchFamily="18" charset="0"/>
                            </a:rPr>
                            <m:t>0</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0">
                              <a:latin typeface="Cambria Math" panose="02040503050406030204" pitchFamily="18" charset="0"/>
                            </a:rPr>
                            <m:t>0</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r>
                            <a:rPr lang="zh-CN" altLang="en-US" sz="1400" i="0">
                              <a:latin typeface="Cambria Math" panose="02040503050406030204" pitchFamily="18" charset="0"/>
                            </a:rPr>
                            <m:t>0</m:t>
                          </m:r>
                        </m:sub>
                        <m:sup>
                          <m:r>
                            <a:rPr lang="zh-CN" altLang="en-US" sz="1400" i="1">
                              <a:latin typeface="Cambria Math" panose="02040503050406030204" pitchFamily="18" charset="0"/>
                            </a:rPr>
                            <m:t>𝑖</m:t>
                          </m:r>
                        </m:sup>
                        <m:e>
                          <m:r>
                            <a:rPr lang="zh-CN" altLang="en-US" sz="1400" i="1">
                              <a:latin typeface="Cambria Math" panose="02040503050406030204" pitchFamily="18" charset="0"/>
                            </a:rPr>
                            <m:t>𝑅</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en-US" altLang="zh-CN" sz="1400" b="0" i="1" smtClean="0">
                              <a:latin typeface="Cambria Math" panose="02040503050406030204" pitchFamily="18" charset="0"/>
                            </a:rPr>
                            <m:t>     </m:t>
                          </m:r>
                          <m:r>
                            <a:rPr lang="zh-CN" altLang="en-US" sz="1400" i="1">
                              <a:latin typeface="Cambria Math" panose="02040503050406030204" pitchFamily="18" charset="0"/>
                            </a:rPr>
                            <m:t>（</m:t>
                          </m:r>
                          <m:r>
                            <a:rPr lang="en-US" altLang="zh-CN" sz="1400" b="0" i="1" smtClean="0">
                              <a:latin typeface="Cambria Math" panose="02040503050406030204" pitchFamily="18" charset="0"/>
                            </a:rPr>
                            <m:t>4−18</m:t>
                          </m:r>
                          <m:r>
                            <a:rPr lang="zh-CN" altLang="en-US" sz="1400" i="1">
                              <a:latin typeface="Cambria Math" panose="02040503050406030204" pitchFamily="18" charset="0"/>
                            </a:rPr>
                            <m:t>）</m:t>
                          </m:r>
                        </m:e>
                      </m:sPre>
                    </m:oMath>
                  </m:oMathPara>
                </a14:m>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4570985" y="1914577"/>
                <a:ext cx="3205429" cy="343748"/>
              </a:xfrm>
              <a:prstGeom prst="rect">
                <a:avLst/>
              </a:prstGeom>
              <a:blipFill>
                <a:blip r:embed="rId8"/>
                <a:stretch>
                  <a:fillRect b="-1786"/>
                </a:stretch>
              </a:blipFill>
            </p:spPr>
            <p:txBody>
              <a:bodyPr/>
              <a:lstStyle/>
              <a:p>
                <a:r>
                  <a:rPr lang="zh-CN" altLang="en-US">
                    <a:noFill/>
                  </a:rPr>
                  <a:t> </a:t>
                </a:r>
              </a:p>
            </p:txBody>
          </p:sp>
        </mc:Fallback>
      </mc:AlternateContent>
      <p:sp>
        <p:nvSpPr>
          <p:cNvPr id="12" name="矩形 11"/>
          <p:cNvSpPr/>
          <p:nvPr/>
        </p:nvSpPr>
        <p:spPr>
          <a:xfrm>
            <a:off x="1179654" y="3775449"/>
            <a:ext cx="2518638" cy="307777"/>
          </a:xfrm>
          <a:prstGeom prst="rect">
            <a:avLst/>
          </a:prstGeom>
        </p:spPr>
        <p:txBody>
          <a:bodyPr wrap="none">
            <a:spAutoFit/>
          </a:bodyPr>
          <a:lstStyle/>
          <a:p>
            <a:r>
              <a:rPr lang="zh-CN" altLang="en-US" sz="1400" dirty="0">
                <a:solidFill>
                  <a:srgbClr val="002060"/>
                </a:solidFill>
              </a:rPr>
              <a:t>线速度、线加速度矢量三角形</a:t>
            </a:r>
          </a:p>
        </p:txBody>
      </p:sp>
      <p:sp>
        <p:nvSpPr>
          <p:cNvPr id="13" name="文本框 12"/>
          <p:cNvSpPr txBox="1"/>
          <p:nvPr/>
        </p:nvSpPr>
        <p:spPr>
          <a:xfrm>
            <a:off x="3818654" y="1950548"/>
            <a:ext cx="723275" cy="307777"/>
          </a:xfrm>
          <a:prstGeom prst="rect">
            <a:avLst/>
          </a:prstGeom>
          <a:noFill/>
        </p:spPr>
        <p:txBody>
          <a:bodyPr wrap="none" rtlCol="0">
            <a:spAutoFit/>
          </a:bodyPr>
          <a:lstStyle/>
          <a:p>
            <a:r>
              <a:rPr lang="zh-CN" altLang="en-US" sz="1400" dirty="0" smtClean="0">
                <a:solidFill>
                  <a:srgbClr val="002060"/>
                </a:solidFill>
              </a:rPr>
              <a:t>位置：</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14" name="矩形 13"/>
              <p:cNvSpPr/>
              <p:nvPr/>
            </p:nvSpPr>
            <p:spPr>
              <a:xfrm>
                <a:off x="4541929" y="2340218"/>
                <a:ext cx="4293932" cy="343748"/>
              </a:xfrm>
              <a:prstGeom prst="rect">
                <a:avLst/>
              </a:prstGeom>
            </p:spPr>
            <p:txBody>
              <a:bodyPr wrap="none">
                <a:spAutoFit/>
              </a:bodyPr>
              <a:lstStyle/>
              <a:p>
                <a14:m>
                  <m:oMath xmlns:m="http://schemas.openxmlformats.org/officeDocument/2006/math">
                    <m:sPre>
                      <m:sPrePr>
                        <m:ctrlPr>
                          <a:rPr lang="zh-CN" altLang="en-US" sz="1400" i="1">
                            <a:latin typeface="Cambria Math" panose="02040503050406030204" pitchFamily="18" charset="0"/>
                          </a:rPr>
                        </m:ctrlPr>
                      </m:sPrePr>
                      <m:sub/>
                      <m:sup>
                        <m:r>
                          <a:rPr lang="zh-CN" altLang="en-US" sz="1400" i="0">
                            <a:latin typeface="Cambria Math" panose="02040503050406030204" pitchFamily="18" charset="0"/>
                          </a:rPr>
                          <m:t>0</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𝑣</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0">
                            <a:latin typeface="Cambria Math" panose="02040503050406030204" pitchFamily="18" charset="0"/>
                          </a:rPr>
                          <m:t>0</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𝑣</m:t>
                            </m:r>
                          </m:e>
                          <m:sub>
                            <m:r>
                              <a:rPr lang="zh-CN" altLang="en-US" sz="1400" i="1">
                                <a:latin typeface="Cambria Math" panose="02040503050406030204" pitchFamily="18" charset="0"/>
                              </a:rPr>
                              <m:t>𝑖</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r>
                          <a:rPr lang="zh-CN" altLang="en-US" sz="1400" i="0">
                            <a:latin typeface="Cambria Math" panose="02040503050406030204" pitchFamily="18" charset="0"/>
                          </a:rPr>
                          <m:t>0</m:t>
                        </m:r>
                      </m:sub>
                      <m:sup>
                        <m:r>
                          <a:rPr lang="zh-CN" altLang="en-US" sz="1400" i="1">
                            <a:latin typeface="Cambria Math" panose="02040503050406030204" pitchFamily="18" charset="0"/>
                          </a:rPr>
                          <m:t>𝑖</m:t>
                        </m:r>
                      </m:sup>
                      <m:e>
                        <m:r>
                          <a:rPr lang="zh-CN" altLang="en-US" sz="1400" i="1">
                            <a:latin typeface="Cambria Math" panose="02040503050406030204" pitchFamily="18" charset="0"/>
                          </a:rPr>
                          <m:t>𝑅</m:t>
                        </m:r>
                      </m:e>
                    </m:sPr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𝑣</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0">
                            <a:latin typeface="Cambria Math" panose="02040503050406030204" pitchFamily="18" charset="0"/>
                          </a:rPr>
                          <m:t>0</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r>
                          <a:rPr lang="zh-CN" altLang="en-US" sz="1400" i="0">
                            <a:latin typeface="Cambria Math" panose="02040503050406030204" pitchFamily="18" charset="0"/>
                          </a:rPr>
                          <m:t>0</m:t>
                        </m:r>
                      </m:sub>
                      <m:sup>
                        <m:r>
                          <a:rPr lang="zh-CN" altLang="en-US" sz="1400" i="1">
                            <a:latin typeface="Cambria Math" panose="02040503050406030204" pitchFamily="18" charset="0"/>
                          </a:rPr>
                          <m:t>𝑖</m:t>
                        </m:r>
                      </m:sup>
                      <m:e>
                        <m:r>
                          <a:rPr lang="zh-CN" altLang="en-US" sz="1400" i="1">
                            <a:latin typeface="Cambria Math" panose="02040503050406030204" pitchFamily="18" charset="0"/>
                          </a:rPr>
                          <m:t>𝑅</m:t>
                        </m:r>
                      </m:e>
                    </m:sPr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sSubSup>
                      </m:e>
                    </m:sPre>
                  </m:oMath>
                </a14:m>
                <a:r>
                  <a:rPr lang="zh-CN" altLang="en-US" sz="1400" dirty="0" smtClean="0"/>
                  <a:t> （</a:t>
                </a:r>
                <a:r>
                  <a:rPr lang="en-US" altLang="zh-CN" sz="1400" dirty="0" smtClean="0"/>
                  <a:t>4-19</a:t>
                </a:r>
                <a:r>
                  <a:rPr lang="zh-CN" altLang="en-US" sz="1400" dirty="0" smtClean="0"/>
                  <a:t>）</a:t>
                </a:r>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4541929" y="2340218"/>
                <a:ext cx="4293932" cy="343748"/>
              </a:xfrm>
              <a:prstGeom prst="rect">
                <a:avLst/>
              </a:prstGeom>
              <a:blipFill>
                <a:blip r:embed="rId9"/>
                <a:stretch>
                  <a:fillRect b="-17857"/>
                </a:stretch>
              </a:blipFill>
            </p:spPr>
            <p:txBody>
              <a:bodyPr/>
              <a:lstStyle/>
              <a:p>
                <a:r>
                  <a:rPr lang="zh-CN" altLang="en-US">
                    <a:noFill/>
                  </a:rPr>
                  <a:t> </a:t>
                </a:r>
              </a:p>
            </p:txBody>
          </p:sp>
        </mc:Fallback>
      </mc:AlternateContent>
      <p:sp>
        <p:nvSpPr>
          <p:cNvPr id="21" name="文本框 20"/>
          <p:cNvSpPr txBox="1"/>
          <p:nvPr/>
        </p:nvSpPr>
        <p:spPr>
          <a:xfrm>
            <a:off x="3847710" y="2394174"/>
            <a:ext cx="902811" cy="307777"/>
          </a:xfrm>
          <a:prstGeom prst="rect">
            <a:avLst/>
          </a:prstGeom>
          <a:noFill/>
        </p:spPr>
        <p:txBody>
          <a:bodyPr wrap="none" rtlCol="0">
            <a:spAutoFit/>
          </a:bodyPr>
          <a:lstStyle/>
          <a:p>
            <a:r>
              <a:rPr lang="zh-CN" altLang="en-US" sz="1400" dirty="0">
                <a:solidFill>
                  <a:srgbClr val="002060"/>
                </a:solidFill>
              </a:rPr>
              <a:t>线速度</a:t>
            </a:r>
            <a:r>
              <a:rPr lang="zh-CN" altLang="en-US" sz="1400" dirty="0" smtClean="0">
                <a:solidFill>
                  <a:srgbClr val="002060"/>
                </a:solidFill>
              </a:rPr>
              <a:t>：</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15" name="矩形 14"/>
              <p:cNvSpPr/>
              <p:nvPr/>
            </p:nvSpPr>
            <p:spPr>
              <a:xfrm>
                <a:off x="4230216" y="2937733"/>
                <a:ext cx="4572000" cy="313804"/>
              </a:xfrm>
              <a:prstGeom prst="rect">
                <a:avLst/>
              </a:prstGeom>
            </p:spPr>
            <p:txBody>
              <a:bodyPr>
                <a:spAutoFit/>
              </a:bodyPr>
              <a:lstStyle/>
              <a:p>
                <a14:m>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e>
                    </m:d>
                  </m:oMath>
                </a14:m>
                <a:r>
                  <a:rPr lang="zh-CN" altLang="en-US" sz="1200" dirty="0" smtClean="0"/>
                  <a:t>  （</a:t>
                </a:r>
                <a:r>
                  <a:rPr lang="en-US" altLang="zh-CN" sz="1200" dirty="0" smtClean="0">
                    <a:solidFill>
                      <a:srgbClr val="FF0000"/>
                    </a:solidFill>
                  </a:rPr>
                  <a:t>4-20</a:t>
                </a:r>
                <a:r>
                  <a:rPr lang="zh-CN" altLang="en-US" sz="1200" dirty="0" smtClean="0"/>
                  <a:t>）</a:t>
                </a:r>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4230216" y="2937733"/>
                <a:ext cx="4572000" cy="313804"/>
              </a:xfrm>
              <a:prstGeom prst="rect">
                <a:avLst/>
              </a:prstGeom>
              <a:blipFill>
                <a:blip r:embed="rId10"/>
                <a:stretch>
                  <a:fillRect t="-121569" b="-1921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484766" y="2683966"/>
                <a:ext cx="1100301" cy="288220"/>
              </a:xfrm>
              <a:prstGeom prst="rect">
                <a:avLst/>
              </a:prstGeom>
            </p:spPr>
            <p:txBody>
              <a:bodyPr wrap="none">
                <a:spAutoFit/>
              </a:bodyPr>
              <a:lstStyle/>
              <a:p>
                <a:r>
                  <a:rPr lang="zh-CN" altLang="zh-CN" sz="1200" dirty="0" smtClean="0">
                    <a:solidFill>
                      <a:srgbClr val="002060"/>
                    </a:solidFill>
                    <a:cs typeface="MV Boli" panose="02000500030200090000" pitchFamily="2" charset="0"/>
                  </a:rPr>
                  <a:t>两边同乘</a:t>
                </a:r>
                <a14:m>
                  <m:oMath xmlns:m="http://schemas.openxmlformats.org/officeDocument/2006/math">
                    <m:sPre>
                      <m:sPrePr>
                        <m:ctrlPr>
                          <a:rPr lang="zh-CN" altLang="zh-CN" sz="12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PrePr>
                      <m:sub>
                        <m:r>
                          <a:rPr lang="en-US" altLang="zh-CN" sz="1200" i="1">
                            <a:solidFill>
                              <a:srgbClr val="002060"/>
                            </a:solidFill>
                            <a:latin typeface="Cambria Math" panose="02040503050406030204" pitchFamily="18" charset="0"/>
                            <a:cs typeface="MV Boli" panose="02000500030200090000" pitchFamily="2" charset="0"/>
                          </a:rPr>
                          <m:t>𝑖</m:t>
                        </m:r>
                        <m:r>
                          <a:rPr lang="en-US" altLang="zh-CN" sz="1200" i="1">
                            <a:solidFill>
                              <a:srgbClr val="002060"/>
                            </a:solidFill>
                            <a:latin typeface="Cambria Math" panose="02040503050406030204" pitchFamily="18" charset="0"/>
                            <a:cs typeface="MV Boli" panose="02000500030200090000" pitchFamily="2" charset="0"/>
                          </a:rPr>
                          <m:t>+1</m:t>
                        </m:r>
                      </m:sub>
                      <m:sup>
                        <m:r>
                          <a:rPr lang="en-US" altLang="zh-CN" sz="1200" i="1">
                            <a:solidFill>
                              <a:srgbClr val="002060"/>
                            </a:solidFill>
                            <a:latin typeface="Cambria Math" panose="02040503050406030204" pitchFamily="18" charset="0"/>
                            <a:cs typeface="MV Boli" panose="02000500030200090000" pitchFamily="2" charset="0"/>
                          </a:rPr>
                          <m:t>0</m:t>
                        </m:r>
                      </m:sup>
                      <m:e>
                        <m:r>
                          <a:rPr lang="en-US" altLang="zh-CN" sz="1200" i="1">
                            <a:solidFill>
                              <a:srgbClr val="002060"/>
                            </a:solidFill>
                            <a:latin typeface="Cambria Math" panose="02040503050406030204" pitchFamily="18" charset="0"/>
                            <a:cs typeface="MV Boli" panose="02000500030200090000" pitchFamily="2" charset="0"/>
                          </a:rPr>
                          <m:t>𝑅</m:t>
                        </m:r>
                      </m:e>
                    </m:sPre>
                  </m:oMath>
                </a14:m>
                <a:endParaRPr lang="zh-CN" altLang="en-US" sz="1200" dirty="0">
                  <a:solidFill>
                    <a:srgbClr val="00206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6484766" y="2683966"/>
                <a:ext cx="1100301" cy="288220"/>
              </a:xfrm>
              <a:prstGeom prst="rect">
                <a:avLst/>
              </a:prstGeom>
              <a:blipFill>
                <a:blip r:embed="rId11"/>
                <a:stretch>
                  <a:fillRect l="-556"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651760" y="3435846"/>
                <a:ext cx="3547766" cy="313804"/>
              </a:xfrm>
              <a:prstGeom prst="rect">
                <a:avLst/>
              </a:prstGeom>
            </p:spPr>
            <p:txBody>
              <a:bodyPr wrap="none">
                <a:spAutoFit/>
              </a:bodyPr>
              <a:lstStyle/>
              <a:p>
                <a14:m>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e>
                    </m:d>
                  </m:oMath>
                </a14:m>
                <a:r>
                  <a:rPr lang="zh-CN" altLang="en-US" sz="1200" dirty="0" smtClean="0"/>
                  <a:t> （</a:t>
                </a:r>
                <a:r>
                  <a:rPr lang="en-US" altLang="zh-CN" sz="1200" dirty="0" smtClean="0"/>
                  <a:t>4-21</a:t>
                </a:r>
                <a:r>
                  <a:rPr lang="zh-CN" altLang="en-US" sz="1200" dirty="0" smtClean="0"/>
                  <a:t>）</a:t>
                </a:r>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4651760" y="3435846"/>
                <a:ext cx="3547766" cy="313804"/>
              </a:xfrm>
              <a:prstGeom prst="rect">
                <a:avLst/>
              </a:prstGeom>
              <a:blipFill>
                <a:blip r:embed="rId12"/>
                <a:stretch>
                  <a:fillRect t="-121569" b="-1921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4517974" y="3749650"/>
                <a:ext cx="4572000" cy="552074"/>
              </a:xfrm>
              <a:prstGeom prst="rect">
                <a:avLst/>
              </a:prstGeom>
            </p:spPr>
            <p:txBody>
              <a:bodyPr>
                <a:spAutoFit/>
              </a:bodyPr>
              <a:lstStyle/>
              <a:p>
                <a14:m>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𝑅</m:t>
                                </m:r>
                              </m:e>
                            </m:d>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Pre>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e>
                    </m:d>
                  </m:oMath>
                </a14:m>
                <a:r>
                  <a:rPr lang="zh-CN" altLang="en-US" sz="1200" dirty="0" smtClean="0"/>
                  <a:t> （</a:t>
                </a:r>
                <a:r>
                  <a:rPr lang="en-US" altLang="zh-CN" sz="1200" dirty="0" smtClean="0"/>
                  <a:t>4-22</a:t>
                </a:r>
                <a:r>
                  <a:rPr lang="zh-CN" altLang="en-US" sz="1200" dirty="0" smtClean="0"/>
                  <a:t>）</a:t>
                </a:r>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4517974" y="3749650"/>
                <a:ext cx="4572000" cy="552074"/>
              </a:xfrm>
              <a:prstGeom prst="rect">
                <a:avLst/>
              </a:prstGeom>
              <a:blipFill>
                <a:blip r:embed="rId13"/>
                <a:stretch>
                  <a:fillRect t="-100000" r="-5200" b="-1164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763688" y="4393474"/>
                <a:ext cx="4572000" cy="313804"/>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𝑣</m:t>
                                  </m:r>
                                </m:e>
                              </m:sPre>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𝑑</m:t>
                                  </m:r>
                                </m:e>
                              </m:acc>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𝑍</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e>
                      </m:d>
                    </m:oMath>
                  </m:oMathPara>
                </a14:m>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1763688" y="4393474"/>
                <a:ext cx="4572000" cy="313804"/>
              </a:xfrm>
              <a:prstGeom prst="rect">
                <a:avLst/>
              </a:prstGeom>
              <a:blipFill>
                <a:blip r:embed="rId14"/>
                <a:stretch>
                  <a:fillRect t="-121569" r="-1467" b="-1921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979712" y="4725263"/>
                <a:ext cx="7120095" cy="3262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Pre>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𝑅</m:t>
                              </m:r>
                            </m:e>
                          </m:d>
                        </m:e>
                      </m:sPr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Pre>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)]+2</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𝜔</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𝑑</m:t>
                              </m:r>
                            </m:e>
                          </m:acc>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𝑍</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𝑑</m:t>
                              </m:r>
                            </m:e>
                          </m:acc>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𝑍</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oMath>
                  </m:oMathPara>
                </a14:m>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1979712" y="4725263"/>
                <a:ext cx="7120095" cy="326243"/>
              </a:xfrm>
              <a:prstGeom prst="rect">
                <a:avLst/>
              </a:prstGeom>
              <a:blipFill>
                <a:blip r:embed="rId15"/>
                <a:stretch>
                  <a:fillRect t="-79630" b="-133333"/>
                </a:stretch>
              </a:blipFill>
            </p:spPr>
            <p:txBody>
              <a:bodyPr/>
              <a:lstStyle/>
              <a:p>
                <a:r>
                  <a:rPr lang="zh-CN" altLang="en-US">
                    <a:noFill/>
                  </a:rPr>
                  <a:t> </a:t>
                </a:r>
              </a:p>
            </p:txBody>
          </p:sp>
        </mc:Fallback>
      </mc:AlternateContent>
      <p:sp>
        <p:nvSpPr>
          <p:cNvPr id="23" name="矩形 22"/>
          <p:cNvSpPr/>
          <p:nvPr/>
        </p:nvSpPr>
        <p:spPr>
          <a:xfrm>
            <a:off x="3698292" y="3435846"/>
            <a:ext cx="5266196" cy="8658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748949" y="3700052"/>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旋转关节</a:t>
            </a:r>
            <a:endParaRPr lang="zh-CN" altLang="en-US" sz="1400" b="1" dirty="0">
              <a:solidFill>
                <a:srgbClr val="002060"/>
              </a:solidFill>
            </a:endParaRPr>
          </a:p>
        </p:txBody>
      </p:sp>
      <p:sp>
        <p:nvSpPr>
          <p:cNvPr id="25" name="矩形 24"/>
          <p:cNvSpPr/>
          <p:nvPr/>
        </p:nvSpPr>
        <p:spPr>
          <a:xfrm>
            <a:off x="2121264" y="4393474"/>
            <a:ext cx="6843224" cy="65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803974" y="4437590"/>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平移关节</a:t>
            </a:r>
            <a:endParaRPr lang="zh-CN" altLang="en-US" sz="1400" b="1" dirty="0">
              <a:solidFill>
                <a:srgbClr val="002060"/>
              </a:solidFill>
            </a:endParaRPr>
          </a:p>
        </p:txBody>
      </p:sp>
      <mc:AlternateContent xmlns:mc="http://schemas.openxmlformats.org/markup-compatibility/2006" xmlns:a14="http://schemas.microsoft.com/office/drawing/2010/main">
        <mc:Choice Requires="a14">
          <p:sp>
            <p:nvSpPr>
              <p:cNvPr id="27" name="矩形 26"/>
              <p:cNvSpPr/>
              <p:nvPr/>
            </p:nvSpPr>
            <p:spPr>
              <a:xfrm>
                <a:off x="556947" y="4604093"/>
                <a:ext cx="1206741" cy="304635"/>
              </a:xfrm>
              <a:prstGeom prst="rect">
                <a:avLst/>
              </a:prstGeom>
            </p:spPr>
            <p:txBody>
              <a:bodyPr wrap="none">
                <a:spAutoFit/>
              </a:bodyPr>
              <a:lstStyle/>
              <a:p>
                <a14:m>
                  <m:oMath xmlns:m="http://schemas.openxmlformats.org/officeDocument/2006/math">
                    <m:sPre>
                      <m:sPrePr>
                        <m:ctrlPr>
                          <a:rPr lang="zh-CN" altLang="zh-CN" sz="1200" i="1" smtClean="0">
                            <a:solidFill>
                              <a:srgbClr val="FF0000"/>
                            </a:solidFill>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solidFill>
                              <a:srgbClr val="FF0000"/>
                            </a:solidFill>
                            <a:latin typeface="Cambria Math" panose="02040503050406030204" pitchFamily="18" charset="0"/>
                            <a:cs typeface="MV Boli" panose="02000500030200090000" pitchFamily="2" charset="0"/>
                          </a:rPr>
                          <m:t>0</m:t>
                        </m:r>
                      </m:sup>
                      <m:e>
                        <m:sSubSup>
                          <m:sSubSupPr>
                            <m:ctrlPr>
                              <a:rPr lang="zh-CN" altLang="zh-CN" sz="1200" i="1">
                                <a:solidFill>
                                  <a:srgbClr val="FF0000"/>
                                </a:solidFill>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solidFill>
                                  <a:srgbClr val="FF0000"/>
                                </a:solidFill>
                                <a:latin typeface="Cambria Math" panose="02040503050406030204" pitchFamily="18" charset="0"/>
                                <a:cs typeface="MV Boli" panose="02000500030200090000" pitchFamily="2" charset="0"/>
                              </a:rPr>
                              <m:t>𝜔</m:t>
                            </m:r>
                          </m:e>
                          <m:sub>
                            <m:r>
                              <a:rPr lang="en-US" altLang="zh-CN" sz="1200" i="1">
                                <a:solidFill>
                                  <a:srgbClr val="FF0000"/>
                                </a:solidFill>
                                <a:latin typeface="Cambria Math" panose="02040503050406030204" pitchFamily="18" charset="0"/>
                                <a:cs typeface="MV Boli" panose="02000500030200090000" pitchFamily="2" charset="0"/>
                              </a:rPr>
                              <m:t>0</m:t>
                            </m:r>
                          </m:sub>
                          <m:sup/>
                        </m:sSubSup>
                      </m:e>
                    </m:sPre>
                    <m:r>
                      <a:rPr lang="en-US" altLang="zh-CN" sz="1200" i="1">
                        <a:solidFill>
                          <a:srgbClr val="FF0000"/>
                        </a:solidFill>
                        <a:latin typeface="Cambria Math" panose="02040503050406030204" pitchFamily="18" charset="0"/>
                        <a:cs typeface="MV Boli" panose="02000500030200090000" pitchFamily="2" charset="0"/>
                      </a:rPr>
                      <m:t>=</m:t>
                    </m:r>
                    <m:sPre>
                      <m:sPrePr>
                        <m:ctrlPr>
                          <a:rPr lang="zh-CN" altLang="zh-CN" sz="1200" i="1">
                            <a:solidFill>
                              <a:srgbClr val="FF0000"/>
                            </a:solidFill>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solidFill>
                              <a:srgbClr val="FF0000"/>
                            </a:solidFill>
                            <a:latin typeface="Cambria Math" panose="02040503050406030204" pitchFamily="18" charset="0"/>
                            <a:cs typeface="MV Boli" panose="02000500030200090000" pitchFamily="2" charset="0"/>
                          </a:rPr>
                          <m:t>0</m:t>
                        </m:r>
                      </m:sup>
                      <m:e>
                        <m:sSubSup>
                          <m:sSubSupPr>
                            <m:ctrlPr>
                              <a:rPr lang="zh-CN" altLang="zh-CN" sz="1200" i="1">
                                <a:solidFill>
                                  <a:srgbClr val="FF0000"/>
                                </a:solidFill>
                                <a:effectLst/>
                                <a:latin typeface="Cambria Math" panose="02040503050406030204" pitchFamily="18" charset="0"/>
                                <a:ea typeface="Cambria Math" panose="02040503050406030204" pitchFamily="18" charset="0"/>
                                <a:cs typeface="MV Boli" panose="02000500030200090000" pitchFamily="2" charset="0"/>
                              </a:rPr>
                            </m:ctrlPr>
                          </m:sSubSupPr>
                          <m:e>
                            <m:acc>
                              <m:accPr>
                                <m:chr m:val="̇"/>
                                <m:ctrlPr>
                                  <a:rPr lang="zh-CN" altLang="zh-CN" sz="1200" i="1">
                                    <a:solidFill>
                                      <a:srgbClr val="FF000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solidFill>
                                      <a:srgbClr val="FF0000"/>
                                    </a:solidFill>
                                    <a:latin typeface="Cambria Math" panose="02040503050406030204" pitchFamily="18" charset="0"/>
                                    <a:cs typeface="MV Boli" panose="02000500030200090000" pitchFamily="2" charset="0"/>
                                  </a:rPr>
                                  <m:t>𝜔</m:t>
                                </m:r>
                              </m:e>
                            </m:acc>
                          </m:e>
                          <m:sub>
                            <m:r>
                              <a:rPr lang="en-US" altLang="zh-CN" sz="1200" i="1">
                                <a:solidFill>
                                  <a:srgbClr val="FF0000"/>
                                </a:solidFill>
                                <a:latin typeface="Cambria Math" panose="02040503050406030204" pitchFamily="18" charset="0"/>
                                <a:cs typeface="MV Boli" panose="02000500030200090000" pitchFamily="2" charset="0"/>
                              </a:rPr>
                              <m:t>0</m:t>
                            </m:r>
                          </m:sub>
                          <m:sup/>
                        </m:sSubSup>
                      </m:e>
                    </m:sPre>
                  </m:oMath>
                </a14:m>
                <a:r>
                  <a:rPr lang="en-US" altLang="zh-CN" sz="1200" dirty="0">
                    <a:solidFill>
                      <a:srgbClr val="FF0000"/>
                    </a:solidFill>
                    <a:latin typeface="宋体" panose="02010600030101010101" pitchFamily="2" charset="-122"/>
                    <a:cs typeface="MV Boli" panose="02000500030200090000" pitchFamily="2" charset="0"/>
                  </a:rPr>
                  <a:t>=0</a:t>
                </a:r>
                <a:endParaRPr lang="zh-CN" altLang="en-US" sz="1200" dirty="0">
                  <a:solidFill>
                    <a:srgbClr val="FF0000"/>
                  </a:solidFill>
                </a:endParaRPr>
              </a:p>
            </p:txBody>
          </p:sp>
        </mc:Choice>
        <mc:Fallback xmlns="">
          <p:sp>
            <p:nvSpPr>
              <p:cNvPr id="27" name="矩形 26"/>
              <p:cNvSpPr>
                <a:spLocks noRot="1" noChangeAspect="1" noMove="1" noResize="1" noEditPoints="1" noAdjustHandles="1" noChangeArrowheads="1" noChangeShapeType="1" noTextEdit="1"/>
              </p:cNvSpPr>
              <p:nvPr/>
            </p:nvSpPr>
            <p:spPr>
              <a:xfrm>
                <a:off x="556947" y="4604093"/>
                <a:ext cx="1206741" cy="304635"/>
              </a:xfrm>
              <a:prstGeom prst="rect">
                <a:avLst/>
              </a:prstGeom>
              <a:blipFill>
                <a:blip r:embed="rId16"/>
                <a:stretch>
                  <a:fillRect b="-10000"/>
                </a:stretch>
              </a:blipFill>
            </p:spPr>
            <p:txBody>
              <a:bodyPr/>
              <a:lstStyle/>
              <a:p>
                <a:r>
                  <a:rPr lang="zh-CN" altLang="en-US">
                    <a:noFill/>
                  </a:rPr>
                  <a:t> </a:t>
                </a:r>
              </a:p>
            </p:txBody>
          </p:sp>
        </mc:Fallback>
      </mc:AlternateContent>
      <p:sp>
        <p:nvSpPr>
          <p:cNvPr id="28" name="矩形 27"/>
          <p:cNvSpPr/>
          <p:nvPr/>
        </p:nvSpPr>
        <p:spPr>
          <a:xfrm>
            <a:off x="489054" y="4083226"/>
            <a:ext cx="1632210" cy="461665"/>
          </a:xfrm>
          <a:prstGeom prst="rect">
            <a:avLst/>
          </a:prstGeom>
        </p:spPr>
        <p:txBody>
          <a:bodyPr wrap="square">
            <a:spAutoFit/>
          </a:bodyPr>
          <a:lstStyle/>
          <a:p>
            <a:r>
              <a:rPr lang="zh-CN" altLang="zh-CN" sz="1200" b="1" dirty="0" smtClean="0">
                <a:solidFill>
                  <a:srgbClr val="FF0000"/>
                </a:solidFill>
                <a:cs typeface="MV Boli" panose="02000500030200090000" pitchFamily="2" charset="0"/>
              </a:rPr>
              <a:t>注意</a:t>
            </a:r>
            <a:r>
              <a:rPr lang="zh-CN" altLang="en-US" sz="1200" b="1" dirty="0" smtClean="0">
                <a:solidFill>
                  <a:srgbClr val="FF0000"/>
                </a:solidFill>
                <a:cs typeface="MV Boli" panose="02000500030200090000" pitchFamily="2" charset="0"/>
              </a:rPr>
              <a:t>，当</a:t>
            </a:r>
            <a:r>
              <a:rPr lang="zh-CN" altLang="en-US" sz="1200" b="1" dirty="0">
                <a:solidFill>
                  <a:srgbClr val="FF0000"/>
                </a:solidFill>
                <a:cs typeface="MV Boli" panose="02000500030200090000" pitchFamily="2" charset="0"/>
              </a:rPr>
              <a:t>递推到连杆</a:t>
            </a:r>
            <a:r>
              <a:rPr lang="en-US" altLang="zh-CN" sz="1200" b="1" dirty="0">
                <a:solidFill>
                  <a:srgbClr val="FF0000"/>
                </a:solidFill>
                <a:cs typeface="MV Boli" panose="02000500030200090000" pitchFamily="2" charset="0"/>
              </a:rPr>
              <a:t>1</a:t>
            </a:r>
            <a:r>
              <a:rPr lang="zh-CN" altLang="en-US" sz="1200" b="1" dirty="0">
                <a:solidFill>
                  <a:srgbClr val="FF0000"/>
                </a:solidFill>
                <a:cs typeface="MV Boli" panose="02000500030200090000" pitchFamily="2" charset="0"/>
              </a:rPr>
              <a:t>的速度和加速度</a:t>
            </a:r>
            <a:r>
              <a:rPr lang="zh-CN" altLang="en-US" sz="1200" b="1" dirty="0" smtClean="0">
                <a:solidFill>
                  <a:srgbClr val="FF0000"/>
                </a:solidFill>
                <a:cs typeface="MV Boli" panose="02000500030200090000" pitchFamily="2" charset="0"/>
              </a:rPr>
              <a:t>时：</a:t>
            </a:r>
            <a:endParaRPr lang="zh-CN" altLang="en-US" sz="1200" b="1" dirty="0">
              <a:solidFill>
                <a:srgbClr val="FF0000"/>
              </a:solidFill>
            </a:endParaRPr>
          </a:p>
        </p:txBody>
      </p:sp>
      <p:sp>
        <p:nvSpPr>
          <p:cNvPr id="29" name="矩形 28"/>
          <p:cNvSpPr/>
          <p:nvPr/>
        </p:nvSpPr>
        <p:spPr>
          <a:xfrm>
            <a:off x="797825" y="1306965"/>
            <a:ext cx="3493264" cy="338554"/>
          </a:xfrm>
          <a:prstGeom prst="rect">
            <a:avLst/>
          </a:prstGeom>
        </p:spPr>
        <p:txBody>
          <a:bodyPr wrap="none">
            <a:spAutoFit/>
          </a:bodyPr>
          <a:lstStyle/>
          <a:p>
            <a:r>
              <a:rPr lang="zh-CN" altLang="en-US" sz="1600" b="1" dirty="0" smtClean="0">
                <a:solidFill>
                  <a:srgbClr val="002060"/>
                </a:solidFill>
              </a:rPr>
              <a:t>第一步：计算</a:t>
            </a:r>
            <a:r>
              <a:rPr lang="zh-CN" altLang="en-US" sz="1600" b="1" dirty="0">
                <a:solidFill>
                  <a:srgbClr val="002060"/>
                </a:solidFill>
              </a:rPr>
              <a:t>速度和加速度的外推法</a:t>
            </a:r>
          </a:p>
        </p:txBody>
      </p:sp>
      <p:grpSp>
        <p:nvGrpSpPr>
          <p:cNvPr id="30" name="组合 29"/>
          <p:cNvGrpSpPr/>
          <p:nvPr/>
        </p:nvGrpSpPr>
        <p:grpSpPr>
          <a:xfrm>
            <a:off x="-247650" y="207010"/>
            <a:ext cx="6908165" cy="598805"/>
            <a:chOff x="-372" y="345"/>
            <a:chExt cx="10879" cy="943"/>
          </a:xfrm>
        </p:grpSpPr>
        <p:sp>
          <p:nvSpPr>
            <p:cNvPr id="31" name="矩形 30"/>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2" name="文本框 31"/>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3" name="椭圆 32"/>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897145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97825" y="1306965"/>
            <a:ext cx="3493264" cy="338554"/>
          </a:xfrm>
          <a:prstGeom prst="rect">
            <a:avLst/>
          </a:prstGeom>
        </p:spPr>
        <p:txBody>
          <a:bodyPr wrap="none">
            <a:spAutoFit/>
          </a:bodyPr>
          <a:lstStyle/>
          <a:p>
            <a:r>
              <a:rPr lang="zh-CN" altLang="en-US" sz="1600" b="1" dirty="0" smtClean="0">
                <a:solidFill>
                  <a:srgbClr val="002060"/>
                </a:solidFill>
              </a:rPr>
              <a:t>第一步：计算</a:t>
            </a:r>
            <a:r>
              <a:rPr lang="zh-CN" altLang="en-US" sz="1600" b="1" dirty="0">
                <a:solidFill>
                  <a:srgbClr val="002060"/>
                </a:solidFill>
              </a:rPr>
              <a:t>速度和加速度的外推法</a:t>
            </a:r>
          </a:p>
        </p:txBody>
      </p:sp>
      <mc:AlternateContent xmlns:mc="http://schemas.openxmlformats.org/markup-compatibility/2006" xmlns:a14="http://schemas.microsoft.com/office/drawing/2010/main">
        <mc:Choice Requires="a14">
          <p:sp>
            <p:nvSpPr>
              <p:cNvPr id="3" name="矩形 2"/>
              <p:cNvSpPr/>
              <p:nvPr/>
            </p:nvSpPr>
            <p:spPr>
              <a:xfrm>
                <a:off x="4357267" y="1311414"/>
                <a:ext cx="1221553" cy="317844"/>
              </a:xfrm>
              <a:prstGeom prst="rect">
                <a:avLst/>
              </a:prstGeom>
            </p:spPr>
            <p:txBody>
              <a:bodyPr wrap="none">
                <a:spAutoFit/>
              </a:bodyPr>
              <a:lstStyle/>
              <a:p>
                <a:r>
                  <a:rPr lang="zh-CN" altLang="zh-CN" sz="1400" dirty="0" smtClean="0">
                    <a:solidFill>
                      <a:srgbClr val="002060"/>
                    </a:solidFill>
                    <a:cs typeface="MV Boli" panose="02000500030200090000" pitchFamily="2" charset="0"/>
                  </a:rPr>
                  <a:t>已知</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𝜃</m:t>
                    </m:r>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rPr>
                        </m:ctrlPr>
                      </m:accPr>
                      <m:e>
                        <m:r>
                          <a:rPr lang="en-US" altLang="zh-CN" sz="1400" i="1">
                            <a:solidFill>
                              <a:srgbClr val="002060"/>
                            </a:solidFill>
                            <a:latin typeface="Cambria Math" panose="02040503050406030204" pitchFamily="18" charset="0"/>
                            <a:cs typeface="Times New Roman" panose="02020603050405020304" pitchFamily="18" charset="0"/>
                          </a:rPr>
                          <m:t>𝜃</m:t>
                        </m:r>
                      </m:e>
                    </m:acc>
                  </m:oMath>
                </a14:m>
                <a:r>
                  <a:rPr lang="zh-CN" altLang="zh-CN" sz="1400" dirty="0">
                    <a:solidFill>
                      <a:srgbClr val="002060"/>
                    </a:solidFill>
                    <a:cs typeface="MV Boli" panose="02000500030200090000" pitchFamily="2" charset="0"/>
                  </a:rPr>
                  <a:t>、</a:t>
                </a:r>
                <a14:m>
                  <m:oMath xmlns:m="http://schemas.openxmlformats.org/officeDocument/2006/math">
                    <m:acc>
                      <m:accPr>
                        <m: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solidFill>
                              <a:srgbClr val="002060"/>
                            </a:solidFill>
                            <a:latin typeface="Cambria Math" panose="02040503050406030204" pitchFamily="18" charset="0"/>
                            <a:cs typeface="MV Boli" panose="02000500030200090000" pitchFamily="2" charset="0"/>
                          </a:rPr>
                          <m:t>𝜃</m:t>
                        </m:r>
                      </m:e>
                    </m:acc>
                  </m:oMath>
                </a14:m>
                <a:endParaRPr lang="zh-CN" altLang="en-US" sz="14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4357267" y="1311414"/>
                <a:ext cx="1221553" cy="317844"/>
              </a:xfrm>
              <a:prstGeom prst="rect">
                <a:avLst/>
              </a:prstGeom>
              <a:blipFill>
                <a:blip r:embed="rId4"/>
                <a:stretch>
                  <a:fillRect l="-1500" t="-5769" r="-12500"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801273" y="1835789"/>
                <a:ext cx="5472608" cy="791179"/>
              </a:xfrm>
              <a:prstGeom prst="rect">
                <a:avLst/>
              </a:prstGeom>
            </p:spPr>
            <p:txBody>
              <a:bodyPr wrap="square">
                <a:spAutoFit/>
              </a:bodyPr>
              <a:lstStyle/>
              <a:p>
                <a:r>
                  <a:rPr lang="zh-CN" altLang="zh-CN" sz="1400" dirty="0">
                    <a:cs typeface="MV Boli" panose="02000500030200090000" pitchFamily="2" charset="0"/>
                  </a:rPr>
                  <a:t>假设连杆</a:t>
                </a:r>
                <a14:m>
                  <m:oMath xmlns:m="http://schemas.openxmlformats.org/officeDocument/2006/math">
                    <m:r>
                      <a:rPr lang="en-US" altLang="zh-CN" sz="1400" i="1">
                        <a:latin typeface="Cambria Math" panose="02040503050406030204" pitchFamily="18" charset="0"/>
                        <a:cs typeface="MV Boli" panose="02000500030200090000" pitchFamily="2" charset="0"/>
                      </a:rPr>
                      <m:t>𝑖</m:t>
                    </m:r>
                  </m:oMath>
                </a14:m>
                <a:r>
                  <a:rPr lang="zh-CN" altLang="zh-CN" sz="1400" dirty="0">
                    <a:cs typeface="MV Boli" panose="02000500030200090000" pitchFamily="2" charset="0"/>
                  </a:rPr>
                  <a:t>的质心为</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oMath>
                </a14:m>
                <a:r>
                  <a:rPr lang="zh-CN" altLang="zh-CN" sz="1400" dirty="0">
                    <a:cs typeface="MV Boli" panose="02000500030200090000" pitchFamily="2" charset="0"/>
                  </a:rPr>
                  <a:t>，以该质心为原点建立坐标系</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oMath>
                </a14:m>
                <a:r>
                  <a:rPr lang="zh-CN" altLang="zh-CN" sz="1400" dirty="0">
                    <a:cs typeface="MV Boli" panose="02000500030200090000" pitchFamily="2" charset="0"/>
                  </a:rPr>
                  <a:t>，该质心坐标系与连杆坐标系</a:t>
                </a:r>
                <a14:m>
                  <m:oMath xmlns:m="http://schemas.openxmlformats.org/officeDocument/2006/math">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oMath>
                </a14:m>
                <a:r>
                  <a:rPr lang="zh-CN" altLang="zh-CN" sz="1400" dirty="0">
                    <a:cs typeface="MV Boli" panose="02000500030200090000" pitchFamily="2" charset="0"/>
                  </a:rPr>
                  <a:t>方向相同，</a:t>
                </a:r>
                <a14:m>
                  <m:oMath xmlns:m="http://schemas.openxmlformats.org/officeDocument/2006/math">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400" i="1">
                                <a:latin typeface="Cambria Math" panose="02040503050406030204" pitchFamily="18" charset="0"/>
                                <a:cs typeface="MV Boli" panose="02000500030200090000" pitchFamily="2" charset="0"/>
                              </a:rPr>
                              <m:t>𝑃</m:t>
                            </m:r>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sub>
                          <m:sup/>
                        </m:sSubSup>
                      </m:e>
                    </m:sPre>
                  </m:oMath>
                </a14:m>
                <a:r>
                  <a:rPr lang="zh-CN" altLang="zh-CN" sz="1400" dirty="0">
                    <a:cs typeface="MV Boli" panose="02000500030200090000" pitchFamily="2" charset="0"/>
                  </a:rPr>
                  <a:t>为质心</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oMath>
                </a14:m>
                <a:r>
                  <a:rPr lang="zh-CN" altLang="zh-CN" sz="1400" dirty="0">
                    <a:cs typeface="MV Boli" panose="02000500030200090000" pitchFamily="2" charset="0"/>
                  </a:rPr>
                  <a:t>在连杆坐标系</a:t>
                </a:r>
                <a14:m>
                  <m:oMath xmlns:m="http://schemas.openxmlformats.org/officeDocument/2006/math">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oMath>
                </a14:m>
                <a:r>
                  <a:rPr lang="zh-CN" altLang="zh-CN" sz="1400" dirty="0">
                    <a:cs typeface="MV Boli" panose="02000500030200090000" pitchFamily="2" charset="0"/>
                  </a:rPr>
                  <a:t>中的位置矢量，则质心</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oMath>
                </a14:m>
                <a:r>
                  <a:rPr lang="zh-CN" altLang="zh-CN" sz="1400" dirty="0">
                    <a:cs typeface="MV Boli" panose="02000500030200090000" pitchFamily="2" charset="0"/>
                  </a:rPr>
                  <a:t>在坐标系</a:t>
                </a:r>
                <a14:m>
                  <m:oMath xmlns:m="http://schemas.openxmlformats.org/officeDocument/2006/math">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oMath>
                </a14:m>
                <a:r>
                  <a:rPr lang="zh-CN" altLang="zh-CN" sz="1400" dirty="0">
                    <a:cs typeface="MV Boli" panose="02000500030200090000" pitchFamily="2" charset="0"/>
                  </a:rPr>
                  <a:t>中的线速度为：</a:t>
                </a:r>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801273" y="1835789"/>
                <a:ext cx="5472608" cy="791179"/>
              </a:xfrm>
              <a:prstGeom prst="rect">
                <a:avLst/>
              </a:prstGeom>
              <a:blipFill>
                <a:blip r:embed="rId5"/>
                <a:stretch>
                  <a:fillRect l="-334" t="-2308" b="-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019859" y="2817238"/>
                <a:ext cx="2279983" cy="3634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r>
                                <a:rPr lang="zh-CN" altLang="en-US" sz="1400" i="1">
                                  <a:latin typeface="Cambria Math" panose="02040503050406030204" pitchFamily="18" charset="0"/>
                                </a:rPr>
                                <m:t>𝑣</m:t>
                              </m:r>
                            </m:e>
                          </m:sPre>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𝐶</m:t>
                              </m:r>
                            </m:e>
                            <m:sub>
                              <m:r>
                                <a:rPr lang="zh-CN" altLang="en-US" sz="1400" i="1">
                                  <a:latin typeface="Cambria Math" panose="02040503050406030204" pitchFamily="18" charset="0"/>
                                </a:rPr>
                                <m:t>𝑖</m:t>
                              </m:r>
                            </m:sub>
                          </m:sSub>
                        </m:sub>
                      </m:sSub>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𝑃</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𝐶</m:t>
                                  </m:r>
                                </m:e>
                                <m:sub>
                                  <m:r>
                                    <a:rPr lang="zh-CN" altLang="en-US" sz="1400" i="1">
                                      <a:latin typeface="Cambria Math" panose="02040503050406030204" pitchFamily="18" charset="0"/>
                                    </a:rPr>
                                    <m:t>𝑖</m:t>
                                  </m:r>
                                </m:sub>
                              </m:sSub>
                            </m:sub>
                            <m:sup/>
                          </m:sSubSup>
                        </m:e>
                      </m:sPre>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r>
                                <a:rPr lang="zh-CN" altLang="en-US" sz="1400" i="1">
                                  <a:latin typeface="Cambria Math" panose="02040503050406030204" pitchFamily="18" charset="0"/>
                                </a:rPr>
                                <m:t>𝑣</m:t>
                              </m:r>
                            </m:e>
                          </m:sPre>
                        </m:e>
                        <m:sub>
                          <m:r>
                            <a:rPr lang="zh-CN" altLang="en-US" sz="1400" i="1">
                              <a:latin typeface="Cambria Math" panose="02040503050406030204" pitchFamily="18" charset="0"/>
                            </a:rPr>
                            <m:t>𝑖</m:t>
                          </m:r>
                        </m:sub>
                      </m:sSub>
                    </m:oMath>
                  </m:oMathPara>
                </a14:m>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3019859" y="2817238"/>
                <a:ext cx="2279983" cy="36343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255929" y="3795886"/>
                <a:ext cx="4572000" cy="363433"/>
              </a:xfrm>
              <a:prstGeom prst="rect">
                <a:avLst/>
              </a:prstGeom>
            </p:spPr>
            <p:txBody>
              <a:bodyPr>
                <a:spAutoFit/>
              </a:bodyPr>
              <a:lstStyle/>
              <a:p>
                <a14:m>
                  <m:oMath xmlns:m="http://schemas.openxmlformats.org/officeDocument/2006/math">
                    <m:sSub>
                      <m:sSubPr>
                        <m:ctrlPr>
                          <a:rPr lang="zh-CN" altLang="zh-CN" sz="1400" i="1" smtClean="0">
                            <a:latin typeface="Cambria Math" panose="02040503050406030204" pitchFamily="18" charset="0"/>
                            <a:ea typeface="Cambria Math" panose="02040503050406030204" pitchFamily="18" charset="0"/>
                            <a:cs typeface="MV Boli" panose="02000500030200090000" pitchFamily="2" charset="0"/>
                          </a:rPr>
                        </m:ctrlPr>
                      </m:sSubPr>
                      <m:e>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𝑣</m:t>
                                </m:r>
                              </m:e>
                            </m:acc>
                          </m:e>
                        </m:sPre>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sub>
                    </m:sSub>
                    <m:r>
                      <a:rPr lang="en-US" altLang="zh-CN" sz="1400" i="1">
                        <a:latin typeface="Cambria Math" panose="02040503050406030204" pitchFamily="18" charset="0"/>
                        <a:cs typeface="MV Boli" panose="02000500030200090000" pitchFamily="2" charset="0"/>
                      </a:rPr>
                      <m:t>=</m:t>
                    </m:r>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𝜔</m:t>
                                </m:r>
                              </m:e>
                            </m:acc>
                          </m:e>
                          <m:sub>
                            <m:r>
                              <a:rPr lang="en-US" altLang="zh-CN" sz="1400" i="1">
                                <a:latin typeface="Cambria Math" panose="02040503050406030204" pitchFamily="18" charset="0"/>
                                <a:cs typeface="MV Boli" panose="02000500030200090000" pitchFamily="2" charset="0"/>
                              </a:rPr>
                              <m:t>𝑖</m:t>
                            </m:r>
                          </m:sub>
                          <m:sup/>
                        </m:sSubSup>
                      </m:e>
                    </m:sPre>
                    <m:r>
                      <a:rPr lang="en-US" altLang="zh-CN" sz="1400" i="1">
                        <a:latin typeface="Cambria Math" panose="02040503050406030204" pitchFamily="18" charset="0"/>
                        <a:cs typeface="MV Boli" panose="02000500030200090000" pitchFamily="2" charset="0"/>
                      </a:rPr>
                      <m:t>×</m:t>
                    </m:r>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400" i="1">
                                <a:latin typeface="Cambria Math" panose="02040503050406030204" pitchFamily="18" charset="0"/>
                                <a:cs typeface="MV Boli" panose="02000500030200090000" pitchFamily="2" charset="0"/>
                              </a:rPr>
                              <m:t>𝑃</m:t>
                            </m:r>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sub>
                          <m:sup/>
                        </m:sSubSup>
                      </m:e>
                    </m:sPre>
                    <m:r>
                      <a:rPr lang="en-US" altLang="zh-CN" sz="1400" i="1">
                        <a:latin typeface="Cambria Math" panose="02040503050406030204" pitchFamily="18" charset="0"/>
                        <a:cs typeface="MV Boli" panose="02000500030200090000" pitchFamily="2" charset="0"/>
                      </a:rPr>
                      <m:t>+</m:t>
                    </m:r>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400" i="1">
                                <a:latin typeface="Cambria Math" panose="02040503050406030204" pitchFamily="18" charset="0"/>
                                <a:cs typeface="MV Boli" panose="02000500030200090000" pitchFamily="2" charset="0"/>
                              </a:rPr>
                              <m:t>𝜔</m:t>
                            </m:r>
                          </m:e>
                          <m:sub>
                            <m:r>
                              <a:rPr lang="en-US" altLang="zh-CN" sz="1400" i="1">
                                <a:latin typeface="Cambria Math" panose="02040503050406030204" pitchFamily="18" charset="0"/>
                                <a:cs typeface="MV Boli" panose="02000500030200090000" pitchFamily="2" charset="0"/>
                              </a:rPr>
                              <m:t>𝑖</m:t>
                            </m:r>
                          </m:sub>
                          <m:sup/>
                        </m:sSubSup>
                      </m:e>
                    </m:sPre>
                    <m:r>
                      <a:rPr lang="en-US" altLang="zh-CN" sz="1400" i="1">
                        <a:latin typeface="Cambria Math" panose="02040503050406030204" pitchFamily="18" charset="0"/>
                        <a:cs typeface="MV Boli" panose="02000500030200090000" pitchFamily="2" charset="0"/>
                      </a:rPr>
                      <m:t>×</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400" i="1">
                                    <a:latin typeface="Cambria Math" panose="02040503050406030204" pitchFamily="18" charset="0"/>
                                    <a:cs typeface="MV Boli" panose="02000500030200090000" pitchFamily="2" charset="0"/>
                                  </a:rPr>
                                  <m:t>𝜔</m:t>
                                </m:r>
                              </m:e>
                              <m:sub>
                                <m:r>
                                  <a:rPr lang="en-US" altLang="zh-CN" sz="1400" i="1">
                                    <a:latin typeface="Cambria Math" panose="02040503050406030204" pitchFamily="18" charset="0"/>
                                    <a:cs typeface="MV Boli" panose="02000500030200090000" pitchFamily="2" charset="0"/>
                                  </a:rPr>
                                  <m:t>𝑖</m:t>
                                </m:r>
                              </m:sub>
                              <m:sup/>
                            </m:sSubSup>
                          </m:e>
                        </m:sPre>
                        <m:r>
                          <a:rPr lang="en-US" altLang="zh-CN" sz="1400" i="1">
                            <a:latin typeface="Cambria Math" panose="02040503050406030204" pitchFamily="18" charset="0"/>
                            <a:cs typeface="MV Boli" panose="02000500030200090000" pitchFamily="2" charset="0"/>
                          </a:rPr>
                          <m:t>×</m:t>
                        </m:r>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sSubSup>
                              <m:sSub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400" b="0" i="1" smtClean="0">
                                    <a:effectLst/>
                                    <a:latin typeface="Cambria Math" panose="02040503050406030204" pitchFamily="18" charset="0"/>
                                    <a:ea typeface="Cambria Math" panose="02040503050406030204" pitchFamily="18" charset="0"/>
                                    <a:cs typeface="MV Boli" panose="02000500030200090000" pitchFamily="2" charset="0"/>
                                  </a:rPr>
                                  <m:t>𝑃</m:t>
                                </m:r>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𝐶</m:t>
                                    </m:r>
                                  </m:e>
                                  <m:sub>
                                    <m:r>
                                      <a:rPr lang="en-US" altLang="zh-CN" sz="1400" i="1">
                                        <a:latin typeface="Cambria Math" panose="02040503050406030204" pitchFamily="18" charset="0"/>
                                        <a:cs typeface="MV Boli" panose="02000500030200090000" pitchFamily="2" charset="0"/>
                                      </a:rPr>
                                      <m:t>𝑖</m:t>
                                    </m:r>
                                  </m:sub>
                                </m:sSub>
                              </m:sub>
                              <m:sup/>
                            </m:sSubSup>
                          </m:e>
                        </m:sPre>
                      </m:e>
                    </m:d>
                    <m:r>
                      <a:rPr lang="en-US" altLang="zh-CN" sz="1400" i="1">
                        <a:latin typeface="Cambria Math" panose="02040503050406030204" pitchFamily="18" charset="0"/>
                        <a:cs typeface="MV Boli" panose="02000500030200090000" pitchFamily="2" charset="0"/>
                      </a:rPr>
                      <m:t>+</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sPre>
                          <m:sPre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400" i="1">
                                <a:latin typeface="Cambria Math" panose="02040503050406030204" pitchFamily="18" charset="0"/>
                                <a:cs typeface="MV Boli" panose="02000500030200090000" pitchFamily="2" charset="0"/>
                              </a:rPr>
                              <m:t>𝑖</m:t>
                            </m:r>
                          </m:sup>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𝑣</m:t>
                                </m:r>
                              </m:e>
                            </m:acc>
                          </m:e>
                        </m:sPre>
                      </m:e>
                      <m:sub>
                        <m:r>
                          <a:rPr lang="en-US" altLang="zh-CN" sz="1400" i="1">
                            <a:latin typeface="Cambria Math" panose="02040503050406030204" pitchFamily="18" charset="0"/>
                            <a:cs typeface="MV Boli" panose="02000500030200090000" pitchFamily="2" charset="0"/>
                          </a:rPr>
                          <m:t>𝑖</m:t>
                        </m:r>
                      </m:sub>
                    </m:sSub>
                  </m:oMath>
                </a14:m>
                <a:r>
                  <a:rPr lang="en-US" altLang="zh-CN" sz="1400" dirty="0">
                    <a:latin typeface="宋体" panose="02010600030101010101" pitchFamily="2" charset="-122"/>
                    <a:cs typeface="MV Boli" panose="02000500030200090000" pitchFamily="2" charset="0"/>
                  </a:rPr>
                  <a:t> </a:t>
                </a:r>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2255929" y="3795886"/>
                <a:ext cx="4572000" cy="363433"/>
              </a:xfrm>
              <a:prstGeom prst="rect">
                <a:avLst/>
              </a:prstGeom>
              <a:blipFill>
                <a:blip r:embed="rId7"/>
                <a:stretch>
                  <a:fillRect/>
                </a:stretch>
              </a:blipFill>
            </p:spPr>
            <p:txBody>
              <a:bodyPr/>
              <a:lstStyle/>
              <a:p>
                <a:r>
                  <a:rPr lang="zh-CN" altLang="en-US">
                    <a:noFill/>
                  </a:rPr>
                  <a:t> </a:t>
                </a:r>
              </a:p>
            </p:txBody>
          </p:sp>
        </mc:Fallback>
      </mc:AlternateContent>
      <p:sp>
        <p:nvSpPr>
          <p:cNvPr id="12" name="圆角矩形 11"/>
          <p:cNvSpPr/>
          <p:nvPr/>
        </p:nvSpPr>
        <p:spPr>
          <a:xfrm>
            <a:off x="2915816" y="2715766"/>
            <a:ext cx="2448272" cy="5760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123728" y="3723878"/>
            <a:ext cx="4320480" cy="5760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p:cNvSpPr/>
              <p:nvPr/>
            </p:nvSpPr>
            <p:spPr>
              <a:xfrm>
                <a:off x="2778431" y="4365561"/>
                <a:ext cx="3025315" cy="276999"/>
              </a:xfrm>
              <a:prstGeom prst="rect">
                <a:avLst/>
              </a:prstGeom>
            </p:spPr>
            <p:txBody>
              <a:bodyPr wrap="none">
                <a:spAutoFit/>
              </a:bodyPr>
              <a:lstStyle/>
              <a:p>
                <a:r>
                  <a:rPr lang="zh-CN" altLang="zh-CN" sz="1200" dirty="0" smtClean="0">
                    <a:solidFill>
                      <a:srgbClr val="002060"/>
                    </a:solidFill>
                    <a:cs typeface="MV Boli" panose="02000500030200090000" pitchFamily="2" charset="0"/>
                  </a:rPr>
                  <a:t>连杆</a:t>
                </a:r>
                <a14:m>
                  <m:oMath xmlns:m="http://schemas.openxmlformats.org/officeDocument/2006/math">
                    <m:r>
                      <a:rPr lang="en-US" altLang="zh-CN" sz="1200" i="1">
                        <a:solidFill>
                          <a:srgbClr val="002060"/>
                        </a:solidFill>
                        <a:latin typeface="Cambria Math" panose="02040503050406030204" pitchFamily="18" charset="0"/>
                        <a:cs typeface="MV Boli" panose="02000500030200090000" pitchFamily="2" charset="0"/>
                      </a:rPr>
                      <m:t>𝑖</m:t>
                    </m:r>
                  </m:oMath>
                </a14:m>
                <a:r>
                  <a:rPr lang="zh-CN" altLang="zh-CN" sz="1200" dirty="0">
                    <a:solidFill>
                      <a:srgbClr val="002060"/>
                    </a:solidFill>
                    <a:cs typeface="MV Boli" panose="02000500030200090000" pitchFamily="2" charset="0"/>
                  </a:rPr>
                  <a:t>的质心在连杆坐标系</a:t>
                </a:r>
                <a14:m>
                  <m:oMath xmlns:m="http://schemas.openxmlformats.org/officeDocument/2006/math">
                    <m:r>
                      <a:rPr lang="en-US" altLang="zh-CN" sz="1200">
                        <a:solidFill>
                          <a:srgbClr val="002060"/>
                        </a:solidFill>
                        <a:latin typeface="Cambria Math" panose="02040503050406030204" pitchFamily="18" charset="0"/>
                        <a:cs typeface="MV Boli" panose="02000500030200090000" pitchFamily="2" charset="0"/>
                      </a:rPr>
                      <m:t>{</m:t>
                    </m:r>
                    <m:r>
                      <a:rPr lang="en-US" altLang="zh-CN" sz="1200" i="1">
                        <a:solidFill>
                          <a:srgbClr val="002060"/>
                        </a:solidFill>
                        <a:latin typeface="Cambria Math" panose="02040503050406030204" pitchFamily="18" charset="0"/>
                        <a:cs typeface="MV Boli" panose="02000500030200090000" pitchFamily="2" charset="0"/>
                      </a:rPr>
                      <m:t>𝑖</m:t>
                    </m:r>
                    <m:r>
                      <a:rPr lang="en-US" altLang="zh-CN" sz="1200" i="1">
                        <a:solidFill>
                          <a:srgbClr val="002060"/>
                        </a:solidFill>
                        <a:latin typeface="Cambria Math" panose="02040503050406030204" pitchFamily="18" charset="0"/>
                        <a:cs typeface="MV Boli" panose="02000500030200090000" pitchFamily="2" charset="0"/>
                      </a:rPr>
                      <m:t>}</m:t>
                    </m:r>
                  </m:oMath>
                </a14:m>
                <a:r>
                  <a:rPr lang="zh-CN" altLang="zh-CN" sz="1200" dirty="0">
                    <a:solidFill>
                      <a:srgbClr val="002060"/>
                    </a:solidFill>
                    <a:cs typeface="MV Boli" panose="02000500030200090000" pitchFamily="2" charset="0"/>
                  </a:rPr>
                  <a:t>中的线加速度</a:t>
                </a:r>
                <a:endParaRPr lang="zh-CN" altLang="en-US" sz="1200" dirty="0">
                  <a:solidFill>
                    <a:srgbClr val="00206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2778431" y="4365561"/>
                <a:ext cx="3025315" cy="276999"/>
              </a:xfrm>
              <a:prstGeom prst="rect">
                <a:avLst/>
              </a:prstGeom>
              <a:blipFill>
                <a:blip r:embed="rId8"/>
                <a:stretch>
                  <a:fillRect l="-202" t="-2174" b="-13043"/>
                </a:stretch>
              </a:blipFill>
            </p:spPr>
            <p:txBody>
              <a:bodyPr/>
              <a:lstStyle/>
              <a:p>
                <a:r>
                  <a:rPr lang="zh-CN" altLang="en-US">
                    <a:noFill/>
                  </a:rPr>
                  <a:t> </a:t>
                </a:r>
              </a:p>
            </p:txBody>
          </p:sp>
        </mc:Fallback>
      </mc:AlternateContent>
      <p:sp>
        <p:nvSpPr>
          <p:cNvPr id="15" name="下箭头 14"/>
          <p:cNvSpPr/>
          <p:nvPr/>
        </p:nvSpPr>
        <p:spPr>
          <a:xfrm>
            <a:off x="4159850" y="3327834"/>
            <a:ext cx="21235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429405" y="3359275"/>
            <a:ext cx="543739" cy="307777"/>
          </a:xfrm>
          <a:prstGeom prst="rect">
            <a:avLst/>
          </a:prstGeom>
        </p:spPr>
        <p:txBody>
          <a:bodyPr wrap="none">
            <a:spAutoFit/>
          </a:bodyPr>
          <a:lstStyle/>
          <a:p>
            <a:r>
              <a:rPr lang="zh-CN" altLang="zh-CN" sz="1400" dirty="0">
                <a:solidFill>
                  <a:srgbClr val="002060"/>
                </a:solidFill>
                <a:cs typeface="MV Boli" panose="02000500030200090000" pitchFamily="2" charset="0"/>
              </a:rPr>
              <a:t>求导</a:t>
            </a:r>
            <a:endParaRPr lang="zh-CN" altLang="en-US" sz="1400" dirty="0">
              <a:solidFill>
                <a:srgbClr val="002060"/>
              </a:solidFill>
            </a:endParaRPr>
          </a:p>
        </p:txBody>
      </p:sp>
      <p:sp>
        <p:nvSpPr>
          <p:cNvPr id="19" name="动作按钮: 声音 18">
            <a:hlinkClick r:id="" action="ppaction://noaction" highlightClick="1">
              <a:snd r:embed="rId9" name="applause.wav"/>
            </a:hlinkClick>
          </p:cNvPr>
          <p:cNvSpPr/>
          <p:nvPr/>
        </p:nvSpPr>
        <p:spPr>
          <a:xfrm>
            <a:off x="6377924" y="2452708"/>
            <a:ext cx="450005" cy="364530"/>
          </a:xfrm>
          <a:prstGeom prst="actionButtonSoun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855788" y="3138522"/>
            <a:ext cx="1709936" cy="738664"/>
          </a:xfrm>
          <a:prstGeom prst="rect">
            <a:avLst/>
          </a:prstGeom>
        </p:spPr>
        <p:txBody>
          <a:bodyPr wrap="square">
            <a:spAutoFit/>
          </a:bodyPr>
          <a:lstStyle/>
          <a:p>
            <a:r>
              <a:rPr lang="zh-CN" altLang="en-US" sz="1400" b="1" dirty="0" smtClean="0">
                <a:solidFill>
                  <a:srgbClr val="002060"/>
                </a:solidFill>
                <a:cs typeface="MV Boli" panose="02000500030200090000" pitchFamily="2" charset="0"/>
              </a:rPr>
              <a:t>这两个</a:t>
            </a:r>
            <a:r>
              <a:rPr lang="zh-CN" altLang="zh-CN" sz="1400" b="1" dirty="0" smtClean="0">
                <a:solidFill>
                  <a:srgbClr val="002060"/>
                </a:solidFill>
                <a:cs typeface="MV Boli" panose="02000500030200090000" pitchFamily="2" charset="0"/>
              </a:rPr>
              <a:t>公式对于</a:t>
            </a:r>
            <a:r>
              <a:rPr lang="zh-CN" altLang="zh-CN" sz="1400" b="1" dirty="0">
                <a:solidFill>
                  <a:srgbClr val="002060"/>
                </a:solidFill>
                <a:cs typeface="MV Boli" panose="02000500030200090000" pitchFamily="2" charset="0"/>
              </a:rPr>
              <a:t>旋转关节和平移关节都是一样。</a:t>
            </a:r>
            <a:endParaRPr lang="zh-CN" altLang="en-US" sz="1400" b="1" dirty="0">
              <a:solidFill>
                <a:srgbClr val="002060"/>
              </a:solidFill>
            </a:endParaRPr>
          </a:p>
        </p:txBody>
      </p:sp>
      <p:sp>
        <p:nvSpPr>
          <p:cNvPr id="21" name="文本框 20"/>
          <p:cNvSpPr txBox="1"/>
          <p:nvPr/>
        </p:nvSpPr>
        <p:spPr>
          <a:xfrm>
            <a:off x="6771336" y="1317053"/>
            <a:ext cx="1878839" cy="646331"/>
          </a:xfrm>
          <a:prstGeom prst="rect">
            <a:avLst/>
          </a:prstGeom>
          <a:noFill/>
        </p:spPr>
        <p:txBody>
          <a:bodyPr wrap="square" rtlCol="0">
            <a:spAutoFit/>
          </a:bodyPr>
          <a:lstStyle/>
          <a:p>
            <a:r>
              <a:rPr lang="zh-CN" altLang="en-US" sz="1200" dirty="0">
                <a:solidFill>
                  <a:srgbClr val="FF0000"/>
                </a:solidFill>
              </a:rPr>
              <a:t>利用</a:t>
            </a:r>
            <a:r>
              <a:rPr lang="zh-CN" altLang="en-US" sz="1200" dirty="0" smtClean="0">
                <a:solidFill>
                  <a:srgbClr val="FF0000"/>
                </a:solidFill>
              </a:rPr>
              <a:t>连杆坐标系的线速度和线加速度，求出连杆质心的线速度、线加速度</a:t>
            </a:r>
            <a:endParaRPr lang="zh-CN" altLang="en-US" sz="1200" dirty="0">
              <a:solidFill>
                <a:srgbClr val="FF0000"/>
              </a:solidFill>
            </a:endParaRPr>
          </a:p>
        </p:txBody>
      </p:sp>
      <p:grpSp>
        <p:nvGrpSpPr>
          <p:cNvPr id="22" name="组合 21"/>
          <p:cNvGrpSpPr/>
          <p:nvPr/>
        </p:nvGrpSpPr>
        <p:grpSpPr>
          <a:xfrm>
            <a:off x="-247650" y="207010"/>
            <a:ext cx="6908165" cy="598805"/>
            <a:chOff x="-372" y="345"/>
            <a:chExt cx="10879" cy="943"/>
          </a:xfrm>
        </p:grpSpPr>
        <p:sp>
          <p:nvSpPr>
            <p:cNvPr id="23" name="矩形 22"/>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4" name="文本框 23"/>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5" name="椭圆 2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944602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97825" y="1306965"/>
            <a:ext cx="3700052" cy="338554"/>
          </a:xfrm>
          <a:prstGeom prst="rect">
            <a:avLst/>
          </a:prstGeom>
        </p:spPr>
        <p:txBody>
          <a:bodyPr wrap="none">
            <a:spAutoFit/>
          </a:bodyPr>
          <a:lstStyle/>
          <a:p>
            <a:r>
              <a:rPr lang="zh-CN" altLang="en-US" sz="1600" b="1" dirty="0" smtClean="0">
                <a:solidFill>
                  <a:srgbClr val="002060"/>
                </a:solidFill>
              </a:rPr>
              <a:t>第二步</a:t>
            </a:r>
            <a:r>
              <a:rPr lang="zh-CN" altLang="en-US" sz="1600" b="1" dirty="0">
                <a:solidFill>
                  <a:srgbClr val="002060"/>
                </a:solidFill>
              </a:rPr>
              <a:t>：计算作用在连杆上的力和力矩</a:t>
            </a:r>
          </a:p>
        </p:txBody>
      </p:sp>
      <p:sp>
        <p:nvSpPr>
          <p:cNvPr id="3" name="矩形 2"/>
          <p:cNvSpPr/>
          <p:nvPr/>
        </p:nvSpPr>
        <p:spPr>
          <a:xfrm>
            <a:off x="4541929" y="1301886"/>
            <a:ext cx="4314001" cy="307777"/>
          </a:xfrm>
          <a:prstGeom prst="rect">
            <a:avLst/>
          </a:prstGeom>
        </p:spPr>
        <p:txBody>
          <a:bodyPr wrap="none">
            <a:spAutoFit/>
          </a:bodyPr>
          <a:lstStyle/>
          <a:p>
            <a:r>
              <a:rPr lang="zh-CN" altLang="en-US" sz="1400" dirty="0">
                <a:solidFill>
                  <a:srgbClr val="002060"/>
                </a:solidFill>
                <a:cs typeface="MV Boli" panose="02000500030200090000" pitchFamily="2" charset="0"/>
              </a:rPr>
              <a:t>已计算出</a:t>
            </a:r>
            <a:r>
              <a:rPr lang="zh-CN" altLang="en-US" sz="1400" dirty="0" smtClean="0">
                <a:solidFill>
                  <a:srgbClr val="002060"/>
                </a:solidFill>
                <a:cs typeface="MV Boli" panose="02000500030200090000" pitchFamily="2" charset="0"/>
              </a:rPr>
              <a:t>连杆质心的</a:t>
            </a:r>
            <a:r>
              <a:rPr lang="zh-CN" altLang="en-US" sz="1400" dirty="0">
                <a:solidFill>
                  <a:srgbClr val="002060"/>
                </a:solidFill>
                <a:cs typeface="MV Boli" panose="02000500030200090000" pitchFamily="2" charset="0"/>
              </a:rPr>
              <a:t>角速度、角加速度以及线加速度</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5" name="矩形 4"/>
              <p:cNvSpPr/>
              <p:nvPr/>
            </p:nvSpPr>
            <p:spPr>
              <a:xfrm>
                <a:off x="3724693" y="1995686"/>
                <a:ext cx="1315488" cy="3917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𝐹</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𝑚</m:t>
                          </m:r>
                        </m:e>
                        <m:sub>
                          <m:r>
                            <a:rPr lang="zh-CN" altLang="en-US" sz="1600" i="1">
                              <a:latin typeface="Cambria Math" panose="02040503050406030204" pitchFamily="18" charset="0"/>
                            </a:rPr>
                            <m:t>𝑖</m:t>
                          </m:r>
                        </m:sub>
                      </m:sSub>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𝑖</m:t>
                              </m:r>
                            </m:sup>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𝑣</m:t>
                                  </m:r>
                                </m:e>
                              </m:acc>
                            </m:e>
                          </m:sPre>
                        </m:e>
                        <m: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1">
                                  <a:latin typeface="Cambria Math" panose="02040503050406030204" pitchFamily="18" charset="0"/>
                                </a:rPr>
                                <m:t>𝑖</m:t>
                              </m:r>
                            </m:sub>
                          </m:sSub>
                        </m:sub>
                      </m:sSub>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3724693" y="1995686"/>
                <a:ext cx="1315488" cy="3917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890996" y="2737563"/>
                <a:ext cx="2958694" cy="3976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𝐼</m:t>
                          </m:r>
                        </m:e>
                        <m: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1">
                                  <a:latin typeface="Cambria Math" panose="02040503050406030204" pitchFamily="18" charset="0"/>
                                </a:rPr>
                                <m:t>𝑖</m:t>
                              </m:r>
                            </m:sub>
                          </m:sSub>
                        </m:sub>
                      </m:sSub>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𝑖</m:t>
                          </m:r>
                        </m:sup>
                        <m:e>
                          <m:sSubSup>
                            <m:sSubSupPr>
                              <m:ctrlPr>
                                <a:rPr lang="zh-CN" altLang="en-US" sz="1600" i="1">
                                  <a:latin typeface="Cambria Math" panose="02040503050406030204" pitchFamily="18" charset="0"/>
                                </a:rPr>
                              </m:ctrlPr>
                            </m:sSubSup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sub>
                              <m:r>
                                <a:rPr lang="zh-CN" altLang="en-US" sz="1600" i="1">
                                  <a:latin typeface="Cambria Math" panose="02040503050406030204" pitchFamily="18" charset="0"/>
                                </a:rPr>
                                <m:t>𝑖</m:t>
                              </m:r>
                            </m:sub>
                            <m:sup/>
                          </m:sSubSup>
                        </m:e>
                      </m:sPre>
                      <m:r>
                        <a:rPr lang="zh-CN" altLang="en-US" sz="1600" i="0">
                          <a:latin typeface="Cambria Math" panose="02040503050406030204" pitchFamily="18" charset="0"/>
                        </a:rPr>
                        <m:t>+</m:t>
                      </m:r>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𝑖</m:t>
                          </m:r>
                        </m:sup>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𝜔</m:t>
                              </m:r>
                            </m:e>
                            <m:sub>
                              <m:r>
                                <a:rPr lang="zh-CN" altLang="en-US" sz="1600" i="1">
                                  <a:latin typeface="Cambria Math" panose="02040503050406030204" pitchFamily="18" charset="0"/>
                                </a:rPr>
                                <m:t>𝑖</m:t>
                              </m:r>
                            </m:sub>
                            <m:sup/>
                          </m:sSubSup>
                        </m:e>
                      </m:sPr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𝐼</m:t>
                          </m:r>
                        </m:e>
                        <m: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1">
                                  <a:latin typeface="Cambria Math" panose="02040503050406030204" pitchFamily="18" charset="0"/>
                                </a:rPr>
                                <m:t>𝑖</m:t>
                              </m:r>
                            </m:sub>
                          </m:sSub>
                        </m:sub>
                      </m:sSub>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𝑖</m:t>
                          </m:r>
                        </m:sup>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𝜔</m:t>
                              </m:r>
                            </m:e>
                            <m:sub>
                              <m:r>
                                <a:rPr lang="zh-CN" altLang="en-US" sz="1600" i="1">
                                  <a:latin typeface="Cambria Math" panose="02040503050406030204" pitchFamily="18" charset="0"/>
                                </a:rPr>
                                <m:t>𝑖</m:t>
                              </m:r>
                            </m:sub>
                            <m:sup/>
                          </m:sSubSup>
                        </m:e>
                      </m:sPre>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2890996" y="2737563"/>
                <a:ext cx="2958694" cy="397609"/>
              </a:xfrm>
              <a:prstGeom prst="rect">
                <a:avLst/>
              </a:prstGeom>
              <a:blipFill>
                <a:blip r:embed="rId5"/>
                <a:stretch>
                  <a:fillRect/>
                </a:stretch>
              </a:blipFill>
            </p:spPr>
            <p:txBody>
              <a:bodyPr/>
              <a:lstStyle/>
              <a:p>
                <a:r>
                  <a:rPr lang="zh-CN" altLang="en-US">
                    <a:noFill/>
                  </a:rPr>
                  <a:t> </a:t>
                </a:r>
              </a:p>
            </p:txBody>
          </p:sp>
        </mc:Fallback>
      </mc:AlternateContent>
      <p:sp>
        <p:nvSpPr>
          <p:cNvPr id="7" name="矩形 6"/>
          <p:cNvSpPr/>
          <p:nvPr/>
        </p:nvSpPr>
        <p:spPr>
          <a:xfrm>
            <a:off x="5299842" y="2055324"/>
            <a:ext cx="902811" cy="307777"/>
          </a:xfrm>
          <a:prstGeom prst="rect">
            <a:avLst/>
          </a:prstGeom>
        </p:spPr>
        <p:txBody>
          <a:bodyPr wrap="none">
            <a:spAutoFit/>
          </a:bodyPr>
          <a:lstStyle/>
          <a:p>
            <a:r>
              <a:rPr lang="zh-CN" altLang="zh-CN" sz="1400" dirty="0" smtClean="0">
                <a:solidFill>
                  <a:srgbClr val="002060"/>
                </a:solidFill>
                <a:cs typeface="MV Boli" panose="02000500030200090000" pitchFamily="2" charset="0"/>
              </a:rPr>
              <a:t>牛顿</a:t>
            </a:r>
            <a:r>
              <a:rPr lang="zh-CN" altLang="en-US" sz="1400" dirty="0" smtClean="0">
                <a:solidFill>
                  <a:srgbClr val="002060"/>
                </a:solidFill>
                <a:cs typeface="MV Boli" panose="02000500030200090000" pitchFamily="2" charset="0"/>
              </a:rPr>
              <a:t>方程</a:t>
            </a:r>
            <a:endParaRPr lang="zh-CN" altLang="en-US" sz="1400" dirty="0">
              <a:solidFill>
                <a:srgbClr val="002060"/>
              </a:solidFill>
            </a:endParaRPr>
          </a:p>
        </p:txBody>
      </p:sp>
      <p:sp>
        <p:nvSpPr>
          <p:cNvPr id="8" name="矩形 7"/>
          <p:cNvSpPr/>
          <p:nvPr/>
        </p:nvSpPr>
        <p:spPr>
          <a:xfrm>
            <a:off x="5902008" y="2801911"/>
            <a:ext cx="902811" cy="307777"/>
          </a:xfrm>
          <a:prstGeom prst="rect">
            <a:avLst/>
          </a:prstGeom>
        </p:spPr>
        <p:txBody>
          <a:bodyPr wrap="none">
            <a:spAutoFit/>
          </a:bodyPr>
          <a:lstStyle/>
          <a:p>
            <a:r>
              <a:rPr lang="zh-CN" altLang="zh-CN" sz="1400" dirty="0">
                <a:solidFill>
                  <a:srgbClr val="002060"/>
                </a:solidFill>
                <a:cs typeface="MV Boli" panose="02000500030200090000" pitchFamily="2" charset="0"/>
              </a:rPr>
              <a:t>欧拉方程</a:t>
            </a:r>
            <a:endParaRPr lang="zh-CN" altLang="en-US" sz="1400" dirty="0">
              <a:solidFill>
                <a:srgbClr val="002060"/>
              </a:solidFill>
            </a:endParaRPr>
          </a:p>
        </p:txBody>
      </p:sp>
      <p:grpSp>
        <p:nvGrpSpPr>
          <p:cNvPr id="15" name="组合 14"/>
          <p:cNvGrpSpPr/>
          <p:nvPr/>
        </p:nvGrpSpPr>
        <p:grpSpPr>
          <a:xfrm>
            <a:off x="-247650" y="207010"/>
            <a:ext cx="6908165" cy="598805"/>
            <a:chOff x="-372" y="345"/>
            <a:chExt cx="10879"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9" name="椭圆 1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159250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97825" y="1306965"/>
            <a:ext cx="3079689" cy="338554"/>
          </a:xfrm>
          <a:prstGeom prst="rect">
            <a:avLst/>
          </a:prstGeom>
        </p:spPr>
        <p:txBody>
          <a:bodyPr wrap="none">
            <a:spAutoFit/>
          </a:bodyPr>
          <a:lstStyle/>
          <a:p>
            <a:r>
              <a:rPr lang="zh-CN" altLang="en-US" sz="1600" b="1" dirty="0" smtClean="0">
                <a:solidFill>
                  <a:srgbClr val="002060"/>
                </a:solidFill>
              </a:rPr>
              <a:t>第三步</a:t>
            </a:r>
            <a:r>
              <a:rPr lang="zh-CN" altLang="en-US" sz="1600" b="1" dirty="0">
                <a:solidFill>
                  <a:srgbClr val="002060"/>
                </a:solidFill>
              </a:rPr>
              <a:t>：计算力和力矩的内推法</a:t>
            </a:r>
          </a:p>
        </p:txBody>
      </p:sp>
      <p:sp>
        <p:nvSpPr>
          <p:cNvPr id="3" name="矩形 2"/>
          <p:cNvSpPr/>
          <p:nvPr/>
        </p:nvSpPr>
        <p:spPr>
          <a:xfrm>
            <a:off x="4207795" y="1299802"/>
            <a:ext cx="4540670" cy="523220"/>
          </a:xfrm>
          <a:prstGeom prst="rect">
            <a:avLst/>
          </a:prstGeom>
        </p:spPr>
        <p:txBody>
          <a:bodyPr wrap="square">
            <a:spAutoFit/>
          </a:bodyPr>
          <a:lstStyle/>
          <a:p>
            <a:r>
              <a:rPr lang="zh-CN" altLang="en-US" sz="1400" dirty="0">
                <a:solidFill>
                  <a:srgbClr val="002060"/>
                </a:solidFill>
                <a:cs typeface="MV Boli" panose="02000500030200090000" pitchFamily="2" charset="0"/>
              </a:rPr>
              <a:t>已计算</a:t>
            </a:r>
            <a:r>
              <a:rPr lang="zh-CN" altLang="en-US" sz="1400" dirty="0" smtClean="0">
                <a:solidFill>
                  <a:srgbClr val="002060"/>
                </a:solidFill>
                <a:cs typeface="MV Boli" panose="02000500030200090000" pitchFamily="2" charset="0"/>
              </a:rPr>
              <a:t>出作用在</a:t>
            </a:r>
            <a:r>
              <a:rPr lang="zh-CN" altLang="en-US" sz="1400" dirty="0" smtClean="0">
                <a:solidFill>
                  <a:srgbClr val="FF0000"/>
                </a:solidFill>
                <a:cs typeface="MV Boli" panose="02000500030200090000" pitchFamily="2" charset="0"/>
              </a:rPr>
              <a:t>连杆</a:t>
            </a:r>
            <a:r>
              <a:rPr lang="zh-CN" altLang="en-US" sz="1400" dirty="0" smtClean="0">
                <a:solidFill>
                  <a:srgbClr val="002060"/>
                </a:solidFill>
                <a:cs typeface="MV Boli" panose="02000500030200090000" pitchFamily="2" charset="0"/>
              </a:rPr>
              <a:t>的</a:t>
            </a:r>
            <a:r>
              <a:rPr lang="zh-CN" altLang="en-US" sz="1400" dirty="0">
                <a:solidFill>
                  <a:srgbClr val="002060"/>
                </a:solidFill>
                <a:cs typeface="MV Boli" panose="02000500030200090000" pitchFamily="2" charset="0"/>
              </a:rPr>
              <a:t>力和力矩后，需要计算产生这些力和力矩所需要的</a:t>
            </a:r>
            <a:r>
              <a:rPr lang="zh-CN" altLang="en-US" sz="1400" dirty="0">
                <a:solidFill>
                  <a:srgbClr val="FF0000"/>
                </a:solidFill>
                <a:cs typeface="MV Boli" panose="02000500030200090000" pitchFamily="2" charset="0"/>
              </a:rPr>
              <a:t>关节</a:t>
            </a:r>
            <a:r>
              <a:rPr lang="zh-CN" altLang="en-US" sz="1400" dirty="0">
                <a:solidFill>
                  <a:srgbClr val="002060"/>
                </a:solidFill>
                <a:cs typeface="MV Boli" panose="02000500030200090000" pitchFamily="2" charset="0"/>
              </a:rPr>
              <a:t>力或力矩。</a:t>
            </a:r>
            <a:endParaRPr lang="zh-CN" altLang="en-US" sz="1400" dirty="0">
              <a:solidFill>
                <a:srgbClr val="002060"/>
              </a:solidFill>
            </a:endParaRPr>
          </a:p>
        </p:txBody>
      </p:sp>
      <p:pic>
        <p:nvPicPr>
          <p:cNvPr id="9" name="图片 8"/>
          <p:cNvPicPr>
            <a:picLocks noChangeAspect="1"/>
          </p:cNvPicPr>
          <p:nvPr/>
        </p:nvPicPr>
        <p:blipFill>
          <a:blip r:embed="rId4"/>
          <a:stretch>
            <a:fillRect/>
          </a:stretch>
        </p:blipFill>
        <p:spPr>
          <a:xfrm>
            <a:off x="545886" y="2067694"/>
            <a:ext cx="3234026" cy="2235869"/>
          </a:xfrm>
          <a:prstGeom prst="rect">
            <a:avLst/>
          </a:prstGeom>
        </p:spPr>
      </p:pic>
      <p:sp>
        <p:nvSpPr>
          <p:cNvPr id="10" name="矩形 9"/>
          <p:cNvSpPr/>
          <p:nvPr/>
        </p:nvSpPr>
        <p:spPr>
          <a:xfrm>
            <a:off x="4067944" y="2033625"/>
            <a:ext cx="4572000" cy="276999"/>
          </a:xfrm>
          <a:prstGeom prst="rect">
            <a:avLst/>
          </a:prstGeom>
        </p:spPr>
        <p:txBody>
          <a:bodyPr>
            <a:spAutoFit/>
          </a:bodyPr>
          <a:lstStyle/>
          <a:p>
            <a:r>
              <a:rPr lang="zh-CN" altLang="zh-CN" sz="1200" dirty="0">
                <a:cs typeface="MV Boli" panose="02000500030200090000" pitchFamily="2" charset="0"/>
              </a:rPr>
              <a:t>根据达郎贝尔原理建立连杆的力平衡方程和力矩</a:t>
            </a:r>
            <a:r>
              <a:rPr lang="zh-CN" altLang="zh-CN" sz="1200" dirty="0" smtClean="0">
                <a:cs typeface="MV Boli" panose="02000500030200090000" pitchFamily="2" charset="0"/>
              </a:rPr>
              <a:t>平衡方程</a:t>
            </a:r>
            <a:endParaRPr lang="zh-CN" altLang="en-US" sz="1200" dirty="0"/>
          </a:p>
        </p:txBody>
      </p:sp>
      <mc:AlternateContent xmlns:mc="http://schemas.openxmlformats.org/markup-compatibility/2006" xmlns:a14="http://schemas.microsoft.com/office/drawing/2010/main">
        <mc:Choice Requires="a14">
          <p:sp>
            <p:nvSpPr>
              <p:cNvPr id="11" name="矩形 10"/>
              <p:cNvSpPr/>
              <p:nvPr/>
            </p:nvSpPr>
            <p:spPr>
              <a:xfrm>
                <a:off x="4938865" y="2546701"/>
                <a:ext cx="2538837" cy="369332"/>
              </a:xfrm>
              <a:prstGeom prst="rect">
                <a:avLst/>
              </a:prstGeom>
            </p:spPr>
            <p:txBody>
              <a:bodyPr wrap="none">
                <a:spAutoFit/>
              </a:bodyPr>
              <a:lstStyle/>
              <a:p>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𝐹</m:t>
                            </m:r>
                          </m:e>
                          <m:sub>
                            <m:r>
                              <a:rPr lang="en-US" altLang="zh-CN" sz="1200" i="1">
                                <a:latin typeface="Cambria Math" panose="02040503050406030204" pitchFamily="18" charset="0"/>
                                <a:cs typeface="MV Boli" panose="02000500030200090000" pitchFamily="2" charset="0"/>
                              </a:rPr>
                              <m:t>𝑖</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𝑖</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r>
                          <a:rPr lang="en-US" altLang="zh-CN" sz="1200" i="1">
                            <a:latin typeface="Cambria Math" panose="02040503050406030204" pitchFamily="18" charset="0"/>
                            <a:cs typeface="MV Boli" panose="02000500030200090000" pitchFamily="2" charset="0"/>
                          </a:rPr>
                          <m:t>𝑖</m:t>
                        </m:r>
                      </m:sup>
                      <m:e>
                        <m:r>
                          <a:rPr lang="en-US" altLang="zh-CN" sz="1200" i="1">
                            <a:latin typeface="Cambria Math" panose="02040503050406030204" pitchFamily="18" charset="0"/>
                            <a:cs typeface="MV Boli" panose="02000500030200090000" pitchFamily="2" charset="0"/>
                          </a:rPr>
                          <m:t>𝑅</m:t>
                        </m:r>
                      </m:e>
                    </m:sPre>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sSubSup>
                      </m:e>
                    </m:sPre>
                  </m:oMath>
                </a14:m>
                <a:r>
                  <a:rPr lang="en-US" altLang="zh-CN" sz="1200" dirty="0">
                    <a:latin typeface="宋体" panose="02010600030101010101" pitchFamily="2" charset="-122"/>
                    <a:cs typeface="MV Boli" panose="02000500030200090000" pitchFamily="2" charset="0"/>
                  </a:rPr>
                  <a:t> </a:t>
                </a:r>
                <a:r>
                  <a:rPr lang="zh-CN" altLang="zh-CN" dirty="0"/>
                  <a:t> </a:t>
                </a:r>
                <a:r>
                  <a:rPr lang="en-US" altLang="zh-CN" sz="1200" dirty="0"/>
                  <a:t>(4-28)</a:t>
                </a:r>
                <a:r>
                  <a:rPr lang="en-US" altLang="zh-CN" sz="1200" dirty="0" smtClean="0">
                    <a:latin typeface="宋体" panose="02010600030101010101" pitchFamily="2" charset="-122"/>
                    <a:cs typeface="MV Boli" panose="02000500030200090000" pitchFamily="2" charset="0"/>
                  </a:rPr>
                  <a:t> </a:t>
                </a:r>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4938865" y="2546701"/>
                <a:ext cx="2538837" cy="369332"/>
              </a:xfrm>
              <a:prstGeom prst="rect">
                <a:avLst/>
              </a:prstGeom>
              <a:blipFill>
                <a:blip r:embed="rId5"/>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026989" y="2987485"/>
                <a:ext cx="4572000" cy="32483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𝑁</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𝑛</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𝑛</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𝑃</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1">
                                          <a:latin typeface="Cambria Math" panose="02040503050406030204" pitchFamily="18" charset="0"/>
                                        </a:rPr>
                                        <m:t>𝑖</m:t>
                                      </m:r>
                                    </m:sub>
                                  </m:sSub>
                                </m:sub>
                                <m:sup/>
                              </m:sSubSup>
                            </m:e>
                          </m:sPre>
                        </m:e>
                      </m:d>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𝑃</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1">
                                      <a:latin typeface="Cambria Math" panose="02040503050406030204" pitchFamily="18" charset="0"/>
                                    </a:rPr>
                                    <m:t>𝑖</m:t>
                                  </m:r>
                                </m:sub>
                              </m:sSub>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oMath>
                  </m:oMathPara>
                </a14:m>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4026989" y="2987485"/>
                <a:ext cx="4572000" cy="324833"/>
              </a:xfrm>
              <a:prstGeom prst="rect">
                <a:avLst/>
              </a:prstGeom>
              <a:blipFill>
                <a:blip r:embed="rId6"/>
                <a:stretch>
                  <a:fillRect b="-1887"/>
                </a:stretch>
              </a:blipFill>
            </p:spPr>
            <p:txBody>
              <a:bodyPr/>
              <a:lstStyle/>
              <a:p>
                <a:r>
                  <a:rPr lang="zh-CN" altLang="en-US">
                    <a:noFill/>
                  </a:rPr>
                  <a:t> </a:t>
                </a:r>
              </a:p>
            </p:txBody>
          </p:sp>
        </mc:Fallback>
      </mc:AlternateContent>
      <p:sp>
        <p:nvSpPr>
          <p:cNvPr id="13" name="圆角矩形 12"/>
          <p:cNvSpPr/>
          <p:nvPr/>
        </p:nvSpPr>
        <p:spPr>
          <a:xfrm>
            <a:off x="3877514" y="2427734"/>
            <a:ext cx="4870951" cy="11521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p:cNvSpPr/>
              <p:nvPr/>
            </p:nvSpPr>
            <p:spPr>
              <a:xfrm>
                <a:off x="4716016" y="3865927"/>
                <a:ext cx="1992212" cy="3078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𝐹</m:t>
                              </m:r>
                            </m:e>
                            <m:sub>
                              <m:r>
                                <a:rPr lang="zh-CN" altLang="en-US" sz="1200" i="1">
                                  <a:latin typeface="Cambria Math" panose="02040503050406030204" pitchFamily="18" charset="0"/>
                                </a:rPr>
                                <m:t>𝑖</m:t>
                              </m:r>
                            </m:sub>
                            <m:sup/>
                          </m:sSubSup>
                        </m:e>
                      </m:sPre>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𝑅</m:t>
                          </m:r>
                        </m:e>
                      </m:sPr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sSubSup>
                        </m:e>
                      </m:sPre>
                    </m:oMath>
                  </m:oMathPara>
                </a14:m>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4716016" y="3865927"/>
                <a:ext cx="1992212" cy="307841"/>
              </a:xfrm>
              <a:prstGeom prst="rect">
                <a:avLst/>
              </a:prstGeom>
              <a:blipFill>
                <a:blip r:embed="rId7"/>
                <a:stretch>
                  <a:fillRect b="-3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209799" y="4303563"/>
                <a:ext cx="4572000" cy="324833"/>
              </a:xfrm>
              <a:prstGeom prst="rect">
                <a:avLst/>
              </a:prstGeom>
            </p:spPr>
            <p:txBody>
              <a:bodyPr>
                <a:spAutoFit/>
              </a:bodyPr>
              <a:lstStyle/>
              <a:p>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𝑖</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𝑁</m:t>
                            </m:r>
                          </m:e>
                          <m:sub>
                            <m:r>
                              <a:rPr lang="en-US" altLang="zh-CN" sz="1200" i="1">
                                <a:latin typeface="Cambria Math" panose="02040503050406030204" pitchFamily="18" charset="0"/>
                                <a:cs typeface="MV Boli" panose="02000500030200090000" pitchFamily="2" charset="0"/>
                              </a:rPr>
                              <m:t>𝑖</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r>
                          <a:rPr lang="en-US" altLang="zh-CN" sz="1200" i="1">
                            <a:latin typeface="Cambria Math" panose="02040503050406030204" pitchFamily="18" charset="0"/>
                            <a:cs typeface="MV Boli" panose="02000500030200090000" pitchFamily="2" charset="0"/>
                          </a:rPr>
                          <m:t>𝑖</m:t>
                        </m:r>
                      </m:sup>
                      <m:e>
                        <m:r>
                          <a:rPr lang="en-US" altLang="zh-CN" sz="1200" i="1">
                            <a:latin typeface="Cambria Math" panose="02040503050406030204" pitchFamily="18" charset="0"/>
                            <a:cs typeface="MV Boli" panose="02000500030200090000" pitchFamily="2" charset="0"/>
                          </a:rPr>
                          <m:t>𝑅</m:t>
                        </m:r>
                      </m:e>
                    </m:sPre>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𝑃</m:t>
                            </m:r>
                          </m:e>
                          <m:sub>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𝐶</m:t>
                                </m:r>
                              </m:e>
                              <m:sub>
                                <m:r>
                                  <a:rPr lang="en-US" altLang="zh-CN" sz="1200" i="1">
                                    <a:latin typeface="Cambria Math" panose="02040503050406030204" pitchFamily="18" charset="0"/>
                                    <a:cs typeface="MV Boli" panose="02000500030200090000" pitchFamily="2" charset="0"/>
                                  </a:rPr>
                                  <m:t>𝑖</m:t>
                                </m:r>
                              </m:sub>
                            </m:sSub>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𝐹</m:t>
                            </m:r>
                          </m:e>
                          <m:sub>
                            <m:r>
                              <a:rPr lang="en-US" altLang="zh-CN" sz="1200" i="1">
                                <a:latin typeface="Cambria Math" panose="02040503050406030204" pitchFamily="18" charset="0"/>
                                <a:cs typeface="MV Boli" panose="02000500030200090000" pitchFamily="2" charset="0"/>
                              </a:rPr>
                              <m:t>𝑖</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𝑝</m:t>
                            </m:r>
                          </m:e>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sSubSup>
                      </m:e>
                    </m:sPre>
                    <m:r>
                      <a:rPr lang="en-US" altLang="zh-CN" sz="1200" i="1">
                        <a:latin typeface="Cambria Math" panose="02040503050406030204" pitchFamily="18" charset="0"/>
                        <a:cs typeface="MV Boli" panose="02000500030200090000" pitchFamily="2" charset="0"/>
                      </a:rPr>
                      <m:t>×</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r>
                          <a:rPr lang="en-US" altLang="zh-CN" sz="1200" i="1">
                            <a:latin typeface="Cambria Math" panose="02040503050406030204" pitchFamily="18" charset="0"/>
                            <a:cs typeface="MV Boli" panose="02000500030200090000" pitchFamily="2" charset="0"/>
                          </a:rPr>
                          <m:t>𝑖</m:t>
                        </m:r>
                      </m:sup>
                      <m:e>
                        <m:r>
                          <a:rPr lang="en-US" altLang="zh-CN" sz="1200" i="1">
                            <a:latin typeface="Cambria Math" panose="02040503050406030204" pitchFamily="18" charset="0"/>
                            <a:cs typeface="MV Boli" panose="02000500030200090000" pitchFamily="2" charset="0"/>
                          </a:rPr>
                          <m:t>𝑅</m:t>
                        </m:r>
                      </m:e>
                    </m:sPre>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𝑖</m:t>
                            </m:r>
                            <m:r>
                              <a:rPr lang="en-US" altLang="zh-CN" sz="1200" i="1">
                                <a:latin typeface="Cambria Math" panose="02040503050406030204" pitchFamily="18" charset="0"/>
                                <a:cs typeface="MV Boli" panose="02000500030200090000" pitchFamily="2" charset="0"/>
                              </a:rPr>
                              <m:t>+1</m:t>
                            </m:r>
                          </m:sub>
                          <m:sup/>
                        </m:sSubSup>
                      </m:e>
                    </m:sPre>
                  </m:oMath>
                </a14:m>
                <a:r>
                  <a:rPr lang="en-US" altLang="zh-CN" sz="1200" dirty="0">
                    <a:latin typeface="宋体" panose="02010600030101010101" pitchFamily="2" charset="-122"/>
                    <a:cs typeface="MV Boli" panose="02000500030200090000" pitchFamily="2" charset="0"/>
                  </a:rPr>
                  <a:t> </a:t>
                </a:r>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4209799" y="4303563"/>
                <a:ext cx="4572000" cy="324833"/>
              </a:xfrm>
              <a:prstGeom prst="rect">
                <a:avLst/>
              </a:prstGeom>
              <a:blipFill>
                <a:blip r:embed="rId8"/>
                <a:stretch>
                  <a:fillRect/>
                </a:stretch>
              </a:blipFill>
            </p:spPr>
            <p:txBody>
              <a:bodyPr/>
              <a:lstStyle/>
              <a:p>
                <a:r>
                  <a:rPr lang="zh-CN" altLang="en-US">
                    <a:noFill/>
                  </a:rPr>
                  <a:t> </a:t>
                </a:r>
              </a:p>
            </p:txBody>
          </p:sp>
        </mc:Fallback>
      </mc:AlternateContent>
      <p:sp>
        <p:nvSpPr>
          <p:cNvPr id="16" name="圆角矩形 15"/>
          <p:cNvSpPr/>
          <p:nvPr/>
        </p:nvSpPr>
        <p:spPr>
          <a:xfrm>
            <a:off x="4067944" y="3865927"/>
            <a:ext cx="4680521" cy="101007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22147" y="4383870"/>
            <a:ext cx="2031325" cy="276999"/>
          </a:xfrm>
          <a:prstGeom prst="rect">
            <a:avLst/>
          </a:prstGeom>
        </p:spPr>
        <p:txBody>
          <a:bodyPr wrap="none">
            <a:spAutoFit/>
          </a:bodyPr>
          <a:lstStyle/>
          <a:p>
            <a:r>
              <a:rPr lang="zh-CN" altLang="zh-CN" sz="1200" dirty="0">
                <a:solidFill>
                  <a:srgbClr val="002060"/>
                </a:solidFill>
                <a:cs typeface="MV Boli" panose="02000500030200090000" pitchFamily="2" charset="0"/>
              </a:rPr>
              <a:t>无重力状态下连杆受力分析</a:t>
            </a:r>
            <a:endParaRPr lang="zh-CN" altLang="en-US" sz="1200" dirty="0">
              <a:solidFill>
                <a:srgbClr val="002060"/>
              </a:solidFill>
            </a:endParaRPr>
          </a:p>
        </p:txBody>
      </p:sp>
      <p:sp>
        <p:nvSpPr>
          <p:cNvPr id="19" name="下箭头 18"/>
          <p:cNvSpPr/>
          <p:nvPr/>
        </p:nvSpPr>
        <p:spPr>
          <a:xfrm>
            <a:off x="6228184" y="3579862"/>
            <a:ext cx="267615" cy="2860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247650" y="207010"/>
            <a:ext cx="6908165" cy="598805"/>
            <a:chOff x="-372" y="345"/>
            <a:chExt cx="10879" cy="943"/>
          </a:xfrm>
        </p:grpSpPr>
        <p:sp>
          <p:nvSpPr>
            <p:cNvPr id="22" name="矩形 21"/>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3" name="文本框 22"/>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4" name="椭圆 2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a:off x="5981117" y="3257447"/>
            <a:ext cx="569387" cy="276999"/>
          </a:xfrm>
          <a:prstGeom prst="rect">
            <a:avLst/>
          </a:prstGeom>
        </p:spPr>
        <p:txBody>
          <a:bodyPr wrap="none">
            <a:spAutoFit/>
          </a:bodyPr>
          <a:lstStyle/>
          <a:p>
            <a:r>
              <a:rPr lang="en-US" altLang="zh-CN" sz="1200" dirty="0">
                <a:latin typeface="Times New Roman" panose="02020603050405020304" pitchFamily="18" charset="0"/>
              </a:rPr>
              <a:t>(4-29)</a:t>
            </a:r>
            <a:endParaRPr lang="zh-CN" altLang="en-US" sz="1200" dirty="0"/>
          </a:p>
        </p:txBody>
      </p:sp>
    </p:spTree>
    <p:extLst>
      <p:ext uri="{BB962C8B-B14F-4D97-AF65-F5344CB8AC3E}">
        <p14:creationId xmlns:p14="http://schemas.microsoft.com/office/powerpoint/2010/main" val="15870296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4771" y="627534"/>
            <a:ext cx="1895071"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欧拉方程推导</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2"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97825" y="1306965"/>
            <a:ext cx="3079689" cy="338554"/>
          </a:xfrm>
          <a:prstGeom prst="rect">
            <a:avLst/>
          </a:prstGeom>
        </p:spPr>
        <p:txBody>
          <a:bodyPr wrap="none">
            <a:spAutoFit/>
          </a:bodyPr>
          <a:lstStyle/>
          <a:p>
            <a:r>
              <a:rPr lang="zh-CN" altLang="en-US" sz="1600" b="1" dirty="0" smtClean="0">
                <a:solidFill>
                  <a:srgbClr val="002060"/>
                </a:solidFill>
              </a:rPr>
              <a:t>第三步</a:t>
            </a:r>
            <a:r>
              <a:rPr lang="zh-CN" altLang="en-US" sz="1600" b="1" dirty="0">
                <a:solidFill>
                  <a:srgbClr val="002060"/>
                </a:solidFill>
              </a:rPr>
              <a:t>：计算力和力矩的内推法</a:t>
            </a:r>
          </a:p>
        </p:txBody>
      </p:sp>
      <p:sp>
        <p:nvSpPr>
          <p:cNvPr id="3" name="矩形 2"/>
          <p:cNvSpPr/>
          <p:nvPr/>
        </p:nvSpPr>
        <p:spPr>
          <a:xfrm>
            <a:off x="4207795" y="1299802"/>
            <a:ext cx="4540670" cy="523220"/>
          </a:xfrm>
          <a:prstGeom prst="rect">
            <a:avLst/>
          </a:prstGeom>
        </p:spPr>
        <p:txBody>
          <a:bodyPr wrap="square">
            <a:spAutoFit/>
          </a:bodyPr>
          <a:lstStyle/>
          <a:p>
            <a:r>
              <a:rPr lang="zh-CN" altLang="en-US" sz="1400" dirty="0">
                <a:solidFill>
                  <a:srgbClr val="002060"/>
                </a:solidFill>
                <a:cs typeface="MV Boli" panose="02000500030200090000" pitchFamily="2" charset="0"/>
              </a:rPr>
              <a:t>已计算</a:t>
            </a:r>
            <a:r>
              <a:rPr lang="zh-CN" altLang="en-US" sz="1400" dirty="0" smtClean="0">
                <a:solidFill>
                  <a:srgbClr val="002060"/>
                </a:solidFill>
                <a:cs typeface="MV Boli" panose="02000500030200090000" pitchFamily="2" charset="0"/>
              </a:rPr>
              <a:t>出作用在</a:t>
            </a:r>
            <a:r>
              <a:rPr lang="zh-CN" altLang="en-US" sz="1400" dirty="0" smtClean="0">
                <a:solidFill>
                  <a:srgbClr val="FF0000"/>
                </a:solidFill>
                <a:cs typeface="MV Boli" panose="02000500030200090000" pitchFamily="2" charset="0"/>
              </a:rPr>
              <a:t>连杆</a:t>
            </a:r>
            <a:r>
              <a:rPr lang="zh-CN" altLang="en-US" sz="1400" dirty="0" smtClean="0">
                <a:solidFill>
                  <a:srgbClr val="002060"/>
                </a:solidFill>
                <a:cs typeface="MV Boli" panose="02000500030200090000" pitchFamily="2" charset="0"/>
              </a:rPr>
              <a:t>的</a:t>
            </a:r>
            <a:r>
              <a:rPr lang="zh-CN" altLang="en-US" sz="1400" dirty="0">
                <a:solidFill>
                  <a:srgbClr val="002060"/>
                </a:solidFill>
                <a:cs typeface="MV Boli" panose="02000500030200090000" pitchFamily="2" charset="0"/>
              </a:rPr>
              <a:t>力和力矩后，需要计算产生这些力和力矩所需要的</a:t>
            </a:r>
            <a:r>
              <a:rPr lang="zh-CN" altLang="en-US" sz="1400" dirty="0">
                <a:solidFill>
                  <a:srgbClr val="FF0000"/>
                </a:solidFill>
                <a:cs typeface="MV Boli" panose="02000500030200090000" pitchFamily="2" charset="0"/>
              </a:rPr>
              <a:t>关节</a:t>
            </a:r>
            <a:r>
              <a:rPr lang="zh-CN" altLang="en-US" sz="1400" dirty="0">
                <a:solidFill>
                  <a:srgbClr val="002060"/>
                </a:solidFill>
                <a:cs typeface="MV Boli" panose="02000500030200090000" pitchFamily="2" charset="0"/>
              </a:rPr>
              <a:t>力或力矩。</a:t>
            </a:r>
            <a:endParaRPr lang="zh-CN" altLang="en-US" sz="1400" dirty="0">
              <a:solidFill>
                <a:srgbClr val="002060"/>
              </a:solidFill>
            </a:endParaRPr>
          </a:p>
        </p:txBody>
      </p:sp>
      <p:pic>
        <p:nvPicPr>
          <p:cNvPr id="9" name="图片 8"/>
          <p:cNvPicPr>
            <a:picLocks noChangeAspect="1"/>
          </p:cNvPicPr>
          <p:nvPr/>
        </p:nvPicPr>
        <p:blipFill>
          <a:blip r:embed="rId4"/>
          <a:stretch>
            <a:fillRect/>
          </a:stretch>
        </p:blipFill>
        <p:spPr>
          <a:xfrm>
            <a:off x="545886" y="2067694"/>
            <a:ext cx="3234026" cy="2235869"/>
          </a:xfrm>
          <a:prstGeom prst="rect">
            <a:avLst/>
          </a:prstGeom>
        </p:spPr>
      </p:pic>
      <p:sp>
        <p:nvSpPr>
          <p:cNvPr id="17" name="矩形 16"/>
          <p:cNvSpPr/>
          <p:nvPr/>
        </p:nvSpPr>
        <p:spPr>
          <a:xfrm>
            <a:off x="822147" y="4383870"/>
            <a:ext cx="2031325" cy="276999"/>
          </a:xfrm>
          <a:prstGeom prst="rect">
            <a:avLst/>
          </a:prstGeom>
        </p:spPr>
        <p:txBody>
          <a:bodyPr wrap="none">
            <a:spAutoFit/>
          </a:bodyPr>
          <a:lstStyle/>
          <a:p>
            <a:r>
              <a:rPr lang="zh-CN" altLang="zh-CN" sz="1200" dirty="0">
                <a:solidFill>
                  <a:srgbClr val="002060"/>
                </a:solidFill>
                <a:cs typeface="MV Boli" panose="02000500030200090000" pitchFamily="2" charset="0"/>
              </a:rPr>
              <a:t>无重力状态下连杆受力分析</a:t>
            </a:r>
            <a:endParaRPr lang="zh-CN" altLang="en-US" sz="1200" dirty="0">
              <a:solidFill>
                <a:srgbClr val="002060"/>
              </a:solidFill>
            </a:endParaRPr>
          </a:p>
        </p:txBody>
      </p:sp>
      <mc:AlternateContent xmlns:mc="http://schemas.openxmlformats.org/markup-compatibility/2006" xmlns:a14="http://schemas.microsoft.com/office/drawing/2010/main">
        <mc:Choice Requires="a14">
          <p:sp>
            <p:nvSpPr>
              <p:cNvPr id="5" name="矩形 4"/>
              <p:cNvSpPr/>
              <p:nvPr/>
            </p:nvSpPr>
            <p:spPr>
              <a:xfrm>
                <a:off x="4693604" y="2067694"/>
                <a:ext cx="1423851" cy="3436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𝜏</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𝑛</m:t>
                              </m:r>
                            </m:e>
                            <m:sub>
                              <m:r>
                                <a:rPr lang="zh-CN" altLang="en-US" sz="1400" i="1">
                                  <a:latin typeface="Cambria Math" panose="02040503050406030204" pitchFamily="18" charset="0"/>
                                </a:rPr>
                                <m:t>𝑖</m:t>
                              </m:r>
                            </m:sub>
                            <m:sup>
                              <m:r>
                                <a:rPr lang="zh-CN" altLang="en-US" sz="1400" i="1">
                                  <a:latin typeface="Cambria Math" panose="02040503050406030204" pitchFamily="18" charset="0"/>
                                </a:rPr>
                                <m:t>𝑇</m:t>
                              </m:r>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𝑍</m:t>
                              </m:r>
                            </m:e>
                            <m:sub>
                              <m:r>
                                <a:rPr lang="zh-CN" altLang="en-US" sz="1400" i="1">
                                  <a:latin typeface="Cambria Math" panose="02040503050406030204" pitchFamily="18" charset="0"/>
                                </a:rPr>
                                <m:t>𝑖</m:t>
                              </m:r>
                            </m:sub>
                            <m:sup/>
                          </m:sSubSup>
                        </m:e>
                      </m:sPre>
                    </m:oMath>
                  </m:oMathPara>
                </a14:m>
                <a:endParaRPr lang="zh-CN" altLang="en-US" sz="1400" dirty="0"/>
              </a:p>
            </p:txBody>
          </p:sp>
        </mc:Choice>
        <mc:Fallback xmlns="">
          <p:sp>
            <p:nvSpPr>
              <p:cNvPr id="5" name="矩形 4"/>
              <p:cNvSpPr>
                <a:spLocks noRot="1" noChangeAspect="1" noMove="1" noResize="1" noEditPoints="1" noAdjustHandles="1" noChangeArrowheads="1" noChangeShapeType="1" noTextEdit="1"/>
              </p:cNvSpPr>
              <p:nvPr/>
            </p:nvSpPr>
            <p:spPr>
              <a:xfrm>
                <a:off x="4693604" y="2067694"/>
                <a:ext cx="1423851" cy="3436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693604" y="2600398"/>
                <a:ext cx="1418145" cy="3436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𝑓</m:t>
                              </m:r>
                            </m:e>
                            <m:sub>
                              <m:r>
                                <a:rPr lang="zh-CN" altLang="en-US" sz="1400" i="1">
                                  <a:latin typeface="Cambria Math" panose="02040503050406030204" pitchFamily="18" charset="0"/>
                                </a:rPr>
                                <m:t>𝑖</m:t>
                              </m:r>
                            </m:sub>
                            <m:sup>
                              <m:r>
                                <a:rPr lang="zh-CN" altLang="en-US" sz="1400" i="1">
                                  <a:latin typeface="Cambria Math" panose="02040503050406030204" pitchFamily="18" charset="0"/>
                                </a:rPr>
                                <m:t>𝑇</m:t>
                              </m:r>
                            </m:sup>
                          </m:sSubSup>
                        </m:e>
                      </m:sPre>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𝑍</m:t>
                              </m:r>
                            </m:e>
                            <m:sub>
                              <m:r>
                                <a:rPr lang="zh-CN" altLang="en-US" sz="1400" i="1">
                                  <a:latin typeface="Cambria Math" panose="02040503050406030204" pitchFamily="18" charset="0"/>
                                </a:rPr>
                                <m:t>𝑖</m:t>
                              </m:r>
                            </m:sub>
                            <m:sup/>
                          </m:sSubSup>
                        </m:e>
                      </m:sPre>
                    </m:oMath>
                  </m:oMathPara>
                </a14:m>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4693604" y="2600398"/>
                <a:ext cx="1418145" cy="343620"/>
              </a:xfrm>
              <a:prstGeom prst="rect">
                <a:avLst/>
              </a:prstGeom>
              <a:blipFill>
                <a:blip r:embed="rId6"/>
                <a:stretch>
                  <a:fillRect b="-7143"/>
                </a:stretch>
              </a:blipFill>
            </p:spPr>
            <p:txBody>
              <a:bodyPr/>
              <a:lstStyle/>
              <a:p>
                <a:r>
                  <a:rPr lang="zh-CN" altLang="en-US">
                    <a:noFill/>
                  </a:rPr>
                  <a:t> </a:t>
                </a:r>
              </a:p>
            </p:txBody>
          </p:sp>
        </mc:Fallback>
      </mc:AlternateContent>
      <p:sp>
        <p:nvSpPr>
          <p:cNvPr id="7" name="矩形 6"/>
          <p:cNvSpPr/>
          <p:nvPr/>
        </p:nvSpPr>
        <p:spPr>
          <a:xfrm>
            <a:off x="6300192" y="2103537"/>
            <a:ext cx="902811" cy="307777"/>
          </a:xfrm>
          <a:prstGeom prst="rect">
            <a:avLst/>
          </a:prstGeom>
        </p:spPr>
        <p:txBody>
          <a:bodyPr wrap="none">
            <a:spAutoFit/>
          </a:bodyPr>
          <a:lstStyle/>
          <a:p>
            <a:r>
              <a:rPr lang="zh-CN" altLang="zh-CN" sz="1400">
                <a:solidFill>
                  <a:srgbClr val="002060"/>
                </a:solidFill>
                <a:cs typeface="MV Boli" panose="02000500030200090000" pitchFamily="2" charset="0"/>
              </a:rPr>
              <a:t>旋转关节</a:t>
            </a:r>
            <a:endParaRPr lang="zh-CN" altLang="en-US" sz="1400">
              <a:solidFill>
                <a:srgbClr val="002060"/>
              </a:solidFill>
            </a:endParaRPr>
          </a:p>
        </p:txBody>
      </p:sp>
      <p:sp>
        <p:nvSpPr>
          <p:cNvPr id="8" name="矩形 7"/>
          <p:cNvSpPr/>
          <p:nvPr/>
        </p:nvSpPr>
        <p:spPr>
          <a:xfrm>
            <a:off x="6291617" y="2618319"/>
            <a:ext cx="902811" cy="307777"/>
          </a:xfrm>
          <a:prstGeom prst="rect">
            <a:avLst/>
          </a:prstGeom>
        </p:spPr>
        <p:txBody>
          <a:bodyPr wrap="none">
            <a:spAutoFit/>
          </a:bodyPr>
          <a:lstStyle/>
          <a:p>
            <a:r>
              <a:rPr lang="zh-CN" altLang="zh-CN" sz="1400" dirty="0">
                <a:solidFill>
                  <a:srgbClr val="002060"/>
                </a:solidFill>
                <a:cs typeface="MV Boli" panose="02000500030200090000" pitchFamily="2" charset="0"/>
              </a:rPr>
              <a:t>平移关节</a:t>
            </a:r>
            <a:endParaRPr lang="zh-CN" altLang="en-US" sz="1400" dirty="0">
              <a:solidFill>
                <a:srgbClr val="002060"/>
              </a:solidFill>
            </a:endParaRPr>
          </a:p>
        </p:txBody>
      </p:sp>
      <p:sp>
        <p:nvSpPr>
          <p:cNvPr id="20" name="矩形 19"/>
          <p:cNvSpPr/>
          <p:nvPr/>
        </p:nvSpPr>
        <p:spPr>
          <a:xfrm>
            <a:off x="4034648" y="3178580"/>
            <a:ext cx="1210588" cy="338554"/>
          </a:xfrm>
          <a:prstGeom prst="rect">
            <a:avLst/>
          </a:prstGeom>
        </p:spPr>
        <p:txBody>
          <a:bodyPr wrap="none">
            <a:spAutoFit/>
          </a:bodyPr>
          <a:lstStyle/>
          <a:p>
            <a:r>
              <a:rPr lang="zh-CN" altLang="zh-CN" sz="1600" dirty="0">
                <a:solidFill>
                  <a:srgbClr val="002060"/>
                </a:solidFill>
                <a:cs typeface="MV Boli" panose="02000500030200090000" pitchFamily="2" charset="0"/>
              </a:rPr>
              <a:t>考虑</a:t>
            </a:r>
            <a:r>
              <a:rPr lang="zh-CN" altLang="zh-CN" sz="1600" dirty="0" smtClean="0">
                <a:solidFill>
                  <a:srgbClr val="002060"/>
                </a:solidFill>
                <a:cs typeface="MV Boli" panose="02000500030200090000" pitchFamily="2" charset="0"/>
              </a:rPr>
              <a:t>重力</a:t>
            </a:r>
            <a:r>
              <a:rPr lang="zh-CN" altLang="en-US" sz="1600" dirty="0" smtClean="0">
                <a:solidFill>
                  <a:srgbClr val="002060"/>
                </a:solidFill>
                <a:cs typeface="MV Boli" panose="02000500030200090000" pitchFamily="2" charset="0"/>
              </a:rPr>
              <a:t>：</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21" name="矩形 20"/>
              <p:cNvSpPr/>
              <p:nvPr/>
            </p:nvSpPr>
            <p:spPr>
              <a:xfrm>
                <a:off x="5040051" y="3147814"/>
                <a:ext cx="887359" cy="3310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sPre>
                            <m:sPrePr>
                              <m:ctrlPr>
                                <a:rPr lang="zh-CN" altLang="en-US" sz="1400" i="1">
                                  <a:latin typeface="Cambria Math" panose="02040503050406030204" pitchFamily="18" charset="0"/>
                                </a:rPr>
                              </m:ctrlPr>
                            </m:sPrePr>
                            <m:sub/>
                            <m:sup>
                              <m:r>
                                <a:rPr lang="zh-CN" altLang="en-US" sz="1400" i="0">
                                  <a:latin typeface="Cambria Math" panose="02040503050406030204" pitchFamily="18" charset="0"/>
                                </a:rPr>
                                <m:t>0</m:t>
                              </m:r>
                            </m:sup>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𝑣</m:t>
                                  </m:r>
                                </m:e>
                              </m:acc>
                            </m:e>
                          </m:sPre>
                        </m:e>
                        <m:sub>
                          <m:r>
                            <a:rPr lang="zh-CN" altLang="en-US" sz="1400" i="0">
                              <a:latin typeface="Cambria Math" panose="02040503050406030204" pitchFamily="18" charset="0"/>
                            </a:rPr>
                            <m:t>0</m:t>
                          </m:r>
                        </m:sub>
                      </m:sSub>
                      <m:r>
                        <a:rPr lang="zh-CN" altLang="en-US" sz="1400" i="0">
                          <a:latin typeface="Cambria Math" panose="02040503050406030204" pitchFamily="18" charset="0"/>
                        </a:rPr>
                        <m:t>=</m:t>
                      </m:r>
                      <m:r>
                        <a:rPr lang="zh-CN" altLang="en-US" sz="1400" i="1">
                          <a:latin typeface="Cambria Math" panose="02040503050406030204" pitchFamily="18" charset="0"/>
                        </a:rPr>
                        <m:t>𝐺</m:t>
                      </m:r>
                    </m:oMath>
                  </m:oMathPara>
                </a14:m>
                <a:endParaRPr lang="zh-CN"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5040051" y="3147814"/>
                <a:ext cx="887359" cy="33105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928590" y="3178580"/>
                <a:ext cx="2819875" cy="307777"/>
              </a:xfrm>
              <a:prstGeom prst="rect">
                <a:avLst/>
              </a:prstGeom>
            </p:spPr>
            <p:txBody>
              <a:bodyPr wrap="none">
                <a:spAutoFit/>
              </a:bodyPr>
              <a:lstStyle/>
              <a:p>
                <a14:m>
                  <m:oMath xmlns:m="http://schemas.openxmlformats.org/officeDocument/2006/math">
                    <m:r>
                      <a:rPr lang="en-US" altLang="zh-CN" sz="1400" i="1" smtClean="0">
                        <a:solidFill>
                          <a:srgbClr val="002060"/>
                        </a:solidFill>
                        <a:latin typeface="Cambria Math" panose="02040503050406030204" pitchFamily="18" charset="0"/>
                        <a:cs typeface="MV Boli" panose="02000500030200090000" pitchFamily="2" charset="0"/>
                      </a:rPr>
                      <m:t>𝐺</m:t>
                    </m:r>
                  </m:oMath>
                </a14:m>
                <a:r>
                  <a:rPr lang="zh-CN" altLang="zh-CN" sz="1400" dirty="0">
                    <a:solidFill>
                      <a:srgbClr val="002060"/>
                    </a:solidFill>
                    <a:cs typeface="MV Boli" panose="02000500030200090000" pitchFamily="2" charset="0"/>
                  </a:rPr>
                  <a:t>与重力矢量大小相等，方向相反</a:t>
                </a:r>
                <a:endParaRPr lang="zh-CN" altLang="en-US" sz="1400" dirty="0">
                  <a:solidFill>
                    <a:srgbClr val="002060"/>
                  </a:solidFill>
                </a:endParaRPr>
              </a:p>
            </p:txBody>
          </p:sp>
        </mc:Choice>
        <mc:Fallback xmlns="">
          <p:sp>
            <p:nvSpPr>
              <p:cNvPr id="22" name="矩形 21"/>
              <p:cNvSpPr>
                <a:spLocks noRot="1" noChangeAspect="1" noMove="1" noResize="1" noEditPoints="1" noAdjustHandles="1" noChangeArrowheads="1" noChangeShapeType="1" noTextEdit="1"/>
              </p:cNvSpPr>
              <p:nvPr/>
            </p:nvSpPr>
            <p:spPr>
              <a:xfrm>
                <a:off x="5928590" y="3178580"/>
                <a:ext cx="2819875" cy="307777"/>
              </a:xfrm>
              <a:prstGeom prst="rect">
                <a:avLst/>
              </a:prstGeom>
              <a:blipFill>
                <a:blip r:embed="rId8"/>
                <a:stretch>
                  <a:fillRect t="-5882" b="-15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034648" y="3693477"/>
                <a:ext cx="4572000" cy="489045"/>
              </a:xfrm>
              <a:prstGeom prst="rect">
                <a:avLst/>
              </a:prstGeom>
            </p:spPr>
            <p:txBody>
              <a:bodyPr>
                <a:spAutoFit/>
              </a:bodyPr>
              <a:lstStyle/>
              <a:p>
                <a:r>
                  <a:rPr lang="zh-CN" altLang="zh-CN" sz="1200" dirty="0">
                    <a:cs typeface="MV Boli" panose="02000500030200090000" pitchFamily="2" charset="0"/>
                  </a:rPr>
                  <a:t>对于末端来说，当机器人在自由空间运动时，机器人末端受力为零，</a:t>
                </a:r>
                <a14:m>
                  <m:oMath xmlns:m="http://schemas.openxmlformats.org/officeDocument/2006/math">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b>
                          <m:sup/>
                        </m:sSubSup>
                      </m:e>
                    </m:sPre>
                    <m:r>
                      <a:rPr lang="en-US" altLang="zh-CN" sz="1200">
                        <a:latin typeface="Cambria Math" panose="02040503050406030204" pitchFamily="18" charset="0"/>
                        <a:cs typeface="MV Boli" panose="02000500030200090000" pitchFamily="2" charset="0"/>
                      </a:rPr>
                      <m:t>=0</m:t>
                    </m:r>
                  </m:oMath>
                </a14:m>
                <a:r>
                  <a:rPr lang="en-US" altLang="zh-CN" sz="1200" dirty="0">
                    <a:latin typeface="宋体" panose="02010600030101010101" pitchFamily="2" charset="-122"/>
                    <a:cs typeface="MV Boli" panose="02000500030200090000" pitchFamily="2" charset="0"/>
                  </a:rPr>
                  <a:t>,</a:t>
                </a:r>
                <a14:m>
                  <m:oMath xmlns:m="http://schemas.openxmlformats.org/officeDocument/2006/math">
                    <m:r>
                      <a:rPr lang="en-US" altLang="zh-CN" sz="1200">
                        <a:latin typeface="Cambria Math" panose="02040503050406030204" pitchFamily="18" charset="0"/>
                        <a:cs typeface="MV Boli" panose="02000500030200090000" pitchFamily="2" charset="0"/>
                      </a:rPr>
                      <m:t> </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b>
                          <m:sup/>
                        </m:sSubSup>
                      </m:e>
                    </m:sPre>
                    <m:r>
                      <a:rPr lang="en-US" altLang="zh-CN" sz="1200">
                        <a:latin typeface="Cambria Math" panose="02040503050406030204" pitchFamily="18" charset="0"/>
                        <a:cs typeface="MV Boli" panose="02000500030200090000" pitchFamily="2" charset="0"/>
                      </a:rPr>
                      <m:t>=0</m:t>
                    </m:r>
                  </m:oMath>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4034648" y="3693477"/>
                <a:ext cx="4572000" cy="489045"/>
              </a:xfrm>
              <a:prstGeom prst="rect">
                <a:avLst/>
              </a:prstGeom>
              <a:blipFill>
                <a:blip r:embed="rId9"/>
                <a:stretch>
                  <a:fillRect l="-133"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4034648" y="4182522"/>
                <a:ext cx="4779336" cy="516423"/>
              </a:xfrm>
              <a:prstGeom prst="rect">
                <a:avLst/>
              </a:prstGeom>
            </p:spPr>
            <p:txBody>
              <a:bodyPr wrap="square">
                <a:spAutoFit/>
              </a:bodyPr>
              <a:lstStyle/>
              <a:p>
                <a:r>
                  <a:rPr lang="zh-CN" altLang="zh-CN" sz="1200" dirty="0">
                    <a:cs typeface="MV Boli" panose="02000500030200090000" pitchFamily="2" charset="0"/>
                  </a:rPr>
                  <a:t>与外部环境有接触时，末端受力不为零，需要求得对应的</a:t>
                </a:r>
                <a14:m>
                  <m:oMath xmlns:m="http://schemas.openxmlformats.org/officeDocument/2006/math">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b>
                          <m:sup/>
                        </m:sSubSup>
                      </m:e>
                    </m:sPre>
                    <m:r>
                      <a:rPr lang="zh-CN" altLang="zh-CN" sz="1200">
                        <a:latin typeface="Cambria Math" panose="02040503050406030204" pitchFamily="18" charset="0"/>
                        <a:cs typeface="MV Boli" panose="02000500030200090000" pitchFamily="2" charset="0"/>
                      </a:rPr>
                      <m:t>，</m:t>
                    </m:r>
                    <m:r>
                      <a:rPr lang="zh-CN" altLang="zh-CN" sz="1200">
                        <a:latin typeface="Cambria Math" panose="02040503050406030204" pitchFamily="18" charset="0"/>
                        <a:ea typeface="Cambria Math" panose="02040503050406030204" pitchFamily="18" charset="0"/>
                        <a:cs typeface="MV Boli" panose="02000500030200090000" pitchFamily="2" charset="0"/>
                      </a:rPr>
                      <m:t> </m:t>
                    </m:r>
                    <m:sPre>
                      <m:sPre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PrePr>
                      <m:sub/>
                      <m:sup>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p>
                      <m:e>
                        <m:sSubSup>
                          <m:sSub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Sup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b>
                          <m:sup/>
                        </m:sSubSup>
                      </m:e>
                    </m:sPre>
                  </m:oMath>
                </a14:m>
                <a:r>
                  <a:rPr lang="zh-CN" altLang="zh-CN" sz="1200" dirty="0">
                    <a:cs typeface="MV Boli" panose="02000500030200090000" pitchFamily="2" charset="0"/>
                  </a:rPr>
                  <a:t>，代入力和力矩的递推计算中</a:t>
                </a:r>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4034648" y="4182522"/>
                <a:ext cx="4779336" cy="516423"/>
              </a:xfrm>
              <a:prstGeom prst="rect">
                <a:avLst/>
              </a:prstGeom>
              <a:blipFill>
                <a:blip r:embed="rId10"/>
                <a:stretch>
                  <a:fillRect l="-128" b="-5882"/>
                </a:stretch>
              </a:blipFill>
            </p:spPr>
            <p:txBody>
              <a:bodyPr/>
              <a:lstStyle/>
              <a:p>
                <a:r>
                  <a:rPr lang="zh-CN" altLang="en-US">
                    <a:noFill/>
                  </a:rPr>
                  <a:t> </a:t>
                </a:r>
              </a:p>
            </p:txBody>
          </p:sp>
        </mc:Fallback>
      </mc:AlternateContent>
      <p:sp>
        <p:nvSpPr>
          <p:cNvPr id="25" name="圆角矩形 24"/>
          <p:cNvSpPr/>
          <p:nvPr/>
        </p:nvSpPr>
        <p:spPr>
          <a:xfrm>
            <a:off x="4499992" y="1995686"/>
            <a:ext cx="3024336" cy="10801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47650" y="207010"/>
            <a:ext cx="6908165" cy="598805"/>
            <a:chOff x="-372" y="345"/>
            <a:chExt cx="10879" cy="943"/>
          </a:xfrm>
        </p:grpSpPr>
        <p:sp>
          <p:nvSpPr>
            <p:cNvPr id="27" name="矩形 2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Newton-Euler Dynamics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8" name="文本框 27"/>
            <p:cNvSpPr txBox="1"/>
            <p:nvPr/>
          </p:nvSpPr>
          <p:spPr>
            <a:xfrm>
              <a:off x="443" y="363"/>
              <a:ext cx="10064"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基于矢量三角形法的递归牛顿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欧拉动力学方法</a:t>
              </a:r>
              <a:r>
                <a:rPr lang="en-US" altLang="zh-CN" sz="2000" b="1" dirty="0">
                  <a:latin typeface="Arial" panose="020B0604020202020204" pitchFamily="34" charset="0"/>
                  <a:ea typeface="微软雅黑" panose="020B0503020204020204" charset="-122"/>
                  <a:sym typeface="+mn-ea"/>
                </a:rPr>
                <a:t>(RNEA)</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9" name="椭圆 2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662562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720504" y="1558481"/>
            <a:ext cx="3849370" cy="336374"/>
          </a:xfrm>
          <a:prstGeom prst="rect">
            <a:avLst/>
          </a:prstGeom>
        </p:spPr>
        <p:txBody>
          <a:bodyPr wrap="square">
            <a:spAutoFit/>
          </a:bodyPr>
          <a:lstStyle/>
          <a:p>
            <a:pPr>
              <a:lnSpc>
                <a:spcPct val="150000"/>
              </a:lnSpc>
            </a:pPr>
            <a:r>
              <a:rPr lang="zh-CN" altLang="en-US" sz="1200" dirty="0" smtClean="0">
                <a:solidFill>
                  <a:srgbClr val="FF0000"/>
                </a:solidFill>
                <a:latin typeface="Arial" panose="020B0604020202020204" pitchFamily="34" charset="0"/>
                <a:ea typeface="微软雅黑" panose="020B0503020204020204" charset="-122"/>
                <a:sym typeface="+mn-ea"/>
              </a:rPr>
              <a:t>采用运动旋量</a:t>
            </a:r>
            <a:r>
              <a:rPr lang="en-US" altLang="zh-CN" sz="1200" dirty="0" smtClean="0">
                <a:solidFill>
                  <a:srgbClr val="FF0000"/>
                </a:solidFill>
                <a:latin typeface="Arial" panose="020B0604020202020204" pitchFamily="34" charset="0"/>
                <a:ea typeface="微软雅黑" panose="020B0503020204020204" charset="-122"/>
                <a:sym typeface="+mn-ea"/>
              </a:rPr>
              <a:t>-</a:t>
            </a:r>
            <a:r>
              <a:rPr lang="zh-CN" altLang="en-US" sz="1200" dirty="0" smtClean="0">
                <a:solidFill>
                  <a:srgbClr val="FF0000"/>
                </a:solidFill>
                <a:latin typeface="Arial" panose="020B0604020202020204" pitchFamily="34" charset="0"/>
                <a:ea typeface="微软雅黑" panose="020B0503020204020204" charset="-122"/>
                <a:sym typeface="+mn-ea"/>
              </a:rPr>
              <a:t>力旋量的概念建立牛顿</a:t>
            </a:r>
            <a:r>
              <a:rPr lang="en-US" altLang="zh-CN" sz="1200" dirty="0">
                <a:solidFill>
                  <a:srgbClr val="FF0000"/>
                </a:solidFill>
                <a:latin typeface="Arial" panose="020B0604020202020204" pitchFamily="34" charset="0"/>
                <a:ea typeface="微软雅黑" panose="020B0503020204020204" charset="-122"/>
                <a:sym typeface="+mn-ea"/>
              </a:rPr>
              <a:t>-</a:t>
            </a:r>
            <a:r>
              <a:rPr lang="zh-CN" altLang="en-US" sz="1200" dirty="0">
                <a:solidFill>
                  <a:srgbClr val="FF0000"/>
                </a:solidFill>
                <a:latin typeface="Arial" panose="020B0604020202020204" pitchFamily="34" charset="0"/>
                <a:ea typeface="微软雅黑" panose="020B0503020204020204" charset="-122"/>
                <a:sym typeface="+mn-ea"/>
              </a:rPr>
              <a:t>欧拉方程。</a:t>
            </a:r>
          </a:p>
        </p:txBody>
      </p:sp>
      <p:sp>
        <p:nvSpPr>
          <p:cNvPr id="7" name="文本框 6"/>
          <p:cNvSpPr txBox="1"/>
          <p:nvPr/>
        </p:nvSpPr>
        <p:spPr>
          <a:xfrm>
            <a:off x="4032999" y="997940"/>
            <a:ext cx="3997146" cy="461665"/>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基于旋量法的牛顿</a:t>
            </a:r>
            <a:r>
              <a:rPr lang="en-US" altLang="zh-CN" sz="2400" b="1" dirty="0">
                <a:latin typeface="Arial" panose="020B0604020202020204" pitchFamily="34" charset="0"/>
                <a:ea typeface="微软雅黑" panose="020B0503020204020204" charset="-122"/>
                <a:sym typeface="+mn-ea"/>
              </a:rPr>
              <a:t>-</a:t>
            </a:r>
            <a:r>
              <a:rPr lang="zh-CN" altLang="en-US" sz="2400" b="1" dirty="0">
                <a:latin typeface="Arial" panose="020B0604020202020204" pitchFamily="34" charset="0"/>
                <a:ea typeface="微软雅黑" panose="020B0503020204020204" charset="-122"/>
                <a:sym typeface="+mn-ea"/>
              </a:rPr>
              <a:t>欧拉方程</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03</a:t>
            </a:r>
            <a:endParaRPr lang="en-US" altLang="zh-CN" sz="6600" b="1" dirty="0">
              <a:solidFill>
                <a:schemeClr val="bg1"/>
              </a:solidFill>
              <a:latin typeface="微软雅黑" panose="020B0503020204020204" charset="-122"/>
              <a:ea typeface="微软雅黑" panose="020B0503020204020204" charset="-122"/>
              <a:sym typeface="+mn-ea"/>
            </a:endParaRPr>
          </a:p>
        </p:txBody>
      </p:sp>
      <p:sp>
        <p:nvSpPr>
          <p:cNvPr id="8" name="矩形 7"/>
          <p:cNvSpPr/>
          <p:nvPr/>
        </p:nvSpPr>
        <p:spPr>
          <a:xfrm>
            <a:off x="1331640" y="4680528"/>
            <a:ext cx="6735067" cy="307777"/>
          </a:xfrm>
          <a:prstGeom prst="rect">
            <a:avLst/>
          </a:prstGeom>
        </p:spPr>
        <p:txBody>
          <a:bodyPr wrap="square">
            <a:spAutoFit/>
          </a:bodyPr>
          <a:lstStyle/>
          <a:p>
            <a:r>
              <a:rPr lang="zh-CN" altLang="en-US" sz="1400" dirty="0"/>
              <a:t>https://github.com/mhuasong/Basics-of-Robotics-Theory-and-Technology/tree/main/ch4</a:t>
            </a:r>
          </a:p>
        </p:txBody>
      </p:sp>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extLst>
                  <p:ext uri="{D42A27DB-BD31-4B8C-83A1-F6EECF244321}">
                    <p14:modId xmlns:p14="http://schemas.microsoft.com/office/powerpoint/2010/main" val="2825634214"/>
                  </p:ext>
                </p:extLst>
              </p:nvPr>
            </p:nvGraphicFramePr>
            <p:xfrm>
              <a:off x="5064862" y="2047173"/>
              <a:ext cx="2558604" cy="2396785"/>
            </p:xfrm>
            <a:graphic>
              <a:graphicData uri="http://schemas.openxmlformats.org/drawingml/2006/table">
                <a:tbl>
                  <a:tblPr>
                    <a:tableStyleId>{5C22544A-7EE6-4342-B048-85BDC9FD1C3A}</a:tableStyleId>
                  </a:tblPr>
                  <a:tblGrid>
                    <a:gridCol w="2558604">
                      <a:extLst>
                        <a:ext uri="{9D8B030D-6E8A-4147-A177-3AD203B41FA5}">
                          <a16:colId xmlns:a16="http://schemas.microsoft.com/office/drawing/2014/main" val="3217778443"/>
                        </a:ext>
                      </a:extLst>
                    </a:gridCol>
                  </a:tblGrid>
                  <a:tr h="2396785">
                    <a:tc>
                      <a:txBody>
                        <a:bodyPr/>
                        <a:lstStyle/>
                        <a:p>
                          <a:pPr algn="l">
                            <a:spcAft>
                              <a:spcPts val="0"/>
                            </a:spcAft>
                          </a:pPr>
                          <a:r>
                            <a:rPr lang="en-US" sz="1000" kern="0" dirty="0">
                              <a:effectLst/>
                            </a:rPr>
                            <a:t>inputs: </a:t>
                          </a:r>
                          <a14:m>
                            <m:oMath xmlns:m="http://schemas.openxmlformats.org/officeDocument/2006/math">
                              <m:sSub>
                                <m:sSubPr>
                                  <m:ctrlPr>
                                    <a:rPr lang="zh-CN" sz="1000" i="1" kern="0">
                                      <a:effectLst/>
                                      <a:latin typeface="Cambria Math" panose="02040503050406030204" pitchFamily="18" charset="0"/>
                                    </a:rPr>
                                  </m:ctrlPr>
                                </m:sSubPr>
                                <m:e>
                                  <m:r>
                                    <a:rPr lang="en-US" sz="1000" kern="100">
                                      <a:effectLst/>
                                      <a:latin typeface="Cambria Math" panose="02040503050406030204" pitchFamily="18" charset="0"/>
                                    </a:rPr>
                                    <m:t>𝜃</m:t>
                                  </m:r>
                                </m:e>
                                <m:sub>
                                  <m:r>
                                    <a:rPr lang="en-US" sz="1000" kern="100">
                                      <a:effectLst/>
                                      <a:latin typeface="Cambria Math" panose="02040503050406030204" pitchFamily="18" charset="0"/>
                                    </a:rPr>
                                    <m:t>𝑖</m:t>
                                  </m:r>
                                </m:sub>
                              </m:sSub>
                            </m:oMath>
                          </a14:m>
                          <a:r>
                            <a:rPr lang="en-US" sz="1000" kern="0" dirty="0">
                              <a:effectLst/>
                            </a:rPr>
                            <a:t>,</a:t>
                          </a:r>
                          <a14:m>
                            <m:oMath xmlns:m="http://schemas.openxmlformats.org/officeDocument/2006/math">
                              <m:sSub>
                                <m:sSubPr>
                                  <m:ctrlPr>
                                    <a:rPr lang="zh-CN" sz="1000" i="1" kern="0">
                                      <a:effectLst/>
                                      <a:latin typeface="Cambria Math" panose="02040503050406030204" pitchFamily="18" charset="0"/>
                                    </a:rPr>
                                  </m:ctrlPr>
                                </m:sSubPr>
                                <m:e>
                                  <m:acc>
                                    <m:accPr>
                                      <m:chr m:val="̇"/>
                                      <m:ctrlPr>
                                        <a:rPr lang="zh-CN" sz="1000" i="1" kern="0">
                                          <a:effectLst/>
                                          <a:latin typeface="Cambria Math" panose="02040503050406030204" pitchFamily="18" charset="0"/>
                                        </a:rPr>
                                      </m:ctrlPr>
                                    </m:accPr>
                                    <m:e>
                                      <m:r>
                                        <a:rPr lang="en-US" sz="1000" kern="100">
                                          <a:effectLst/>
                                          <a:latin typeface="Cambria Math" panose="02040503050406030204" pitchFamily="18" charset="0"/>
                                        </a:rPr>
                                        <m:t>𝜃</m:t>
                                      </m:r>
                                    </m:e>
                                  </m:acc>
                                </m:e>
                                <m:sub>
                                  <m:r>
                                    <a:rPr lang="en-US" sz="1000" kern="100">
                                      <a:effectLst/>
                                      <a:latin typeface="Cambria Math" panose="02040503050406030204" pitchFamily="18" charset="0"/>
                                    </a:rPr>
                                    <m:t>𝑖</m:t>
                                  </m:r>
                                </m:sub>
                              </m:sSub>
                            </m:oMath>
                          </a14:m>
                          <a:r>
                            <a:rPr lang="en-US" sz="1000" kern="0" dirty="0">
                              <a:effectLst/>
                            </a:rPr>
                            <a:t>,</a:t>
                          </a:r>
                          <a14:m>
                            <m:oMath xmlns:m="http://schemas.openxmlformats.org/officeDocument/2006/math">
                              <m:r>
                                <a:rPr lang="en-US" sz="1000" kern="0">
                                  <a:effectLst/>
                                  <a:latin typeface="Cambria Math" panose="02040503050406030204" pitchFamily="18" charset="0"/>
                                </a:rPr>
                                <m:t> </m:t>
                              </m:r>
                              <m:sSub>
                                <m:sSubPr>
                                  <m:ctrlPr>
                                    <a:rPr lang="zh-CN" sz="1000" i="1" kern="0">
                                      <a:effectLst/>
                                      <a:latin typeface="Cambria Math" panose="02040503050406030204" pitchFamily="18" charset="0"/>
                                    </a:rPr>
                                  </m:ctrlPr>
                                </m:sSubPr>
                                <m:e>
                                  <m:acc>
                                    <m:accPr>
                                      <m:chr m:val="̈"/>
                                      <m:ctrlPr>
                                        <a:rPr lang="zh-CN" sz="1000" i="1" kern="0">
                                          <a:effectLst/>
                                          <a:latin typeface="Cambria Math" panose="02040503050406030204" pitchFamily="18" charset="0"/>
                                        </a:rPr>
                                      </m:ctrlPr>
                                    </m:accPr>
                                    <m:e>
                                      <m:r>
                                        <a:rPr lang="en-US" sz="1000" kern="100">
                                          <a:effectLst/>
                                          <a:latin typeface="Cambria Math" panose="02040503050406030204" pitchFamily="18" charset="0"/>
                                        </a:rPr>
                                        <m:t>𝜃</m:t>
                                      </m:r>
                                    </m:e>
                                  </m:acc>
                                </m:e>
                                <m:sub>
                                  <m:r>
                                    <a:rPr lang="en-US" sz="1000" kern="100">
                                      <a:effectLst/>
                                      <a:latin typeface="Cambria Math" panose="02040503050406030204" pitchFamily="18" charset="0"/>
                                    </a:rPr>
                                    <m:t>𝑖</m:t>
                                  </m:r>
                                </m:sub>
                              </m:sSub>
                            </m:oMath>
                          </a14:m>
                          <a:r>
                            <a:rPr lang="en-US" sz="1000" kern="0" dirty="0">
                              <a:effectLst/>
                            </a:rPr>
                            <a:t>,</a:t>
                          </a:r>
                          <a14:m>
                            <m:oMath xmlns:m="http://schemas.openxmlformats.org/officeDocument/2006/math">
                              <m:sSub>
                                <m:sSubPr>
                                  <m:ctrlPr>
                                    <a:rPr lang="zh-CN" sz="1000" i="1" kern="0">
                                      <a:effectLst/>
                                      <a:latin typeface="Cambria Math" panose="02040503050406030204" pitchFamily="18" charset="0"/>
                                    </a:rPr>
                                  </m:ctrlPr>
                                </m:sSubPr>
                                <m:e>
                                  <m:r>
                                    <a:rPr lang="en-US" sz="1000" kern="0">
                                      <a:effectLst/>
                                      <a:latin typeface="Cambria Math" panose="02040503050406030204" pitchFamily="18" charset="0"/>
                                    </a:rPr>
                                    <m:t>𝓕</m:t>
                                  </m:r>
                                </m:e>
                                <m:sub>
                                  <m:r>
                                    <a:rPr lang="en-US" sz="1000" kern="0">
                                      <a:effectLst/>
                                      <a:latin typeface="Cambria Math" panose="02040503050406030204" pitchFamily="18" charset="0"/>
                                    </a:rPr>
                                    <m:t>𝒏</m:t>
                                  </m:r>
                                  <m:r>
                                    <a:rPr lang="en-US" sz="1000" kern="0">
                                      <a:effectLst/>
                                      <a:latin typeface="Cambria Math" panose="02040503050406030204" pitchFamily="18" charset="0"/>
                                    </a:rPr>
                                    <m:t>+</m:t>
                                  </m:r>
                                  <m:r>
                                    <a:rPr lang="en-US" sz="1000" kern="0">
                                      <a:effectLst/>
                                      <a:latin typeface="Cambria Math" panose="02040503050406030204" pitchFamily="18" charset="0"/>
                                    </a:rPr>
                                    <m:t>𝟏</m:t>
                                  </m:r>
                                </m:sub>
                              </m:sSub>
                            </m:oMath>
                          </a14:m>
                          <a:endParaRPr lang="zh-CN" sz="1000" kern="100" dirty="0">
                            <a:effectLst/>
                          </a:endParaRPr>
                        </a:p>
                        <a:p>
                          <a:pPr algn="l">
                            <a:spcAft>
                              <a:spcPts val="0"/>
                            </a:spcAft>
                          </a:pPr>
                          <a:r>
                            <a:rPr lang="en-US" sz="1000" kern="0" dirty="0">
                              <a:effectLst/>
                            </a:rPr>
                            <a:t>output: τ</a:t>
                          </a:r>
                          <a:endParaRPr lang="zh-CN" sz="1000" kern="100" dirty="0">
                            <a:effectLst/>
                          </a:endParaRPr>
                        </a:p>
                        <a:p>
                          <a:pPr algn="l">
                            <a:spcAft>
                              <a:spcPts val="0"/>
                            </a:spcAft>
                          </a:pPr>
                          <a14:m>
                            <m:oMath xmlns:m="http://schemas.openxmlformats.org/officeDocument/2006/math">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𝒱</m:t>
                                  </m:r>
                                </m:e>
                                <m:sub>
                                  <m:r>
                                    <a:rPr lang="en-US" sz="1000" kern="100">
                                      <a:effectLst/>
                                      <a:latin typeface="Cambria Math" panose="02040503050406030204" pitchFamily="18" charset="0"/>
                                    </a:rPr>
                                    <m:t>0</m:t>
                                  </m:r>
                                </m:sub>
                              </m:sSub>
                            </m:oMath>
                          </a14:m>
                          <a:r>
                            <a:rPr lang="en-US" sz="1000" kern="0" dirty="0">
                              <a:effectLst/>
                            </a:rPr>
                            <a:t> = 0</a:t>
                          </a:r>
                          <a:endParaRPr lang="zh-CN" sz="1000" kern="100" dirty="0">
                            <a:effectLst/>
                          </a:endParaRPr>
                        </a:p>
                        <a:p>
                          <a:pPr algn="l">
                            <a:spcAft>
                              <a:spcPts val="0"/>
                            </a:spcAft>
                          </a:pPr>
                          <a14:m>
                            <m:oMath xmlns:m="http://schemas.openxmlformats.org/officeDocument/2006/math">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𝒱</m:t>
                                      </m:r>
                                    </m:e>
                                  </m:acc>
                                </m:e>
                                <m:sub>
                                  <m:r>
                                    <a:rPr lang="en-US" sz="1000" kern="100">
                                      <a:effectLst/>
                                      <a:latin typeface="Cambria Math" panose="02040503050406030204" pitchFamily="18" charset="0"/>
                                    </a:rPr>
                                    <m:t>0</m:t>
                                  </m:r>
                                </m:sub>
                              </m:sSub>
                            </m:oMath>
                          </a14:m>
                          <a:r>
                            <a:rPr lang="en-US" sz="1000" kern="0" dirty="0">
                              <a:effectLst/>
                            </a:rPr>
                            <a:t> = </a:t>
                          </a:r>
                          <a14:m>
                            <m:oMath xmlns:m="http://schemas.openxmlformats.org/officeDocument/2006/math">
                              <m:d>
                                <m:dPr>
                                  <m:ctrlPr>
                                    <a:rPr lang="zh-CN" sz="1000" i="1" kern="0">
                                      <a:effectLst/>
                                      <a:latin typeface="Cambria Math" panose="02040503050406030204" pitchFamily="18" charset="0"/>
                                    </a:rPr>
                                  </m:ctrlPr>
                                </m:dPr>
                                <m:e>
                                  <m:sSub>
                                    <m:sSubPr>
                                      <m:ctrlPr>
                                        <a:rPr lang="zh-CN" sz="1000" i="1" kern="0">
                                          <a:effectLst/>
                                          <a:latin typeface="Cambria Math" panose="02040503050406030204" pitchFamily="18" charset="0"/>
                                        </a:rPr>
                                      </m:ctrlPr>
                                    </m:sSubPr>
                                    <m:e>
                                      <m:acc>
                                        <m:accPr>
                                          <m:chr m:val="̇"/>
                                          <m:ctrlPr>
                                            <a:rPr lang="zh-CN" sz="1000" i="1" kern="0">
                                              <a:effectLst/>
                                              <a:latin typeface="Cambria Math" panose="02040503050406030204" pitchFamily="18" charset="0"/>
                                            </a:rPr>
                                          </m:ctrlPr>
                                        </m:accPr>
                                        <m:e>
                                          <m:r>
                                            <a:rPr lang="en-US" sz="1000" kern="0">
                                              <a:effectLst/>
                                              <a:latin typeface="Cambria Math" panose="02040503050406030204" pitchFamily="18" charset="0"/>
                                            </a:rPr>
                                            <m:t>𝜔</m:t>
                                          </m:r>
                                        </m:e>
                                      </m:acc>
                                    </m:e>
                                    <m:sub>
                                      <m:r>
                                        <a:rPr lang="en-US" sz="1000" kern="0">
                                          <a:effectLst/>
                                          <a:latin typeface="Cambria Math" panose="02040503050406030204" pitchFamily="18" charset="0"/>
                                        </a:rPr>
                                        <m:t>0</m:t>
                                      </m:r>
                                    </m:sub>
                                  </m:sSub>
                                  <m:r>
                                    <a:rPr lang="en-US" sz="1000" kern="0">
                                      <a:effectLst/>
                                      <a:latin typeface="Cambria Math" panose="02040503050406030204" pitchFamily="18" charset="0"/>
                                    </a:rPr>
                                    <m:t>,</m:t>
                                  </m:r>
                                  <m:sSub>
                                    <m:sSubPr>
                                      <m:ctrlPr>
                                        <a:rPr lang="zh-CN" sz="1000" i="1" kern="0">
                                          <a:effectLst/>
                                          <a:latin typeface="Cambria Math" panose="02040503050406030204" pitchFamily="18" charset="0"/>
                                        </a:rPr>
                                      </m:ctrlPr>
                                    </m:sSubPr>
                                    <m:e>
                                      <m:acc>
                                        <m:accPr>
                                          <m:chr m:val="̇"/>
                                          <m:ctrlPr>
                                            <a:rPr lang="zh-CN" sz="1000" i="1" kern="0">
                                              <a:effectLst/>
                                              <a:latin typeface="Cambria Math" panose="02040503050406030204" pitchFamily="18" charset="0"/>
                                            </a:rPr>
                                          </m:ctrlPr>
                                        </m:accPr>
                                        <m:e>
                                          <m:r>
                                            <a:rPr lang="en-US" sz="1000" kern="0">
                                              <a:effectLst/>
                                              <a:latin typeface="Cambria Math" panose="02040503050406030204" pitchFamily="18" charset="0"/>
                                            </a:rPr>
                                            <m:t>𝑣</m:t>
                                          </m:r>
                                        </m:e>
                                      </m:acc>
                                    </m:e>
                                    <m:sub>
                                      <m:r>
                                        <a:rPr lang="en-US" sz="1000" kern="0">
                                          <a:effectLst/>
                                          <a:latin typeface="Cambria Math" panose="02040503050406030204" pitchFamily="18" charset="0"/>
                                        </a:rPr>
                                        <m:t>0</m:t>
                                      </m:r>
                                    </m:sub>
                                  </m:sSub>
                                </m:e>
                              </m:d>
                            </m:oMath>
                          </a14:m>
                          <a:r>
                            <a:rPr lang="en-US" sz="1000" kern="0" dirty="0">
                              <a:effectLst/>
                            </a:rPr>
                            <a:t> = (0,-g)</a:t>
                          </a:r>
                          <a:endParaRPr lang="zh-CN" sz="1000" kern="100" dirty="0">
                            <a:effectLst/>
                          </a:endParaRPr>
                        </a:p>
                        <a:p>
                          <a:pPr algn="l">
                            <a:spcAft>
                              <a:spcPts val="0"/>
                            </a:spcAft>
                          </a:pPr>
                          <a:r>
                            <a:rPr lang="en-US" sz="1000" kern="0" dirty="0">
                              <a:effectLst/>
                            </a:rPr>
                            <a:t>for </a:t>
                          </a:r>
                          <a:r>
                            <a:rPr lang="en-US" sz="1000" kern="0" dirty="0" err="1">
                              <a:effectLst/>
                            </a:rPr>
                            <a:t>i</a:t>
                          </a:r>
                          <a:r>
                            <a:rPr lang="en-US" sz="1000" kern="0" dirty="0">
                              <a:effectLst/>
                            </a:rPr>
                            <a:t>=1 to </a:t>
                          </a:r>
                          <a14:m>
                            <m:oMath xmlns:m="http://schemas.openxmlformats.org/officeDocument/2006/math">
                              <m:r>
                                <a:rPr lang="en-US" sz="1000" kern="0">
                                  <a:effectLst/>
                                  <a:latin typeface="Cambria Math" panose="02040503050406030204" pitchFamily="18" charset="0"/>
                                </a:rPr>
                                <m:t>𝑛</m:t>
                              </m:r>
                            </m:oMath>
                          </a14:m>
                          <a:r>
                            <a:rPr lang="en-US" sz="1000" kern="0" dirty="0">
                              <a:effectLst/>
                            </a:rPr>
                            <a:t> do</a:t>
                          </a:r>
                          <a:endParaRPr lang="zh-CN" sz="1000" kern="100" dirty="0">
                            <a:effectLst/>
                          </a:endParaRPr>
                        </a:p>
                        <a:p>
                          <a:pPr>
                            <a:spcBef>
                              <a:spcPts val="600"/>
                            </a:spcBef>
                            <a:spcAft>
                              <a:spcPts val="600"/>
                            </a:spcAft>
                          </a:pPr>
                          <a:r>
                            <a:rPr lang="en-US" sz="1000" kern="100" dirty="0">
                              <a:effectLst/>
                            </a:rPr>
                            <a:t>    </a:t>
                          </a:r>
                          <a14:m>
                            <m:oMath xmlns:m="http://schemas.openxmlformats.org/officeDocument/2006/math">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𝑇</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 </m:t>
                                  </m:r>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d>
                                <m:dPr>
                                  <m:ctrlPr>
                                    <a:rPr lang="zh-CN" sz="1000" i="1" kern="100">
                                      <a:effectLst/>
                                      <a:latin typeface="Cambria Math" panose="02040503050406030204" pitchFamily="18" charset="0"/>
                                    </a:rPr>
                                  </m:ctrlPr>
                                </m:dPr>
                                <m:e>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𝜃</m:t>
                                      </m:r>
                                    </m:e>
                                    <m:sub>
                                      <m:r>
                                        <a:rPr lang="en-US" sz="1000" kern="100">
                                          <a:effectLst/>
                                          <a:latin typeface="Cambria Math" panose="02040503050406030204" pitchFamily="18" charset="0"/>
                                        </a:rPr>
                                        <m:t>𝑖</m:t>
                                      </m:r>
                                    </m:sub>
                                  </m:sSub>
                                </m:e>
                              </m:d>
                              <m:r>
                                <a:rPr lang="en-US" sz="1000" kern="100">
                                  <a:effectLst/>
                                  <a:latin typeface="Cambria Math" panose="02040503050406030204" pitchFamily="18" charset="0"/>
                                </a:rPr>
                                <m:t>=</m:t>
                              </m:r>
                              <m:sSup>
                                <m:sSupPr>
                                  <m:ctrlPr>
                                    <a:rPr lang="zh-CN" sz="1000" i="1" kern="100">
                                      <a:effectLst/>
                                      <a:latin typeface="Cambria Math" panose="02040503050406030204" pitchFamily="18" charset="0"/>
                                    </a:rPr>
                                  </m:ctrlPr>
                                </m:sSupPr>
                                <m:e>
                                  <m:r>
                                    <a:rPr lang="en-US" sz="1000" kern="100">
                                      <a:effectLst/>
                                      <a:latin typeface="Cambria Math" panose="02040503050406030204" pitchFamily="18" charset="0"/>
                                    </a:rPr>
                                    <m:t>𝑒</m:t>
                                  </m:r>
                                </m:e>
                                <m:sup>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𝒜</m:t>
                                      </m:r>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𝜃</m:t>
                                      </m:r>
                                    </m:e>
                                    <m:sub>
                                      <m:r>
                                        <a:rPr lang="en-US" sz="1000" kern="100">
                                          <a:effectLst/>
                                          <a:latin typeface="Cambria Math" panose="02040503050406030204" pitchFamily="18" charset="0"/>
                                        </a:rPr>
                                        <m:t>𝑖</m:t>
                                      </m:r>
                                    </m:sub>
                                  </m:sSub>
                                </m:sup>
                              </m:sSup>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𝑀</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m:t>
                                  </m:r>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oMath>
                          </a14:m>
                          <a:endParaRPr lang="zh-CN" sz="1000" kern="100" dirty="0">
                            <a:effectLst/>
                          </a:endParaRPr>
                        </a:p>
                        <a:p>
                          <a:pPr algn="l">
                            <a:spcAft>
                              <a:spcPts val="0"/>
                            </a:spcAft>
                          </a:pPr>
                          <a:r>
                            <a:rPr lang="en-US" sz="1000" kern="0" dirty="0">
                              <a:effectLst/>
                            </a:rPr>
                            <a:t>    </a:t>
                          </a:r>
                          <a14:m>
                            <m:oMath xmlns:m="http://schemas.openxmlformats.org/officeDocument/2006/math">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Ѵ</m:t>
                                  </m:r>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𝒜</m:t>
                                  </m:r>
                                </m:e>
                                <m:sub>
                                  <m:r>
                                    <a:rPr lang="en-US" sz="1000" kern="100">
                                      <a:effectLst/>
                                      <a:latin typeface="Cambria Math" panose="02040503050406030204" pitchFamily="18" charset="0"/>
                                    </a:rPr>
                                    <m:t>𝑖</m:t>
                                  </m:r>
                                </m:sub>
                              </m:sSub>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𝜃</m:t>
                                      </m:r>
                                    </m:e>
                                  </m:acc>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r>
                                <a:rPr lang="en-US" sz="1000" kern="100">
                                  <a:effectLst/>
                                  <a:latin typeface="Cambria Math" panose="02040503050406030204" pitchFamily="18" charset="0"/>
                                </a:rPr>
                                <m:t>𝐴</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𝑑</m:t>
                                  </m:r>
                                </m:e>
                                <m: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𝑇</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  </m:t>
                                      </m:r>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sub>
                              </m:sSub>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Ѵ</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oMath>
                          </a14:m>
                          <a:endParaRPr lang="zh-CN" sz="1000" kern="100" dirty="0">
                            <a:effectLst/>
                          </a:endParaRPr>
                        </a:p>
                        <a:p>
                          <a:pPr algn="l">
                            <a:spcAft>
                              <a:spcPts val="0"/>
                            </a:spcAft>
                          </a:pPr>
                          <a:r>
                            <a:rPr lang="en-US" sz="1000" kern="0" dirty="0">
                              <a:effectLst/>
                            </a:rPr>
                            <a:t>    </a:t>
                          </a:r>
                          <a14:m>
                            <m:oMath xmlns:m="http://schemas.openxmlformats.org/officeDocument/2006/math">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Ѵ</m:t>
                                      </m:r>
                                    </m:e>
                                  </m:acc>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𝒜</m:t>
                                  </m:r>
                                </m:e>
                                <m:sub>
                                  <m:r>
                                    <a:rPr lang="en-US" sz="1000" kern="100">
                                      <a:effectLst/>
                                      <a:latin typeface="Cambria Math" panose="02040503050406030204" pitchFamily="18" charset="0"/>
                                    </a:rPr>
                                    <m:t>𝑖</m:t>
                                  </m:r>
                                </m:sub>
                              </m:sSub>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𝜃</m:t>
                                      </m:r>
                                    </m:e>
                                  </m:acc>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d>
                                <m:dPr>
                                  <m:begChr m:val="["/>
                                  <m:endChr m:val="]"/>
                                  <m:ctrlPr>
                                    <a:rPr lang="zh-CN" sz="1000" i="1" kern="100">
                                      <a:effectLst/>
                                      <a:latin typeface="Cambria Math" panose="02040503050406030204" pitchFamily="18" charset="0"/>
                                    </a:rPr>
                                  </m:ctrlPr>
                                </m:dPr>
                                <m:e>
                                  <m:r>
                                    <a:rPr lang="en-US" sz="1000" kern="100">
                                      <a:effectLst/>
                                      <a:latin typeface="Cambria Math" panose="02040503050406030204" pitchFamily="18" charset="0"/>
                                    </a:rPr>
                                    <m:t>𝑎</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𝑑</m:t>
                                      </m:r>
                                    </m:e>
                                    <m: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Ѵ</m:t>
                                          </m:r>
                                        </m:e>
                                        <m:sub>
                                          <m:r>
                                            <a:rPr lang="en-US" sz="1000" kern="100">
                                              <a:effectLst/>
                                              <a:latin typeface="Cambria Math" panose="02040503050406030204" pitchFamily="18" charset="0"/>
                                            </a:rPr>
                                            <m:t>𝑖</m:t>
                                          </m:r>
                                        </m:sub>
                                      </m:sSub>
                                    </m:sub>
                                  </m:sSub>
                                </m:e>
                              </m:d>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𝒜</m:t>
                                  </m:r>
                                </m:e>
                                <m:sub>
                                  <m:r>
                                    <a:rPr lang="en-US" sz="1000" kern="100">
                                      <a:effectLst/>
                                      <a:latin typeface="Cambria Math" panose="02040503050406030204" pitchFamily="18" charset="0"/>
                                    </a:rPr>
                                    <m:t>𝑖</m:t>
                                  </m:r>
                                </m:sub>
                              </m:sSub>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𝜃</m:t>
                                      </m:r>
                                    </m:e>
                                  </m:acc>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d>
                                <m:dPr>
                                  <m:begChr m:val="["/>
                                  <m:endChr m:val="]"/>
                                  <m:ctrlPr>
                                    <a:rPr lang="zh-CN" sz="1000" i="1" kern="100">
                                      <a:effectLst/>
                                      <a:latin typeface="Cambria Math" panose="02040503050406030204" pitchFamily="18" charset="0"/>
                                    </a:rPr>
                                  </m:ctrlPr>
                                </m:dPr>
                                <m:e>
                                  <m:r>
                                    <a:rPr lang="en-US" sz="1000" kern="100">
                                      <a:effectLst/>
                                      <a:latin typeface="Cambria Math" panose="02040503050406030204" pitchFamily="18" charset="0"/>
                                    </a:rPr>
                                    <m:t>𝑎</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𝑑</m:t>
                                      </m:r>
                                    </m:e>
                                    <m: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𝑇</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  </m:t>
                                          </m:r>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sub>
                                  </m:sSub>
                                </m:e>
                              </m:d>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Ѵ</m:t>
                                      </m:r>
                                    </m:e>
                                  </m:acc>
                                </m:e>
                                <m:sub>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oMath>
                          </a14:m>
                          <a:endParaRPr lang="zh-CN" sz="1000" kern="100" dirty="0">
                            <a:effectLst/>
                          </a:endParaRPr>
                        </a:p>
                        <a:p>
                          <a:pPr algn="l">
                            <a:spcAft>
                              <a:spcPts val="0"/>
                            </a:spcAft>
                          </a:pPr>
                          <a:r>
                            <a:rPr lang="en-US" sz="1000" kern="0" dirty="0">
                              <a:effectLst/>
                            </a:rPr>
                            <a:t>end</a:t>
                          </a:r>
                          <a:endParaRPr lang="zh-CN" sz="1000" kern="100" dirty="0">
                            <a:effectLst/>
                          </a:endParaRPr>
                        </a:p>
                        <a:p>
                          <a:pPr algn="l">
                            <a:spcAft>
                              <a:spcPts val="0"/>
                            </a:spcAft>
                          </a:pPr>
                          <a:r>
                            <a:rPr lang="en-US" sz="1000" kern="0" dirty="0">
                              <a:effectLst/>
                            </a:rPr>
                            <a:t>for </a:t>
                          </a:r>
                          <a:r>
                            <a:rPr lang="en-US" sz="1000" kern="0" dirty="0" err="1">
                              <a:effectLst/>
                            </a:rPr>
                            <a:t>i</a:t>
                          </a:r>
                          <a:r>
                            <a:rPr lang="en-US" sz="1000" kern="0" dirty="0">
                              <a:effectLst/>
                            </a:rPr>
                            <a:t> =  </a:t>
                          </a:r>
                          <a14:m>
                            <m:oMath xmlns:m="http://schemas.openxmlformats.org/officeDocument/2006/math">
                              <m:r>
                                <a:rPr lang="en-US" sz="1000" kern="0">
                                  <a:effectLst/>
                                  <a:latin typeface="Cambria Math" panose="02040503050406030204" pitchFamily="18" charset="0"/>
                                </a:rPr>
                                <m:t>𝑛</m:t>
                              </m:r>
                            </m:oMath>
                          </a14:m>
                          <a:r>
                            <a:rPr lang="en-US" sz="1000" kern="0" dirty="0">
                              <a:effectLst/>
                            </a:rPr>
                            <a:t> to 1 do</a:t>
                          </a:r>
                          <a:endParaRPr lang="zh-CN" sz="1000" kern="100" dirty="0">
                            <a:effectLst/>
                          </a:endParaRPr>
                        </a:p>
                        <a:p>
                          <a:pPr algn="l">
                            <a:spcAft>
                              <a:spcPts val="0"/>
                            </a:spcAft>
                          </a:pPr>
                          <a:r>
                            <a:rPr lang="en-US" sz="1000" kern="0" dirty="0">
                              <a:effectLst/>
                            </a:rPr>
                            <a:t>    </a:t>
                          </a:r>
                          <a14:m>
                            <m:oMath xmlns:m="http://schemas.openxmlformats.org/officeDocument/2006/math">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ℱ</m:t>
                                  </m:r>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ℊ</m:t>
                                  </m:r>
                                </m:e>
                                <m:sub>
                                  <m:r>
                                    <a:rPr lang="en-US" sz="1000" kern="100">
                                      <a:effectLst/>
                                      <a:latin typeface="Cambria Math" panose="02040503050406030204" pitchFamily="18" charset="0"/>
                                    </a:rPr>
                                    <m:t>𝑖</m:t>
                                  </m:r>
                                </m:sub>
                              </m:sSub>
                              <m:sSub>
                                <m:sSubPr>
                                  <m:ctrlPr>
                                    <a:rPr lang="zh-CN" sz="1000" i="1" kern="100">
                                      <a:effectLst/>
                                      <a:latin typeface="Cambria Math" panose="02040503050406030204" pitchFamily="18" charset="0"/>
                                    </a:rPr>
                                  </m:ctrlPr>
                                </m:sSubPr>
                                <m:e>
                                  <m:acc>
                                    <m:accPr>
                                      <m:chr m:val="̇"/>
                                      <m:ctrlPr>
                                        <a:rPr lang="zh-CN" sz="1000" i="1" kern="100">
                                          <a:effectLst/>
                                          <a:latin typeface="Cambria Math" panose="02040503050406030204" pitchFamily="18" charset="0"/>
                                        </a:rPr>
                                      </m:ctrlPr>
                                    </m:accPr>
                                    <m:e>
                                      <m:r>
                                        <a:rPr lang="en-US" sz="1000" kern="100">
                                          <a:effectLst/>
                                          <a:latin typeface="Cambria Math" panose="02040503050406030204" pitchFamily="18" charset="0"/>
                                        </a:rPr>
                                        <m:t>Ѵ</m:t>
                                      </m:r>
                                    </m:e>
                                  </m:acc>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p>
                                <m:sSupPr>
                                  <m:ctrlPr>
                                    <a:rPr lang="zh-CN" sz="1000" i="1" kern="100">
                                      <a:effectLst/>
                                      <a:latin typeface="Cambria Math" panose="02040503050406030204" pitchFamily="18" charset="0"/>
                                    </a:rPr>
                                  </m:ctrlPr>
                                </m:sSupPr>
                                <m:e>
                                  <m:d>
                                    <m:dPr>
                                      <m:begChr m:val="["/>
                                      <m:endChr m:val="]"/>
                                      <m:ctrlPr>
                                        <a:rPr lang="zh-CN" sz="1000" i="1" kern="100">
                                          <a:effectLst/>
                                          <a:latin typeface="Cambria Math" panose="02040503050406030204" pitchFamily="18" charset="0"/>
                                        </a:rPr>
                                      </m:ctrlPr>
                                    </m:dPr>
                                    <m:e>
                                      <m:r>
                                        <m:rPr>
                                          <m:sty m:val="p"/>
                                        </m:rPr>
                                        <a:rPr lang="en-US" sz="1000" kern="100">
                                          <a:effectLst/>
                                          <a:latin typeface="Cambria Math" panose="02040503050406030204" pitchFamily="18" charset="0"/>
                                        </a:rPr>
                                        <m:t>a</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𝑑</m:t>
                                          </m:r>
                                        </m:e>
                                        <m: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Ѵ</m:t>
                                              </m:r>
                                            </m:e>
                                            <m:sub>
                                              <m:r>
                                                <a:rPr lang="en-US" sz="1000" kern="100">
                                                  <a:effectLst/>
                                                  <a:latin typeface="Cambria Math" panose="02040503050406030204" pitchFamily="18" charset="0"/>
                                                </a:rPr>
                                                <m:t>𝑖</m:t>
                                              </m:r>
                                            </m:sub>
                                          </m:sSub>
                                        </m:sub>
                                      </m:sSub>
                                    </m:e>
                                  </m:d>
                                </m:e>
                                <m:sup>
                                  <m:r>
                                    <a:rPr lang="en-US" sz="1000" kern="100">
                                      <a:effectLst/>
                                      <a:latin typeface="Cambria Math" panose="02040503050406030204" pitchFamily="18" charset="0"/>
                                    </a:rPr>
                                    <m:t>𝑇</m:t>
                                  </m:r>
                                </m:sup>
                              </m:sSup>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ℊ</m:t>
                                  </m:r>
                                </m:e>
                                <m:sub>
                                  <m:r>
                                    <a:rPr lang="en-US" sz="1000" kern="100">
                                      <a:effectLst/>
                                      <a:latin typeface="Cambria Math" panose="02040503050406030204" pitchFamily="18" charset="0"/>
                                    </a:rPr>
                                    <m:t>𝑖</m:t>
                                  </m:r>
                                </m:sub>
                              </m:s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Ѵ</m:t>
                                  </m:r>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p>
                                <m:sSupPr>
                                  <m:ctrlPr>
                                    <a:rPr lang="zh-CN" sz="1000" i="1" kern="100">
                                      <a:effectLst/>
                                      <a:latin typeface="Cambria Math" panose="02040503050406030204" pitchFamily="18" charset="0"/>
                                    </a:rPr>
                                  </m:ctrlPr>
                                </m:sSupPr>
                                <m:e>
                                  <m:d>
                                    <m:dPr>
                                      <m:begChr m:val="["/>
                                      <m:endChr m:val="]"/>
                                      <m:ctrlPr>
                                        <a:rPr lang="zh-CN" sz="1000" i="1" kern="100">
                                          <a:effectLst/>
                                          <a:latin typeface="Cambria Math" panose="02040503050406030204" pitchFamily="18" charset="0"/>
                                        </a:rPr>
                                      </m:ctrlPr>
                                    </m:dPr>
                                    <m:e>
                                      <m:r>
                                        <a:rPr lang="en-US" sz="1000" kern="100">
                                          <a:effectLst/>
                                          <a:latin typeface="Cambria Math" panose="02040503050406030204" pitchFamily="18" charset="0"/>
                                        </a:rPr>
                                        <m:t>𝐴</m:t>
                                      </m:r>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𝑑</m:t>
                                          </m:r>
                                        </m:e>
                                        <m:sub>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𝑇</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+1,  </m:t>
                                              </m:r>
                                              <m:r>
                                                <a:rPr lang="en-US" sz="1000" kern="100">
                                                  <a:effectLst/>
                                                  <a:latin typeface="Cambria Math" panose="02040503050406030204" pitchFamily="18" charset="0"/>
                                                </a:rPr>
                                                <m:t>𝑖</m:t>
                                              </m:r>
                                            </m:sub>
                                          </m:sSub>
                                        </m:sub>
                                      </m:sSub>
                                    </m:e>
                                  </m:d>
                                </m:e>
                                <m:sup>
                                  <m:r>
                                    <a:rPr lang="en-US" sz="1000" kern="100">
                                      <a:effectLst/>
                                      <a:latin typeface="Cambria Math" panose="02040503050406030204" pitchFamily="18" charset="0"/>
                                    </a:rPr>
                                    <m:t>𝑇</m:t>
                                  </m:r>
                                </m:sup>
                              </m:sSup>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ℱ</m:t>
                                  </m:r>
                                </m:e>
                                <m:sub>
                                  <m:r>
                                    <a:rPr lang="en-US" sz="1000" kern="100">
                                      <a:effectLst/>
                                      <a:latin typeface="Cambria Math" panose="02040503050406030204" pitchFamily="18" charset="0"/>
                                    </a:rPr>
                                    <m:t>𝑖</m:t>
                                  </m:r>
                                  <m:r>
                                    <a:rPr lang="en-US" sz="1000" kern="100">
                                      <a:effectLst/>
                                      <a:latin typeface="Cambria Math" panose="02040503050406030204" pitchFamily="18" charset="0"/>
                                    </a:rPr>
                                    <m:t>+1</m:t>
                                  </m:r>
                                </m:sub>
                              </m:sSub>
                            </m:oMath>
                          </a14:m>
                          <a:endParaRPr lang="zh-CN" sz="1000" kern="100" dirty="0">
                            <a:effectLst/>
                          </a:endParaRPr>
                        </a:p>
                        <a:p>
                          <a:pPr algn="l">
                            <a:spcAft>
                              <a:spcPts val="0"/>
                            </a:spcAft>
                          </a:pPr>
                          <a:r>
                            <a:rPr lang="en-US" sz="1000" kern="0" dirty="0">
                              <a:effectLst/>
                            </a:rPr>
                            <a:t>    </a:t>
                          </a:r>
                          <a14:m>
                            <m:oMath xmlns:m="http://schemas.openxmlformats.org/officeDocument/2006/math">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𝜏</m:t>
                                  </m:r>
                                </m:e>
                                <m:sub>
                                  <m:r>
                                    <a:rPr lang="en-US" sz="1000" kern="100">
                                      <a:effectLst/>
                                      <a:latin typeface="Cambria Math" panose="02040503050406030204" pitchFamily="18" charset="0"/>
                                    </a:rPr>
                                    <m:t>𝑖</m:t>
                                  </m:r>
                                </m:sub>
                              </m:sSub>
                              <m:r>
                                <a:rPr lang="en-US" sz="1000" kern="100">
                                  <a:effectLst/>
                                  <a:latin typeface="Cambria Math" panose="02040503050406030204" pitchFamily="18" charset="0"/>
                                </a:rPr>
                                <m:t>=</m:t>
                              </m:r>
                              <m:sSup>
                                <m:sSupPr>
                                  <m:ctrlPr>
                                    <a:rPr lang="zh-CN" sz="1000" i="1" kern="100">
                                      <a:effectLst/>
                                      <a:latin typeface="Cambria Math" panose="02040503050406030204" pitchFamily="18" charset="0"/>
                                    </a:rPr>
                                  </m:ctrlPr>
                                </m:sSupPr>
                                <m:e>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ℱ</m:t>
                                      </m:r>
                                    </m:e>
                                    <m:sub>
                                      <m:r>
                                        <a:rPr lang="en-US" sz="1000" kern="100">
                                          <a:effectLst/>
                                          <a:latin typeface="Cambria Math" panose="02040503050406030204" pitchFamily="18" charset="0"/>
                                        </a:rPr>
                                        <m:t>𝑖</m:t>
                                      </m:r>
                                    </m:sub>
                                  </m:sSub>
                                </m:e>
                                <m:sup>
                                  <m:r>
                                    <a:rPr lang="en-US" sz="1000" kern="100">
                                      <a:effectLst/>
                                      <a:latin typeface="Cambria Math" panose="02040503050406030204" pitchFamily="18" charset="0"/>
                                    </a:rPr>
                                    <m:t>𝑇</m:t>
                                  </m:r>
                                </m:sup>
                              </m:sSup>
                              <m:sSub>
                                <m:sSubPr>
                                  <m:ctrlPr>
                                    <a:rPr lang="zh-CN" sz="1000" i="1" kern="100">
                                      <a:effectLst/>
                                      <a:latin typeface="Cambria Math" panose="02040503050406030204" pitchFamily="18" charset="0"/>
                                    </a:rPr>
                                  </m:ctrlPr>
                                </m:sSubPr>
                                <m:e>
                                  <m:r>
                                    <a:rPr lang="en-US" sz="1000" kern="100">
                                      <a:effectLst/>
                                      <a:latin typeface="Cambria Math" panose="02040503050406030204" pitchFamily="18" charset="0"/>
                                    </a:rPr>
                                    <m:t>𝒜</m:t>
                                  </m:r>
                                </m:e>
                                <m:sub>
                                  <m:r>
                                    <a:rPr lang="en-US" sz="1000" kern="100">
                                      <a:effectLst/>
                                      <a:latin typeface="Cambria Math" panose="02040503050406030204" pitchFamily="18" charset="0"/>
                                    </a:rPr>
                                    <m:t>𝑖</m:t>
                                  </m:r>
                                </m:sub>
                              </m:sSub>
                            </m:oMath>
                          </a14:m>
                          <a:endParaRPr lang="zh-CN" sz="1000" kern="100" dirty="0">
                            <a:effectLst/>
                          </a:endParaRPr>
                        </a:p>
                        <a:p>
                          <a:pPr algn="l">
                            <a:spcAft>
                              <a:spcPts val="0"/>
                            </a:spcAft>
                          </a:pPr>
                          <a:r>
                            <a:rPr lang="en-US" sz="1000" kern="0" dirty="0">
                              <a:effectLst/>
                            </a:rPr>
                            <a:t>end</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28668991"/>
                      </a:ext>
                    </a:extLst>
                  </a:tr>
                </a:tbl>
              </a:graphicData>
            </a:graphic>
          </p:graphicFrame>
        </mc:Choice>
        <mc:Fallback xmlns="">
          <p:graphicFrame>
            <p:nvGraphicFramePr>
              <p:cNvPr id="9" name="表格 8"/>
              <p:cNvGraphicFramePr>
                <a:graphicFrameLocks noGrp="1"/>
              </p:cNvGraphicFramePr>
              <p:nvPr>
                <p:extLst>
                  <p:ext uri="{D42A27DB-BD31-4B8C-83A1-F6EECF244321}">
                    <p14:modId xmlns:p14="http://schemas.microsoft.com/office/powerpoint/2010/main" val="2825634214"/>
                  </p:ext>
                </p:extLst>
              </p:nvPr>
            </p:nvGraphicFramePr>
            <p:xfrm>
              <a:off x="5064862" y="2047173"/>
              <a:ext cx="2558604" cy="2396785"/>
            </p:xfrm>
            <a:graphic>
              <a:graphicData uri="http://schemas.openxmlformats.org/drawingml/2006/table">
                <a:tbl>
                  <a:tblPr>
                    <a:tableStyleId>{5C22544A-7EE6-4342-B048-85BDC9FD1C3A}</a:tableStyleId>
                  </a:tblPr>
                  <a:tblGrid>
                    <a:gridCol w="2558604">
                      <a:extLst>
                        <a:ext uri="{9D8B030D-6E8A-4147-A177-3AD203B41FA5}">
                          <a16:colId xmlns:a16="http://schemas.microsoft.com/office/drawing/2014/main" val="3217778443"/>
                        </a:ext>
                      </a:extLst>
                    </a:gridCol>
                  </a:tblGrid>
                  <a:tr h="2396785">
                    <a:tc>
                      <a:txBody>
                        <a:bodyPr/>
                        <a:lstStyle/>
                        <a:p>
                          <a:endParaRPr lang="zh-CN"/>
                        </a:p>
                      </a:txBody>
                      <a:tcPr marL="68580" marR="68580" marT="0" marB="0">
                        <a:blipFill>
                          <a:blip r:embed="rId3"/>
                          <a:stretch>
                            <a:fillRect l="-238" t="-1015" r="-475" b="-761"/>
                          </a:stretch>
                        </a:blipFill>
                      </a:tcPr>
                    </a:tc>
                    <a:extLst>
                      <a:ext uri="{0D108BD9-81ED-4DB2-BD59-A6C34878D82A}">
                        <a16:rowId xmlns:a16="http://schemas.microsoft.com/office/drawing/2014/main" val="1728668991"/>
                      </a:ext>
                    </a:extLst>
                  </a:tr>
                </a:tbl>
              </a:graphicData>
            </a:graphic>
          </p:graphicFrame>
        </mc:Fallback>
      </mc:AlternateContent>
      <mc:AlternateContent xmlns:mc="http://schemas.openxmlformats.org/markup-compatibility/2006" xmlns:a14="http://schemas.microsoft.com/office/drawing/2010/main">
        <mc:Choice Requires="a14">
          <p:sp>
            <p:nvSpPr>
              <p:cNvPr id="10" name="矩形 9"/>
              <p:cNvSpPr/>
              <p:nvPr/>
            </p:nvSpPr>
            <p:spPr>
              <a:xfrm>
                <a:off x="4058213" y="2563214"/>
                <a:ext cx="1017843" cy="4521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e>
                            </m:mr>
                          </m:m>
                        </m:e>
                      </m:d>
                    </m:oMath>
                  </m:oMathPara>
                </a14:m>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4058213" y="2563214"/>
                <a:ext cx="1017843" cy="4521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058213" y="3757846"/>
                <a:ext cx="987514" cy="4639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ℱ</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𝑏</m:t>
                                    </m:r>
                                  </m:sub>
                                </m:sSub>
                              </m:e>
                            </m:mr>
                          </m:m>
                        </m:e>
                      </m:d>
                    </m:oMath>
                  </m:oMathPara>
                </a14:m>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4058213" y="3757846"/>
                <a:ext cx="987514" cy="463973"/>
              </a:xfrm>
              <a:prstGeom prst="rect">
                <a:avLst/>
              </a:prstGeom>
              <a:blipFill>
                <a:blip r:embed="rId5"/>
                <a:stretch>
                  <a:fillRect b="-5195"/>
                </a:stretch>
              </a:blipFill>
            </p:spPr>
            <p:txBody>
              <a:bodyPr/>
              <a:lstStyle/>
              <a:p>
                <a:r>
                  <a:rPr lang="zh-CN" altLang="en-US">
                    <a:noFill/>
                  </a:rPr>
                  <a:t> </a:t>
                </a:r>
              </a:p>
            </p:txBody>
          </p:sp>
        </mc:Fallback>
      </mc:AlternateContent>
      <p:sp>
        <p:nvSpPr>
          <p:cNvPr id="12" name="矩形 11"/>
          <p:cNvSpPr/>
          <p:nvPr/>
        </p:nvSpPr>
        <p:spPr>
          <a:xfrm>
            <a:off x="4142916" y="2211710"/>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运动旋量</a:t>
            </a:r>
            <a:endParaRPr lang="zh-CN" altLang="en-US" sz="1400" b="1" dirty="0">
              <a:solidFill>
                <a:srgbClr val="002060"/>
              </a:solidFill>
            </a:endParaRPr>
          </a:p>
        </p:txBody>
      </p:sp>
      <p:sp>
        <p:nvSpPr>
          <p:cNvPr id="13" name="矩形 12"/>
          <p:cNvSpPr/>
          <p:nvPr/>
        </p:nvSpPr>
        <p:spPr>
          <a:xfrm>
            <a:off x="4143553" y="3438834"/>
            <a:ext cx="723275" cy="307777"/>
          </a:xfrm>
          <a:prstGeom prst="rect">
            <a:avLst/>
          </a:prstGeom>
        </p:spPr>
        <p:txBody>
          <a:bodyPr wrap="none">
            <a:spAutoFit/>
          </a:bodyPr>
          <a:lstStyle/>
          <a:p>
            <a:r>
              <a:rPr lang="zh-CN" altLang="zh-CN" sz="1400" b="1" dirty="0">
                <a:solidFill>
                  <a:srgbClr val="002060"/>
                </a:solidFill>
                <a:cs typeface="MV Boli" panose="02000500030200090000" pitchFamily="2" charset="0"/>
              </a:rPr>
              <a:t>力旋量</a:t>
            </a:r>
            <a:endParaRPr lang="zh-CN" altLang="en-US" sz="1400" b="1" dirty="0">
              <a:solidFill>
                <a:srgbClr val="002060"/>
              </a:solidFill>
            </a:endParaRPr>
          </a:p>
        </p:txBody>
      </p:sp>
      <mc:AlternateContent xmlns:mc="http://schemas.openxmlformats.org/markup-compatibility/2006" xmlns:a14="http://schemas.microsoft.com/office/drawing/2010/main">
        <mc:Choice Requires="a14">
          <p:sp>
            <p:nvSpPr>
              <p:cNvPr id="14" name="矩形 13"/>
              <p:cNvSpPr/>
              <p:nvPr/>
            </p:nvSpPr>
            <p:spPr>
              <a:xfrm>
                <a:off x="7601917" y="2508398"/>
                <a:ext cx="1343252" cy="457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ℊ</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e>
                              <m:e>
                                <m:r>
                                  <a:rPr lang="zh-CN" altLang="en-US" sz="1400" i="0">
                                    <a:latin typeface="Cambria Math" panose="02040503050406030204" pitchFamily="18" charset="0"/>
                                  </a:rPr>
                                  <m:t>0</m:t>
                                </m:r>
                              </m:e>
                            </m:mr>
                            <m:mr>
                              <m:e>
                                <m:r>
                                  <a:rPr lang="zh-CN" altLang="en-US" sz="1400" i="0">
                                    <a:latin typeface="Cambria Math" panose="02040503050406030204" pitchFamily="18" charset="0"/>
                                  </a:rPr>
                                  <m:t>0</m:t>
                                </m:r>
                              </m:e>
                              <m:e>
                                <m:r>
                                  <a:rPr lang="zh-CN" altLang="en-US" sz="1400" i="1">
                                    <a:latin typeface="Cambria Math" panose="02040503050406030204" pitchFamily="18" charset="0"/>
                                  </a:rPr>
                                  <m:t>𝑚𝐼</m:t>
                                </m:r>
                              </m:e>
                            </m:mr>
                          </m:m>
                        </m:e>
                      </m:d>
                    </m:oMath>
                  </m:oMathPara>
                </a14:m>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7601917" y="2508398"/>
                <a:ext cx="1343252" cy="457176"/>
              </a:xfrm>
              <a:prstGeom prst="rect">
                <a:avLst/>
              </a:prstGeom>
              <a:blipFill>
                <a:blip r:embed="rId6"/>
                <a:stretch>
                  <a:fillRect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441882" y="3835943"/>
                <a:ext cx="1462603"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𝒫</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𝑏</m:t>
                          </m:r>
                        </m:sub>
                      </m:sSub>
                    </m:oMath>
                  </m:oMathPara>
                </a14:m>
                <a:endParaRPr lang="zh-CN" altLang="en-US" sz="1400" dirty="0"/>
              </a:p>
            </p:txBody>
          </p:sp>
        </mc:Choice>
        <mc:Fallback xmlns="">
          <p:sp>
            <p:nvSpPr>
              <p:cNvPr id="15" name="矩形 14"/>
              <p:cNvSpPr>
                <a:spLocks noRot="1" noChangeAspect="1" noMove="1" noResize="1" noEditPoints="1" noAdjustHandles="1" noChangeArrowheads="1" noChangeShapeType="1" noTextEdit="1"/>
              </p:cNvSpPr>
              <p:nvPr/>
            </p:nvSpPr>
            <p:spPr>
              <a:xfrm>
                <a:off x="7441882" y="3835943"/>
                <a:ext cx="1462603" cy="307777"/>
              </a:xfrm>
              <a:prstGeom prst="rect">
                <a:avLst/>
              </a:prstGeom>
              <a:blipFill>
                <a:blip r:embed="rId7"/>
                <a:stretch>
                  <a:fillRect b="-1961"/>
                </a:stretch>
              </a:blipFill>
            </p:spPr>
            <p:txBody>
              <a:bodyPr/>
              <a:lstStyle/>
              <a:p>
                <a:r>
                  <a:rPr lang="zh-CN" altLang="en-US">
                    <a:noFill/>
                  </a:rPr>
                  <a:t> </a:t>
                </a:r>
              </a:p>
            </p:txBody>
          </p:sp>
        </mc:Fallback>
      </mc:AlternateContent>
      <p:sp>
        <p:nvSpPr>
          <p:cNvPr id="16" name="矩形 15"/>
          <p:cNvSpPr/>
          <p:nvPr/>
        </p:nvSpPr>
        <p:spPr>
          <a:xfrm>
            <a:off x="7642601" y="2230390"/>
            <a:ext cx="1261884" cy="307777"/>
          </a:xfrm>
          <a:prstGeom prst="rect">
            <a:avLst/>
          </a:prstGeom>
        </p:spPr>
        <p:txBody>
          <a:bodyPr wrap="none">
            <a:spAutoFit/>
          </a:bodyPr>
          <a:lstStyle/>
          <a:p>
            <a:r>
              <a:rPr lang="zh-CN" altLang="zh-CN" sz="1400" b="1" dirty="0">
                <a:solidFill>
                  <a:srgbClr val="002060"/>
                </a:solidFill>
                <a:cs typeface="MV Boli" panose="02000500030200090000" pitchFamily="2" charset="0"/>
              </a:rPr>
              <a:t>空间惯量矩阵</a:t>
            </a:r>
            <a:endParaRPr lang="zh-CN" altLang="en-US" sz="1400" b="1" dirty="0">
              <a:solidFill>
                <a:srgbClr val="002060"/>
              </a:solidFill>
            </a:endParaRPr>
          </a:p>
        </p:txBody>
      </p:sp>
      <p:sp>
        <p:nvSpPr>
          <p:cNvPr id="17" name="矩形 16"/>
          <p:cNvSpPr/>
          <p:nvPr/>
        </p:nvSpPr>
        <p:spPr>
          <a:xfrm>
            <a:off x="7681397" y="3447926"/>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空间动量</a:t>
            </a:r>
            <a:endParaRPr lang="zh-CN" altLang="en-US" sz="1400" b="1" dirty="0">
              <a:solidFill>
                <a:srgbClr val="002060"/>
              </a:solidFill>
            </a:endParaRPr>
          </a:p>
        </p:txBody>
      </p:sp>
      <p:sp>
        <p:nvSpPr>
          <p:cNvPr id="4" name="圆角矩形 3"/>
          <p:cNvSpPr/>
          <p:nvPr/>
        </p:nvSpPr>
        <p:spPr>
          <a:xfrm>
            <a:off x="3923928" y="1996413"/>
            <a:ext cx="4980557" cy="2447545"/>
          </a:xfrm>
          <a:prstGeom prst="round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583985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79569541"/>
              </p:ext>
            </p:extLst>
          </p:nvPr>
        </p:nvGraphicFramePr>
        <p:xfrm>
          <a:off x="6634489" y="3163548"/>
          <a:ext cx="2219325" cy="1876425"/>
        </p:xfrm>
        <a:graphic>
          <a:graphicData uri="http://schemas.openxmlformats.org/presentationml/2006/ole">
            <mc:AlternateContent xmlns:mc="http://schemas.openxmlformats.org/markup-compatibility/2006">
              <mc:Choice xmlns:v="urn:schemas-microsoft-com:vml" Requires="v">
                <p:oleObj spid="_x0000_s8215" name="Visio" r:id="rId4" imgW="6610302" imgH="5575241" progId="Visio.Drawing.15">
                  <p:embed/>
                </p:oleObj>
              </mc:Choice>
              <mc:Fallback>
                <p:oleObj name="Visio" r:id="rId4" imgW="6610302" imgH="5575241"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4489" y="3163548"/>
                        <a:ext cx="2219325" cy="187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3126177"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单刚体运动旋量</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力旋量方程推导</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1117093" y="1633695"/>
                <a:ext cx="128727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e>
                      </m:d>
                    </m:oMath>
                  </m:oMathPara>
                </a14:m>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1117093" y="1633695"/>
                <a:ext cx="1287275" cy="307777"/>
              </a:xfrm>
              <a:prstGeom prst="rect">
                <a:avLst/>
              </a:prstGeom>
              <a:blipFill>
                <a:blip r:embed="rId6"/>
                <a:stretch>
                  <a:fillRect t="-104000" r="-29384" b="-162000"/>
                </a:stretch>
              </a:blipFill>
            </p:spPr>
            <p:txBody>
              <a:bodyPr/>
              <a:lstStyle/>
              <a:p>
                <a:r>
                  <a:rPr lang="zh-CN" altLang="en-US">
                    <a:noFill/>
                  </a:rPr>
                  <a:t> </a:t>
                </a:r>
              </a:p>
            </p:txBody>
          </p:sp>
        </mc:Fallback>
      </mc:AlternateContent>
      <p:sp>
        <p:nvSpPr>
          <p:cNvPr id="11" name="矩形 10"/>
          <p:cNvSpPr/>
          <p:nvPr/>
        </p:nvSpPr>
        <p:spPr>
          <a:xfrm>
            <a:off x="680948" y="1186386"/>
            <a:ext cx="2665281" cy="307777"/>
          </a:xfrm>
          <a:prstGeom prst="rect">
            <a:avLst/>
          </a:prstGeom>
        </p:spPr>
        <p:txBody>
          <a:bodyPr wrap="none">
            <a:spAutoFit/>
          </a:bodyPr>
          <a:lstStyle/>
          <a:p>
            <a:r>
              <a:rPr lang="zh-CN" altLang="zh-CN" sz="1400" dirty="0">
                <a:solidFill>
                  <a:srgbClr val="002060"/>
                </a:solidFill>
                <a:cs typeface="MV Boli" panose="02000500030200090000" pitchFamily="2" charset="0"/>
              </a:rPr>
              <a:t>物体坐标系下的</a:t>
            </a:r>
            <a:r>
              <a:rPr lang="zh-CN" altLang="zh-CN" sz="1400" b="1" dirty="0">
                <a:solidFill>
                  <a:srgbClr val="FF0000"/>
                </a:solidFill>
                <a:cs typeface="MV Boli" panose="02000500030200090000" pitchFamily="2" charset="0"/>
              </a:rPr>
              <a:t>运动</a:t>
            </a:r>
            <a:r>
              <a:rPr lang="zh-CN" altLang="zh-CN" sz="1400" b="1" dirty="0" smtClean="0">
                <a:solidFill>
                  <a:srgbClr val="FF0000"/>
                </a:solidFill>
                <a:cs typeface="MV Boli" panose="02000500030200090000" pitchFamily="2" charset="0"/>
              </a:rPr>
              <a:t>旋量</a:t>
            </a:r>
            <a:r>
              <a:rPr lang="en-US" altLang="zh-CN" sz="1400" b="1" dirty="0" smtClean="0">
                <a:solidFill>
                  <a:srgbClr val="002060"/>
                </a:solidFill>
                <a:cs typeface="MV Boli" panose="02000500030200090000" pitchFamily="2" charset="0"/>
              </a:rPr>
              <a:t>(Twist)</a:t>
            </a:r>
            <a:endParaRPr lang="zh-CN" altLang="en-US" sz="1400" b="1" dirty="0">
              <a:solidFill>
                <a:srgbClr val="002060"/>
              </a:solidFill>
            </a:endParaRPr>
          </a:p>
        </p:txBody>
      </p:sp>
      <mc:AlternateContent xmlns:mc="http://schemas.openxmlformats.org/markup-compatibility/2006" xmlns:a14="http://schemas.microsoft.com/office/drawing/2010/main">
        <mc:Choice Requires="a14">
          <p:sp>
            <p:nvSpPr>
              <p:cNvPr id="12" name="矩形 11"/>
              <p:cNvSpPr/>
              <p:nvPr/>
            </p:nvSpPr>
            <p:spPr>
              <a:xfrm>
                <a:off x="680948" y="2126973"/>
                <a:ext cx="2444655" cy="523220"/>
              </a:xfrm>
              <a:prstGeom prst="rect">
                <a:avLst/>
              </a:prstGeom>
            </p:spPr>
            <p:txBody>
              <a:bodyPr wrap="square">
                <a:spAutoFit/>
              </a:bodyPr>
              <a:lstStyle/>
              <a:p>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𝑝</m:t>
                        </m:r>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oMath>
                </a14:m>
                <a:r>
                  <a:rPr lang="zh-CN" altLang="zh-CN" sz="1400" dirty="0">
                    <a:cs typeface="MV Boli" panose="02000500030200090000" pitchFamily="2" charset="0"/>
                  </a:rPr>
                  <a:t>为质点</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𝑚</m:t>
                        </m:r>
                      </m:e>
                      <m:sub>
                        <m:r>
                          <a:rPr lang="en-US" altLang="zh-CN" sz="1400" i="1">
                            <a:latin typeface="Cambria Math" panose="02040503050406030204" pitchFamily="18" charset="0"/>
                            <a:cs typeface="MV Boli" panose="02000500030200090000" pitchFamily="2" charset="0"/>
                          </a:rPr>
                          <m:t>𝑖</m:t>
                        </m:r>
                      </m:sub>
                    </m:sSub>
                  </m:oMath>
                </a14:m>
                <a:r>
                  <a:rPr lang="zh-CN" altLang="zh-CN" sz="1400" dirty="0">
                    <a:cs typeface="MV Boli" panose="02000500030200090000" pitchFamily="2" charset="0"/>
                  </a:rPr>
                  <a:t>的时变位置，其初始位置为</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𝑟</m:t>
                        </m:r>
                      </m:e>
                      <m:sub>
                        <m:r>
                          <a:rPr lang="en-US" altLang="zh-CN" sz="1400" i="1">
                            <a:latin typeface="Cambria Math" panose="02040503050406030204" pitchFamily="18" charset="0"/>
                            <a:cs typeface="MV Boli" panose="02000500030200090000" pitchFamily="2" charset="0"/>
                          </a:rPr>
                          <m:t>𝑖</m:t>
                        </m:r>
                      </m:sub>
                    </m:sSub>
                  </m:oMath>
                </a14:m>
                <a:r>
                  <a:rPr lang="zh-CN" altLang="zh-CN" sz="1400" dirty="0">
                    <a:cs typeface="MV Boli" panose="02000500030200090000" pitchFamily="2" charset="0"/>
                  </a:rPr>
                  <a:t>，那么：</a:t>
                </a:r>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680948" y="2126973"/>
                <a:ext cx="2444655" cy="523220"/>
              </a:xfrm>
              <a:prstGeom prst="rect">
                <a:avLst/>
              </a:prstGeom>
              <a:blipFill>
                <a:blip r:embed="rId7"/>
                <a:stretch>
                  <a:fillRect l="-748" t="-3488" b="-81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945346" y="2616892"/>
                <a:ext cx="1630767"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𝑝</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Sub>
                    </m:oMath>
                  </m:oMathPara>
                </a14:m>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945346" y="2616892"/>
                <a:ext cx="1630767" cy="30777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01961" y="2957295"/>
                <a:ext cx="2802627" cy="5013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𝑝</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𝑣</m:t>
                              </m:r>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1">
                              <a:latin typeface="Cambria Math" panose="02040503050406030204" pitchFamily="18" charset="0"/>
                            </a:rPr>
                            <m:t>𝑑</m:t>
                          </m:r>
                        </m:num>
                        <m:den>
                          <m:r>
                            <a:rPr lang="zh-CN" altLang="en-US" sz="1400" i="1">
                              <a:latin typeface="Cambria Math" panose="02040503050406030204" pitchFamily="18" charset="0"/>
                            </a:rPr>
                            <m:t>𝑑𝑡</m:t>
                          </m:r>
                        </m:den>
                      </m:f>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1">
                              <a:latin typeface="Cambria Math" panose="02040503050406030204" pitchFamily="18" charset="0"/>
                            </a:rPr>
                            <m:t>𝑑</m:t>
                          </m:r>
                        </m:num>
                        <m:den>
                          <m:r>
                            <a:rPr lang="zh-CN" altLang="en-US" sz="1400" i="1">
                              <a:latin typeface="Cambria Math" panose="02040503050406030204" pitchFamily="18" charset="0"/>
                            </a:rPr>
                            <m:t>𝑑𝑡</m:t>
                          </m:r>
                        </m:den>
                      </m:f>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Sub>
                    </m:oMath>
                  </m:oMathPara>
                </a14:m>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501961" y="2957295"/>
                <a:ext cx="2802627" cy="501356"/>
              </a:xfrm>
              <a:prstGeom prst="rect">
                <a:avLst/>
              </a:prstGeom>
              <a:blipFill>
                <a:blip r:embed="rId9"/>
                <a:stretch>
                  <a:fillRect b="-24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679645" y="3518887"/>
                <a:ext cx="274248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r>
                            <a:rPr lang="zh-CN" altLang="en-US" sz="120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679645" y="3518887"/>
                <a:ext cx="2742482" cy="276999"/>
              </a:xfrm>
              <a:prstGeom prst="rect">
                <a:avLst/>
              </a:prstGeom>
              <a:blipFill>
                <a:blip r:embed="rId10"/>
                <a:stretch>
                  <a:fillRect t="-106522" r="-12000" b="-16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93498" y="3993847"/>
                <a:ext cx="3003130" cy="3939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𝑝</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𝑣</m:t>
                              </m:r>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𝜔</m:t>
                                  </m:r>
                                </m:e>
                              </m:d>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𝑟</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𝜔</m:t>
                                  </m:r>
                                </m:e>
                              </m:d>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𝜔</m:t>
                                          </m:r>
                                        </m:e>
                                      </m:d>
                                    </m:e>
                                  </m:acc>
                                </m:e>
                                <m:sub>
                                  <m:r>
                                    <a:rPr lang="zh-CN" altLang="en-US" sz="1400" i="1">
                                      <a:latin typeface="Cambria Math" panose="02040503050406030204" pitchFamily="18" charset="0"/>
                                    </a:rPr>
                                    <m:t>𝑏</m:t>
                                  </m:r>
                                </m:sub>
                              </m:sSub>
                            </m:e>
                          </m:d>
                        </m:e>
                        <m:sup>
                          <m:r>
                            <a:rPr lang="zh-CN" altLang="en-US" sz="1400" i="0">
                              <a:latin typeface="Cambria Math" panose="02040503050406030204" pitchFamily="18" charset="0"/>
                            </a:rPr>
                            <m:t>2</m:t>
                          </m:r>
                        </m:sup>
                      </m:s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𝑟</m:t>
                          </m:r>
                        </m:e>
                        <m:sub>
                          <m:r>
                            <a:rPr lang="zh-CN" altLang="en-US" sz="1400" i="1">
                              <a:latin typeface="Cambria Math" panose="02040503050406030204" pitchFamily="18" charset="0"/>
                            </a:rPr>
                            <m:t>𝑖</m:t>
                          </m:r>
                        </m:sub>
                      </m:sSub>
                    </m:oMath>
                  </m:oMathPara>
                </a14:m>
                <a:endParaRPr lang="zh-CN"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493498" y="3993847"/>
                <a:ext cx="3003130" cy="393954"/>
              </a:xfrm>
              <a:prstGeom prst="rect">
                <a:avLst/>
              </a:prstGeom>
              <a:blipFill>
                <a:blip r:embed="rId11"/>
                <a:stretch>
                  <a:fillRect t="-101538" r="-7708" b="-17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707904" y="1270112"/>
                <a:ext cx="4572000" cy="307777"/>
              </a:xfrm>
              <a:prstGeom prst="rect">
                <a:avLst/>
              </a:prstGeom>
            </p:spPr>
            <p:txBody>
              <a:bodyPr>
                <a:spAutoFit/>
              </a:bodyPr>
              <a:lstStyle/>
              <a:p>
                <a:r>
                  <a:rPr lang="zh-CN" altLang="zh-CN" sz="1400" dirty="0" smtClean="0">
                    <a:solidFill>
                      <a:srgbClr val="002060"/>
                    </a:solidFill>
                    <a:cs typeface="MV Boli" panose="02000500030200090000" pitchFamily="2" charset="0"/>
                  </a:rPr>
                  <a:t>根据牛顿第二定律：</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𝑓</m:t>
                        </m:r>
                      </m:e>
                      <m:sub>
                        <m:r>
                          <a:rPr lang="en-US" altLang="zh-CN" sz="1400" i="1">
                            <a:solidFill>
                              <a:srgbClr val="002060"/>
                            </a:solidFill>
                            <a:latin typeface="Cambria Math" panose="02040503050406030204" pitchFamily="18" charset="0"/>
                            <a:cs typeface="MV Boli" panose="02000500030200090000" pitchFamily="2" charset="0"/>
                          </a:rPr>
                          <m:t>𝑖</m:t>
                        </m:r>
                      </m:sub>
                    </m:sSub>
                    <m:r>
                      <a:rPr lang="en-US" altLang="zh-CN" sz="1400" i="1">
                        <a:solidFill>
                          <a:srgbClr val="002060"/>
                        </a:solidFill>
                        <a:latin typeface="Cambria Math" panose="02040503050406030204" pitchFamily="18" charset="0"/>
                        <a:cs typeface="MV Boli" panose="02000500030200090000" pitchFamily="2" charset="0"/>
                      </a:rPr>
                      <m:t>=</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𝑚</m:t>
                        </m:r>
                      </m:e>
                      <m:sub>
                        <m:r>
                          <a:rPr lang="en-US" altLang="zh-CN" sz="1400" i="1">
                            <a:solidFill>
                              <a:srgbClr val="002060"/>
                            </a:solidFill>
                            <a:latin typeface="Cambria Math" panose="02040503050406030204" pitchFamily="18" charset="0"/>
                            <a:cs typeface="MV Boli" panose="02000500030200090000" pitchFamily="2" charset="0"/>
                          </a:rPr>
                          <m:t>𝑖</m:t>
                        </m:r>
                      </m:sub>
                    </m:sSub>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solidFill>
                                  <a:srgbClr val="002060"/>
                                </a:solidFill>
                                <a:latin typeface="Cambria Math" panose="02040503050406030204" pitchFamily="18" charset="0"/>
                                <a:cs typeface="MV Boli" panose="02000500030200090000" pitchFamily="2" charset="0"/>
                              </a:rPr>
                              <m:t>𝑝</m:t>
                            </m:r>
                          </m:e>
                        </m:acc>
                      </m:e>
                      <m:sub>
                        <m:r>
                          <a:rPr lang="en-US" altLang="zh-CN" sz="1400" i="1">
                            <a:solidFill>
                              <a:srgbClr val="002060"/>
                            </a:solidFill>
                            <a:latin typeface="Cambria Math" panose="02040503050406030204" pitchFamily="18" charset="0"/>
                            <a:cs typeface="MV Boli" panose="02000500030200090000" pitchFamily="2" charset="0"/>
                          </a:rPr>
                          <m:t>𝑖</m:t>
                        </m:r>
                      </m:sub>
                    </m:sSub>
                  </m:oMath>
                </a14:m>
                <a:r>
                  <a:rPr lang="zh-CN" altLang="zh-CN" sz="1400" dirty="0">
                    <a:solidFill>
                      <a:srgbClr val="002060"/>
                    </a:solidFill>
                    <a:cs typeface="MV Boli" panose="02000500030200090000" pitchFamily="2" charset="0"/>
                  </a:rPr>
                  <a:t>，作用在</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𝑚</m:t>
                        </m:r>
                      </m:e>
                      <m:sub>
                        <m:r>
                          <a:rPr lang="en-US" altLang="zh-CN" sz="1400" i="1">
                            <a:solidFill>
                              <a:srgbClr val="002060"/>
                            </a:solidFill>
                            <a:latin typeface="Cambria Math" panose="02040503050406030204" pitchFamily="18" charset="0"/>
                            <a:cs typeface="MV Boli" panose="02000500030200090000" pitchFamily="2" charset="0"/>
                          </a:rPr>
                          <m:t>𝑖</m:t>
                        </m:r>
                      </m:sub>
                    </m:sSub>
                  </m:oMath>
                </a14:m>
                <a:r>
                  <a:rPr lang="zh-CN" altLang="zh-CN" sz="1400" dirty="0">
                    <a:solidFill>
                      <a:srgbClr val="002060"/>
                    </a:solidFill>
                    <a:cs typeface="MV Boli" panose="02000500030200090000" pitchFamily="2" charset="0"/>
                  </a:rPr>
                  <a:t>上的力等于：</a:t>
                </a:r>
                <a:endParaRPr lang="zh-CN" altLang="en-US" sz="1400" dirty="0">
                  <a:solidFill>
                    <a:srgbClr val="00206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3707904" y="1270112"/>
                <a:ext cx="4572000" cy="307777"/>
              </a:xfrm>
              <a:prstGeom prst="rect">
                <a:avLst/>
              </a:prstGeom>
              <a:blipFill>
                <a:blip r:embed="rId12"/>
                <a:stretch>
                  <a:fillRect l="-400" t="-5882" b="-156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4541929" y="1656307"/>
                <a:ext cx="2910220" cy="3811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d>
                            <m:dPr>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26" name="矩形 25"/>
              <p:cNvSpPr>
                <a:spLocks noRot="1" noChangeAspect="1" noMove="1" noResize="1" noEditPoints="1" noAdjustHandles="1" noChangeArrowheads="1" noChangeShapeType="1" noTextEdit="1"/>
              </p:cNvSpPr>
              <p:nvPr/>
            </p:nvSpPr>
            <p:spPr>
              <a:xfrm>
                <a:off x="4541929" y="1656307"/>
                <a:ext cx="2910220" cy="381130"/>
              </a:xfrm>
              <a:prstGeom prst="rect">
                <a:avLst/>
              </a:prstGeom>
              <a:blipFill>
                <a:blip r:embed="rId13"/>
                <a:stretch>
                  <a:fillRect t="-150000" r="-20335" b="-225806"/>
                </a:stretch>
              </a:blipFill>
            </p:spPr>
            <p:txBody>
              <a:bodyPr/>
              <a:lstStyle/>
              <a:p>
                <a:r>
                  <a:rPr lang="zh-CN" altLang="en-US">
                    <a:noFill/>
                  </a:rPr>
                  <a:t> </a:t>
                </a:r>
              </a:p>
            </p:txBody>
          </p:sp>
        </mc:Fallback>
      </mc:AlternateContent>
      <p:sp>
        <p:nvSpPr>
          <p:cNvPr id="27" name="矩形 26"/>
          <p:cNvSpPr/>
          <p:nvPr/>
        </p:nvSpPr>
        <p:spPr>
          <a:xfrm>
            <a:off x="3851920" y="2119058"/>
            <a:ext cx="543739" cy="307777"/>
          </a:xfrm>
          <a:prstGeom prst="rect">
            <a:avLst/>
          </a:prstGeom>
        </p:spPr>
        <p:txBody>
          <a:bodyPr wrap="none">
            <a:spAutoFit/>
          </a:bodyPr>
          <a:lstStyle/>
          <a:p>
            <a:r>
              <a:rPr lang="zh-CN" altLang="zh-CN" sz="1400" dirty="0">
                <a:solidFill>
                  <a:srgbClr val="002060"/>
                </a:solidFill>
                <a:cs typeface="MV Boli" panose="02000500030200090000" pitchFamily="2" charset="0"/>
              </a:rPr>
              <a:t>力矩</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28" name="矩形 27"/>
              <p:cNvSpPr/>
              <p:nvPr/>
            </p:nvSpPr>
            <p:spPr>
              <a:xfrm>
                <a:off x="4541929" y="2136749"/>
                <a:ext cx="88549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𝑓</m:t>
                          </m:r>
                        </m:e>
                        <m:sub>
                          <m:r>
                            <a:rPr lang="zh-CN" altLang="en-US" sz="1200" i="1">
                              <a:latin typeface="Cambria Math" panose="02040503050406030204" pitchFamily="18" charset="0"/>
                            </a:rPr>
                            <m:t>𝑖</m:t>
                          </m:r>
                        </m:sub>
                      </m:sSub>
                    </m:oMath>
                  </m:oMathPara>
                </a14:m>
                <a:endParaRPr lang="zh-CN" altLang="en-US" sz="1200" dirty="0"/>
              </a:p>
            </p:txBody>
          </p:sp>
        </mc:Choice>
        <mc:Fallback xmlns="">
          <p:sp>
            <p:nvSpPr>
              <p:cNvPr id="28" name="矩形 27"/>
              <p:cNvSpPr>
                <a:spLocks noRot="1" noChangeAspect="1" noMove="1" noResize="1" noEditPoints="1" noAdjustHandles="1" noChangeArrowheads="1" noChangeShapeType="1" noTextEdit="1"/>
              </p:cNvSpPr>
              <p:nvPr/>
            </p:nvSpPr>
            <p:spPr>
              <a:xfrm>
                <a:off x="4541929" y="2136749"/>
                <a:ext cx="885499" cy="276999"/>
              </a:xfrm>
              <a:prstGeom prst="rect">
                <a:avLst/>
              </a:prstGeom>
              <a:blipFill>
                <a:blip r:embed="rId14"/>
                <a:stretch>
                  <a:fillRect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4716016" y="2369572"/>
                <a:ext cx="2971070" cy="3811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r>
                            <a:rPr lang="zh-CN" altLang="en-US" sz="120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d>
                            <m:dPr>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29" name="矩形 28"/>
              <p:cNvSpPr>
                <a:spLocks noRot="1" noChangeAspect="1" noMove="1" noResize="1" noEditPoints="1" noAdjustHandles="1" noChangeArrowheads="1" noChangeShapeType="1" noTextEdit="1"/>
              </p:cNvSpPr>
              <p:nvPr/>
            </p:nvSpPr>
            <p:spPr>
              <a:xfrm>
                <a:off x="4716016" y="2369572"/>
                <a:ext cx="2971070" cy="381130"/>
              </a:xfrm>
              <a:prstGeom prst="rect">
                <a:avLst/>
              </a:prstGeom>
              <a:blipFill>
                <a:blip r:embed="rId15"/>
                <a:stretch>
                  <a:fillRect t="-150000" r="-19713" b="-225806"/>
                </a:stretch>
              </a:blipFill>
            </p:spPr>
            <p:txBody>
              <a:bodyPr/>
              <a:lstStyle/>
              <a:p>
                <a:r>
                  <a:rPr lang="zh-CN" altLang="en-US">
                    <a:noFill/>
                  </a:rPr>
                  <a:t> </a:t>
                </a:r>
              </a:p>
            </p:txBody>
          </p:sp>
        </mc:Fallback>
      </mc:AlternateContent>
      <p:sp>
        <p:nvSpPr>
          <p:cNvPr id="30" name="矩形 29"/>
          <p:cNvSpPr/>
          <p:nvPr/>
        </p:nvSpPr>
        <p:spPr>
          <a:xfrm>
            <a:off x="3794485" y="2928948"/>
            <a:ext cx="4572000" cy="307777"/>
          </a:xfrm>
          <a:prstGeom prst="rect">
            <a:avLst/>
          </a:prstGeom>
        </p:spPr>
        <p:txBody>
          <a:bodyPr>
            <a:spAutoFit/>
          </a:bodyPr>
          <a:lstStyle/>
          <a:p>
            <a:r>
              <a:rPr lang="zh-CN" altLang="zh-CN" sz="1400" b="1" dirty="0">
                <a:solidFill>
                  <a:srgbClr val="002060"/>
                </a:solidFill>
                <a:cs typeface="MV Boli" panose="02000500030200090000" pitchFamily="2" charset="0"/>
              </a:rPr>
              <a:t>将作用在刚体上的力和力矩的总和表达为</a:t>
            </a:r>
            <a:r>
              <a:rPr lang="zh-CN" altLang="zh-CN" sz="1400" b="1" dirty="0">
                <a:solidFill>
                  <a:srgbClr val="FF0000"/>
                </a:solidFill>
                <a:cs typeface="MV Boli" panose="02000500030200090000" pitchFamily="2" charset="0"/>
              </a:rPr>
              <a:t>力旋量</a:t>
            </a:r>
            <a:r>
              <a:rPr lang="en-US" altLang="zh-CN" sz="1400" b="1" dirty="0">
                <a:solidFill>
                  <a:srgbClr val="002060"/>
                </a:solidFill>
                <a:cs typeface="MV Boli" panose="02000500030200090000" pitchFamily="2" charset="0"/>
              </a:rPr>
              <a:t>(Wrench)</a:t>
            </a:r>
            <a:endParaRPr lang="zh-CN" altLang="en-US" sz="1400" b="1" dirty="0">
              <a:solidFill>
                <a:srgbClr val="002060"/>
              </a:solidFill>
            </a:endParaRPr>
          </a:p>
        </p:txBody>
      </p:sp>
      <p:sp>
        <p:nvSpPr>
          <p:cNvPr id="31" name="圆角矩形 30"/>
          <p:cNvSpPr/>
          <p:nvPr/>
        </p:nvSpPr>
        <p:spPr>
          <a:xfrm>
            <a:off x="501961" y="1186386"/>
            <a:ext cx="2844268" cy="7550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2" name="矩形 31"/>
              <p:cNvSpPr/>
              <p:nvPr/>
            </p:nvSpPr>
            <p:spPr>
              <a:xfrm>
                <a:off x="4304761" y="3540383"/>
                <a:ext cx="1823256" cy="9199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ℱ</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𝑏</m:t>
                                    </m:r>
                                  </m:sub>
                                </m:sSub>
                              </m:e>
                            </m:mr>
                          </m:m>
                        </m:e>
                      </m:d>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nary>
                                  <m:naryPr>
                                    <m:chr m:val="∑"/>
                                    <m:limLoc m:val="subSup"/>
                                    <m:supHide m:val="on"/>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sub>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𝑖</m:t>
                                        </m:r>
                                      </m:sub>
                                    </m:sSub>
                                  </m:e>
                                </m:nary>
                              </m:e>
                            </m:mr>
                            <m:mr>
                              <m:e>
                                <m:nary>
                                  <m:naryPr>
                                    <m:chr m:val="∑"/>
                                    <m:limLoc m:val="subSup"/>
                                    <m:supHide m:val="on"/>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sub>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𝑖</m:t>
                                        </m:r>
                                      </m:sub>
                                    </m:sSub>
                                  </m:e>
                                </m:nary>
                              </m:e>
                            </m:mr>
                          </m:m>
                        </m:e>
                      </m:d>
                    </m:oMath>
                  </m:oMathPara>
                </a14:m>
                <a:endParaRPr lang="zh-CN" altLang="en-US" sz="1400" dirty="0"/>
              </a:p>
            </p:txBody>
          </p:sp>
        </mc:Choice>
        <mc:Fallback xmlns="">
          <p:sp>
            <p:nvSpPr>
              <p:cNvPr id="32" name="矩形 31"/>
              <p:cNvSpPr>
                <a:spLocks noRot="1" noChangeAspect="1" noMove="1" noResize="1" noEditPoints="1" noAdjustHandles="1" noChangeArrowheads="1" noChangeShapeType="1" noTextEdit="1"/>
              </p:cNvSpPr>
              <p:nvPr/>
            </p:nvSpPr>
            <p:spPr>
              <a:xfrm>
                <a:off x="4304761" y="3540383"/>
                <a:ext cx="1823256" cy="919932"/>
              </a:xfrm>
              <a:prstGeom prst="rect">
                <a:avLst/>
              </a:prstGeom>
              <a:blipFill>
                <a:blip r:embed="rId16"/>
                <a:stretch>
                  <a:fillRect/>
                </a:stretch>
              </a:blipFill>
            </p:spPr>
            <p:txBody>
              <a:bodyPr/>
              <a:lstStyle/>
              <a:p>
                <a:r>
                  <a:rPr lang="zh-CN" altLang="en-US">
                    <a:noFill/>
                  </a:rPr>
                  <a:t> </a:t>
                </a:r>
              </a:p>
            </p:txBody>
          </p:sp>
        </mc:Fallback>
      </mc:AlternateContent>
      <p:sp>
        <p:nvSpPr>
          <p:cNvPr id="33" name="圆角矩形 32"/>
          <p:cNvSpPr/>
          <p:nvPr/>
        </p:nvSpPr>
        <p:spPr>
          <a:xfrm>
            <a:off x="3851920" y="3458651"/>
            <a:ext cx="2808312" cy="112932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0238753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3126177"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单刚体运动旋量</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力旋量方程推导</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2286000" y="1369177"/>
                <a:ext cx="4572000" cy="1065548"/>
              </a:xfrm>
              <a:prstGeom prst="rect">
                <a:avLst/>
              </a:prstGeom>
            </p:spPr>
            <p:txBody>
              <a:bodyPr>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𝑏</m:t>
                          </m:r>
                        </m:sub>
                      </m:sSub>
                      <m:r>
                        <a:rPr lang="en-US" altLang="zh-CN" sz="1200" i="1">
                          <a:latin typeface="Cambria Math" panose="02040503050406030204" pitchFamily="18" charset="0"/>
                          <a:cs typeface="MV Boli" panose="02000500030200090000" pitchFamily="2" charset="0"/>
                        </a:rPr>
                        <m:t>=</m:t>
                      </m:r>
                      <m:nary>
                        <m:naryPr>
                          <m:chr m:val="∑"/>
                          <m:limLoc m:val="undOvr"/>
                          <m:supHide m:val="on"/>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200" i="1">
                              <a:latin typeface="Cambria Math" panose="02040503050406030204" pitchFamily="18" charset="0"/>
                              <a:cs typeface="MV Boli" panose="02000500030200090000" pitchFamily="2" charset="0"/>
                            </a:rPr>
                            <m:t>𝑖</m:t>
                          </m:r>
                        </m:sub>
                        <m:sup/>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𝑚</m:t>
                              </m:r>
                            </m:e>
                            <m:sub>
                              <m:r>
                                <a:rPr lang="en-US" altLang="zh-CN" sz="1200" i="1">
                                  <a:latin typeface="Cambria Math" panose="02040503050406030204" pitchFamily="18" charset="0"/>
                                  <a:cs typeface="MV Boli" panose="02000500030200090000" pitchFamily="2" charset="0"/>
                                </a:rPr>
                                <m:t>𝑖</m:t>
                              </m:r>
                            </m:sub>
                          </m:sSub>
                        </m:e>
                      </m:nary>
                      <m:d>
                        <m:d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latin typeface="Cambria Math" panose="02040503050406030204" pitchFamily="18" charset="0"/>
                                      <a:cs typeface="MV Boli" panose="02000500030200090000" pitchFamily="2" charset="0"/>
                                    </a:rPr>
                                    <m:t>𝑣</m:t>
                                  </m:r>
                                </m:e>
                              </m:acc>
                            </m:e>
                            <m:sub>
                              <m:r>
                                <a:rPr lang="en-US" altLang="zh-CN" sz="1200" i="1">
                                  <a:latin typeface="Cambria Math" panose="02040503050406030204" pitchFamily="18" charset="0"/>
                                  <a:cs typeface="MV Boli" panose="02000500030200090000" pitchFamily="2" charset="0"/>
                                </a:rPr>
                                <m:t>𝑏</m:t>
                              </m:r>
                            </m:sub>
                          </m:sSub>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𝑏</m:t>
                                  </m:r>
                                </m:sub>
                              </m:sSub>
                            </m:e>
                          </m:d>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𝑏</m:t>
                              </m:r>
                            </m:sub>
                          </m:sSub>
                        </m:e>
                      </m:d>
                      <m:r>
                        <a:rPr lang="en-US" altLang="zh-CN" sz="1200" i="1">
                          <a:latin typeface="Cambria Math" panose="02040503050406030204" pitchFamily="18" charset="0"/>
                          <a:cs typeface="MV Boli" panose="02000500030200090000" pitchFamily="2" charset="0"/>
                        </a:rPr>
                        <m:t>−</m:t>
                      </m:r>
                      <m:nary>
                        <m:naryPr>
                          <m:chr m:val="∑"/>
                          <m:limLoc m:val="undOvr"/>
                          <m:supHide m:val="on"/>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200" i="1">
                              <a:latin typeface="Cambria Math" panose="02040503050406030204" pitchFamily="18" charset="0"/>
                              <a:cs typeface="MV Boli" panose="02000500030200090000" pitchFamily="2" charset="0"/>
                            </a:rPr>
                            <m:t>𝑖</m:t>
                          </m:r>
                        </m:sub>
                        <m:sup/>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𝑚</m:t>
                              </m:r>
                            </m:e>
                            <m:sub>
                              <m:r>
                                <a:rPr lang="en-US" altLang="zh-CN" sz="1200" i="1">
                                  <a:latin typeface="Cambria Math" panose="02040503050406030204" pitchFamily="18" charset="0"/>
                                  <a:cs typeface="MV Boli" panose="02000500030200090000" pitchFamily="2" charset="0"/>
                                </a:rPr>
                                <m:t>𝑖</m:t>
                              </m:r>
                            </m:sub>
                          </m:sSub>
                        </m:e>
                      </m:nary>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𝑟</m:t>
                              </m:r>
                            </m:e>
                            <m:sub>
                              <m:r>
                                <a:rPr lang="en-US" altLang="zh-CN" sz="1200" i="1">
                                  <a:latin typeface="Cambria Math" panose="02040503050406030204" pitchFamily="18" charset="0"/>
                                  <a:cs typeface="MV Boli" panose="02000500030200090000" pitchFamily="2" charset="0"/>
                                </a:rPr>
                                <m:t>𝑖</m:t>
                              </m:r>
                            </m:sub>
                          </m:sSub>
                        </m:e>
                      </m:d>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latin typeface="Cambria Math" panose="02040503050406030204" pitchFamily="18" charset="0"/>
                                  <a:cs typeface="MV Boli" panose="02000500030200090000" pitchFamily="2" charset="0"/>
                                </a:rPr>
                                <m:t>𝜔</m:t>
                              </m:r>
                            </m:e>
                          </m:acc>
                        </m:e>
                        <m:sub>
                          <m:r>
                            <a:rPr lang="en-US" altLang="zh-CN" sz="1200" i="1">
                              <a:latin typeface="Cambria Math" panose="02040503050406030204" pitchFamily="18" charset="0"/>
                              <a:cs typeface="MV Boli" panose="02000500030200090000" pitchFamily="2" charset="0"/>
                            </a:rPr>
                            <m:t>𝑏</m:t>
                          </m:r>
                        </m:sub>
                      </m:sSub>
                      <m:r>
                        <a:rPr lang="en-US" altLang="zh-CN" sz="1200" i="1">
                          <a:latin typeface="Cambria Math" panose="02040503050406030204" pitchFamily="18" charset="0"/>
                          <a:cs typeface="MV Boli" panose="02000500030200090000" pitchFamily="2" charset="0"/>
                        </a:rPr>
                        <m:t>+</m:t>
                      </m:r>
                      <m:nary>
                        <m:naryPr>
                          <m:chr m:val="∑"/>
                          <m:limLoc m:val="undOvr"/>
                          <m:supHide m:val="on"/>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200" i="1">
                              <a:latin typeface="Cambria Math" panose="02040503050406030204" pitchFamily="18" charset="0"/>
                              <a:cs typeface="MV Boli" panose="02000500030200090000" pitchFamily="2" charset="0"/>
                            </a:rPr>
                            <m:t>𝑖</m:t>
                          </m:r>
                        </m:sub>
                        <m:sup/>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𝑚</m:t>
                              </m:r>
                            </m:e>
                            <m:sub>
                              <m:r>
                                <a:rPr lang="en-US" altLang="zh-CN" sz="1200" i="1">
                                  <a:latin typeface="Cambria Math" panose="02040503050406030204" pitchFamily="18" charset="0"/>
                                  <a:cs typeface="MV Boli" panose="02000500030200090000" pitchFamily="2" charset="0"/>
                                </a:rPr>
                                <m:t>𝑖</m:t>
                              </m:r>
                            </m:sub>
                          </m:sSub>
                        </m:e>
                      </m:nary>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𝑟</m:t>
                              </m:r>
                            </m:e>
                            <m:sub>
                              <m:r>
                                <a:rPr lang="en-US" altLang="zh-CN" sz="1200" i="1">
                                  <a:latin typeface="Cambria Math" panose="02040503050406030204" pitchFamily="18" charset="0"/>
                                  <a:cs typeface="MV Boli" panose="02000500030200090000" pitchFamily="2" charset="0"/>
                                </a:rPr>
                                <m:t>𝑖</m:t>
                              </m:r>
                            </m:sub>
                          </m:sSub>
                        </m:e>
                      </m:d>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𝑖</m:t>
                              </m:r>
                            </m:sub>
                          </m:sSub>
                        </m:e>
                      </m:d>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𝑖</m:t>
                          </m:r>
                        </m:sub>
                      </m:sSub>
                    </m:oMath>
                  </m:oMathPara>
                </a14:m>
                <a:endParaRPr lang="zh-CN" altLang="zh-CN" sz="12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𝑏</m:t>
                          </m:r>
                        </m:sub>
                      </m:sSub>
                      <m:r>
                        <a:rPr lang="en-US" altLang="zh-CN" sz="1200" i="1">
                          <a:latin typeface="Cambria Math" panose="02040503050406030204" pitchFamily="18" charset="0"/>
                          <a:cs typeface="MV Boli" panose="02000500030200090000" pitchFamily="2" charset="0"/>
                        </a:rPr>
                        <m:t>=</m:t>
                      </m:r>
                      <m:nary>
                        <m:naryPr>
                          <m:chr m:val="∑"/>
                          <m:limLoc m:val="undOvr"/>
                          <m:supHide m:val="on"/>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naryPr>
                        <m:sub>
                          <m:r>
                            <a:rPr lang="en-US" altLang="zh-CN" sz="1200" i="1">
                              <a:latin typeface="Cambria Math" panose="02040503050406030204" pitchFamily="18" charset="0"/>
                              <a:cs typeface="MV Boli" panose="02000500030200090000" pitchFamily="2" charset="0"/>
                            </a:rPr>
                            <m:t>𝑖</m:t>
                          </m:r>
                        </m:sub>
                        <m:sup/>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𝑚</m:t>
                              </m:r>
                            </m:e>
                            <m:sub>
                              <m:r>
                                <a:rPr lang="en-US" altLang="zh-CN" sz="1200" i="1">
                                  <a:latin typeface="Cambria Math" panose="02040503050406030204" pitchFamily="18" charset="0"/>
                                  <a:cs typeface="MV Boli" panose="02000500030200090000" pitchFamily="2" charset="0"/>
                                </a:rPr>
                                <m:t>𝑖</m:t>
                              </m:r>
                            </m:sub>
                          </m:sSub>
                        </m:e>
                      </m:nary>
                      <m:d>
                        <m:d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latin typeface="Cambria Math" panose="02040503050406030204" pitchFamily="18" charset="0"/>
                                      <a:cs typeface="MV Boli" panose="02000500030200090000" pitchFamily="2" charset="0"/>
                                    </a:rPr>
                                    <m:t>𝑣</m:t>
                                  </m:r>
                                </m:e>
                              </m:acc>
                            </m:e>
                            <m:sub>
                              <m:r>
                                <a:rPr lang="en-US" altLang="zh-CN" sz="1200" i="1">
                                  <a:latin typeface="Cambria Math" panose="02040503050406030204" pitchFamily="18" charset="0"/>
                                  <a:cs typeface="MV Boli" panose="02000500030200090000" pitchFamily="2" charset="0"/>
                                </a:rPr>
                                <m:t>𝑏</m:t>
                              </m:r>
                            </m:sub>
                          </m:sSub>
                          <m:r>
                            <a:rPr lang="en-US" altLang="zh-CN" sz="1200" i="1">
                              <a:latin typeface="Cambria Math" panose="02040503050406030204" pitchFamily="18" charset="0"/>
                              <a:cs typeface="MV Boli" panose="02000500030200090000" pitchFamily="2" charset="0"/>
                            </a:rPr>
                            <m:t>+</m:t>
                          </m:r>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𝑏</m:t>
                                  </m:r>
                                </m:sub>
                              </m:sSub>
                            </m:e>
                          </m:d>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𝑏</m:t>
                              </m:r>
                            </m:sub>
                          </m:sSub>
                        </m:e>
                      </m:d>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2286000" y="1369177"/>
                <a:ext cx="4572000" cy="1065548"/>
              </a:xfrm>
              <a:prstGeom prst="rect">
                <a:avLst/>
              </a:prstGeom>
              <a:blipFill>
                <a:blip r:embed="rId3"/>
                <a:stretch>
                  <a:fillRect t="-10345" b="-8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707904" y="4437626"/>
                <a:ext cx="1942070"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e>
                      </m:d>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oMath>
                  </m:oMathPara>
                </a14:m>
                <a:endParaRPr lang="zh-CN" altLang="en-US" sz="1400" dirty="0"/>
              </a:p>
            </p:txBody>
          </p:sp>
        </mc:Choice>
        <mc:Fallback xmlns="">
          <p:sp>
            <p:nvSpPr>
              <p:cNvPr id="3" name="矩形 2"/>
              <p:cNvSpPr>
                <a:spLocks noRot="1" noChangeAspect="1" noMove="1" noResize="1" noEditPoints="1" noAdjustHandles="1" noChangeArrowheads="1" noChangeShapeType="1" noTextEdit="1"/>
              </p:cNvSpPr>
              <p:nvPr/>
            </p:nvSpPr>
            <p:spPr>
              <a:xfrm>
                <a:off x="3707904" y="4437626"/>
                <a:ext cx="1942070" cy="30777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987824" y="3655666"/>
                <a:ext cx="2464393" cy="5833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nary>
                            <m:naryPr>
                              <m:chr m:val="∑"/>
                              <m:limLoc m:val="undOvr"/>
                              <m:supHide m:val="on"/>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sub>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e>
                          </m:nary>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2987824" y="3655666"/>
                <a:ext cx="2464393" cy="583301"/>
              </a:xfrm>
              <a:prstGeom prst="rect">
                <a:avLst/>
              </a:prstGeom>
              <a:blipFill>
                <a:blip r:embed="rId5"/>
                <a:stretch>
                  <a:fillRect l="-4208" t="-183158" r="-42079" b="-26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934020" y="2423993"/>
                <a:ext cx="4572000" cy="58330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nary>
                            <m:naryPr>
                              <m:chr m:val="∑"/>
                              <m:limLoc m:val="undOvr"/>
                              <m:supHide m:val="on"/>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sub>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e>
                          </m:nary>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d>
                            <m:dPr>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𝜔</m:t>
                                              </m:r>
                                            </m:e>
                                          </m:d>
                                        </m:e>
                                      </m:acc>
                                    </m:e>
                                    <m:sub>
                                      <m:r>
                                        <a:rPr lang="zh-CN" altLang="en-US" sz="1200" i="1">
                                          <a:latin typeface="Cambria Math" panose="02040503050406030204" pitchFamily="18" charset="0"/>
                                        </a:rPr>
                                        <m:t>𝑏</m:t>
                                      </m:r>
                                    </m:sub>
                                  </m:sSub>
                                </m:e>
                              </m:d>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1934020" y="2423993"/>
                <a:ext cx="4572000" cy="583301"/>
              </a:xfrm>
              <a:prstGeom prst="rect">
                <a:avLst/>
              </a:prstGeom>
              <a:blipFill>
                <a:blip r:embed="rId6"/>
                <a:stretch>
                  <a:fillRect t="-183158" r="-10267" b="-26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051720" y="2996561"/>
                <a:ext cx="4572000" cy="58330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d>
                        <m:dPr>
                          <m:ctrlPr>
                            <a:rPr lang="zh-CN" altLang="en-US" sz="1200" i="1">
                              <a:latin typeface="Cambria Math" panose="02040503050406030204" pitchFamily="18" charset="0"/>
                            </a:rPr>
                          </m:ctrlPr>
                        </m:dPr>
                        <m:e>
                          <m:r>
                            <a:rPr lang="zh-CN" altLang="en-US" sz="1200" i="0">
                              <a:latin typeface="Cambria Math" panose="02040503050406030204" pitchFamily="18" charset="0"/>
                            </a:rPr>
                            <m:t>−</m:t>
                          </m:r>
                          <m:nary>
                            <m:naryPr>
                              <m:chr m:val="∑"/>
                              <m:limLoc m:val="undOvr"/>
                              <m:supHide m:val="on"/>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sub>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e>
                          </m:nary>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e>
                            <m:sup>
                              <m:r>
                                <a:rPr lang="zh-CN" altLang="en-US" sz="1200" i="0">
                                  <a:latin typeface="Cambria Math" panose="02040503050406030204" pitchFamily="18" charset="0"/>
                                </a:rPr>
                                <m:t>2</m:t>
                              </m:r>
                            </m:sup>
                          </m:sSup>
                        </m:e>
                      </m:d>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𝑏</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d>
                      <m:r>
                        <a:rPr lang="zh-CN" altLang="en-US" sz="1200" i="0">
                          <a:latin typeface="Cambria Math" panose="02040503050406030204" pitchFamily="18" charset="0"/>
                        </a:rPr>
                        <m:t>(−</m:t>
                      </m:r>
                      <m:nary>
                        <m:naryPr>
                          <m:chr m:val="∑"/>
                          <m:limLoc m:val="undOvr"/>
                          <m:supHide m:val="on"/>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sub>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m:t>
                              </m:r>
                            </m:sub>
                          </m:sSub>
                        </m:e>
                      </m:nary>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1">
                                      <a:latin typeface="Cambria Math" panose="02040503050406030204" pitchFamily="18" charset="0"/>
                                    </a:rPr>
                                    <m:t>𝑖</m:t>
                                  </m:r>
                                </m:sub>
                              </m:sSub>
                            </m:e>
                          </m:d>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2051720" y="2996561"/>
                <a:ext cx="4572000" cy="583301"/>
              </a:xfrm>
              <a:prstGeom prst="rect">
                <a:avLst/>
              </a:prstGeom>
              <a:blipFill>
                <a:blip r:embed="rId7"/>
                <a:stretch>
                  <a:fillRect t="-101053" b="-153684"/>
                </a:stretch>
              </a:blipFill>
            </p:spPr>
            <p:txBody>
              <a:bodyPr/>
              <a:lstStyle/>
              <a:p>
                <a:r>
                  <a:rPr lang="zh-CN" altLang="en-US">
                    <a:noFill/>
                  </a:rPr>
                  <a:t> </a:t>
                </a:r>
              </a:p>
            </p:txBody>
          </p:sp>
        </mc:Fallback>
      </mc:AlternateContent>
      <p:sp>
        <p:nvSpPr>
          <p:cNvPr id="8" name="矩形 7"/>
          <p:cNvSpPr/>
          <p:nvPr/>
        </p:nvSpPr>
        <p:spPr>
          <a:xfrm>
            <a:off x="2446650" y="4437626"/>
            <a:ext cx="1082348" cy="307777"/>
          </a:xfrm>
          <a:prstGeom prst="rect">
            <a:avLst/>
          </a:prstGeom>
        </p:spPr>
        <p:txBody>
          <a:bodyPr wrap="none">
            <a:spAutoFit/>
          </a:bodyPr>
          <a:lstStyle/>
          <a:p>
            <a:r>
              <a:rPr lang="zh-CN" altLang="zh-CN" sz="1400" dirty="0">
                <a:solidFill>
                  <a:srgbClr val="002060"/>
                </a:solidFill>
                <a:cs typeface="MV Boli" panose="02000500030200090000" pitchFamily="2" charset="0"/>
              </a:rPr>
              <a:t>旋转项简化</a:t>
            </a:r>
            <a:endParaRPr lang="zh-CN" altLang="en-US" sz="1400" dirty="0">
              <a:solidFill>
                <a:srgbClr val="002060"/>
              </a:solidFill>
            </a:endParaRPr>
          </a:p>
        </p:txBody>
      </p:sp>
      <p:sp>
        <p:nvSpPr>
          <p:cNvPr id="9" name="矩形 8"/>
          <p:cNvSpPr/>
          <p:nvPr/>
        </p:nvSpPr>
        <p:spPr>
          <a:xfrm>
            <a:off x="2446650" y="2016336"/>
            <a:ext cx="1082348" cy="307777"/>
          </a:xfrm>
          <a:prstGeom prst="rect">
            <a:avLst/>
          </a:prstGeom>
        </p:spPr>
        <p:txBody>
          <a:bodyPr wrap="none">
            <a:spAutoFit/>
          </a:bodyPr>
          <a:lstStyle/>
          <a:p>
            <a:r>
              <a:rPr lang="zh-CN" altLang="zh-CN" sz="1400" dirty="0">
                <a:solidFill>
                  <a:srgbClr val="002060"/>
                </a:solidFill>
                <a:cs typeface="MV Boli" panose="02000500030200090000" pitchFamily="2" charset="0"/>
              </a:rPr>
              <a:t>平移</a:t>
            </a:r>
            <a:r>
              <a:rPr lang="zh-CN" altLang="zh-CN" sz="1400" dirty="0" smtClean="0">
                <a:solidFill>
                  <a:srgbClr val="002060"/>
                </a:solidFill>
                <a:cs typeface="MV Boli" panose="02000500030200090000" pitchFamily="2" charset="0"/>
              </a:rPr>
              <a:t>项</a:t>
            </a:r>
            <a:r>
              <a:rPr lang="zh-CN" altLang="en-US" sz="1400" dirty="0" smtClean="0">
                <a:solidFill>
                  <a:srgbClr val="002060"/>
                </a:solidFill>
                <a:cs typeface="MV Boli" panose="02000500030200090000" pitchFamily="2" charset="0"/>
              </a:rPr>
              <a:t>简化</a:t>
            </a:r>
            <a:endParaRPr lang="zh-CN" altLang="en-US" sz="1400" dirty="0">
              <a:solidFill>
                <a:srgbClr val="002060"/>
              </a:solidFill>
            </a:endParaRPr>
          </a:p>
        </p:txBody>
      </p:sp>
      <p:sp>
        <p:nvSpPr>
          <p:cNvPr id="17" name="圆角矩形 16"/>
          <p:cNvSpPr/>
          <p:nvPr/>
        </p:nvSpPr>
        <p:spPr>
          <a:xfrm>
            <a:off x="2274252" y="1901951"/>
            <a:ext cx="3375722" cy="52204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a:off x="2296294" y="4330493"/>
            <a:ext cx="3375722" cy="52204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647881" y="3216639"/>
            <a:ext cx="1478290" cy="338554"/>
          </a:xfrm>
          <a:prstGeom prst="rect">
            <a:avLst/>
          </a:prstGeom>
        </p:spPr>
        <p:txBody>
          <a:bodyPr wrap="none">
            <a:spAutoFit/>
          </a:bodyPr>
          <a:lstStyle/>
          <a:p>
            <a:r>
              <a:rPr lang="zh-CN" altLang="zh-CN" sz="1600" b="1" dirty="0">
                <a:solidFill>
                  <a:srgbClr val="002060"/>
                </a:solidFill>
                <a:cs typeface="MV Boli" panose="02000500030200090000" pitchFamily="2" charset="0"/>
              </a:rPr>
              <a:t>牛顿</a:t>
            </a:r>
            <a:r>
              <a:rPr lang="en-US" altLang="zh-CN" sz="1600" b="1" dirty="0">
                <a:solidFill>
                  <a:srgbClr val="002060"/>
                </a:solidFill>
                <a:cs typeface="MV Boli" panose="02000500030200090000" pitchFamily="2" charset="0"/>
              </a:rPr>
              <a:t>-</a:t>
            </a:r>
            <a:r>
              <a:rPr lang="zh-CN" altLang="zh-CN" sz="1600" b="1" dirty="0">
                <a:solidFill>
                  <a:srgbClr val="002060"/>
                </a:solidFill>
                <a:cs typeface="MV Boli" panose="02000500030200090000" pitchFamily="2" charset="0"/>
              </a:rPr>
              <a:t>欧拉方程</a:t>
            </a:r>
            <a:endParaRPr lang="zh-CN" altLang="en-US" sz="1600" b="1" dirty="0">
              <a:solidFill>
                <a:srgbClr val="002060"/>
              </a:solidFill>
            </a:endParaRPr>
          </a:p>
        </p:txBody>
      </p:sp>
      <p:sp>
        <p:nvSpPr>
          <p:cNvPr id="22" name="右大括号 21"/>
          <p:cNvSpPr/>
          <p:nvPr/>
        </p:nvSpPr>
        <p:spPr>
          <a:xfrm>
            <a:off x="5672016" y="2162972"/>
            <a:ext cx="1030677" cy="242854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912087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3674404"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运动</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旋量</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力旋量</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方程</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2471597" y="1802545"/>
                <a:ext cx="4572000" cy="459998"/>
              </a:xfrm>
              <a:prstGeom prst="rect">
                <a:avLst/>
              </a:prstGeom>
            </p:spPr>
            <p:txBody>
              <a:bodyPr>
                <a:spAutoFit/>
              </a:bodyPr>
              <a:lstStyle/>
              <a:p>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𝑏</m:t>
                                  </m:r>
                                </m:sub>
                              </m:sSub>
                            </m:e>
                          </m:m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𝑏</m:t>
                                  </m:r>
                                </m:sub>
                              </m:sSub>
                            </m:e>
                          </m:mr>
                        </m:m>
                      </m:e>
                    </m:d>
                    <m:r>
                      <a:rPr lang="en-US" altLang="zh-CN" sz="1200">
                        <a:latin typeface="Cambria Math" panose="02040503050406030204" pitchFamily="18" charset="0"/>
                        <a:cs typeface="MV Boli" panose="02000500030200090000" pitchFamily="2" charset="0"/>
                      </a:rPr>
                      <m:t>=</m:t>
                    </m:r>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𝐼</m:t>
                                  </m:r>
                                </m:e>
                                <m:sub>
                                  <m:r>
                                    <a:rPr lang="en-US" altLang="zh-CN" sz="1200" i="1">
                                      <a:latin typeface="Cambria Math" panose="02040503050406030204" pitchFamily="18" charset="0"/>
                                      <a:cs typeface="MV Boli" panose="02000500030200090000" pitchFamily="2" charset="0"/>
                                    </a:rPr>
                                    <m:t>𝑏</m:t>
                                  </m:r>
                                </m:sub>
                              </m:sSub>
                            </m:e>
                            <m:e>
                              <m:r>
                                <a:rPr lang="en-US" altLang="zh-CN" sz="1200" i="1">
                                  <a:latin typeface="Cambria Math" panose="02040503050406030204" pitchFamily="18" charset="0"/>
                                  <a:cs typeface="MV Boli" panose="02000500030200090000" pitchFamily="2" charset="0"/>
                                </a:rPr>
                                <m:t>0</m:t>
                              </m:r>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𝑚𝐼</m:t>
                              </m:r>
                            </m:e>
                          </m:mr>
                        </m:m>
                      </m:e>
                    </m:d>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latin typeface="Cambria Math" panose="02040503050406030204" pitchFamily="18" charset="0"/>
                                          <a:cs typeface="MV Boli" panose="02000500030200090000" pitchFamily="2" charset="0"/>
                                        </a:rPr>
                                        <m:t>𝜔</m:t>
                                      </m:r>
                                    </m:e>
                                  </m:acc>
                                </m:e>
                                <m:sub>
                                  <m:r>
                                    <a:rPr lang="en-US" altLang="zh-CN" sz="1200" i="1">
                                      <a:latin typeface="Cambria Math" panose="02040503050406030204" pitchFamily="18" charset="0"/>
                                      <a:cs typeface="MV Boli" panose="02000500030200090000" pitchFamily="2" charset="0"/>
                                    </a:rPr>
                                    <m:t>𝑏</m:t>
                                  </m:r>
                                </m:sub>
                              </m:sSub>
                            </m:e>
                          </m:m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200" i="1">
                                          <a:latin typeface="Cambria Math" panose="02040503050406030204" pitchFamily="18" charset="0"/>
                                          <a:cs typeface="MV Boli" panose="02000500030200090000" pitchFamily="2" charset="0"/>
                                        </a:rPr>
                                        <m:t>𝑣</m:t>
                                      </m:r>
                                    </m:e>
                                  </m:acc>
                                </m:e>
                                <m:sub>
                                  <m:r>
                                    <a:rPr lang="en-US" altLang="zh-CN" sz="1200" i="1">
                                      <a:latin typeface="Cambria Math" panose="02040503050406030204" pitchFamily="18" charset="0"/>
                                      <a:cs typeface="MV Boli" panose="02000500030200090000" pitchFamily="2" charset="0"/>
                                    </a:rPr>
                                    <m:t>𝑏</m:t>
                                  </m:r>
                                </m:sub>
                              </m:sSub>
                            </m:e>
                          </m:mr>
                        </m:m>
                      </m:e>
                    </m:d>
                    <m:r>
                      <a:rPr lang="en-US" altLang="zh-CN" sz="1200" i="1">
                        <a:latin typeface="Cambria Math" panose="02040503050406030204" pitchFamily="18" charset="0"/>
                        <a:cs typeface="MV Boli" panose="02000500030200090000" pitchFamily="2" charset="0"/>
                      </a:rPr>
                      <m:t>+</m:t>
                    </m:r>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𝑏</m:t>
                                      </m:r>
                                    </m:sub>
                                  </m:sSub>
                                </m:e>
                              </m:d>
                            </m:e>
                            <m:e>
                              <m:r>
                                <a:rPr lang="en-US" altLang="zh-CN" sz="1200" i="1">
                                  <a:latin typeface="Cambria Math" panose="02040503050406030204" pitchFamily="18" charset="0"/>
                                  <a:cs typeface="MV Boli" panose="02000500030200090000" pitchFamily="2" charset="0"/>
                                </a:rPr>
                                <m:t>0</m:t>
                              </m:r>
                            </m:e>
                          </m:mr>
                          <m:mr>
                            <m:e>
                              <m:r>
                                <a:rPr lang="en-US" altLang="zh-CN" sz="1200" i="1">
                                  <a:latin typeface="Cambria Math" panose="02040503050406030204" pitchFamily="18" charset="0"/>
                                  <a:cs typeface="MV Boli" panose="02000500030200090000" pitchFamily="2" charset="0"/>
                                </a:rPr>
                                <m:t>0</m:t>
                              </m:r>
                            </m:e>
                            <m:e>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𝑏</m:t>
                                      </m:r>
                                    </m:sub>
                                  </m:sSub>
                                </m:e>
                              </m:d>
                            </m:e>
                          </m:mr>
                        </m:m>
                      </m:e>
                    </m:d>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𝐼</m:t>
                                  </m:r>
                                </m:e>
                                <m:sub>
                                  <m:r>
                                    <a:rPr lang="en-US" altLang="zh-CN" sz="1200" i="1">
                                      <a:latin typeface="Cambria Math" panose="02040503050406030204" pitchFamily="18" charset="0"/>
                                      <a:cs typeface="MV Boli" panose="02000500030200090000" pitchFamily="2" charset="0"/>
                                    </a:rPr>
                                    <m:t>𝑏</m:t>
                                  </m:r>
                                </m:sub>
                              </m:sSub>
                            </m:e>
                            <m:e>
                              <m:r>
                                <a:rPr lang="en-US" altLang="zh-CN" sz="1200" i="1">
                                  <a:latin typeface="Cambria Math" panose="02040503050406030204" pitchFamily="18" charset="0"/>
                                  <a:cs typeface="MV Boli" panose="02000500030200090000" pitchFamily="2" charset="0"/>
                                </a:rPr>
                                <m:t>0</m:t>
                              </m:r>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𝑚𝐼</m:t>
                              </m:r>
                            </m:e>
                          </m:mr>
                        </m:m>
                      </m:e>
                    </m:d>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𝑏</m:t>
                                  </m:r>
                                </m:sub>
                              </m:sSub>
                            </m:e>
                          </m:mr>
                          <m:mr>
                            <m:e>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𝑏</m:t>
                                  </m:r>
                                </m:sub>
                              </m:sSub>
                            </m:e>
                          </m:mr>
                        </m:m>
                      </m:e>
                    </m:d>
                  </m:oMath>
                </a14:m>
                <a:r>
                  <a:rPr lang="en-US" altLang="zh-CN" sz="1200" dirty="0">
                    <a:latin typeface="宋体" panose="02010600030101010101" pitchFamily="2" charset="-122"/>
                    <a:cs typeface="MV Boli" panose="02000500030200090000" pitchFamily="2" charset="0"/>
                  </a:rPr>
                  <a:t> </a:t>
                </a:r>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2471597" y="1802545"/>
                <a:ext cx="4572000" cy="4599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900549" y="3154783"/>
                <a:ext cx="4572000" cy="45999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𝑓</m:t>
                                    </m:r>
                                  </m:e>
                                  <m:sub>
                                    <m:r>
                                      <a:rPr lang="zh-CN" altLang="en-US" sz="1200" i="1">
                                        <a:latin typeface="Cambria Math" panose="02040503050406030204" pitchFamily="18" charset="0"/>
                                      </a:rPr>
                                      <m:t>𝑏</m:t>
                                    </m:r>
                                  </m:sub>
                                </m:sSub>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𝐼</m:t>
                                    </m:r>
                                  </m:e>
                                  <m:sub>
                                    <m:r>
                                      <a:rPr lang="zh-CN" altLang="en-US" sz="1200" i="1">
                                        <a:latin typeface="Cambria Math" panose="02040503050406030204" pitchFamily="18" charset="0"/>
                                      </a:rPr>
                                      <m:t>𝑏</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1">
                                    <a:latin typeface="Cambria Math" panose="02040503050406030204" pitchFamily="18" charset="0"/>
                                  </a:rPr>
                                  <m:t>𝑚𝐼</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d>
                              </m:e>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e>
                                </m:d>
                              </m:e>
                            </m:mr>
                            <m:mr>
                              <m:e>
                                <m:r>
                                  <a:rPr lang="zh-CN" altLang="en-US" sz="1200" i="0">
                                    <a:latin typeface="Cambria Math" panose="02040503050406030204" pitchFamily="18" charset="0"/>
                                  </a:rPr>
                                  <m:t>0</m:t>
                                </m:r>
                              </m:e>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d>
                              </m:e>
                            </m:mr>
                          </m:m>
                        </m:e>
                      </m:d>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𝐼</m:t>
                                    </m:r>
                                  </m:e>
                                  <m:sub>
                                    <m:r>
                                      <a:rPr lang="zh-CN" altLang="en-US" sz="1200" i="1">
                                        <a:latin typeface="Cambria Math" panose="02040503050406030204" pitchFamily="18" charset="0"/>
                                      </a:rPr>
                                      <m:t>𝑏</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1">
                                    <a:latin typeface="Cambria Math" panose="02040503050406030204" pitchFamily="18" charset="0"/>
                                  </a:rPr>
                                  <m:t>𝑚𝐼</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e>
                            </m:mr>
                          </m:m>
                        </m:e>
                      </m:d>
                    </m:oMath>
                  </m:oMathPara>
                </a14:m>
                <a:endParaRPr lang="zh-CN" altLang="en-US" sz="1200" dirty="0"/>
              </a:p>
            </p:txBody>
          </p:sp>
        </mc:Choice>
        <mc:Fallback xmlns="">
          <p:sp>
            <p:nvSpPr>
              <p:cNvPr id="3" name="矩形 2"/>
              <p:cNvSpPr>
                <a:spLocks noRot="1" noChangeAspect="1" noMove="1" noResize="1" noEditPoints="1" noAdjustHandles="1" noChangeArrowheads="1" noChangeShapeType="1" noTextEdit="1"/>
              </p:cNvSpPr>
              <p:nvPr/>
            </p:nvSpPr>
            <p:spPr>
              <a:xfrm>
                <a:off x="1900549" y="3154783"/>
                <a:ext cx="4572000" cy="45999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937087" y="3731323"/>
                <a:ext cx="4572000" cy="49661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𝑓</m:t>
                                    </m:r>
                                  </m:e>
                                  <m:sub>
                                    <m:r>
                                      <a:rPr lang="zh-CN" altLang="en-US" sz="1200" i="1">
                                        <a:latin typeface="Cambria Math" panose="02040503050406030204" pitchFamily="18" charset="0"/>
                                      </a:rPr>
                                      <m:t>𝑏</m:t>
                                    </m:r>
                                  </m:sub>
                                </m:sSub>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𝐼</m:t>
                                    </m:r>
                                  </m:e>
                                  <m:sub>
                                    <m:r>
                                      <a:rPr lang="zh-CN" altLang="en-US" sz="1200" i="1">
                                        <a:latin typeface="Cambria Math" panose="02040503050406030204" pitchFamily="18" charset="0"/>
                                      </a:rPr>
                                      <m:t>𝑏</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1">
                                    <a:latin typeface="Cambria Math" panose="02040503050406030204" pitchFamily="18" charset="0"/>
                                  </a:rPr>
                                  <m:t>𝑚𝐼</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𝑣</m:t>
                                        </m:r>
                                      </m:e>
                                    </m:acc>
                                  </m:e>
                                  <m:sub>
                                    <m:r>
                                      <a:rPr lang="zh-CN" altLang="en-US" sz="1200" i="1">
                                        <a:latin typeface="Cambria Math" panose="02040503050406030204" pitchFamily="18" charset="0"/>
                                      </a:rPr>
                                      <m:t>𝑏</m:t>
                                    </m:r>
                                  </m:sub>
                                </m:sSub>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d>
                                  </m:e>
                                  <m:e>
                                    <m:r>
                                      <a:rPr lang="zh-CN" altLang="en-US" sz="1200" i="0">
                                        <a:latin typeface="Cambria Math" panose="02040503050406030204" pitchFamily="18" charset="0"/>
                                      </a:rPr>
                                      <m:t>0</m:t>
                                    </m:r>
                                  </m:e>
                                </m:mr>
                                <m:m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e>
                                    </m:d>
                                  </m:e>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d>
                                  </m:e>
                                </m:mr>
                              </m:m>
                            </m:e>
                          </m:d>
                        </m:e>
                        <m:sup>
                          <m:r>
                            <a:rPr lang="zh-CN" altLang="en-US" sz="1200" i="1">
                              <a:latin typeface="Cambria Math" panose="02040503050406030204" pitchFamily="18" charset="0"/>
                            </a:rPr>
                            <m:t>𝑇</m:t>
                          </m:r>
                        </m:sup>
                      </m:sSup>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𝐼</m:t>
                                    </m:r>
                                  </m:e>
                                  <m:sub>
                                    <m:r>
                                      <a:rPr lang="zh-CN" altLang="en-US" sz="1200" i="1">
                                        <a:latin typeface="Cambria Math" panose="02040503050406030204" pitchFamily="18" charset="0"/>
                                      </a:rPr>
                                      <m:t>𝑏</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1">
                                    <a:latin typeface="Cambria Math" panose="02040503050406030204" pitchFamily="18" charset="0"/>
                                  </a:rPr>
                                  <m:t>𝑚𝐼</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1">
                                        <a:latin typeface="Cambria Math" panose="02040503050406030204" pitchFamily="18" charset="0"/>
                                      </a:rPr>
                                      <m:t>𝑏</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1">
                                        <a:latin typeface="Cambria Math" panose="02040503050406030204" pitchFamily="18" charset="0"/>
                                      </a:rPr>
                                      <m:t>𝑏</m:t>
                                    </m:r>
                                  </m:sub>
                                </m:sSub>
                              </m:e>
                            </m:mr>
                          </m:m>
                        </m:e>
                      </m:d>
                    </m:oMath>
                  </m:oMathPara>
                </a14:m>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1937087" y="3731323"/>
                <a:ext cx="4572000" cy="49661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407525" y="2374032"/>
                <a:ext cx="4572000" cy="523220"/>
              </a:xfrm>
              <a:prstGeom prst="rect">
                <a:avLst/>
              </a:prstGeom>
            </p:spPr>
            <p:txBody>
              <a:bodyPr>
                <a:spAutoFit/>
              </a:bodyPr>
              <a:lstStyle/>
              <a:p>
                <a:r>
                  <a:rPr lang="zh-CN" altLang="zh-CN" sz="1400" dirty="0" smtClean="0">
                    <a:solidFill>
                      <a:srgbClr val="002060"/>
                    </a:solidFill>
                    <a:cs typeface="MV Boli" panose="02000500030200090000" pitchFamily="2" charset="0"/>
                  </a:rPr>
                  <a:t>其中，</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𝐼</m:t>
                    </m:r>
                  </m:oMath>
                </a14:m>
                <a:r>
                  <a:rPr lang="zh-CN" altLang="zh-CN" sz="1400" dirty="0">
                    <a:solidFill>
                      <a:srgbClr val="002060"/>
                    </a:solidFill>
                    <a:cs typeface="MV Boli" panose="02000500030200090000" pitchFamily="2" charset="0"/>
                  </a:rPr>
                  <a:t>为</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3×3</m:t>
                    </m:r>
                  </m:oMath>
                </a14:m>
                <a:r>
                  <a:rPr lang="zh-CN" altLang="zh-CN" sz="1400" dirty="0">
                    <a:solidFill>
                      <a:srgbClr val="002060"/>
                    </a:solidFill>
                    <a:cs typeface="MV Boli" panose="02000500030200090000" pitchFamily="2" charset="0"/>
                  </a:rPr>
                  <a:t>的单位矩阵。利用反对称矩阵特性，</a:t>
                </a:r>
                <a14:m>
                  <m:oMath xmlns:m="http://schemas.openxmlformats.org/officeDocument/2006/math">
                    <m:d>
                      <m:dPr>
                        <m:begChr m:val="["/>
                        <m:end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solidFill>
                              <a:srgbClr val="002060"/>
                            </a:solidFill>
                            <a:latin typeface="Cambria Math" panose="02040503050406030204" pitchFamily="18" charset="0"/>
                            <a:cs typeface="MV Boli" panose="02000500030200090000" pitchFamily="2" charset="0"/>
                          </a:rPr>
                          <m:t>𝑎</m:t>
                        </m:r>
                      </m:e>
                    </m:d>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m:t>
                    </m:r>
                    <m:sSup>
                      <m:sSup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pPr>
                      <m:e>
                        <m:d>
                          <m:dPr>
                            <m:begChr m:val="["/>
                            <m:end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solidFill>
                                  <a:srgbClr val="002060"/>
                                </a:solidFill>
                                <a:latin typeface="Cambria Math" panose="02040503050406030204" pitchFamily="18" charset="0"/>
                                <a:cs typeface="MV Boli" panose="02000500030200090000" pitchFamily="2" charset="0"/>
                              </a:rPr>
                              <m:t>𝑎</m:t>
                            </m:r>
                          </m:e>
                        </m:d>
                      </m:e>
                      <m:sup>
                        <m:r>
                          <a:rPr lang="en-US" altLang="zh-CN" sz="1400" i="1">
                            <a:solidFill>
                              <a:srgbClr val="002060"/>
                            </a:solidFill>
                            <a:latin typeface="Cambria Math" panose="02040503050406030204" pitchFamily="18" charset="0"/>
                            <a:cs typeface="MV Boli" panose="02000500030200090000" pitchFamily="2" charset="0"/>
                          </a:rPr>
                          <m:t>𝑇</m:t>
                        </m:r>
                      </m:sup>
                    </m:sSup>
                    <m:r>
                      <a:rPr lang="en-US" altLang="zh-CN" sz="1400" i="1">
                        <a:solidFill>
                          <a:srgbClr val="002060"/>
                        </a:solidFill>
                        <a:latin typeface="Cambria Math" panose="02040503050406030204" pitchFamily="18" charset="0"/>
                        <a:cs typeface="MV Boli" panose="02000500030200090000" pitchFamily="2" charset="0"/>
                      </a:rPr>
                      <m:t>, </m:t>
                    </m:r>
                    <m:d>
                      <m:dPr>
                        <m:begChr m:val="["/>
                        <m:endChr m:val="]"/>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solidFill>
                              <a:srgbClr val="002060"/>
                            </a:solidFill>
                            <a:latin typeface="Cambria Math" panose="02040503050406030204" pitchFamily="18" charset="0"/>
                            <a:cs typeface="MV Boli" panose="02000500030200090000" pitchFamily="2" charset="0"/>
                          </a:rPr>
                          <m:t>𝑎</m:t>
                        </m:r>
                      </m:e>
                    </m:d>
                    <m:r>
                      <a:rPr lang="en-US" altLang="zh-CN" sz="1400" i="1">
                        <a:solidFill>
                          <a:srgbClr val="002060"/>
                        </a:solidFill>
                        <a:latin typeface="Cambria Math" panose="02040503050406030204" pitchFamily="18" charset="0"/>
                        <a:cs typeface="MV Boli" panose="02000500030200090000" pitchFamily="2" charset="0"/>
                      </a:rPr>
                      <m:t>𝑎</m:t>
                    </m:r>
                    <m:r>
                      <a:rPr lang="en-US" altLang="zh-CN" sz="1400" i="1">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𝑎</m:t>
                    </m:r>
                    <m:r>
                      <a:rPr lang="en-US" altLang="zh-CN" sz="1400" i="1">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𝑎</m:t>
                    </m:r>
                    <m:r>
                      <a:rPr lang="en-US" altLang="zh-CN" sz="1400" i="1">
                        <a:solidFill>
                          <a:srgbClr val="002060"/>
                        </a:solidFill>
                        <a:latin typeface="Cambria Math" panose="02040503050406030204" pitchFamily="18" charset="0"/>
                        <a:cs typeface="MV Boli" panose="02000500030200090000" pitchFamily="2" charset="0"/>
                      </a:rPr>
                      <m:t>=0</m:t>
                    </m:r>
                  </m:oMath>
                </a14:m>
                <a:endParaRPr lang="zh-CN" altLang="en-US" sz="1400" dirty="0">
                  <a:solidFill>
                    <a:srgbClr val="00206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2407525" y="2374032"/>
                <a:ext cx="4572000" cy="523220"/>
              </a:xfrm>
              <a:prstGeom prst="rect">
                <a:avLst/>
              </a:prstGeom>
              <a:blipFill>
                <a:blip r:embed="rId6"/>
                <a:stretch>
                  <a:fillRect l="-400" t="-2326"/>
                </a:stretch>
              </a:blipFill>
            </p:spPr>
            <p:txBody>
              <a:bodyPr/>
              <a:lstStyle/>
              <a:p>
                <a:r>
                  <a:rPr lang="zh-CN" altLang="en-US">
                    <a:noFill/>
                  </a:rPr>
                  <a:t> </a:t>
                </a:r>
              </a:p>
            </p:txBody>
          </p:sp>
        </mc:Fallback>
      </mc:AlternateContent>
      <p:cxnSp>
        <p:nvCxnSpPr>
          <p:cNvPr id="8" name="直接箭头连接符 7"/>
          <p:cNvCxnSpPr/>
          <p:nvPr/>
        </p:nvCxnSpPr>
        <p:spPr>
          <a:xfrm>
            <a:off x="6640159" y="2026099"/>
            <a:ext cx="0" cy="212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2180052" y="2032544"/>
            <a:ext cx="0" cy="212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矩形 8"/>
              <p:cNvSpPr/>
              <p:nvPr/>
            </p:nvSpPr>
            <p:spPr>
              <a:xfrm>
                <a:off x="539552" y="2036455"/>
                <a:ext cx="1017843" cy="4521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e>
                            </m:mr>
                          </m:m>
                        </m:e>
                      </m:d>
                    </m:oMath>
                  </m:oMathPara>
                </a14:m>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539552" y="2036455"/>
                <a:ext cx="1017843" cy="45217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39552" y="3231087"/>
                <a:ext cx="987514" cy="4639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ℱ</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𝑏</m:t>
                                    </m:r>
                                  </m:sub>
                                </m:sSub>
                              </m:e>
                            </m:mr>
                          </m:m>
                        </m:e>
                      </m:d>
                    </m:oMath>
                  </m:oMathPara>
                </a14:m>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539552" y="3231087"/>
                <a:ext cx="987514" cy="463973"/>
              </a:xfrm>
              <a:prstGeom prst="rect">
                <a:avLst/>
              </a:prstGeom>
              <a:blipFill>
                <a:blip r:embed="rId8"/>
                <a:stretch>
                  <a:fillRect b="-6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6987094" y="1989503"/>
                <a:ext cx="1343252" cy="457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ℊ</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e>
                              <m:e>
                                <m:r>
                                  <a:rPr lang="zh-CN" altLang="en-US" sz="1400" i="0">
                                    <a:latin typeface="Cambria Math" panose="02040503050406030204" pitchFamily="18" charset="0"/>
                                  </a:rPr>
                                  <m:t>0</m:t>
                                </m:r>
                              </m:e>
                            </m:mr>
                            <m:mr>
                              <m:e>
                                <m:r>
                                  <a:rPr lang="zh-CN" altLang="en-US" sz="1400" i="0">
                                    <a:latin typeface="Cambria Math" panose="02040503050406030204" pitchFamily="18" charset="0"/>
                                  </a:rPr>
                                  <m:t>0</m:t>
                                </m:r>
                              </m:e>
                              <m:e>
                                <m:r>
                                  <a:rPr lang="zh-CN" altLang="en-US" sz="1400" i="1">
                                    <a:latin typeface="Cambria Math" panose="02040503050406030204" pitchFamily="18" charset="0"/>
                                  </a:rPr>
                                  <m:t>𝑚𝐼</m:t>
                                </m:r>
                              </m:e>
                            </m:mr>
                          </m:m>
                        </m:e>
                      </m:d>
                    </m:oMath>
                  </m:oMathPara>
                </a14:m>
                <a:endParaRPr lang="zh-CN"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6987094" y="1989503"/>
                <a:ext cx="1343252" cy="457176"/>
              </a:xfrm>
              <a:prstGeom prst="rect">
                <a:avLst/>
              </a:prstGeom>
              <a:blipFill>
                <a:blip r:embed="rId9"/>
                <a:stretch>
                  <a:fillRect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6800957" y="3108487"/>
                <a:ext cx="2075179" cy="8513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𝒫</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e>
                            </m:mr>
                            <m:mr>
                              <m:e>
                                <m:r>
                                  <a:rPr lang="zh-CN" altLang="en-US" sz="1400" i="1">
                                    <a:latin typeface="Cambria Math" panose="02040503050406030204" pitchFamily="18" charset="0"/>
                                  </a:rPr>
                                  <m:t>𝑚</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e>
                            </m:mr>
                          </m:m>
                        </m:e>
                      </m:d>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𝑏</m:t>
                                    </m:r>
                                  </m:sub>
                                </m:sSub>
                              </m:e>
                              <m:e>
                                <m:r>
                                  <a:rPr lang="zh-CN" altLang="en-US" sz="1400" i="0">
                                    <a:latin typeface="Cambria Math" panose="02040503050406030204" pitchFamily="18" charset="0"/>
                                  </a:rPr>
                                  <m:t>0</m:t>
                                </m:r>
                              </m:e>
                            </m:mr>
                            <m:mr>
                              <m:e>
                                <m:r>
                                  <a:rPr lang="zh-CN" altLang="en-US" sz="1400" i="0">
                                    <a:latin typeface="Cambria Math" panose="02040503050406030204" pitchFamily="18" charset="0"/>
                                  </a:rPr>
                                  <m:t>0</m:t>
                                </m:r>
                              </m:e>
                              <m:e>
                                <m:r>
                                  <a:rPr lang="zh-CN" altLang="en-US" sz="1400" i="1">
                                    <a:latin typeface="Cambria Math" panose="02040503050406030204" pitchFamily="18" charset="0"/>
                                  </a:rPr>
                                  <m:t>𝑚𝐼</m:t>
                                </m:r>
                              </m:e>
                            </m:mr>
                          </m:m>
                        </m:e>
                      </m:d>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𝑏</m:t>
                                    </m:r>
                                  </m:sub>
                                </m:sSub>
                              </m:e>
                            </m:m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𝑏</m:t>
                                    </m:r>
                                  </m:sub>
                                </m:sSub>
                              </m:e>
                            </m:mr>
                          </m:m>
                        </m:e>
                      </m:d>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𝑏</m:t>
                          </m:r>
                        </m:sub>
                      </m:sSub>
                    </m:oMath>
                  </m:oMathPara>
                </a14:m>
                <a:endParaRPr lang="zh-CN"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6800957" y="3108487"/>
                <a:ext cx="2075179" cy="851387"/>
              </a:xfrm>
              <a:prstGeom prst="rect">
                <a:avLst/>
              </a:prstGeom>
              <a:blipFill>
                <a:blip r:embed="rId10"/>
                <a:stretch>
                  <a:fillRect/>
                </a:stretch>
              </a:blipFill>
            </p:spPr>
            <p:txBody>
              <a:bodyPr/>
              <a:lstStyle/>
              <a:p>
                <a:r>
                  <a:rPr lang="zh-CN" altLang="en-US">
                    <a:noFill/>
                  </a:rPr>
                  <a:t> </a:t>
                </a:r>
              </a:p>
            </p:txBody>
          </p:sp>
        </mc:Fallback>
      </mc:AlternateContent>
      <p:sp>
        <p:nvSpPr>
          <p:cNvPr id="22" name="矩形 21"/>
          <p:cNvSpPr/>
          <p:nvPr/>
        </p:nvSpPr>
        <p:spPr>
          <a:xfrm>
            <a:off x="624255" y="1684951"/>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运动旋量</a:t>
            </a:r>
            <a:endParaRPr lang="zh-CN" altLang="en-US" sz="1400" b="1" dirty="0">
              <a:solidFill>
                <a:srgbClr val="002060"/>
              </a:solidFill>
            </a:endParaRPr>
          </a:p>
        </p:txBody>
      </p:sp>
      <p:sp>
        <p:nvSpPr>
          <p:cNvPr id="23" name="矩形 22"/>
          <p:cNvSpPr/>
          <p:nvPr/>
        </p:nvSpPr>
        <p:spPr>
          <a:xfrm>
            <a:off x="624892" y="2912075"/>
            <a:ext cx="723275" cy="307777"/>
          </a:xfrm>
          <a:prstGeom prst="rect">
            <a:avLst/>
          </a:prstGeom>
        </p:spPr>
        <p:txBody>
          <a:bodyPr wrap="none">
            <a:spAutoFit/>
          </a:bodyPr>
          <a:lstStyle/>
          <a:p>
            <a:r>
              <a:rPr lang="zh-CN" altLang="zh-CN" sz="1400" b="1" dirty="0">
                <a:solidFill>
                  <a:srgbClr val="002060"/>
                </a:solidFill>
                <a:cs typeface="MV Boli" panose="02000500030200090000" pitchFamily="2" charset="0"/>
              </a:rPr>
              <a:t>力旋量</a:t>
            </a:r>
            <a:endParaRPr lang="zh-CN" altLang="en-US" sz="1400" b="1" dirty="0">
              <a:solidFill>
                <a:srgbClr val="002060"/>
              </a:solidFill>
            </a:endParaRPr>
          </a:p>
        </p:txBody>
      </p:sp>
      <p:sp>
        <p:nvSpPr>
          <p:cNvPr id="24" name="矩形 23"/>
          <p:cNvSpPr/>
          <p:nvPr/>
        </p:nvSpPr>
        <p:spPr>
          <a:xfrm>
            <a:off x="7076031" y="1664543"/>
            <a:ext cx="1261884" cy="307777"/>
          </a:xfrm>
          <a:prstGeom prst="rect">
            <a:avLst/>
          </a:prstGeom>
        </p:spPr>
        <p:txBody>
          <a:bodyPr wrap="none">
            <a:spAutoFit/>
          </a:bodyPr>
          <a:lstStyle/>
          <a:p>
            <a:r>
              <a:rPr lang="zh-CN" altLang="zh-CN" sz="1400" b="1" dirty="0">
                <a:solidFill>
                  <a:srgbClr val="002060"/>
                </a:solidFill>
                <a:cs typeface="MV Boli" panose="02000500030200090000" pitchFamily="2" charset="0"/>
              </a:rPr>
              <a:t>空间惯量矩阵</a:t>
            </a:r>
            <a:endParaRPr lang="zh-CN" altLang="en-US" sz="1400" b="1" dirty="0">
              <a:solidFill>
                <a:srgbClr val="002060"/>
              </a:solidFill>
            </a:endParaRPr>
          </a:p>
        </p:txBody>
      </p:sp>
      <p:sp>
        <p:nvSpPr>
          <p:cNvPr id="25" name="矩形 24"/>
          <p:cNvSpPr/>
          <p:nvPr/>
        </p:nvSpPr>
        <p:spPr>
          <a:xfrm>
            <a:off x="7039594" y="2743363"/>
            <a:ext cx="902811" cy="307777"/>
          </a:xfrm>
          <a:prstGeom prst="rect">
            <a:avLst/>
          </a:prstGeom>
        </p:spPr>
        <p:txBody>
          <a:bodyPr wrap="none">
            <a:spAutoFit/>
          </a:bodyPr>
          <a:lstStyle/>
          <a:p>
            <a:r>
              <a:rPr lang="zh-CN" altLang="zh-CN" sz="1400" b="1" dirty="0">
                <a:solidFill>
                  <a:srgbClr val="002060"/>
                </a:solidFill>
                <a:cs typeface="MV Boli" panose="02000500030200090000" pitchFamily="2" charset="0"/>
              </a:rPr>
              <a:t>空间动量</a:t>
            </a:r>
            <a:endParaRPr lang="zh-CN" altLang="en-US" sz="1400" b="1" dirty="0">
              <a:solidFill>
                <a:srgbClr val="002060"/>
              </a:solidFill>
            </a:endParaRPr>
          </a:p>
        </p:txBody>
      </p:sp>
    </p:spTree>
    <p:extLst>
      <p:ext uri="{BB962C8B-B14F-4D97-AF65-F5344CB8AC3E}">
        <p14:creationId xmlns:p14="http://schemas.microsoft.com/office/powerpoint/2010/main" val="16029931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3674404"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运动</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旋量</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力旋量</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方程</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04771" y="1342966"/>
            <a:ext cx="1849865" cy="338554"/>
          </a:xfrm>
          <a:prstGeom prst="rect">
            <a:avLst/>
          </a:prstGeom>
        </p:spPr>
        <p:txBody>
          <a:bodyPr wrap="none">
            <a:spAutoFit/>
          </a:bodyPr>
          <a:lstStyle/>
          <a:p>
            <a:r>
              <a:rPr lang="zh-CN" altLang="zh-CN" sz="1600" b="1" dirty="0">
                <a:solidFill>
                  <a:srgbClr val="002060"/>
                </a:solidFill>
                <a:cs typeface="MV Boli" panose="02000500030200090000" pitchFamily="2" charset="0"/>
              </a:rPr>
              <a:t>李括号</a:t>
            </a:r>
            <a:r>
              <a:rPr lang="en-US" altLang="zh-CN" sz="1600" b="1" dirty="0">
                <a:solidFill>
                  <a:srgbClr val="002060"/>
                </a:solidFill>
                <a:cs typeface="MV Boli" panose="02000500030200090000" pitchFamily="2" charset="0"/>
              </a:rPr>
              <a:t>(Lie bracket)</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0" name="矩形 9"/>
              <p:cNvSpPr/>
              <p:nvPr/>
            </p:nvSpPr>
            <p:spPr>
              <a:xfrm>
                <a:off x="2309086" y="1779662"/>
                <a:ext cx="4572000" cy="1485150"/>
              </a:xfrm>
              <a:prstGeom prst="rect">
                <a:avLst/>
              </a:prstGeom>
            </p:spPr>
            <p:txBody>
              <a:bodyPr>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1</m:t>
                              </m:r>
                            </m:sub>
                          </m:sSub>
                          <m:r>
                            <a:rPr lang="en-US" altLang="zh-CN" sz="1200" i="1">
                              <a:latin typeface="Cambria Math" panose="02040503050406030204" pitchFamily="18" charset="0"/>
                              <a:cs typeface="MV Boli" panose="02000500030200090000" pitchFamily="2" charset="0"/>
                            </a:rPr>
                            <m:t>×</m:t>
                          </m:r>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2</m:t>
                              </m:r>
                            </m:sub>
                          </m:sSub>
                        </m:e>
                      </m:d>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1</m:t>
                              </m:r>
                            </m:sub>
                          </m:sSub>
                          <m:r>
                            <a:rPr lang="en-US" altLang="zh-CN" sz="1200" i="1">
                              <a:latin typeface="Cambria Math" panose="02040503050406030204" pitchFamily="18" charset="0"/>
                              <a:cs typeface="MV Boli" panose="02000500030200090000" pitchFamily="2" charset="0"/>
                            </a:rPr>
                            <m:t>][</m:t>
                          </m:r>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2</m:t>
                              </m:r>
                            </m:sub>
                          </m:sSub>
                        </m:e>
                      </m:d>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2</m:t>
                              </m:r>
                            </m:sub>
                          </m:sSub>
                          <m:r>
                            <a:rPr lang="en-US" altLang="zh-CN" sz="1200" i="1">
                              <a:latin typeface="Cambria Math" panose="02040503050406030204" pitchFamily="18" charset="0"/>
                              <a:cs typeface="MV Boli" panose="02000500030200090000" pitchFamily="2" charset="0"/>
                            </a:rPr>
                            <m:t>][</m:t>
                          </m:r>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MV Boli" panose="02000500030200090000" pitchFamily="2" charset="0"/>
                                </a:rPr>
                                <m:t>1</m:t>
                              </m:r>
                            </m:sub>
                          </m:sSub>
                        </m:e>
                      </m:d>
                    </m:oMath>
                  </m:oMathPara>
                </a14:m>
                <a:endParaRPr lang="zh-CN" altLang="zh-CN" sz="12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1</m:t>
                                        </m:r>
                                      </m:sub>
                                    </m:sSub>
                                  </m:e>
                                </m:d>
                              </m:e>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1</m:t>
                                    </m:r>
                                  </m:sub>
                                </m:sSub>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2</m:t>
                                        </m:r>
                                      </m:sub>
                                    </m:sSub>
                                  </m:e>
                                </m:d>
                              </m:e>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2</m:t>
                                    </m:r>
                                  </m:sub>
                                </m:sSub>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2</m:t>
                                        </m:r>
                                      </m:sub>
                                    </m:sSub>
                                  </m:e>
                                </m:d>
                              </m:e>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2</m:t>
                                    </m:r>
                                  </m:sub>
                                </m:sSub>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1</m:t>
                                        </m:r>
                                      </m:sub>
                                    </m:sSub>
                                  </m:e>
                                </m:d>
                              </m:e>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1</m:t>
                                    </m:r>
                                  </m:sub>
                                </m:sSub>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oMath>
                  </m:oMathPara>
                </a14:m>
                <a:endParaRPr lang="zh-CN" altLang="zh-CN" sz="12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1</m:t>
                                        </m:r>
                                      </m:sub>
                                    </m:sSub>
                                  </m:e>
                                </m:d>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2</m:t>
                                        </m:r>
                                      </m:sub>
                                    </m:sSub>
                                  </m:e>
                                </m:d>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2</m:t>
                                        </m:r>
                                      </m:sub>
                                    </m:sSub>
                                  </m:e>
                                </m:d>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1</m:t>
                                        </m:r>
                                      </m:sub>
                                    </m:sSub>
                                  </m:e>
                                </m:d>
                              </m:e>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1</m:t>
                                            </m:r>
                                          </m:sub>
                                        </m:sSub>
                                      </m:e>
                                    </m:d>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2</m:t>
                                    </m:r>
                                  </m:sub>
                                </m:sSub>
                                <m:r>
                                  <a:rPr lang="en-US" altLang="zh-CN" sz="1200" i="1">
                                    <a:latin typeface="Cambria Math" panose="02040503050406030204" pitchFamily="18" charset="0"/>
                                    <a:cs typeface="MV Boli" panose="02000500030200090000" pitchFamily="2" charset="0"/>
                                  </a:rPr>
                                  <m:t>−</m:t>
                                </m:r>
                                <m:d>
                                  <m:dPr>
                                    <m:begChr m:val="["/>
                                    <m:endChr m:val="]"/>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𝜔</m:t>
                                        </m:r>
                                      </m:e>
                                      <m:sub>
                                        <m:r>
                                          <a:rPr lang="en-US" altLang="zh-CN" sz="1200" i="1">
                                            <a:latin typeface="Cambria Math" panose="02040503050406030204" pitchFamily="18" charset="0"/>
                                            <a:cs typeface="MV Boli" panose="02000500030200090000" pitchFamily="2" charset="0"/>
                                          </a:rPr>
                                          <m:t>2</m:t>
                                        </m:r>
                                      </m:sub>
                                    </m:sSub>
                                  </m:e>
                                </m:d>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𝑣</m:t>
                                    </m:r>
                                  </m:e>
                                  <m:sub>
                                    <m:r>
                                      <a:rPr lang="en-US" altLang="zh-CN" sz="1200" i="1">
                                        <a:latin typeface="Cambria Math" panose="02040503050406030204" pitchFamily="18" charset="0"/>
                                        <a:cs typeface="MV Boli" panose="02000500030200090000" pitchFamily="2" charset="0"/>
                                      </a:rPr>
                                      <m:t>1</m:t>
                                    </m:r>
                                  </m:sub>
                                </m:sSub>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oMath>
                  </m:oMathPara>
                </a14:m>
                <a:endParaRPr lang="zh-CN" altLang="zh-CN" sz="12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200">
                          <a:latin typeface="Cambria Math" panose="02040503050406030204" pitchFamily="18" charset="0"/>
                          <a:cs typeface="MV Boli" panose="02000500030200090000" pitchFamily="2" charset="0"/>
                        </a:rPr>
                        <m:t>=</m:t>
                      </m:r>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mPr>
                            <m:mr>
                              <m:e>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sSup>
                                      <m:s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200" i="1">
                                            <a:latin typeface="Cambria Math" panose="02040503050406030204" pitchFamily="18" charset="0"/>
                                            <a:cs typeface="MV Boli" panose="02000500030200090000" pitchFamily="2" charset="0"/>
                                          </a:rPr>
                                          <m:t>𝜔</m:t>
                                        </m:r>
                                      </m:e>
                                      <m:sup>
                                        <m:r>
                                          <a:rPr lang="en-US" altLang="zh-CN" sz="1200" i="1">
                                            <a:latin typeface="Cambria Math" panose="02040503050406030204" pitchFamily="18" charset="0"/>
                                            <a:cs typeface="MV Boli" panose="02000500030200090000" pitchFamily="2" charset="0"/>
                                          </a:rPr>
                                          <m:t>′</m:t>
                                        </m:r>
                                      </m:sup>
                                    </m:sSup>
                                  </m:e>
                                </m:d>
                              </m:e>
                              <m:e>
                                <m:sSup>
                                  <m:s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200" i="1">
                                        <a:latin typeface="Cambria Math" panose="02040503050406030204" pitchFamily="18" charset="0"/>
                                        <a:cs typeface="MV Boli" panose="02000500030200090000" pitchFamily="2" charset="0"/>
                                      </a:rPr>
                                      <m:t>𝑣</m:t>
                                    </m:r>
                                  </m:e>
                                  <m:sup>
                                    <m:r>
                                      <a:rPr lang="en-US" altLang="zh-CN" sz="1200" i="1">
                                        <a:latin typeface="Cambria Math" panose="02040503050406030204" pitchFamily="18" charset="0"/>
                                        <a:cs typeface="MV Boli" panose="02000500030200090000" pitchFamily="2" charset="0"/>
                                      </a:rPr>
                                      <m:t>′</m:t>
                                    </m:r>
                                  </m:sup>
                                </m:sSup>
                              </m:e>
                            </m:mr>
                            <m:mr>
                              <m:e>
                                <m:r>
                                  <a:rPr lang="en-US" altLang="zh-CN" sz="1200" i="1">
                                    <a:latin typeface="Cambria Math" panose="02040503050406030204" pitchFamily="18" charset="0"/>
                                    <a:cs typeface="MV Boli" panose="02000500030200090000" pitchFamily="2" charset="0"/>
                                  </a:rPr>
                                  <m:t>0</m:t>
                                </m:r>
                              </m:e>
                              <m:e>
                                <m:r>
                                  <a:rPr lang="en-US" altLang="zh-CN" sz="1200" i="1">
                                    <a:latin typeface="Cambria Math" panose="02040503050406030204" pitchFamily="18" charset="0"/>
                                    <a:cs typeface="MV Boli" panose="02000500030200090000" pitchFamily="2" charset="0"/>
                                  </a:rPr>
                                  <m:t>0</m:t>
                                </m:r>
                              </m:e>
                            </m:mr>
                          </m:m>
                        </m:e>
                      </m:d>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2309086" y="1779662"/>
                <a:ext cx="4572000" cy="148515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404771" y="3420386"/>
                <a:ext cx="1865319" cy="4580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𝜔</m:t>
                                    </m:r>
                                  </m:e>
                                  <m:sup>
                                    <m:r>
                                      <a:rPr lang="zh-CN" altLang="en-US" sz="1200" i="0">
                                        <a:latin typeface="Cambria Math" panose="02040503050406030204" pitchFamily="18" charset="0"/>
                                      </a:rPr>
                                      <m:t>′</m:t>
                                    </m:r>
                                  </m:sup>
                                </m:sSup>
                              </m:e>
                            </m:mr>
                            <m:m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𝑣</m:t>
                                    </m:r>
                                  </m:e>
                                  <m:sup>
                                    <m:r>
                                      <a:rPr lang="zh-CN" altLang="en-US" sz="1200" i="0">
                                        <a:latin typeface="Cambria Math" panose="02040503050406030204" pitchFamily="18" charset="0"/>
                                      </a:rPr>
                                      <m:t>′</m:t>
                                    </m:r>
                                  </m:sup>
                                </m:sSup>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0">
                                            <a:latin typeface="Cambria Math" panose="02040503050406030204" pitchFamily="18" charset="0"/>
                                          </a:rPr>
                                          <m:t>1</m:t>
                                        </m:r>
                                      </m:sub>
                                    </m:sSub>
                                  </m:e>
                                </m:d>
                              </m:e>
                              <m:e>
                                <m:r>
                                  <a:rPr lang="zh-CN" altLang="en-US" sz="1200" i="0">
                                    <a:latin typeface="Cambria Math" panose="02040503050406030204" pitchFamily="18" charset="0"/>
                                  </a:rPr>
                                  <m:t>0</m:t>
                                </m:r>
                              </m:e>
                            </m:mr>
                            <m:mr>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1</m:t>
                                        </m:r>
                                      </m:sub>
                                    </m:sSub>
                                  </m:e>
                                </m:d>
                              </m:e>
                              <m:e>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0">
                                            <a:latin typeface="Cambria Math" panose="02040503050406030204" pitchFamily="18" charset="0"/>
                                          </a:rPr>
                                          <m:t>1</m:t>
                                        </m:r>
                                      </m:sub>
                                    </m:sSub>
                                  </m:e>
                                </m:d>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𝜔</m:t>
                                    </m:r>
                                  </m:e>
                                  <m:sub>
                                    <m:r>
                                      <a:rPr lang="zh-CN" altLang="en-US" sz="1200" i="0">
                                        <a:latin typeface="Cambria Math" panose="02040503050406030204" pitchFamily="18" charset="0"/>
                                      </a:rPr>
                                      <m:t>2</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𝑣</m:t>
                                    </m:r>
                                  </m:e>
                                  <m:sub>
                                    <m:r>
                                      <a:rPr lang="zh-CN" altLang="en-US" sz="1200" i="0">
                                        <a:latin typeface="Cambria Math" panose="02040503050406030204" pitchFamily="18" charset="0"/>
                                      </a:rPr>
                                      <m:t>2</m:t>
                                    </m:r>
                                  </m:sub>
                                </m:sSub>
                              </m:e>
                            </m:mr>
                          </m:m>
                        </m:e>
                      </m:d>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3404771" y="3420386"/>
                <a:ext cx="1865319" cy="45807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379966" y="4493682"/>
                <a:ext cx="2301912" cy="5102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400" i="1">
                              <a:latin typeface="Cambria Math" panose="02040503050406030204" pitchFamily="18" charset="0"/>
                            </a:rPr>
                          </m:ctrlPr>
                        </m:dPr>
                        <m:e>
                          <m:r>
                            <m:rPr>
                              <m:sty m:val="p"/>
                            </m:rPr>
                            <a:rPr lang="zh-CN" altLang="en-US" sz="1400">
                              <a:latin typeface="Cambria Math" panose="02040503050406030204" pitchFamily="18" charset="0"/>
                            </a:rPr>
                            <m:t>a</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i="0">
                                  <a:latin typeface="Cambria Math" panose="02040503050406030204" pitchFamily="18" charset="0"/>
                                </a:rPr>
                                <m:t>Ѵ</m:t>
                              </m:r>
                            </m:sub>
                          </m:sSub>
                        </m:e>
                      </m:d>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𝜔</m:t>
                                    </m:r>
                                  </m:e>
                                </m:d>
                              </m:e>
                              <m:e>
                                <m:r>
                                  <a:rPr lang="zh-CN" altLang="en-US" sz="1400" i="0">
                                    <a:latin typeface="Cambria Math" panose="02040503050406030204" pitchFamily="18" charset="0"/>
                                  </a:rPr>
                                  <m:t>0</m:t>
                                </m:r>
                              </m:e>
                            </m:mr>
                            <m:m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𝑣</m:t>
                                    </m:r>
                                  </m:e>
                                </m:d>
                              </m:e>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𝜔</m:t>
                                    </m:r>
                                  </m:e>
                                </m:d>
                              </m:e>
                            </m:mr>
                          </m:m>
                        </m:e>
                      </m:d>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0">
                              <a:latin typeface="Cambria Math" panose="02040503050406030204" pitchFamily="18" charset="0"/>
                            </a:rPr>
                            <m:t>ℝ</m:t>
                          </m:r>
                        </m:e>
                        <m:sup>
                          <m:r>
                            <a:rPr lang="zh-CN" altLang="en-US" sz="1400" i="0">
                              <a:latin typeface="Cambria Math" panose="02040503050406030204" pitchFamily="18" charset="0"/>
                            </a:rPr>
                            <m:t>6×6</m:t>
                          </m:r>
                        </m:sup>
                      </m:sSup>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379966" y="4493682"/>
                <a:ext cx="2301912" cy="5102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492524" y="3955275"/>
                <a:ext cx="4572000" cy="541687"/>
              </a:xfrm>
              <a:prstGeom prst="rect">
                <a:avLst/>
              </a:prstGeom>
            </p:spPr>
            <p:txBody>
              <a:bodyPr>
                <a:spAutoFit/>
              </a:bodyPr>
              <a:lstStyle/>
              <a:p>
                <a:r>
                  <a:rPr lang="zh-CN" altLang="zh-CN" sz="1400" dirty="0" smtClean="0">
                    <a:solidFill>
                      <a:srgbClr val="002060"/>
                    </a:solidFill>
                    <a:cs typeface="MV Boli" panose="02000500030200090000" pitchFamily="2" charset="0"/>
                  </a:rPr>
                  <a:t>将上述两个运动旋量的叉乘计算写作伴随矩阵表达形式</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m:rPr>
                        <m:sty m:val="p"/>
                      </m:rPr>
                      <a:rPr lang="en-US" altLang="zh-CN" sz="1400">
                        <a:solidFill>
                          <a:srgbClr val="002060"/>
                        </a:solidFill>
                        <a:latin typeface="Cambria Math" panose="02040503050406030204" pitchFamily="18" charset="0"/>
                        <a:cs typeface="MV Boli" panose="02000500030200090000" pitchFamily="2" charset="0"/>
                      </a:rPr>
                      <m:t>a</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𝑑</m:t>
                        </m:r>
                      </m:e>
                      <m:sub>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a:solidFill>
                                  <a:srgbClr val="002060"/>
                                </a:solidFill>
                                <a:latin typeface="Cambria Math" panose="02040503050406030204" pitchFamily="18" charset="0"/>
                                <a:cs typeface="Times New Roman" panose="02020603050405020304" pitchFamily="18" charset="0"/>
                              </a:rPr>
                              <m:t>Ѵ</m:t>
                            </m:r>
                          </m:e>
                          <m:sub>
                            <m:r>
                              <a:rPr lang="en-US" altLang="zh-CN" sz="1400" i="1">
                                <a:solidFill>
                                  <a:srgbClr val="002060"/>
                                </a:solidFill>
                                <a:latin typeface="Cambria Math" panose="02040503050406030204" pitchFamily="18" charset="0"/>
                                <a:cs typeface="MV Boli" panose="02000500030200090000" pitchFamily="2" charset="0"/>
                              </a:rPr>
                              <m:t>1</m:t>
                            </m:r>
                          </m:sub>
                        </m:sSub>
                      </m:sub>
                    </m:sSub>
                    <m:r>
                      <a:rPr lang="en-US" altLang="zh-CN" sz="1400">
                        <a:solidFill>
                          <a:srgbClr val="002060"/>
                        </a:solidFill>
                        <a:latin typeface="Cambria Math" panose="02040503050406030204" pitchFamily="18" charset="0"/>
                        <a:cs typeface="MV Boli" panose="02000500030200090000" pitchFamily="2" charset="0"/>
                      </a:rPr>
                      <m:t>]</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a:solidFill>
                              <a:srgbClr val="002060"/>
                            </a:solidFill>
                            <a:latin typeface="Cambria Math" panose="02040503050406030204" pitchFamily="18" charset="0"/>
                            <a:cs typeface="Times New Roman" panose="02020603050405020304" pitchFamily="18" charset="0"/>
                          </a:rPr>
                          <m:t>Ѵ</m:t>
                        </m:r>
                      </m:e>
                      <m:sub>
                        <m:r>
                          <a:rPr lang="en-US" altLang="zh-CN" sz="1400" i="1">
                            <a:solidFill>
                              <a:srgbClr val="002060"/>
                            </a:solidFill>
                            <a:latin typeface="Cambria Math" panose="02040503050406030204" pitchFamily="18" charset="0"/>
                            <a:cs typeface="MV Boli" panose="02000500030200090000" pitchFamily="2" charset="0"/>
                          </a:rPr>
                          <m:t>2</m:t>
                        </m:r>
                      </m:sub>
                    </m:sSub>
                  </m:oMath>
                </a14:m>
                <a:r>
                  <a:rPr lang="zh-CN" altLang="zh-CN" sz="1400" dirty="0">
                    <a:solidFill>
                      <a:srgbClr val="002060"/>
                    </a:solidFill>
                    <a:cs typeface="MV Boli" panose="02000500030200090000" pitchFamily="2" charset="0"/>
                  </a:rPr>
                  <a:t>或</a:t>
                </a:r>
                <a14:m>
                  <m:oMath xmlns:m="http://schemas.openxmlformats.org/officeDocument/2006/math">
                    <m:r>
                      <m:rPr>
                        <m:sty m:val="p"/>
                      </m:rPr>
                      <a:rPr lang="en-US" altLang="zh-CN" sz="1400">
                        <a:solidFill>
                          <a:srgbClr val="002060"/>
                        </a:solidFill>
                        <a:latin typeface="Cambria Math" panose="02040503050406030204" pitchFamily="18" charset="0"/>
                        <a:cs typeface="MV Boli" panose="02000500030200090000" pitchFamily="2" charset="0"/>
                      </a:rPr>
                      <m:t>a</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𝑑</m:t>
                        </m:r>
                      </m:e>
                      <m:sub>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a:solidFill>
                                  <a:srgbClr val="002060"/>
                                </a:solidFill>
                                <a:latin typeface="Cambria Math" panose="02040503050406030204" pitchFamily="18" charset="0"/>
                                <a:cs typeface="Times New Roman" panose="02020603050405020304" pitchFamily="18" charset="0"/>
                              </a:rPr>
                              <m:t>Ѵ</m:t>
                            </m:r>
                          </m:e>
                          <m:sub>
                            <m:r>
                              <a:rPr lang="en-US" altLang="zh-CN" sz="1400" i="1">
                                <a:solidFill>
                                  <a:srgbClr val="002060"/>
                                </a:solidFill>
                                <a:latin typeface="Cambria Math" panose="02040503050406030204" pitchFamily="18" charset="0"/>
                                <a:cs typeface="MV Boli" panose="02000500030200090000" pitchFamily="2" charset="0"/>
                              </a:rPr>
                              <m:t>1</m:t>
                            </m:r>
                          </m:sub>
                        </m:sSub>
                      </m:sub>
                    </m:sSub>
                    <m:r>
                      <a:rPr lang="en-US" altLang="zh-CN" sz="1400" i="1">
                        <a:solidFill>
                          <a:srgbClr val="002060"/>
                        </a:solidFill>
                        <a:latin typeface="Cambria Math" panose="02040503050406030204" pitchFamily="18" charset="0"/>
                        <a:cs typeface="MV Boli" panose="02000500030200090000" pitchFamily="2" charset="0"/>
                      </a:rPr>
                      <m:t>(</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a:solidFill>
                              <a:srgbClr val="002060"/>
                            </a:solidFill>
                            <a:latin typeface="Cambria Math" panose="02040503050406030204" pitchFamily="18" charset="0"/>
                            <a:cs typeface="Times New Roman" panose="02020603050405020304" pitchFamily="18" charset="0"/>
                          </a:rPr>
                          <m:t>Ѵ</m:t>
                        </m:r>
                      </m:e>
                      <m:sub>
                        <m:r>
                          <a:rPr lang="en-US" altLang="zh-CN" sz="1400" i="1">
                            <a:solidFill>
                              <a:srgbClr val="002060"/>
                            </a:solidFill>
                            <a:latin typeface="Cambria Math" panose="02040503050406030204" pitchFamily="18" charset="0"/>
                            <a:cs typeface="MV Boli" panose="02000500030200090000" pitchFamily="2" charset="0"/>
                          </a:rPr>
                          <m:t>2</m:t>
                        </m:r>
                      </m:sub>
                    </m:sSub>
                    <m:r>
                      <a:rPr lang="en-US" altLang="zh-CN" sz="1400" i="1">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cs typeface="MV Boli" panose="02000500030200090000" pitchFamily="2" charset="0"/>
                  </a:rPr>
                  <a:t>，其中：</a:t>
                </a:r>
                <a:endParaRPr lang="zh-CN" altLang="en-US" sz="1400" dirty="0">
                  <a:solidFill>
                    <a:srgbClr val="00206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2492524" y="3955275"/>
                <a:ext cx="4572000" cy="541687"/>
              </a:xfrm>
              <a:prstGeom prst="rect">
                <a:avLst/>
              </a:prstGeom>
              <a:blipFill>
                <a:blip r:embed="rId6"/>
                <a:stretch>
                  <a:fillRect l="-400" t="-2247" b="-4494"/>
                </a:stretch>
              </a:blipFill>
            </p:spPr>
            <p:txBody>
              <a:bodyPr/>
              <a:lstStyle/>
              <a:p>
                <a:r>
                  <a:rPr lang="zh-CN" altLang="en-US">
                    <a:noFill/>
                  </a:rPr>
                  <a:t> </a:t>
                </a:r>
              </a:p>
            </p:txBody>
          </p:sp>
        </mc:Fallback>
      </mc:AlternateContent>
      <p:sp>
        <p:nvSpPr>
          <p:cNvPr id="14" name="圆角矩形 13"/>
          <p:cNvSpPr/>
          <p:nvPr/>
        </p:nvSpPr>
        <p:spPr>
          <a:xfrm>
            <a:off x="2274252" y="3878460"/>
            <a:ext cx="4790272" cy="11254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528072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404771" y="627534"/>
            <a:ext cx="3674404" cy="461665"/>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运动</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旋量</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力旋量</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方程</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牛顿</a:t>
            </a:r>
            <a:r>
              <a:rPr lang="en-US" altLang="zh-CN"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1835696" y="1853926"/>
                <a:ext cx="5022304" cy="750077"/>
              </a:xfrm>
              <a:prstGeom prst="rect">
                <a:avLst/>
              </a:prstGeom>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ℱ</m:t>
                          </m:r>
                        </m:e>
                        <m:sub>
                          <m:r>
                            <a:rPr lang="en-US" altLang="zh-CN" sz="1600" i="1">
                              <a:solidFill>
                                <a:srgbClr val="002060"/>
                              </a:solidFill>
                              <a:latin typeface="Cambria Math" panose="02040503050406030204" pitchFamily="18" charset="0"/>
                              <a:cs typeface="MV Boli" panose="02000500030200090000" pitchFamily="2" charset="0"/>
                            </a:rPr>
                            <m:t>𝑏</m:t>
                          </m:r>
                        </m:sub>
                      </m:sSub>
                      <m:r>
                        <a:rPr lang="en-US" altLang="zh-CN" sz="1600" i="1">
                          <a:solidFill>
                            <a:srgbClr val="002060"/>
                          </a:solidFill>
                          <a:latin typeface="Cambria Math" panose="02040503050406030204" pitchFamily="18" charset="0"/>
                          <a:cs typeface="MV Boli" panose="02000500030200090000" pitchFamily="2" charset="0"/>
                        </a:rPr>
                        <m:t>=</m:t>
                      </m:r>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ℊ</m:t>
                          </m:r>
                        </m:e>
                        <m:sub>
                          <m:r>
                            <a:rPr lang="en-US" altLang="zh-CN" sz="1600" i="1">
                              <a:solidFill>
                                <a:srgbClr val="002060"/>
                              </a:solidFill>
                              <a:latin typeface="Cambria Math" panose="02040503050406030204" pitchFamily="18" charset="0"/>
                              <a:cs typeface="MV Boli" panose="02000500030200090000" pitchFamily="2" charset="0"/>
                            </a:rPr>
                            <m:t>𝑏</m:t>
                          </m:r>
                        </m:sub>
                      </m:sSub>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a:solidFill>
                                    <a:srgbClr val="002060"/>
                                  </a:solidFill>
                                  <a:latin typeface="Cambria Math" panose="02040503050406030204" pitchFamily="18" charset="0"/>
                                  <a:cs typeface="Times New Roman" panose="02020603050405020304" pitchFamily="18" charset="0"/>
                                </a:rPr>
                                <m:t>Ѵ</m:t>
                              </m:r>
                            </m:e>
                          </m:acc>
                        </m:e>
                        <m:sub>
                          <m:r>
                            <a:rPr lang="en-US" altLang="zh-CN" sz="1600" i="1">
                              <a:solidFill>
                                <a:srgbClr val="002060"/>
                              </a:solidFill>
                              <a:latin typeface="Cambria Math" panose="02040503050406030204" pitchFamily="18" charset="0"/>
                              <a:cs typeface="MV Boli" panose="02000500030200090000" pitchFamily="2" charset="0"/>
                            </a:rPr>
                            <m:t>𝑏</m:t>
                          </m:r>
                        </m:sub>
                      </m:sSub>
                      <m:r>
                        <a:rPr lang="en-US" altLang="zh-CN" sz="1600" i="1">
                          <a:solidFill>
                            <a:srgbClr val="002060"/>
                          </a:solidFill>
                          <a:latin typeface="Cambria Math" panose="02040503050406030204" pitchFamily="18" charset="0"/>
                          <a:cs typeface="MV Boli" panose="02000500030200090000" pitchFamily="2" charset="0"/>
                        </a:rPr>
                        <m:t>−</m:t>
                      </m:r>
                      <m:sSup>
                        <m:sSup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pPr>
                        <m:e>
                          <m:r>
                            <m:rPr>
                              <m:sty m:val="p"/>
                            </m:rPr>
                            <a:rPr lang="en-US" altLang="zh-CN" sz="1600">
                              <a:solidFill>
                                <a:srgbClr val="002060"/>
                              </a:solidFill>
                              <a:latin typeface="Cambria Math" panose="02040503050406030204" pitchFamily="18" charset="0"/>
                              <a:cs typeface="MV Boli" panose="02000500030200090000" pitchFamily="2" charset="0"/>
                            </a:rPr>
                            <m:t>a</m:t>
                          </m:r>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𝑑</m:t>
                              </m:r>
                            </m:e>
                            <m:sub>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a:solidFill>
                                        <a:srgbClr val="002060"/>
                                      </a:solidFill>
                                      <a:latin typeface="Cambria Math" panose="02040503050406030204" pitchFamily="18" charset="0"/>
                                      <a:cs typeface="Times New Roman" panose="02020603050405020304" pitchFamily="18" charset="0"/>
                                    </a:rPr>
                                    <m:t>Ѵ</m:t>
                                  </m:r>
                                </m:e>
                                <m:sub>
                                  <m:r>
                                    <a:rPr lang="en-US" altLang="zh-CN" sz="1600" i="1">
                                      <a:solidFill>
                                        <a:srgbClr val="002060"/>
                                      </a:solidFill>
                                      <a:latin typeface="Cambria Math" panose="02040503050406030204" pitchFamily="18" charset="0"/>
                                      <a:cs typeface="MV Boli" panose="02000500030200090000" pitchFamily="2" charset="0"/>
                                    </a:rPr>
                                    <m:t>𝑏</m:t>
                                  </m:r>
                                </m:sub>
                              </m:sSub>
                            </m:sub>
                          </m:sSub>
                        </m:e>
                        <m:sup>
                          <m:r>
                            <a:rPr lang="en-US" altLang="zh-CN" sz="1600" i="1">
                              <a:solidFill>
                                <a:srgbClr val="002060"/>
                              </a:solidFill>
                              <a:latin typeface="Cambria Math" panose="02040503050406030204" pitchFamily="18" charset="0"/>
                              <a:cs typeface="MV Boli" panose="02000500030200090000" pitchFamily="2" charset="0"/>
                            </a:rPr>
                            <m:t>𝑇</m:t>
                          </m:r>
                        </m:sup>
                      </m:sSup>
                      <m:d>
                        <m:d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dPr>
                        <m:e>
                          <m:sSub>
                            <m:sSubPr>
                              <m:ctrlPr>
                                <a:rPr lang="zh-CN" altLang="zh-CN" sz="1600" i="1">
                                  <a:solidFill>
                                    <a:srgbClr val="00206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𝒫</m:t>
                              </m:r>
                            </m:e>
                            <m:sub>
                              <m:r>
                                <a:rPr lang="en-US" altLang="zh-CN" sz="1600" i="1">
                                  <a:solidFill>
                                    <a:srgbClr val="002060"/>
                                  </a:solidFill>
                                  <a:latin typeface="Cambria Math" panose="02040503050406030204" pitchFamily="18" charset="0"/>
                                  <a:cs typeface="MV Boli" panose="02000500030200090000" pitchFamily="2" charset="0"/>
                                </a:rPr>
                                <m:t>𝑏</m:t>
                              </m:r>
                            </m:sub>
                          </m:sSub>
                        </m:e>
                      </m:d>
                    </m:oMath>
                  </m:oMathPara>
                </a14:m>
                <a:endParaRPr lang="zh-CN" altLang="zh-CN" sz="1600" dirty="0">
                  <a:solidFill>
                    <a:srgbClr val="002060"/>
                  </a:solidFill>
                  <a:latin typeface="宋体" panose="02010600030101010101" pitchFamily="2" charset="-122"/>
                  <a:cs typeface="宋体" panose="02010600030101010101" pitchFamily="2" charset="-122"/>
                </a:endParaRPr>
              </a:p>
              <a:p>
                <a:pPr algn="ctr"/>
                <a14:m>
                  <m:oMath xmlns:m="http://schemas.openxmlformats.org/officeDocument/2006/math">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ℱ</m:t>
                        </m:r>
                      </m:e>
                      <m:sub>
                        <m:r>
                          <a:rPr lang="en-US" altLang="zh-CN" sz="1600" i="1">
                            <a:solidFill>
                              <a:srgbClr val="002060"/>
                            </a:solidFill>
                            <a:latin typeface="Cambria Math" panose="02040503050406030204" pitchFamily="18" charset="0"/>
                            <a:cs typeface="MV Boli" panose="02000500030200090000" pitchFamily="2" charset="0"/>
                          </a:rPr>
                          <m:t>𝑏</m:t>
                        </m:r>
                      </m:sub>
                    </m:sSub>
                    <m:r>
                      <a:rPr lang="en-US" altLang="zh-CN" sz="1600">
                        <a:solidFill>
                          <a:srgbClr val="002060"/>
                        </a:solidFill>
                        <a:latin typeface="Cambria Math" panose="02040503050406030204" pitchFamily="18" charset="0"/>
                        <a:cs typeface="MV Boli" panose="02000500030200090000" pitchFamily="2"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ℊ</m:t>
                        </m:r>
                      </m:e>
                      <m:sub>
                        <m:r>
                          <a:rPr lang="en-US" altLang="zh-CN" sz="1600" i="1">
                            <a:solidFill>
                              <a:srgbClr val="002060"/>
                            </a:solidFill>
                            <a:latin typeface="Cambria Math" panose="02040503050406030204" pitchFamily="18" charset="0"/>
                            <a:cs typeface="MV Boli" panose="02000500030200090000" pitchFamily="2" charset="0"/>
                          </a:rPr>
                          <m:t>𝑏</m:t>
                        </m:r>
                      </m:sub>
                    </m:sSub>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600">
                                <a:solidFill>
                                  <a:srgbClr val="002060"/>
                                </a:solidFill>
                                <a:latin typeface="Cambria Math" panose="02040503050406030204" pitchFamily="18" charset="0"/>
                                <a:cs typeface="Times New Roman" panose="02020603050405020304" pitchFamily="18" charset="0"/>
                              </a:rPr>
                              <m:t>Ѵ</m:t>
                            </m:r>
                          </m:e>
                        </m:acc>
                      </m:e>
                      <m:sub>
                        <m:r>
                          <a:rPr lang="en-US" altLang="zh-CN" sz="1600" i="1">
                            <a:solidFill>
                              <a:srgbClr val="002060"/>
                            </a:solidFill>
                            <a:latin typeface="Cambria Math" panose="02040503050406030204" pitchFamily="18" charset="0"/>
                            <a:cs typeface="MV Boli" panose="02000500030200090000" pitchFamily="2" charset="0"/>
                          </a:rPr>
                          <m:t>𝑏</m:t>
                        </m:r>
                      </m:sub>
                    </m:sSub>
                    <m:r>
                      <a:rPr lang="en-US" altLang="zh-CN" sz="1600" i="1">
                        <a:solidFill>
                          <a:srgbClr val="002060"/>
                        </a:solidFill>
                        <a:latin typeface="Cambria Math" panose="02040503050406030204" pitchFamily="18" charset="0"/>
                        <a:cs typeface="MV Boli" panose="02000500030200090000" pitchFamily="2" charset="0"/>
                      </a:rPr>
                      <m:t>−</m:t>
                    </m:r>
                    <m:sSup>
                      <m:sSup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600" i="1">
                            <a:solidFill>
                              <a:srgbClr val="002060"/>
                            </a:solidFill>
                            <a:latin typeface="Cambria Math" panose="02040503050406030204" pitchFamily="18" charset="0"/>
                            <a:cs typeface="MV Boli" panose="02000500030200090000" pitchFamily="2" charset="0"/>
                          </a:rPr>
                          <m:t>[</m:t>
                        </m:r>
                        <m:r>
                          <m:rPr>
                            <m:sty m:val="p"/>
                          </m:rPr>
                          <a:rPr lang="en-US" altLang="zh-CN" sz="1600">
                            <a:solidFill>
                              <a:srgbClr val="002060"/>
                            </a:solidFill>
                            <a:latin typeface="Cambria Math" panose="02040503050406030204" pitchFamily="18" charset="0"/>
                            <a:cs typeface="MV Boli" panose="02000500030200090000" pitchFamily="2" charset="0"/>
                          </a:rPr>
                          <m:t>a</m:t>
                        </m:r>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𝑑</m:t>
                            </m:r>
                          </m:e>
                          <m:sub>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a:solidFill>
                                      <a:srgbClr val="002060"/>
                                    </a:solidFill>
                                    <a:latin typeface="Cambria Math" panose="02040503050406030204" pitchFamily="18" charset="0"/>
                                    <a:cs typeface="Times New Roman" panose="02020603050405020304" pitchFamily="18" charset="0"/>
                                  </a:rPr>
                                  <m:t>Ѵ</m:t>
                                </m:r>
                              </m:e>
                              <m:sub>
                                <m:r>
                                  <a:rPr lang="en-US" altLang="zh-CN" sz="1600" i="1">
                                    <a:solidFill>
                                      <a:srgbClr val="002060"/>
                                    </a:solidFill>
                                    <a:latin typeface="Cambria Math" panose="02040503050406030204" pitchFamily="18" charset="0"/>
                                    <a:cs typeface="MV Boli" panose="02000500030200090000" pitchFamily="2" charset="0"/>
                                  </a:rPr>
                                  <m:t>𝑏</m:t>
                                </m:r>
                              </m:sub>
                            </m:sSub>
                          </m:sub>
                        </m:sSub>
                        <m:r>
                          <a:rPr lang="en-US" altLang="zh-CN" sz="1600" i="1">
                            <a:solidFill>
                              <a:srgbClr val="002060"/>
                            </a:solidFill>
                            <a:latin typeface="Cambria Math" panose="02040503050406030204" pitchFamily="18" charset="0"/>
                            <a:cs typeface="MV Boli" panose="02000500030200090000" pitchFamily="2" charset="0"/>
                          </a:rPr>
                          <m:t>]</m:t>
                        </m:r>
                      </m:e>
                      <m:sup>
                        <m:r>
                          <a:rPr lang="en-US" altLang="zh-CN" sz="1600" i="1">
                            <a:solidFill>
                              <a:srgbClr val="002060"/>
                            </a:solidFill>
                            <a:latin typeface="Cambria Math" panose="02040503050406030204" pitchFamily="18" charset="0"/>
                            <a:cs typeface="MV Boli" panose="02000500030200090000" pitchFamily="2" charset="0"/>
                          </a:rPr>
                          <m:t>𝑇</m:t>
                        </m:r>
                      </m:sup>
                    </m:sSup>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i="1">
                            <a:solidFill>
                              <a:srgbClr val="002060"/>
                            </a:solidFill>
                            <a:latin typeface="Cambria Math" panose="02040503050406030204" pitchFamily="18" charset="0"/>
                            <a:cs typeface="MV Boli" panose="02000500030200090000" pitchFamily="2" charset="0"/>
                          </a:rPr>
                          <m:t>ℊ</m:t>
                        </m:r>
                      </m:e>
                      <m:sub>
                        <m:r>
                          <a:rPr lang="en-US" altLang="zh-CN" sz="1600" i="1">
                            <a:solidFill>
                              <a:srgbClr val="002060"/>
                            </a:solidFill>
                            <a:latin typeface="Cambria Math" panose="02040503050406030204" pitchFamily="18" charset="0"/>
                            <a:cs typeface="MV Boli" panose="02000500030200090000" pitchFamily="2" charset="0"/>
                          </a:rPr>
                          <m:t>𝑏</m:t>
                        </m:r>
                      </m:sub>
                    </m:sSub>
                    <m:sSub>
                      <m:sSubPr>
                        <m:ctrlPr>
                          <a:rPr lang="zh-CN" altLang="zh-CN" sz="16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600">
                            <a:solidFill>
                              <a:srgbClr val="002060"/>
                            </a:solidFill>
                            <a:latin typeface="Cambria Math" panose="02040503050406030204" pitchFamily="18" charset="0"/>
                            <a:cs typeface="Times New Roman" panose="02020603050405020304" pitchFamily="18" charset="0"/>
                          </a:rPr>
                          <m:t>Ѵ</m:t>
                        </m:r>
                      </m:e>
                      <m:sub>
                        <m:r>
                          <a:rPr lang="en-US" altLang="zh-CN" sz="1600" i="1">
                            <a:solidFill>
                              <a:srgbClr val="002060"/>
                            </a:solidFill>
                            <a:latin typeface="Cambria Math" panose="02040503050406030204" pitchFamily="18" charset="0"/>
                            <a:cs typeface="MV Boli" panose="02000500030200090000" pitchFamily="2" charset="0"/>
                          </a:rPr>
                          <m:t>𝑏</m:t>
                        </m:r>
                      </m:sub>
                    </m:sSub>
                  </m:oMath>
                </a14:m>
                <a:r>
                  <a:rPr lang="en-US" altLang="zh-CN" sz="1600" dirty="0">
                    <a:solidFill>
                      <a:srgbClr val="002060"/>
                    </a:solidFill>
                    <a:effectLst/>
                    <a:latin typeface="宋体" panose="02010600030101010101" pitchFamily="2" charset="-122"/>
                    <a:cs typeface="MV Boli" panose="02000500030200090000" pitchFamily="2" charset="0"/>
                  </a:rPr>
                  <a:t> </a:t>
                </a:r>
                <a:endParaRPr lang="zh-CN" altLang="en-US" sz="1600" dirty="0">
                  <a:solidFill>
                    <a:srgbClr val="00206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1835696" y="1853926"/>
                <a:ext cx="5022304" cy="750077"/>
              </a:xfrm>
              <a:prstGeom prst="rect">
                <a:avLst/>
              </a:prstGeom>
              <a:blipFill>
                <a:blip r:embed="rId3"/>
                <a:stretch>
                  <a:fillRect b="-16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987824" y="3457344"/>
                <a:ext cx="2882136" cy="4691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ℱ</m:t>
                          </m:r>
                        </m:e>
                        <m:sub>
                          <m:r>
                            <a:rPr lang="zh-CN" altLang="en-US" i="1">
                              <a:latin typeface="Cambria Math" panose="02040503050406030204" pitchFamily="18" charset="0"/>
                            </a:rPr>
                            <m:t>𝑎</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0">
                              <a:latin typeface="Cambria Math" panose="02040503050406030204" pitchFamily="18" charset="0"/>
                            </a:rPr>
                            <m:t>ℊ</m:t>
                          </m:r>
                        </m:e>
                        <m:sub>
                          <m:r>
                            <a:rPr lang="zh-CN" altLang="en-US" i="1">
                              <a:latin typeface="Cambria Math" panose="02040503050406030204" pitchFamily="18" charset="0"/>
                            </a:rPr>
                            <m:t>𝑎</m:t>
                          </m:r>
                        </m:sub>
                      </m:sSub>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0">
                                  <a:latin typeface="Cambria Math" panose="02040503050406030204" pitchFamily="18" charset="0"/>
                                </a:rPr>
                                <m:t>Ѵ</m:t>
                              </m:r>
                            </m:e>
                          </m:acc>
                        </m:e>
                        <m:sub>
                          <m:r>
                            <a:rPr lang="zh-CN" altLang="en-US" i="1">
                              <a:latin typeface="Cambria Math" panose="02040503050406030204" pitchFamily="18" charset="0"/>
                            </a:rPr>
                            <m:t>𝑎</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a</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0">
                                          <a:latin typeface="Cambria Math" panose="02040503050406030204" pitchFamily="18" charset="0"/>
                                        </a:rPr>
                                        <m:t>Ѵ</m:t>
                                      </m:r>
                                    </m:e>
                                    <m:sub>
                                      <m:r>
                                        <a:rPr lang="zh-CN" altLang="en-US" i="1">
                                          <a:latin typeface="Cambria Math" panose="02040503050406030204" pitchFamily="18" charset="0"/>
                                        </a:rPr>
                                        <m:t>𝑎</m:t>
                                      </m:r>
                                    </m:sub>
                                  </m:sSub>
                                </m:sub>
                              </m:sSub>
                            </m:e>
                          </m:d>
                        </m:e>
                        <m:sup>
                          <m:r>
                            <a:rPr lang="zh-CN" altLang="en-US" i="1">
                              <a:latin typeface="Cambria Math" panose="02040503050406030204" pitchFamily="18" charset="0"/>
                            </a:rPr>
                            <m:t>𝑇</m:t>
                          </m:r>
                        </m:sup>
                      </m:sSup>
                      <m:sSub>
                        <m:sSubPr>
                          <m:ctrlPr>
                            <a:rPr lang="zh-CN" altLang="en-US" i="1">
                              <a:latin typeface="Cambria Math" panose="02040503050406030204" pitchFamily="18" charset="0"/>
                            </a:rPr>
                          </m:ctrlPr>
                        </m:sSubPr>
                        <m:e>
                          <m:r>
                            <a:rPr lang="zh-CN" altLang="en-US" i="0">
                              <a:latin typeface="Cambria Math" panose="02040503050406030204" pitchFamily="18" charset="0"/>
                            </a:rPr>
                            <m:t>ℊ</m:t>
                          </m:r>
                        </m:e>
                        <m:sub>
                          <m:r>
                            <a:rPr lang="zh-CN" altLang="en-US" i="1">
                              <a:latin typeface="Cambria Math" panose="02040503050406030204" pitchFamily="18" charset="0"/>
                            </a:rPr>
                            <m:t>𝑎</m:t>
                          </m:r>
                        </m:sub>
                      </m:sSub>
                      <m:sSub>
                        <m:sSubPr>
                          <m:ctrlPr>
                            <a:rPr lang="zh-CN" altLang="en-US" i="1">
                              <a:latin typeface="Cambria Math" panose="02040503050406030204" pitchFamily="18" charset="0"/>
                            </a:rPr>
                          </m:ctrlPr>
                        </m:sSubPr>
                        <m:e>
                          <m:r>
                            <a:rPr lang="zh-CN" altLang="en-US" i="0">
                              <a:latin typeface="Cambria Math" panose="02040503050406030204" pitchFamily="18" charset="0"/>
                            </a:rPr>
                            <m:t>Ѵ</m:t>
                          </m:r>
                        </m:e>
                        <m:sub>
                          <m:r>
                            <a:rPr lang="zh-CN" altLang="en-US" i="1">
                              <a:latin typeface="Cambria Math" panose="02040503050406030204" pitchFamily="18" charset="0"/>
                            </a:rPr>
                            <m:t>𝑎</m:t>
                          </m:r>
                        </m:sub>
                      </m:sSub>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987824" y="3457344"/>
                <a:ext cx="2882136" cy="469103"/>
              </a:xfrm>
              <a:prstGeom prst="rect">
                <a:avLst/>
              </a:prstGeom>
              <a:blipFill>
                <a:blip r:embed="rId4"/>
                <a:stretch>
                  <a:fillRect b="-12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690182" y="3557115"/>
                <a:ext cx="950453" cy="307777"/>
              </a:xfrm>
              <a:prstGeom prst="rect">
                <a:avLst/>
              </a:prstGeom>
            </p:spPr>
            <p:txBody>
              <a:bodyPr wrap="none">
                <a:spAutoFit/>
              </a:bodyPr>
              <a:lstStyle/>
              <a:p>
                <a:r>
                  <a:rPr lang="zh-CN" altLang="en-US" sz="1400" dirty="0" smtClean="0">
                    <a:solidFill>
                      <a:srgbClr val="002060"/>
                    </a:solidFill>
                  </a:rPr>
                  <a:t>坐标系</a:t>
                </a:r>
                <a14:m>
                  <m:oMath xmlns:m="http://schemas.openxmlformats.org/officeDocument/2006/math">
                    <m:d>
                      <m:dPr>
                        <m:begChr m:val="{"/>
                        <m:endChr m:val="}"/>
                        <m:ctrlPr>
                          <a:rPr lang="zh-CN" altLang="en-US" sz="1400" i="1">
                            <a:solidFill>
                              <a:srgbClr val="002060"/>
                            </a:solidFill>
                            <a:latin typeface="Cambria Math" panose="02040503050406030204" pitchFamily="18" charset="0"/>
                          </a:rPr>
                        </m:ctrlPr>
                      </m:dPr>
                      <m:e>
                        <m:r>
                          <m:rPr>
                            <m:sty m:val="p"/>
                          </m:rPr>
                          <a:rPr lang="zh-CN" altLang="en-US" sz="1400">
                            <a:solidFill>
                              <a:srgbClr val="002060"/>
                            </a:solidFill>
                            <a:latin typeface="Cambria Math" panose="02040503050406030204" pitchFamily="18" charset="0"/>
                          </a:rPr>
                          <m:t>a</m:t>
                        </m:r>
                      </m:e>
                    </m:d>
                  </m:oMath>
                </a14:m>
                <a:endParaRPr lang="zh-CN" altLang="en-US" sz="1400" dirty="0">
                  <a:solidFill>
                    <a:srgbClr val="00206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690182" y="3557115"/>
                <a:ext cx="950453" cy="307777"/>
              </a:xfrm>
              <a:prstGeom prst="rect">
                <a:avLst/>
              </a:prstGeom>
              <a:blipFill>
                <a:blip r:embed="rId5"/>
                <a:stretch>
                  <a:fillRect l="-1923" t="-8000" b="-1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694161" y="2251813"/>
                <a:ext cx="960071" cy="307777"/>
              </a:xfrm>
              <a:prstGeom prst="rect">
                <a:avLst/>
              </a:prstGeom>
            </p:spPr>
            <p:txBody>
              <a:bodyPr wrap="none">
                <a:spAutoFit/>
              </a:bodyPr>
              <a:lstStyle/>
              <a:p>
                <a:r>
                  <a:rPr lang="zh-CN" altLang="en-US" sz="1400" dirty="0" smtClean="0">
                    <a:solidFill>
                      <a:srgbClr val="002060"/>
                    </a:solidFill>
                  </a:rPr>
                  <a:t>坐标系</a:t>
                </a:r>
                <a14:m>
                  <m:oMath xmlns:m="http://schemas.openxmlformats.org/officeDocument/2006/math">
                    <m:d>
                      <m:dPr>
                        <m:begChr m:val="{"/>
                        <m:endChr m:val="}"/>
                        <m:ctrlPr>
                          <a:rPr lang="zh-CN" altLang="en-US" sz="1400" i="1">
                            <a:solidFill>
                              <a:srgbClr val="002060"/>
                            </a:solidFill>
                            <a:latin typeface="Cambria Math" panose="02040503050406030204" pitchFamily="18" charset="0"/>
                          </a:rPr>
                        </m:ctrlPr>
                      </m:dPr>
                      <m:e>
                        <m:r>
                          <m:rPr>
                            <m:sty m:val="p"/>
                          </m:rPr>
                          <a:rPr lang="en-US" altLang="zh-CN" sz="1400" b="0" i="0" smtClean="0">
                            <a:solidFill>
                              <a:srgbClr val="002060"/>
                            </a:solidFill>
                            <a:latin typeface="Cambria Math" panose="02040503050406030204" pitchFamily="18" charset="0"/>
                          </a:rPr>
                          <m:t>b</m:t>
                        </m:r>
                      </m:e>
                    </m:d>
                  </m:oMath>
                </a14:m>
                <a:endParaRPr lang="zh-CN" altLang="en-US" sz="1400" dirty="0">
                  <a:solidFill>
                    <a:srgbClr val="00206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1694161" y="2251813"/>
                <a:ext cx="960071" cy="307777"/>
              </a:xfrm>
              <a:prstGeom prst="rect">
                <a:avLst/>
              </a:prstGeom>
              <a:blipFill>
                <a:blip r:embed="rId6"/>
                <a:stretch>
                  <a:fillRect l="-1911" t="-5882" b="-15686"/>
                </a:stretch>
              </a:blipFill>
            </p:spPr>
            <p:txBody>
              <a:bodyPr/>
              <a:lstStyle/>
              <a:p>
                <a:r>
                  <a:rPr lang="zh-CN" altLang="en-US">
                    <a:noFill/>
                  </a:rPr>
                  <a:t> </a:t>
                </a:r>
              </a:p>
            </p:txBody>
          </p:sp>
        </mc:Fallback>
      </mc:AlternateContent>
      <p:sp>
        <p:nvSpPr>
          <p:cNvPr id="6" name="上下箭头 5"/>
          <p:cNvSpPr/>
          <p:nvPr/>
        </p:nvSpPr>
        <p:spPr>
          <a:xfrm>
            <a:off x="4139952" y="2798491"/>
            <a:ext cx="288940" cy="65885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横卷形 7"/>
          <p:cNvSpPr/>
          <p:nvPr/>
        </p:nvSpPr>
        <p:spPr>
          <a:xfrm>
            <a:off x="4906010" y="2758436"/>
            <a:ext cx="900616" cy="504966"/>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rgbClr val="FF0000"/>
                </a:solidFill>
              </a:rPr>
              <a:t>等价</a:t>
            </a:r>
            <a:endParaRPr lang="zh-CN" altLang="en-US" sz="1600" dirty="0">
              <a:solidFill>
                <a:srgbClr val="FF0000"/>
              </a:solidFill>
            </a:endParaRPr>
          </a:p>
        </p:txBody>
      </p:sp>
      <p:sp>
        <p:nvSpPr>
          <p:cNvPr id="9" name="矩形 8"/>
          <p:cNvSpPr/>
          <p:nvPr/>
        </p:nvSpPr>
        <p:spPr>
          <a:xfrm>
            <a:off x="2654232" y="1320885"/>
            <a:ext cx="3775393" cy="338554"/>
          </a:xfrm>
          <a:prstGeom prst="rect">
            <a:avLst/>
          </a:prstGeom>
        </p:spPr>
        <p:txBody>
          <a:bodyPr wrap="none">
            <a:spAutoFit/>
          </a:bodyPr>
          <a:lstStyle/>
          <a:p>
            <a:pPr algn="ctr">
              <a:spcBef>
                <a:spcPts val="600"/>
              </a:spcBef>
              <a:spcAft>
                <a:spcPts val="600"/>
              </a:spcAft>
            </a:pPr>
            <a:r>
              <a:rPr lang="zh-CN" altLang="zh-CN" sz="1600" dirty="0">
                <a:solidFill>
                  <a:srgbClr val="002060"/>
                </a:solidFill>
                <a:latin typeface="宋体" panose="02010600030101010101" pitchFamily="2" charset="-122"/>
                <a:cs typeface="MV Boli" panose="02000500030200090000" pitchFamily="2" charset="0"/>
              </a:rPr>
              <a:t>单刚体运动旋量</a:t>
            </a:r>
            <a:r>
              <a:rPr lang="en-US" altLang="zh-CN" sz="1600" dirty="0">
                <a:solidFill>
                  <a:srgbClr val="002060"/>
                </a:solidFill>
                <a:latin typeface="宋体" panose="02010600030101010101" pitchFamily="2" charset="-122"/>
                <a:cs typeface="MV Boli" panose="02000500030200090000" pitchFamily="2" charset="0"/>
              </a:rPr>
              <a:t>-</a:t>
            </a:r>
            <a:r>
              <a:rPr lang="zh-CN" altLang="zh-CN" sz="1600" dirty="0">
                <a:solidFill>
                  <a:srgbClr val="002060"/>
                </a:solidFill>
                <a:latin typeface="宋体" panose="02010600030101010101" pitchFamily="2" charset="-122"/>
                <a:cs typeface="MV Boli" panose="02000500030200090000" pitchFamily="2" charset="0"/>
              </a:rPr>
              <a:t>力旋量方程可以改写为</a:t>
            </a:r>
            <a:endParaRPr lang="zh-CN" altLang="zh-CN" sz="1600" dirty="0">
              <a:solidFill>
                <a:srgbClr val="002060"/>
              </a:solidFill>
              <a:latin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3717380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059832" y="617220"/>
            <a:ext cx="3946914"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基于旋量法的牛顿</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欧拉逆动力学方程推导</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6" name="矩形 15"/>
          <p:cNvSpPr/>
          <p:nvPr/>
        </p:nvSpPr>
        <p:spPr>
          <a:xfrm>
            <a:off x="797825" y="1306965"/>
            <a:ext cx="1425390" cy="338554"/>
          </a:xfrm>
          <a:prstGeom prst="rect">
            <a:avLst/>
          </a:prstGeom>
        </p:spPr>
        <p:txBody>
          <a:bodyPr wrap="none">
            <a:spAutoFit/>
          </a:bodyPr>
          <a:lstStyle/>
          <a:p>
            <a:r>
              <a:rPr lang="zh-CN" altLang="en-US" sz="1600" b="1" dirty="0">
                <a:solidFill>
                  <a:srgbClr val="002060"/>
                </a:solidFill>
              </a:rPr>
              <a:t>逆动力学方程</a:t>
            </a:r>
          </a:p>
        </p:txBody>
      </p:sp>
      <mc:AlternateContent xmlns:mc="http://schemas.openxmlformats.org/markup-compatibility/2006" xmlns:a14="http://schemas.microsoft.com/office/drawing/2010/main">
        <mc:Choice Requires="a14">
          <p:sp>
            <p:nvSpPr>
              <p:cNvPr id="7" name="矩形 6"/>
              <p:cNvSpPr/>
              <p:nvPr/>
            </p:nvSpPr>
            <p:spPr>
              <a:xfrm>
                <a:off x="2426142" y="1306965"/>
                <a:ext cx="1820434" cy="3354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𝜏</m:t>
                      </m:r>
                      <m:r>
                        <a:rPr lang="zh-CN" altLang="en-US" sz="1400" i="0">
                          <a:latin typeface="Cambria Math" panose="02040503050406030204" pitchFamily="18" charset="0"/>
                        </a:rPr>
                        <m:t>=</m:t>
                      </m:r>
                      <m:r>
                        <a:rPr lang="zh-CN" altLang="en-US" sz="1400" i="1">
                          <a:latin typeface="Cambria Math" panose="02040503050406030204" pitchFamily="18" charset="0"/>
                        </a:rPr>
                        <m:t>𝑀</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m:t>
                      </m:r>
                      <m:r>
                        <a:rPr lang="zh-CN" altLang="en-US" sz="1400" i="1">
                          <a:latin typeface="Cambria Math" panose="02040503050406030204" pitchFamily="18" charset="0"/>
                        </a:rPr>
                        <m:t>h</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r>
                            <a:rPr lang="zh-CN" altLang="en-US" sz="1400" i="0">
                              <a:latin typeface="Cambria Math" panose="02040503050406030204" pitchFamily="18" charset="0"/>
                            </a:rPr>
                            <m:t>,</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d>
                    </m:oMath>
                  </m:oMathPara>
                </a14:m>
                <a:endParaRPr lang="zh-CN" altLang="en-US" sz="1400" dirty="0"/>
              </a:p>
            </p:txBody>
          </p:sp>
        </mc:Choice>
        <mc:Fallback xmlns="">
          <p:sp>
            <p:nvSpPr>
              <p:cNvPr id="7" name="矩形 6"/>
              <p:cNvSpPr>
                <a:spLocks noRot="1" noChangeAspect="1" noMove="1" noResize="1" noEditPoints="1" noAdjustHandles="1" noChangeArrowheads="1" noChangeShapeType="1" noTextEdit="1"/>
              </p:cNvSpPr>
              <p:nvPr/>
            </p:nvSpPr>
            <p:spPr>
              <a:xfrm>
                <a:off x="2426142" y="1306965"/>
                <a:ext cx="1820434" cy="33547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899592" y="1779662"/>
                <a:ext cx="7914392" cy="523220"/>
              </a:xfrm>
              <a:prstGeom prst="rect">
                <a:avLst/>
              </a:prstGeom>
            </p:spPr>
            <p:txBody>
              <a:bodyPr wrap="square">
                <a:spAutoFit/>
              </a:bodyPr>
              <a:lstStyle/>
              <a:p>
                <a:r>
                  <a:rPr lang="zh-CN" altLang="zh-CN" sz="1400" smtClean="0">
                    <a:solidFill>
                      <a:srgbClr val="002060"/>
                    </a:solidFill>
                    <a:cs typeface="MV Boli" panose="02000500030200090000" pitchFamily="2" charset="0"/>
                  </a:rPr>
                  <a:t>已知连杆质心坐标系</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𝑖</m:t>
                    </m:r>
                    <m:r>
                      <a:rPr lang="en-US" altLang="zh-CN" sz="1400">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cs typeface="MV Boli" panose="02000500030200090000" pitchFamily="2" charset="0"/>
                  </a:rPr>
                  <a:t>，</a:t>
                </a:r>
                <a14:m>
                  <m:oMath xmlns:m="http://schemas.openxmlformats.org/officeDocument/2006/math">
                    <m:r>
                      <a:rPr lang="en-US" altLang="zh-CN" sz="1400" i="1">
                        <a:solidFill>
                          <a:srgbClr val="002060"/>
                        </a:solidFill>
                        <a:latin typeface="Cambria Math" panose="02040503050406030204" pitchFamily="18" charset="0"/>
                        <a:cs typeface="MV Boli" panose="02000500030200090000" pitchFamily="2" charset="0"/>
                      </a:rPr>
                      <m:t>𝑖</m:t>
                    </m:r>
                    <m:r>
                      <a:rPr lang="en-US" altLang="zh-CN" sz="1400" i="1">
                        <a:solidFill>
                          <a:srgbClr val="002060"/>
                        </a:solidFill>
                        <a:latin typeface="Cambria Math" panose="02040503050406030204" pitchFamily="18" charset="0"/>
                        <a:cs typeface="MV Boli" panose="02000500030200090000" pitchFamily="2" charset="0"/>
                      </a:rPr>
                      <m:t>=1,  ⋯, </m:t>
                    </m:r>
                    <m:r>
                      <a:rPr lang="en-US" altLang="zh-CN" sz="1400" i="1">
                        <a:solidFill>
                          <a:srgbClr val="002060"/>
                        </a:solidFill>
                        <a:latin typeface="Cambria Math" panose="02040503050406030204" pitchFamily="18" charset="0"/>
                        <a:cs typeface="MV Boli" panose="02000500030200090000" pitchFamily="2" charset="0"/>
                      </a:rPr>
                      <m:t>𝑛</m:t>
                    </m:r>
                  </m:oMath>
                </a14:m>
                <a:r>
                  <a:rPr lang="zh-CN" altLang="zh-CN" sz="1400" dirty="0">
                    <a:solidFill>
                      <a:srgbClr val="002060"/>
                    </a:solidFill>
                    <a:cs typeface="MV Boli" panose="02000500030200090000" pitchFamily="2" charset="0"/>
                  </a:rPr>
                  <a:t>。基座坐标系表示为</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0</m:t>
                    </m:r>
                    <m:r>
                      <a:rPr lang="en-US" altLang="zh-CN" sz="1400">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cs typeface="MV Boli" panose="02000500030200090000" pitchFamily="2" charset="0"/>
                  </a:rPr>
                  <a:t>，末端执行器坐标系表示为</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𝑛</m:t>
                    </m:r>
                    <m:r>
                      <a:rPr lang="en-US" altLang="zh-CN" sz="1400" i="1">
                        <a:solidFill>
                          <a:srgbClr val="002060"/>
                        </a:solidFill>
                        <a:latin typeface="Cambria Math" panose="02040503050406030204" pitchFamily="18" charset="0"/>
                        <a:cs typeface="MV Boli" panose="02000500030200090000" pitchFamily="2" charset="0"/>
                      </a:rPr>
                      <m:t>+1</m:t>
                    </m:r>
                    <m:r>
                      <a:rPr lang="en-US" altLang="zh-CN" sz="1400">
                        <a:solidFill>
                          <a:srgbClr val="002060"/>
                        </a:solidFill>
                        <a:latin typeface="Cambria Math" panose="02040503050406030204" pitchFamily="18" charset="0"/>
                        <a:cs typeface="MV Boli" panose="02000500030200090000" pitchFamily="2" charset="0"/>
                      </a:rPr>
                      <m:t>}</m:t>
                    </m:r>
                  </m:oMath>
                </a14:m>
                <a:r>
                  <a:rPr lang="en-US" altLang="zh-CN" sz="1400" dirty="0">
                    <a:solidFill>
                      <a:srgbClr val="002060"/>
                    </a:solidFill>
                    <a:latin typeface="宋体" panose="02010600030101010101" pitchFamily="2" charset="-122"/>
                    <a:cs typeface="MV Boli" panose="02000500030200090000" pitchFamily="2" charset="0"/>
                  </a:rPr>
                  <a:t>,</a:t>
                </a:r>
                <a:r>
                  <a:rPr lang="zh-CN" altLang="zh-CN" sz="1400" dirty="0">
                    <a:solidFill>
                      <a:srgbClr val="002060"/>
                    </a:solidFill>
                    <a:cs typeface="MV Boli" panose="02000500030200090000" pitchFamily="2" charset="0"/>
                  </a:rPr>
                  <a:t>该坐标系在</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𝑛</m:t>
                    </m:r>
                    <m:r>
                      <a:rPr lang="en-US" altLang="zh-CN" sz="1400">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cs typeface="MV Boli" panose="02000500030200090000" pitchFamily="2" charset="0"/>
                  </a:rPr>
                  <a:t>中固定。</a:t>
                </a:r>
                <a:endParaRPr lang="zh-CN" altLang="en-US" sz="1400"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899592" y="1779662"/>
                <a:ext cx="7914392" cy="523220"/>
              </a:xfrm>
              <a:prstGeom prst="rect">
                <a:avLst/>
              </a:prstGeom>
              <a:blipFill>
                <a:blip r:embed="rId5"/>
                <a:stretch>
                  <a:fillRect l="-231" t="-3488" b="-81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11386" y="2362520"/>
                <a:ext cx="7902597" cy="317203"/>
              </a:xfrm>
              <a:prstGeom prst="rect">
                <a:avLst/>
              </a:prstGeom>
            </p:spPr>
            <p:txBody>
              <a:bodyPr wrap="square">
                <a:spAutoFit/>
              </a:bodyPr>
              <a:lstStyle/>
              <a:p>
                <a:r>
                  <a:rPr lang="zh-CN" altLang="zh-CN" sz="1400" dirty="0" smtClean="0">
                    <a:solidFill>
                      <a:srgbClr val="002060"/>
                    </a:solidFill>
                    <a:cs typeface="MV Boli" panose="02000500030200090000" pitchFamily="2" charset="0"/>
                  </a:rPr>
                  <a:t>相连两个坐标系在对方中的位形</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𝑀</m:t>
                        </m:r>
                      </m:e>
                      <m:sub>
                        <m:r>
                          <a:rPr lang="en-US" altLang="zh-CN" sz="1400" i="1">
                            <a:solidFill>
                              <a:srgbClr val="002060"/>
                            </a:solidFill>
                            <a:latin typeface="Cambria Math" panose="02040503050406030204" pitchFamily="18" charset="0"/>
                            <a:cs typeface="MV Boli" panose="02000500030200090000" pitchFamily="2" charset="0"/>
                          </a:rPr>
                          <m:t>𝑖</m:t>
                        </m:r>
                        <m:r>
                          <a:rPr lang="en-US" altLang="zh-CN" sz="1400" i="1">
                            <a:solidFill>
                              <a:srgbClr val="002060"/>
                            </a:solidFill>
                            <a:latin typeface="Cambria Math" panose="02040503050406030204" pitchFamily="18" charset="0"/>
                            <a:cs typeface="MV Boli" panose="02000500030200090000" pitchFamily="2" charset="0"/>
                          </a:rPr>
                          <m:t>−1,</m:t>
                        </m:r>
                        <m:r>
                          <a:rPr lang="en-US" altLang="zh-CN" sz="1400" i="1">
                            <a:solidFill>
                              <a:srgbClr val="002060"/>
                            </a:solidFill>
                            <a:latin typeface="Cambria Math" panose="02040503050406030204" pitchFamily="18" charset="0"/>
                            <a:cs typeface="MV Boli" panose="02000500030200090000" pitchFamily="2" charset="0"/>
                          </a:rPr>
                          <m:t>𝑖</m:t>
                        </m:r>
                      </m:sub>
                    </m:sSub>
                  </m:oMath>
                </a14:m>
                <a:r>
                  <a:rPr lang="zh-CN" altLang="zh-CN" sz="1400" dirty="0">
                    <a:solidFill>
                      <a:srgbClr val="002060"/>
                    </a:solidFill>
                    <a:cs typeface="MV Boli" panose="02000500030200090000" pitchFamily="2" charset="0"/>
                  </a:rPr>
                  <a:t>和</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𝑀</m:t>
                        </m:r>
                      </m:e>
                      <m:sub>
                        <m:r>
                          <a:rPr lang="en-US" altLang="zh-CN" sz="1400" i="1">
                            <a:solidFill>
                              <a:srgbClr val="002060"/>
                            </a:solidFill>
                            <a:latin typeface="Cambria Math" panose="02040503050406030204" pitchFamily="18" charset="0"/>
                            <a:cs typeface="MV Boli" panose="02000500030200090000" pitchFamily="2" charset="0"/>
                          </a:rPr>
                          <m:t>𝑖</m:t>
                        </m:r>
                        <m:r>
                          <a:rPr lang="en-US" altLang="zh-CN" sz="1400" i="1">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𝑖</m:t>
                        </m:r>
                        <m:r>
                          <a:rPr lang="en-US" altLang="zh-CN" sz="1400" i="1">
                            <a:solidFill>
                              <a:srgbClr val="002060"/>
                            </a:solidFill>
                            <a:latin typeface="Cambria Math" panose="02040503050406030204" pitchFamily="18" charset="0"/>
                            <a:cs typeface="MV Boli" panose="02000500030200090000" pitchFamily="2" charset="0"/>
                          </a:rPr>
                          <m:t>−1</m:t>
                        </m:r>
                      </m:sub>
                    </m:sSub>
                  </m:oMath>
                </a14:m>
                <a:r>
                  <a:rPr lang="zh-CN" altLang="zh-CN" sz="1400" dirty="0">
                    <a:solidFill>
                      <a:srgbClr val="002060"/>
                    </a:solidFill>
                    <a:cs typeface="MV Boli" panose="02000500030200090000" pitchFamily="2" charset="0"/>
                  </a:rPr>
                  <a:t>可以通过在绝对坐标系</a:t>
                </a:r>
                <a14:m>
                  <m:oMath xmlns:m="http://schemas.openxmlformats.org/officeDocument/2006/math">
                    <m:r>
                      <a:rPr lang="en-US" altLang="zh-CN" sz="1400">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MV Boli" panose="02000500030200090000" pitchFamily="2" charset="0"/>
                      </a:rPr>
                      <m:t>0</m:t>
                    </m:r>
                    <m:r>
                      <a:rPr lang="en-US" altLang="zh-CN" sz="1400">
                        <a:solidFill>
                          <a:srgbClr val="002060"/>
                        </a:solidFill>
                        <a:latin typeface="Cambria Math" panose="02040503050406030204" pitchFamily="18" charset="0"/>
                        <a:cs typeface="MV Boli" panose="02000500030200090000" pitchFamily="2" charset="0"/>
                      </a:rPr>
                      <m:t>}</m:t>
                    </m:r>
                  </m:oMath>
                </a14:m>
                <a:r>
                  <a:rPr lang="zh-CN" altLang="zh-CN" sz="1400" dirty="0">
                    <a:solidFill>
                      <a:srgbClr val="002060"/>
                    </a:solidFill>
                    <a:cs typeface="MV Boli" panose="02000500030200090000" pitchFamily="2" charset="0"/>
                  </a:rPr>
                  <a:t>中的位形计算</a:t>
                </a:r>
                <a:endParaRPr lang="zh-CN" altLang="en-US" sz="1400"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911386" y="2362520"/>
                <a:ext cx="7902597" cy="317203"/>
              </a:xfrm>
              <a:prstGeom prst="rect">
                <a:avLst/>
              </a:prstGeom>
              <a:blipFill>
                <a:blip r:embed="rId6"/>
                <a:stretch>
                  <a:fillRect l="-231" t="-7692" b="-1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339818" y="2740646"/>
                <a:ext cx="1477776" cy="328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0">
                              <a:latin typeface="Cambria Math" panose="02040503050406030204" pitchFamily="18" charset="0"/>
                            </a:rPr>
                            <m:t>−1</m:t>
                          </m:r>
                        </m:sup>
                      </m:sSub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sub>
                      </m:sSub>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2339818" y="2740646"/>
                <a:ext cx="1477776" cy="32816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327129" y="3145882"/>
                <a:ext cx="1611595" cy="328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1">
                              <a:latin typeface="Cambria Math" panose="02040503050406030204" pitchFamily="18" charset="0"/>
                            </a:rPr>
                            <m:t>𝑖</m:t>
                          </m:r>
                          <m:r>
                            <a:rPr lang="zh-CN" altLang="en-US" sz="1400" i="0">
                              <a:latin typeface="Cambria Math" panose="02040503050406030204" pitchFamily="18" charset="0"/>
                            </a:rPr>
                            <m:t>−1</m:t>
                          </m:r>
                        </m:sub>
                      </m:sSub>
                      <m:r>
                        <a:rPr lang="zh-CN" altLang="en-US" sz="1400" i="0">
                          <a:latin typeface="Cambria Math" panose="02040503050406030204" pitchFamily="18" charset="0"/>
                        </a:rPr>
                        <m:t>=</m:t>
                      </m:r>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sub>
                        <m:sup>
                          <m:r>
                            <a:rPr lang="zh-CN" altLang="en-US" sz="1400" i="0">
                              <a:latin typeface="Cambria Math" panose="02040503050406030204" pitchFamily="18" charset="0"/>
                            </a:rPr>
                            <m:t>−1</m:t>
                          </m:r>
                        </m:sup>
                      </m:sSub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oMath>
                  </m:oMathPara>
                </a14:m>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2327129" y="3145882"/>
                <a:ext cx="1611595" cy="32816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280828" y="3551118"/>
                <a:ext cx="1662891" cy="46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𝒜</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r>
                            <a:rPr lang="zh-CN" altLang="en-US" sz="1600" i="1">
                              <a:latin typeface="Cambria Math" panose="02040503050406030204" pitchFamily="18" charset="0"/>
                            </a:rPr>
                            <m:t>𝑎</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𝑀</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−1</m:t>
                                  </m:r>
                                </m:sup>
                              </m:sSubSup>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𝒮</m:t>
                              </m:r>
                            </m:e>
                            <m:sub>
                              <m:r>
                                <a:rPr lang="zh-CN" altLang="en-US" sz="1600" i="1">
                                  <a:latin typeface="Cambria Math" panose="02040503050406030204" pitchFamily="18" charset="0"/>
                                </a:rPr>
                                <m:t>𝑖</m:t>
                              </m:r>
                            </m:sub>
                          </m:sSub>
                        </m:e>
                      </m:d>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2280828" y="3551118"/>
                <a:ext cx="1662891" cy="460832"/>
              </a:xfrm>
              <a:prstGeom prst="rect">
                <a:avLst/>
              </a:prstGeom>
              <a:blipFill>
                <a:blip r:embed="rId9"/>
                <a:stretch>
                  <a:fillRect t="-165333" r="-46154" b="-249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266573" y="4089019"/>
                <a:ext cx="2097947" cy="3550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−1, </m:t>
                          </m:r>
                          <m:r>
                            <a:rPr lang="zh-CN" altLang="en-US" sz="1400" i="1">
                              <a:latin typeface="Cambria Math" panose="02040503050406030204" pitchFamily="18" charset="0"/>
                            </a:rPr>
                            <m:t>𝑖</m:t>
                          </m:r>
                        </m:sub>
                      </m:sSub>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d>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r>
                            <a:rPr lang="zh-CN" altLang="en-US" sz="1400" i="1">
                              <a:latin typeface="Cambria Math" panose="02040503050406030204" pitchFamily="18" charset="0"/>
                            </a:rPr>
                            <m:t>𝑖</m:t>
                          </m:r>
                        </m:sub>
                      </m:sSub>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d>
                            <m:dPr>
                              <m:begChr m:val="["/>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𝒜</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d>
                        </m:sup>
                      </m:sSup>
                    </m:oMath>
                  </m:oMathPara>
                </a14:m>
                <a:endParaRPr lang="zh-CN"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2266573" y="4089019"/>
                <a:ext cx="2097947" cy="355097"/>
              </a:xfrm>
              <a:prstGeom prst="rect">
                <a:avLst/>
              </a:prstGeom>
              <a:blipFill>
                <a:blip r:embed="rId10"/>
                <a:stretch>
                  <a:fillRect t="-93103" b="-1224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2252837" y="4543902"/>
                <a:ext cx="2192331" cy="3315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−1</m:t>
                          </m:r>
                        </m:sub>
                      </m:sSub>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d>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𝒜</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sup>
                      </m:s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𝑀</m:t>
                          </m:r>
                        </m:e>
                        <m:sub>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1">
                              <a:latin typeface="Cambria Math" panose="02040503050406030204" pitchFamily="18" charset="0"/>
                            </a:rPr>
                            <m:t>𝑖</m:t>
                          </m:r>
                          <m:r>
                            <a:rPr lang="zh-CN" altLang="en-US" sz="1400" i="0">
                              <a:latin typeface="Cambria Math" panose="02040503050406030204" pitchFamily="18" charset="0"/>
                            </a:rPr>
                            <m:t>−1</m:t>
                          </m:r>
                        </m:sub>
                      </m:sSub>
                    </m:oMath>
                  </m:oMathPara>
                </a14:m>
                <a:endParaRPr lang="zh-CN"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2252837" y="4543902"/>
                <a:ext cx="2192331" cy="33156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091520" y="2961216"/>
                <a:ext cx="1193980"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𝑖</m:t>
                              </m:r>
                            </m:sub>
                          </m:sSub>
                        </m:e>
                      </m:d>
                    </m:oMath>
                  </m:oMathPara>
                </a14:m>
                <a:endParaRPr lang="zh-CN"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5091520" y="2961216"/>
                <a:ext cx="1193980" cy="307777"/>
              </a:xfrm>
              <a:prstGeom prst="rect">
                <a:avLst/>
              </a:prstGeom>
              <a:blipFill>
                <a:blip r:embed="rId12"/>
                <a:stretch>
                  <a:fillRect t="-104000" r="-31122" b="-16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091145" y="3457924"/>
                <a:ext cx="113896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ℱ</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𝑓</m:t>
                              </m:r>
                            </m:e>
                            <m:sub>
                              <m:r>
                                <a:rPr lang="zh-CN" altLang="en-US" sz="1400" i="1">
                                  <a:latin typeface="Cambria Math" panose="02040503050406030204" pitchFamily="18" charset="0"/>
                                </a:rPr>
                                <m:t>𝑖</m:t>
                              </m:r>
                            </m:sub>
                          </m:sSub>
                        </m:e>
                      </m:d>
                    </m:oMath>
                  </m:oMathPara>
                </a14:m>
                <a:endParaRPr lang="zh-CN" altLang="en-US" sz="1400" dirty="0"/>
              </a:p>
            </p:txBody>
          </p:sp>
        </mc:Choice>
        <mc:Fallback xmlns="">
          <p:sp>
            <p:nvSpPr>
              <p:cNvPr id="22" name="矩形 21"/>
              <p:cNvSpPr>
                <a:spLocks noRot="1" noChangeAspect="1" noMove="1" noResize="1" noEditPoints="1" noAdjustHandles="1" noChangeArrowheads="1" noChangeShapeType="1" noTextEdit="1"/>
              </p:cNvSpPr>
              <p:nvPr/>
            </p:nvSpPr>
            <p:spPr>
              <a:xfrm>
                <a:off x="5091145" y="3457924"/>
                <a:ext cx="1138966" cy="307777"/>
              </a:xfrm>
              <a:prstGeom prst="rect">
                <a:avLst/>
              </a:prstGeom>
              <a:blipFill>
                <a:blip r:embed="rId13"/>
                <a:stretch>
                  <a:fillRect t="-101961" r="-33155" b="-1568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091145" y="3982475"/>
                <a:ext cx="1281055" cy="457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ℊ</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𝑖</m:t>
                                    </m:r>
                                  </m:sub>
                                </m:sSub>
                              </m:e>
                              <m:e>
                                <m:r>
                                  <a:rPr lang="zh-CN" altLang="en-US" sz="1400" i="0">
                                    <a:latin typeface="Cambria Math" panose="02040503050406030204" pitchFamily="18" charset="0"/>
                                  </a:rPr>
                                  <m:t>0</m:t>
                                </m:r>
                              </m:e>
                            </m:mr>
                            <m:mr>
                              <m:e>
                                <m:r>
                                  <a:rPr lang="zh-CN" altLang="en-US" sz="1400" i="0">
                                    <a:latin typeface="Cambria Math" panose="02040503050406030204" pitchFamily="18" charset="0"/>
                                  </a:rPr>
                                  <m:t>0</m:t>
                                </m:r>
                              </m:e>
                              <m:e>
                                <m:r>
                                  <a:rPr lang="zh-CN" altLang="en-US" sz="1400" i="1">
                                    <a:latin typeface="Cambria Math" panose="02040503050406030204" pitchFamily="18" charset="0"/>
                                  </a:rPr>
                                  <m:t>𝑚𝐼</m:t>
                                </m:r>
                              </m:e>
                            </m:mr>
                          </m:m>
                        </m:e>
                      </m:d>
                    </m:oMath>
                  </m:oMathPara>
                </a14:m>
                <a:endParaRPr lang="zh-CN" altLang="en-US" sz="1400" dirty="0"/>
              </a:p>
            </p:txBody>
          </p:sp>
        </mc:Choice>
        <mc:Fallback xmlns="">
          <p:sp>
            <p:nvSpPr>
              <p:cNvPr id="23" name="矩形 22"/>
              <p:cNvSpPr>
                <a:spLocks noRot="1" noChangeAspect="1" noMove="1" noResize="1" noEditPoints="1" noAdjustHandles="1" noChangeArrowheads="1" noChangeShapeType="1" noTextEdit="1"/>
              </p:cNvSpPr>
              <p:nvPr/>
            </p:nvSpPr>
            <p:spPr>
              <a:xfrm>
                <a:off x="5091145" y="3982475"/>
                <a:ext cx="1281055" cy="457176"/>
              </a:xfrm>
              <a:prstGeom prst="rect">
                <a:avLst/>
              </a:prstGeom>
              <a:blipFill>
                <a:blip r:embed="rId14"/>
                <a:stretch>
                  <a:fillRect b="-2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92042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059832" y="617220"/>
            <a:ext cx="3946914"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基于旋量法的牛顿</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欧拉逆动力学方程推导</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形状"/>
          <p:cNvSpPr/>
          <p:nvPr>
            <p:custDataLst>
              <p:tags r:id="rId1"/>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6" name="矩形 15"/>
          <p:cNvSpPr/>
          <p:nvPr/>
        </p:nvSpPr>
        <p:spPr>
          <a:xfrm>
            <a:off x="797825" y="1306965"/>
            <a:ext cx="3493264" cy="338554"/>
          </a:xfrm>
          <a:prstGeom prst="rect">
            <a:avLst/>
          </a:prstGeom>
        </p:spPr>
        <p:txBody>
          <a:bodyPr wrap="none">
            <a:spAutoFit/>
          </a:bodyPr>
          <a:lstStyle/>
          <a:p>
            <a:r>
              <a:rPr lang="zh-CN" altLang="en-US" sz="1600" b="1" dirty="0">
                <a:solidFill>
                  <a:srgbClr val="002060"/>
                </a:solidFill>
              </a:rPr>
              <a:t>第一步：计算速度和加速度的外推法</a:t>
            </a:r>
          </a:p>
        </p:txBody>
      </p:sp>
      <p:sp>
        <p:nvSpPr>
          <p:cNvPr id="2" name="矩形 1"/>
          <p:cNvSpPr/>
          <p:nvPr/>
        </p:nvSpPr>
        <p:spPr>
          <a:xfrm>
            <a:off x="1572279" y="1708235"/>
            <a:ext cx="1620957" cy="307777"/>
          </a:xfrm>
          <a:prstGeom prst="rect">
            <a:avLst/>
          </a:prstGeom>
        </p:spPr>
        <p:txBody>
          <a:bodyPr wrap="none">
            <a:spAutoFit/>
          </a:bodyPr>
          <a:lstStyle/>
          <a:p>
            <a:r>
              <a:rPr lang="zh-CN" altLang="zh-CN" sz="1400">
                <a:solidFill>
                  <a:srgbClr val="002060"/>
                </a:solidFill>
                <a:cs typeface="MV Boli" panose="02000500030200090000" pitchFamily="2" charset="0"/>
              </a:rPr>
              <a:t>连杆速度递归方程</a:t>
            </a:r>
            <a:endParaRPr lang="zh-CN" altLang="en-US" sz="1400">
              <a:solidFill>
                <a:srgbClr val="002060"/>
              </a:solidFill>
            </a:endParaRPr>
          </a:p>
        </p:txBody>
      </p:sp>
      <mc:AlternateContent xmlns:mc="http://schemas.openxmlformats.org/markup-compatibility/2006" xmlns:a14="http://schemas.microsoft.com/office/drawing/2010/main">
        <mc:Choice Requires="a14">
          <p:sp>
            <p:nvSpPr>
              <p:cNvPr id="3" name="矩形 2"/>
              <p:cNvSpPr/>
              <p:nvPr/>
            </p:nvSpPr>
            <p:spPr>
              <a:xfrm>
                <a:off x="3416268" y="1687950"/>
                <a:ext cx="2251322" cy="3572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𝒜</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r>
                        <a:rPr lang="zh-CN" altLang="en-US" sz="1400" i="1">
                          <a:latin typeface="Cambria Math" panose="02040503050406030204" pitchFamily="18" charset="0"/>
                        </a:rPr>
                        <m:t>𝑎</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oMath>
                  </m:oMathPara>
                </a14:m>
                <a:endParaRPr lang="zh-CN" altLang="en-US" sz="1400" dirty="0"/>
              </a:p>
            </p:txBody>
          </p:sp>
        </mc:Choice>
        <mc:Fallback xmlns="">
          <p:sp>
            <p:nvSpPr>
              <p:cNvPr id="3" name="矩形 2"/>
              <p:cNvSpPr>
                <a:spLocks noRot="1" noChangeAspect="1" noMove="1" noResize="1" noEditPoints="1" noAdjustHandles="1" noChangeArrowheads="1" noChangeShapeType="1" noTextEdit="1"/>
              </p:cNvSpPr>
              <p:nvPr/>
            </p:nvSpPr>
            <p:spPr>
              <a:xfrm>
                <a:off x="3416268" y="1687950"/>
                <a:ext cx="2251322" cy="357277"/>
              </a:xfrm>
              <a:prstGeom prst="rect">
                <a:avLst/>
              </a:prstGeom>
              <a:blipFill>
                <a:blip r:embed="rId4"/>
                <a:stretch>
                  <a:fillRect/>
                </a:stretch>
              </a:blipFill>
            </p:spPr>
            <p:txBody>
              <a:bodyPr/>
              <a:lstStyle/>
              <a:p>
                <a:r>
                  <a:rPr lang="zh-CN" altLang="en-US">
                    <a:noFill/>
                  </a:rPr>
                  <a:t> </a:t>
                </a:r>
              </a:p>
            </p:txBody>
          </p:sp>
        </mc:Fallback>
      </mc:AlternateContent>
      <p:sp>
        <p:nvSpPr>
          <p:cNvPr id="5" name="矩形 4"/>
          <p:cNvSpPr/>
          <p:nvPr/>
        </p:nvSpPr>
        <p:spPr>
          <a:xfrm>
            <a:off x="1572279" y="2078728"/>
            <a:ext cx="1800493" cy="307777"/>
          </a:xfrm>
          <a:prstGeom prst="rect">
            <a:avLst/>
          </a:prstGeom>
        </p:spPr>
        <p:txBody>
          <a:bodyPr wrap="none">
            <a:spAutoFit/>
          </a:bodyPr>
          <a:lstStyle/>
          <a:p>
            <a:r>
              <a:rPr lang="zh-CN" altLang="zh-CN" sz="1400" dirty="0">
                <a:solidFill>
                  <a:srgbClr val="002060"/>
                </a:solidFill>
                <a:cs typeface="MV Boli" panose="02000500030200090000" pitchFamily="2" charset="0"/>
              </a:rPr>
              <a:t>连杆加速度递归方程</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6" name="矩形 5"/>
              <p:cNvSpPr/>
              <p:nvPr/>
            </p:nvSpPr>
            <p:spPr>
              <a:xfrm>
                <a:off x="3431848" y="2054285"/>
                <a:ext cx="4572000" cy="402611"/>
              </a:xfrm>
              <a:prstGeom prst="rect">
                <a:avLst/>
              </a:prstGeom>
            </p:spPr>
            <p:txBody>
              <a:bodyPr>
                <a:spAutoFit/>
              </a:bodyPr>
              <a:lstStyle/>
              <a:p>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a:latin typeface="Cambria Math" panose="02040503050406030204" pitchFamily="18" charset="0"/>
                                <a:cs typeface="Times New Roman" panose="02020603050405020304" pitchFamily="18" charset="0"/>
                              </a:rPr>
                              <m:t>Ѵ</m:t>
                            </m:r>
                          </m:e>
                        </m:acc>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𝒜</m:t>
                        </m:r>
                      </m:e>
                      <m:sub>
                        <m:r>
                          <a:rPr lang="en-US" altLang="zh-CN" sz="1400" i="1">
                            <a:latin typeface="Cambria Math" panose="02040503050406030204" pitchFamily="18" charset="0"/>
                            <a:cs typeface="MV Boli" panose="02000500030200090000" pitchFamily="2" charset="0"/>
                          </a:rPr>
                          <m:t>𝑖</m:t>
                        </m:r>
                      </m:sub>
                    </m:s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e>
                      <m:sub>
                        <m:r>
                          <a:rPr lang="en-US" altLang="zh-CN" sz="1400" i="1">
                            <a:latin typeface="Cambria Math" panose="02040503050406030204" pitchFamily="18" charset="0"/>
                            <a:cs typeface="MV Boli" panose="02000500030200090000" pitchFamily="2" charset="0"/>
                          </a:rPr>
                          <m:t>𝑖</m:t>
                        </m:r>
                      </m:sub>
                    </m:sSub>
                    <m:r>
                      <a:rPr lang="en-US" altLang="zh-CN" sz="1400" i="1">
                        <a:latin typeface="Cambria Math" panose="02040503050406030204" pitchFamily="18" charset="0"/>
                        <a:cs typeface="MV Boli" panose="02000500030200090000" pitchFamily="2" charset="0"/>
                      </a:rPr>
                      <m:t>+</m:t>
                    </m:r>
                    <m:d>
                      <m:dPr>
                        <m:begChr m:val="["/>
                        <m:end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𝑎</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𝑑</m:t>
                            </m:r>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  </m:t>
                                </m:r>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1</m:t>
                                </m:r>
                              </m:sub>
                            </m:sSub>
                          </m:sub>
                        </m:sSub>
                      </m:e>
                    </m:d>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a:latin typeface="Cambria Math" panose="02040503050406030204" pitchFamily="18" charset="0"/>
                                <a:cs typeface="Times New Roman" panose="02020603050405020304" pitchFamily="18" charset="0"/>
                              </a:rPr>
                              <m:t>Ѵ</m:t>
                            </m:r>
                          </m:e>
                        </m:acc>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1</m:t>
                        </m:r>
                      </m:sub>
                    </m:sSub>
                    <m:r>
                      <a:rPr lang="en-US" altLang="zh-CN" sz="1400">
                        <a:latin typeface="Cambria Math" panose="02040503050406030204" pitchFamily="18" charset="0"/>
                        <a:cs typeface="MV Boli" panose="02000500030200090000" pitchFamily="2" charset="0"/>
                      </a:rPr>
                      <m:t>+</m:t>
                    </m:r>
                    <m:f>
                      <m:f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fPr>
                      <m:num>
                        <m:r>
                          <a:rPr lang="en-US" altLang="zh-CN" sz="1400" i="1">
                            <a:latin typeface="Cambria Math" panose="02040503050406030204" pitchFamily="18" charset="0"/>
                            <a:cs typeface="MV Boli" panose="02000500030200090000" pitchFamily="2" charset="0"/>
                          </a:rPr>
                          <m:t>𝑑</m:t>
                        </m:r>
                      </m:num>
                      <m:den>
                        <m:r>
                          <a:rPr lang="en-US" altLang="zh-CN" sz="1400" i="1">
                            <a:latin typeface="Cambria Math" panose="02040503050406030204" pitchFamily="18" charset="0"/>
                            <a:cs typeface="MV Boli" panose="02000500030200090000" pitchFamily="2" charset="0"/>
                          </a:rPr>
                          <m:t>𝑑𝑡</m:t>
                        </m:r>
                      </m:den>
                    </m:f>
                    <m:r>
                      <a:rPr lang="en-US" altLang="zh-CN" sz="1400" i="1">
                        <a:latin typeface="Cambria Math" panose="02040503050406030204" pitchFamily="18" charset="0"/>
                        <a:cs typeface="MV Boli" panose="02000500030200090000" pitchFamily="2" charset="0"/>
                      </a:rPr>
                      <m:t>(</m:t>
                    </m:r>
                    <m:d>
                      <m:dPr>
                        <m:begChr m:val="["/>
                        <m:end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𝑎</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𝑑</m:t>
                            </m:r>
                          </m:e>
                          <m:sub>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  </m:t>
                                </m:r>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1</m:t>
                                </m:r>
                              </m:sub>
                            </m:sSub>
                          </m:sub>
                        </m:sSub>
                      </m:e>
                    </m:d>
                    <m:r>
                      <a:rPr lang="en-US" altLang="zh-CN" sz="1400" i="1">
                        <a:latin typeface="Cambria Math" panose="02040503050406030204" pitchFamily="18" charset="0"/>
                        <a:cs typeface="MV Boli" panose="02000500030200090000" pitchFamily="2" charset="0"/>
                      </a:rPr>
                      <m:t>)</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a:latin typeface="Cambria Math" panose="02040503050406030204" pitchFamily="18" charset="0"/>
                            <a:cs typeface="Times New Roman" panose="02020603050405020304" pitchFamily="18" charset="0"/>
                          </a:rPr>
                          <m:t>Ѵ</m:t>
                        </m:r>
                      </m:e>
                      <m:sub>
                        <m:r>
                          <a:rPr lang="en-US" altLang="zh-CN" sz="1400" i="1">
                            <a:latin typeface="Cambria Math" panose="02040503050406030204" pitchFamily="18" charset="0"/>
                            <a:cs typeface="MV Boli" panose="02000500030200090000" pitchFamily="2" charset="0"/>
                          </a:rPr>
                          <m:t>𝑖</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1</m:t>
                        </m:r>
                      </m:sub>
                    </m:sSub>
                  </m:oMath>
                </a14:m>
                <a:r>
                  <a:rPr lang="en-US" altLang="zh-CN" sz="1400" dirty="0">
                    <a:latin typeface="宋体" panose="02010600030101010101" pitchFamily="2" charset="-122"/>
                    <a:cs typeface="MV Boli" panose="02000500030200090000" pitchFamily="2" charset="0"/>
                  </a:rPr>
                  <a:t> </a:t>
                </a:r>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3431848" y="2054285"/>
                <a:ext cx="4572000" cy="40261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599866" y="2652219"/>
                <a:ext cx="1701683" cy="475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𝑅</m:t>
                                    </m:r>
                                  </m:e>
                                  <m:sub>
                                    <m:r>
                                      <a:rPr lang="zh-CN" altLang="en-US" sz="1400" i="1">
                                        <a:latin typeface="Cambria Math" panose="02040503050406030204" pitchFamily="18" charset="0"/>
                                      </a:rPr>
                                      <m:t>𝑖</m:t>
                                    </m:r>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e>
                              <m:e>
                                <m:r>
                                  <a:rPr lang="zh-CN" altLang="en-US" sz="1400" i="1">
                                    <a:latin typeface="Cambria Math" panose="02040503050406030204" pitchFamily="18" charset="0"/>
                                  </a:rPr>
                                  <m:t>𝑃</m:t>
                                </m:r>
                              </m:e>
                            </m:mr>
                            <m:mr>
                              <m:e>
                                <m:r>
                                  <a:rPr lang="zh-CN" altLang="en-US" sz="1400" i="0">
                                    <a:latin typeface="Cambria Math" panose="02040503050406030204" pitchFamily="18" charset="0"/>
                                  </a:rPr>
                                  <m:t>0</m:t>
                                </m:r>
                              </m:e>
                              <m:e>
                                <m:r>
                                  <a:rPr lang="zh-CN" altLang="en-US" sz="1400" i="0">
                                    <a:latin typeface="Cambria Math" panose="02040503050406030204" pitchFamily="18" charset="0"/>
                                  </a:rPr>
                                  <m:t>1</m:t>
                                </m:r>
                              </m:e>
                            </m:mr>
                          </m:m>
                        </m:e>
                      </m:d>
                    </m:oMath>
                  </m:oMathPara>
                </a14:m>
                <a:endParaRPr lang="zh-CN" altLang="en-US" sz="1400" dirty="0"/>
              </a:p>
            </p:txBody>
          </p:sp>
        </mc:Choice>
        <mc:Fallback xmlns="">
          <p:sp>
            <p:nvSpPr>
              <p:cNvPr id="8" name="矩形 7"/>
              <p:cNvSpPr>
                <a:spLocks noRot="1" noChangeAspect="1" noMove="1" noResize="1" noEditPoints="1" noAdjustHandles="1" noChangeArrowheads="1" noChangeShapeType="1" noTextEdit="1"/>
              </p:cNvSpPr>
              <p:nvPr/>
            </p:nvSpPr>
            <p:spPr>
              <a:xfrm>
                <a:off x="2599866" y="2652219"/>
                <a:ext cx="1701683" cy="475771"/>
              </a:xfrm>
              <a:prstGeom prst="rect">
                <a:avLst/>
              </a:prstGeom>
              <a:blipFill>
                <a:blip r:embed="rId6"/>
                <a:stretch>
                  <a:fillRect b="-25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526459" y="2686785"/>
                <a:ext cx="945515" cy="4158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𝒜</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𝜔</m:t>
                                </m:r>
                              </m:e>
                            </m:mr>
                            <m:mr>
                              <m:e>
                                <m:r>
                                  <a:rPr lang="zh-CN" altLang="en-US" sz="1400" i="1">
                                    <a:latin typeface="Cambria Math" panose="02040503050406030204" pitchFamily="18" charset="0"/>
                                  </a:rPr>
                                  <m:t>𝑣</m:t>
                                </m:r>
                              </m:e>
                            </m:mr>
                          </m:m>
                        </m:e>
                      </m:d>
                    </m:oMath>
                  </m:oMathPara>
                </a14:m>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4526459" y="2686785"/>
                <a:ext cx="945515" cy="41588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475122" y="3472858"/>
                <a:ext cx="3795300" cy="50327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200" i="1" smtClean="0">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𝑑𝑡</m:t>
                          </m:r>
                        </m:den>
                      </m:f>
                      <m:d>
                        <m:dPr>
                          <m:ctrlPr>
                            <a:rPr lang="zh-CN" altLang="en-US" sz="1200" i="1">
                              <a:latin typeface="Cambria Math" panose="02040503050406030204" pitchFamily="18" charset="0"/>
                            </a:rPr>
                          </m:ctrlPr>
                        </m:d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𝑎</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𝑖</m:t>
                                      </m:r>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sub>
                              </m:sSub>
                            </m:e>
                          </m:d>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𝑑𝑡</m:t>
                          </m:r>
                        </m:den>
                      </m:f>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𝑅</m:t>
                                    </m:r>
                                  </m:e>
                                  <m:sub>
                                    <m:r>
                                      <a:rPr lang="zh-CN" altLang="en-US" sz="1200" i="1">
                                        <a:latin typeface="Cambria Math" panose="02040503050406030204" pitchFamily="18" charset="0"/>
                                      </a:rPr>
                                      <m:t>𝑖</m:t>
                                    </m:r>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e>
                              <m:e>
                                <m:r>
                                  <a:rPr lang="zh-CN" altLang="en-US" sz="1200" i="0">
                                    <a:latin typeface="Cambria Math" panose="02040503050406030204" pitchFamily="18" charset="0"/>
                                  </a:rPr>
                                  <m:t>0</m:t>
                                </m:r>
                              </m:e>
                            </m:mr>
                            <m:m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𝑝</m:t>
                                    </m:r>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𝑅</m:t>
                                    </m:r>
                                  </m:e>
                                  <m:sub>
                                    <m:r>
                                      <a:rPr lang="zh-CN" altLang="en-US" sz="1200" i="1">
                                        <a:latin typeface="Cambria Math" panose="02040503050406030204" pitchFamily="18" charset="0"/>
                                      </a:rPr>
                                      <m:t>𝑖</m:t>
                                    </m:r>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𝑅</m:t>
                                    </m:r>
                                  </m:e>
                                  <m:sub>
                                    <m:r>
                                      <a:rPr lang="zh-CN" altLang="en-US" sz="1200" i="1">
                                        <a:latin typeface="Cambria Math" panose="02040503050406030204" pitchFamily="18" charset="0"/>
                                      </a:rPr>
                                      <m:t>𝑖</m:t>
                                    </m:r>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e>
                            </m:mr>
                          </m:m>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sub>
                      </m:sSub>
                      <m:r>
                        <a:rPr lang="en-US" altLang="zh-CN" sz="1200" b="0" i="0" smtClean="0">
                          <a:latin typeface="Cambria Math" panose="02040503050406030204" pitchFamily="18" charset="0"/>
                        </a:rPr>
                        <m:t>=…</m:t>
                      </m:r>
                    </m:oMath>
                  </m:oMathPara>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1475122" y="3472858"/>
                <a:ext cx="3795300" cy="50327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5087157" y="3577247"/>
                <a:ext cx="1108188" cy="3082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𝑎</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𝑖</m:t>
                                  </m:r>
                                </m:sub>
                              </m:sSub>
                            </m:sub>
                          </m:sSub>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1">
                              <a:latin typeface="Cambria Math" panose="02040503050406030204" pitchFamily="18" charset="0"/>
                            </a:rPr>
                            <m:t>𝑖</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𝑖</m:t>
                          </m:r>
                        </m:sub>
                      </m:sSub>
                    </m:oMath>
                  </m:oMathPara>
                </a14:m>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5087157" y="3577247"/>
                <a:ext cx="1108188" cy="30829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3340044" y="4167496"/>
                <a:ext cx="3318344" cy="3576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a:latin typeface="Cambria Math" panose="02040503050406030204" pitchFamily="18" charset="0"/>
                                </a:rPr>
                                <m:t>Ѵ</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𝒜</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𝑎</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sub>
                              </m:sSub>
                            </m:sub>
                          </m:sSub>
                        </m:e>
                      </m:d>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𝒜</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𝑎</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sub>
                          </m:sSub>
                        </m:e>
                      </m:d>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0">
                                  <a:latin typeface="Cambria Math" panose="02040503050406030204" pitchFamily="18" charset="0"/>
                                </a:rPr>
                                <m:t>Ѵ</m:t>
                              </m:r>
                            </m:e>
                          </m:acc>
                        </m:e>
                        <m:sub>
                          <m:r>
                            <a:rPr lang="zh-CN" altLang="en-US" sz="1400" i="1">
                              <a:latin typeface="Cambria Math" panose="02040503050406030204" pitchFamily="18" charset="0"/>
                            </a:rPr>
                            <m:t>𝑖</m:t>
                          </m:r>
                          <m:r>
                            <a:rPr lang="zh-CN" altLang="en-US" sz="1400" i="0">
                              <a:latin typeface="Cambria Math" panose="02040503050406030204" pitchFamily="18" charset="0"/>
                            </a:rPr>
                            <m:t>−</m:t>
                          </m:r>
                          <m:r>
                            <a:rPr lang="zh-CN" altLang="en-US" sz="1400" i="0">
                              <a:latin typeface="Cambria Math" panose="02040503050406030204" pitchFamily="18" charset="0"/>
                            </a:rPr>
                            <m:t>1</m:t>
                          </m:r>
                        </m:sub>
                      </m:sSub>
                    </m:oMath>
                  </m:oMathPara>
                </a14:m>
                <a:endParaRPr lang="zh-CN" altLang="en-US" sz="1400" dirty="0"/>
              </a:p>
            </p:txBody>
          </p:sp>
        </mc:Choice>
        <mc:Fallback xmlns="">
          <p:sp>
            <p:nvSpPr>
              <p:cNvPr id="25" name="矩形 24"/>
              <p:cNvSpPr>
                <a:spLocks noRot="1" noChangeAspect="1" noMove="1" noResize="1" noEditPoints="1" noAdjustHandles="1" noChangeArrowheads="1" noChangeShapeType="1" noTextEdit="1"/>
              </p:cNvSpPr>
              <p:nvPr/>
            </p:nvSpPr>
            <p:spPr>
              <a:xfrm>
                <a:off x="3340044" y="4167496"/>
                <a:ext cx="3318344" cy="357662"/>
              </a:xfrm>
              <a:prstGeom prst="rect">
                <a:avLst/>
              </a:prstGeom>
              <a:blipFill>
                <a:blip r:embed="rId10"/>
                <a:stretch>
                  <a:fillRect/>
                </a:stretch>
              </a:blipFill>
            </p:spPr>
            <p:txBody>
              <a:bodyPr/>
              <a:lstStyle/>
              <a:p>
                <a:r>
                  <a:rPr lang="zh-CN" altLang="en-US">
                    <a:noFill/>
                  </a:rPr>
                  <a:t> </a:t>
                </a:r>
              </a:p>
            </p:txBody>
          </p:sp>
        </mc:Fallback>
      </mc:AlternateContent>
      <p:sp>
        <p:nvSpPr>
          <p:cNvPr id="26" name="圆角矩形 25"/>
          <p:cNvSpPr/>
          <p:nvPr/>
        </p:nvSpPr>
        <p:spPr>
          <a:xfrm>
            <a:off x="3372772" y="1687950"/>
            <a:ext cx="2268479" cy="39077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3340044" y="4167496"/>
            <a:ext cx="3318344" cy="42047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021119" y="4754713"/>
            <a:ext cx="950901" cy="307777"/>
          </a:xfrm>
          <a:prstGeom prst="rect">
            <a:avLst/>
          </a:prstGeom>
        </p:spPr>
        <p:txBody>
          <a:bodyPr wrap="none">
            <a:spAutoFit/>
          </a:bodyPr>
          <a:lstStyle/>
          <a:p>
            <a:r>
              <a:rPr lang="zh-CN" altLang="zh-CN" sz="1400" dirty="0">
                <a:solidFill>
                  <a:srgbClr val="FF0000"/>
                </a:solidFill>
                <a:cs typeface="MV Boli" panose="02000500030200090000" pitchFamily="2" charset="0"/>
              </a:rPr>
              <a:t>考虑</a:t>
            </a:r>
            <a:r>
              <a:rPr lang="zh-CN" altLang="zh-CN" sz="1400" dirty="0" smtClean="0">
                <a:solidFill>
                  <a:srgbClr val="FF0000"/>
                </a:solidFill>
                <a:cs typeface="MV Boli" panose="02000500030200090000" pitchFamily="2" charset="0"/>
              </a:rPr>
              <a:t>重力</a:t>
            </a:r>
            <a:r>
              <a:rPr lang="en-US" altLang="zh-CN" sz="1400" dirty="0" smtClean="0">
                <a:solidFill>
                  <a:srgbClr val="FF0000"/>
                </a:solidFill>
                <a:cs typeface="MV Boli" panose="02000500030200090000" pitchFamily="2" charset="0"/>
              </a:rPr>
              <a:t>:</a:t>
            </a:r>
            <a:endParaRPr lang="zh-CN" altLang="en-US" sz="1400" dirty="0">
              <a:solidFill>
                <a:srgbClr val="FF0000"/>
              </a:solidFill>
            </a:endParaRPr>
          </a:p>
        </p:txBody>
      </p:sp>
      <mc:AlternateContent xmlns:mc="http://schemas.openxmlformats.org/markup-compatibility/2006" xmlns:a14="http://schemas.microsoft.com/office/drawing/2010/main">
        <mc:Choice Requires="a14">
          <p:sp>
            <p:nvSpPr>
              <p:cNvPr id="29" name="矩形 28"/>
              <p:cNvSpPr/>
              <p:nvPr/>
            </p:nvSpPr>
            <p:spPr>
              <a:xfrm>
                <a:off x="2928008" y="4731990"/>
                <a:ext cx="2071208" cy="3354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smtClean="0">
                              <a:solidFill>
                                <a:srgbClr val="FF0000"/>
                              </a:solidFill>
                              <a:latin typeface="Cambria Math" panose="02040503050406030204" pitchFamily="18" charset="0"/>
                            </a:rPr>
                          </m:ctrlPr>
                        </m:dPr>
                        <m:e>
                          <m:sSub>
                            <m:sSubPr>
                              <m:ctrlPr>
                                <a:rPr lang="zh-CN" altLang="en-US" sz="1400" i="1">
                                  <a:solidFill>
                                    <a:srgbClr val="FF0000"/>
                                  </a:solidFill>
                                  <a:latin typeface="Cambria Math" panose="02040503050406030204" pitchFamily="18" charset="0"/>
                                </a:rPr>
                              </m:ctrlPr>
                            </m:sSubPr>
                            <m:e>
                              <m:acc>
                                <m:accPr>
                                  <m:chr m:val="̇"/>
                                  <m:ctrlPr>
                                    <a:rPr lang="zh-CN" altLang="en-US" sz="1400" i="1">
                                      <a:solidFill>
                                        <a:srgbClr val="FF0000"/>
                                      </a:solidFill>
                                      <a:latin typeface="Cambria Math" panose="02040503050406030204" pitchFamily="18" charset="0"/>
                                    </a:rPr>
                                  </m:ctrlPr>
                                </m:accPr>
                                <m:e>
                                  <m:r>
                                    <a:rPr lang="zh-CN" altLang="en-US" sz="1400">
                                      <a:solidFill>
                                        <a:srgbClr val="FF0000"/>
                                      </a:solidFill>
                                      <a:latin typeface="Cambria Math" panose="02040503050406030204" pitchFamily="18" charset="0"/>
                                    </a:rPr>
                                    <m:t>Ѵ</m:t>
                                  </m:r>
                                </m:e>
                              </m:acc>
                            </m:e>
                            <m:sub>
                              <m:r>
                                <a:rPr lang="zh-CN" altLang="en-US" sz="1400" i="0">
                                  <a:solidFill>
                                    <a:srgbClr val="FF0000"/>
                                  </a:solidFill>
                                  <a:latin typeface="Cambria Math" panose="02040503050406030204" pitchFamily="18" charset="0"/>
                                </a:rPr>
                                <m:t>0</m:t>
                              </m:r>
                            </m:sub>
                          </m:sSub>
                          <m:r>
                            <a:rPr lang="zh-CN" altLang="en-US" sz="1400" i="0">
                              <a:solidFill>
                                <a:srgbClr val="FF0000"/>
                              </a:solidFill>
                              <a:latin typeface="Cambria Math" panose="02040503050406030204" pitchFamily="18" charset="0"/>
                            </a:rPr>
                            <m:t>=</m:t>
                          </m:r>
                          <m:d>
                            <m:dPr>
                              <m:ctrlPr>
                                <a:rPr lang="zh-CN" altLang="en-US" sz="1400" i="1">
                                  <a:solidFill>
                                    <a:srgbClr val="FF0000"/>
                                  </a:solidFill>
                                  <a:latin typeface="Cambria Math" panose="02040503050406030204" pitchFamily="18" charset="0"/>
                                </a:rPr>
                              </m:ctrlPr>
                            </m:dPr>
                            <m:e>
                              <m:sSub>
                                <m:sSubPr>
                                  <m:ctrlPr>
                                    <a:rPr lang="zh-CN" altLang="en-US" sz="1400"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𝜔</m:t>
                                  </m:r>
                                </m:e>
                                <m:sub>
                                  <m:r>
                                    <a:rPr lang="zh-CN" altLang="en-US" sz="1400" i="0">
                                      <a:solidFill>
                                        <a:srgbClr val="FF0000"/>
                                      </a:solidFill>
                                      <a:latin typeface="Cambria Math" panose="02040503050406030204" pitchFamily="18" charset="0"/>
                                    </a:rPr>
                                    <m:t>0</m:t>
                                  </m:r>
                                </m:sub>
                              </m:sSub>
                              <m:r>
                                <a:rPr lang="zh-CN" altLang="en-US" sz="1400" i="0">
                                  <a:solidFill>
                                    <a:srgbClr val="FF0000"/>
                                  </a:solidFill>
                                  <a:latin typeface="Cambria Math" panose="02040503050406030204" pitchFamily="18" charset="0"/>
                                </a:rPr>
                                <m:t>, </m:t>
                              </m:r>
                              <m:sSub>
                                <m:sSubPr>
                                  <m:ctrlPr>
                                    <a:rPr lang="zh-CN" altLang="en-US" sz="1400" i="1">
                                      <a:solidFill>
                                        <a:srgbClr val="FF0000"/>
                                      </a:solidFill>
                                      <a:latin typeface="Cambria Math" panose="02040503050406030204" pitchFamily="18" charset="0"/>
                                    </a:rPr>
                                  </m:ctrlPr>
                                </m:sSubPr>
                                <m:e>
                                  <m:r>
                                    <a:rPr lang="zh-CN" altLang="en-US" sz="1400" i="1">
                                      <a:solidFill>
                                        <a:srgbClr val="FF0000"/>
                                      </a:solidFill>
                                      <a:latin typeface="Cambria Math" panose="02040503050406030204" pitchFamily="18" charset="0"/>
                                    </a:rPr>
                                    <m:t>𝑣</m:t>
                                  </m:r>
                                </m:e>
                                <m:sub>
                                  <m:r>
                                    <a:rPr lang="zh-CN" altLang="en-US" sz="1400" i="0">
                                      <a:solidFill>
                                        <a:srgbClr val="FF0000"/>
                                      </a:solidFill>
                                      <a:latin typeface="Cambria Math" panose="02040503050406030204" pitchFamily="18" charset="0"/>
                                    </a:rPr>
                                    <m:t>0</m:t>
                                  </m:r>
                                </m:sub>
                              </m:sSub>
                            </m:e>
                          </m:d>
                          <m:r>
                            <a:rPr lang="zh-CN" altLang="en-US" sz="1400" i="0">
                              <a:solidFill>
                                <a:srgbClr val="FF0000"/>
                              </a:solidFill>
                              <a:latin typeface="Cambria Math" panose="02040503050406030204" pitchFamily="18" charset="0"/>
                            </a:rPr>
                            <m:t>=(</m:t>
                          </m:r>
                          <m:r>
                            <a:rPr lang="zh-CN" altLang="en-US" sz="1400" i="0">
                              <a:solidFill>
                                <a:srgbClr val="FF0000"/>
                              </a:solidFill>
                              <a:latin typeface="Cambria Math" panose="02040503050406030204" pitchFamily="18" charset="0"/>
                            </a:rPr>
                            <m:t>0</m:t>
                          </m:r>
                          <m:r>
                            <a:rPr lang="zh-CN" altLang="en-US" sz="1400" i="0">
                              <a:solidFill>
                                <a:srgbClr val="FF0000"/>
                              </a:solidFill>
                              <a:latin typeface="Cambria Math" panose="02040503050406030204" pitchFamily="18" charset="0"/>
                            </a:rPr>
                            <m:t>, −</m:t>
                          </m:r>
                          <m:r>
                            <a:rPr lang="zh-CN" altLang="en-US" sz="1400" i="1">
                              <a:solidFill>
                                <a:srgbClr val="FF0000"/>
                              </a:solidFill>
                              <a:latin typeface="Cambria Math" panose="02040503050406030204" pitchFamily="18" charset="0"/>
                            </a:rPr>
                            <m:t>𝑔</m:t>
                          </m:r>
                        </m:e>
                      </m:d>
                    </m:oMath>
                  </m:oMathPara>
                </a14:m>
                <a:endParaRPr lang="zh-CN" altLang="en-US" sz="1400" dirty="0">
                  <a:solidFill>
                    <a:srgbClr val="FF0000"/>
                  </a:solidFill>
                </a:endParaRPr>
              </a:p>
            </p:txBody>
          </p:sp>
        </mc:Choice>
        <mc:Fallback xmlns="">
          <p:sp>
            <p:nvSpPr>
              <p:cNvPr id="29" name="矩形 28"/>
              <p:cNvSpPr>
                <a:spLocks noRot="1" noChangeAspect="1" noMove="1" noResize="1" noEditPoints="1" noAdjustHandles="1" noChangeArrowheads="1" noChangeShapeType="1" noTextEdit="1"/>
              </p:cNvSpPr>
              <p:nvPr/>
            </p:nvSpPr>
            <p:spPr>
              <a:xfrm>
                <a:off x="2928008" y="4731990"/>
                <a:ext cx="2071208" cy="335476"/>
              </a:xfrm>
              <a:prstGeom prst="rect">
                <a:avLst/>
              </a:prstGeom>
              <a:blipFill>
                <a:blip r:embed="rId11"/>
                <a:stretch>
                  <a:fillRect t="-136364" r="-22647" b="-2109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88580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059832" y="617220"/>
            <a:ext cx="3946914"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基于旋量法的牛顿</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欧拉逆动力学方程推导</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形状"/>
          <p:cNvSpPr/>
          <p:nvPr>
            <p:custDataLst>
              <p:tags r:id="rId2"/>
            </p:custDataLst>
          </p:nvPr>
        </p:nvSpPr>
        <p:spPr>
          <a:xfrm>
            <a:off x="467544" y="13133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6" name="矩形 15"/>
          <p:cNvSpPr/>
          <p:nvPr/>
        </p:nvSpPr>
        <p:spPr>
          <a:xfrm>
            <a:off x="797825" y="1306965"/>
            <a:ext cx="3079689" cy="338554"/>
          </a:xfrm>
          <a:prstGeom prst="rect">
            <a:avLst/>
          </a:prstGeom>
        </p:spPr>
        <p:txBody>
          <a:bodyPr wrap="none">
            <a:spAutoFit/>
          </a:bodyPr>
          <a:lstStyle/>
          <a:p>
            <a:r>
              <a:rPr lang="zh-CN" altLang="en-US" sz="1600" b="1" dirty="0" smtClean="0">
                <a:solidFill>
                  <a:srgbClr val="002060"/>
                </a:solidFill>
              </a:rPr>
              <a:t>第二</a:t>
            </a:r>
            <a:r>
              <a:rPr lang="zh-CN" altLang="en-US" sz="1600" b="1" dirty="0">
                <a:solidFill>
                  <a:srgbClr val="002060"/>
                </a:solidFill>
              </a:rPr>
              <a:t>步：计算力和力矩的内推法</a:t>
            </a:r>
          </a:p>
        </p:txBody>
      </p:sp>
      <p:sp>
        <p:nvSpPr>
          <p:cNvPr id="7" name="矩形 6"/>
          <p:cNvSpPr/>
          <p:nvPr/>
        </p:nvSpPr>
        <p:spPr>
          <a:xfrm>
            <a:off x="820968" y="1643631"/>
            <a:ext cx="7993015" cy="523220"/>
          </a:xfrm>
          <a:prstGeom prst="rect">
            <a:avLst/>
          </a:prstGeom>
        </p:spPr>
        <p:txBody>
          <a:bodyPr wrap="square">
            <a:spAutoFit/>
          </a:bodyPr>
          <a:lstStyle/>
          <a:p>
            <a:r>
              <a:rPr lang="zh-CN" altLang="zh-CN" sz="1400" dirty="0">
                <a:solidFill>
                  <a:srgbClr val="FF0000"/>
                </a:solidFill>
                <a:cs typeface="MV Boli" panose="02000500030200090000" pitchFamily="2" charset="0"/>
              </a:rPr>
              <a:t>从基座向外推导得到所有连杆的运动旋量和加速度之后，即可计算各关节的力和力矩，旋量法可以直接通过计算力旋量得到。</a:t>
            </a:r>
            <a:endParaRPr lang="zh-CN" altLang="en-US" sz="1400" dirty="0">
              <a:solidFill>
                <a:srgbClr val="FF0000"/>
              </a:solidFill>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064506717"/>
              </p:ext>
            </p:extLst>
          </p:nvPr>
        </p:nvGraphicFramePr>
        <p:xfrm>
          <a:off x="280556" y="2428780"/>
          <a:ext cx="3790950" cy="1962150"/>
        </p:xfrm>
        <a:graphic>
          <a:graphicData uri="http://schemas.openxmlformats.org/presentationml/2006/ole">
            <mc:AlternateContent xmlns:mc="http://schemas.openxmlformats.org/markup-compatibility/2006">
              <mc:Choice xmlns:v="urn:schemas-microsoft-com:vml" Requires="v">
                <p:oleObj spid="_x0000_s7237" name="Visio" r:id="rId5" imgW="6286340" imgH="3247972" progId="Visio.Drawing.15">
                  <p:embed/>
                </p:oleObj>
              </mc:Choice>
              <mc:Fallback>
                <p:oleObj name="Visio" r:id="rId5" imgW="6286340" imgH="3247972"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556" y="2428780"/>
                        <a:ext cx="3790950" cy="196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2" name="矩形 11"/>
              <p:cNvSpPr/>
              <p:nvPr/>
            </p:nvSpPr>
            <p:spPr>
              <a:xfrm>
                <a:off x="3275856" y="1994567"/>
                <a:ext cx="2281715" cy="3860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ℱ</m:t>
                          </m:r>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0">
                                  <a:latin typeface="Cambria Math" panose="02040503050406030204" pitchFamily="18" charset="0"/>
                                </a:rPr>
                                <m:t>Ѵ</m:t>
                              </m:r>
                            </m:e>
                          </m:acc>
                        </m:e>
                        <m:sub>
                          <m:r>
                            <a:rPr lang="zh-CN" altLang="en-US" sz="1400" i="1">
                              <a:latin typeface="Cambria Math" panose="02040503050406030204" pitchFamily="18" charset="0"/>
                            </a:rPr>
                            <m:t>𝑏</m:t>
                          </m:r>
                        </m:sub>
                      </m:sSub>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r>
                                <m:rPr>
                                  <m:sty m:val="p"/>
                                </m:rPr>
                                <a:rPr lang="zh-CN" altLang="en-US" sz="1400" i="0">
                                  <a:latin typeface="Cambria Math" panose="02040503050406030204" pitchFamily="18" charset="0"/>
                                </a:rPr>
                                <m:t>a</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𝑏</m:t>
                                      </m:r>
                                    </m:sub>
                                  </m:sSub>
                                </m:sub>
                              </m:sSub>
                            </m:e>
                          </m:d>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𝑏</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𝑏</m:t>
                          </m:r>
                        </m:sub>
                      </m:sSub>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275856" y="1994567"/>
                <a:ext cx="2281715" cy="38600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4071506" y="2355726"/>
                <a:ext cx="3429337" cy="4003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ℊ</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acc>
                            <m:accPr>
                              <m:chr m:val="̇"/>
                              <m:ctrlPr>
                                <a:rPr lang="zh-CN" altLang="en-US" sz="1400" i="1">
                                  <a:latin typeface="Cambria Math" panose="02040503050406030204" pitchFamily="18" charset="0"/>
                                </a:rPr>
                              </m:ctrlPr>
                            </m:accPr>
                            <m:e>
                              <m:r>
                                <a:rPr lang="zh-CN" altLang="en-US" sz="1400" i="0">
                                  <a:latin typeface="Cambria Math" panose="02040503050406030204" pitchFamily="18" charset="0"/>
                                </a:rPr>
                                <m:t>Ѵ</m:t>
                              </m:r>
                            </m:e>
                          </m:acc>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r>
                                <m:rPr>
                                  <m:sty m:val="p"/>
                                </m:rPr>
                                <a:rPr lang="zh-CN" altLang="en-US" sz="1400" i="0">
                                  <a:latin typeface="Cambria Math" panose="02040503050406030204" pitchFamily="18" charset="0"/>
                                </a:rPr>
                                <m:t>a</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sub>
                                  </m:sSub>
                                </m:sub>
                              </m:sSub>
                            </m:e>
                          </m:d>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ℱ</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𝑎</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r>
                                        <a:rPr lang="zh-CN" altLang="en-US" sz="1400" i="0">
                                          <a:latin typeface="Cambria Math" panose="02040503050406030204" pitchFamily="18" charset="0"/>
                                        </a:rPr>
                                        <m:t>+1,  </m:t>
                                      </m:r>
                                      <m:r>
                                        <a:rPr lang="zh-CN" altLang="en-US" sz="1400" i="1">
                                          <a:latin typeface="Cambria Math" panose="02040503050406030204" pitchFamily="18" charset="0"/>
                                        </a:rPr>
                                        <m:t>𝑖</m:t>
                                      </m:r>
                                    </m:sub>
                                  </m:sSub>
                                </m:sub>
                              </m:sSub>
                            </m:e>
                          </m:d>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ℱ</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oMath>
                  </m:oMathPara>
                </a14:m>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4071506" y="2355726"/>
                <a:ext cx="3429337" cy="40030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632684" y="4514359"/>
                <a:ext cx="2853730" cy="276999"/>
              </a:xfrm>
              <a:prstGeom prst="rect">
                <a:avLst/>
              </a:prstGeom>
            </p:spPr>
            <p:txBody>
              <a:bodyPr wrap="none">
                <a:spAutoFit/>
              </a:bodyPr>
              <a:lstStyle/>
              <a:p>
                <a:r>
                  <a:rPr lang="zh-CN" altLang="zh-CN" sz="1200" smtClean="0">
                    <a:solidFill>
                      <a:srgbClr val="002060"/>
                    </a:solidFill>
                    <a:cs typeface="MV Boli" panose="02000500030200090000" pitchFamily="2" charset="0"/>
                  </a:rPr>
                  <a:t>施加在连杆</a:t>
                </a:r>
                <a14:m>
                  <m:oMath xmlns:m="http://schemas.openxmlformats.org/officeDocument/2006/math">
                    <m:r>
                      <a:rPr lang="en-US" altLang="zh-CN" sz="1200" i="1">
                        <a:solidFill>
                          <a:srgbClr val="002060"/>
                        </a:solidFill>
                        <a:latin typeface="Cambria Math" panose="02040503050406030204" pitchFamily="18" charset="0"/>
                        <a:cs typeface="MV Boli" panose="02000500030200090000" pitchFamily="2" charset="0"/>
                      </a:rPr>
                      <m:t>𝑖</m:t>
                    </m:r>
                  </m:oMath>
                </a14:m>
                <a:r>
                  <a:rPr lang="zh-CN" altLang="zh-CN" sz="1200" dirty="0">
                    <a:solidFill>
                      <a:srgbClr val="002060"/>
                    </a:solidFill>
                    <a:cs typeface="MV Boli" panose="02000500030200090000" pitchFamily="2" charset="0"/>
                  </a:rPr>
                  <a:t>上的力矩和力的受力分析图</a:t>
                </a:r>
                <a:endParaRPr lang="zh-CN" altLang="en-US" sz="1200" dirty="0">
                  <a:solidFill>
                    <a:srgbClr val="00206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632684" y="4514359"/>
                <a:ext cx="2853730" cy="276999"/>
              </a:xfrm>
              <a:prstGeom prst="rect">
                <a:avLst/>
              </a:prstGeom>
              <a:blipFill>
                <a:blip r:embed="rId9"/>
                <a:stretch>
                  <a:fillRect l="-214" t="-4444" b="-1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4656761" y="3238574"/>
                <a:ext cx="3895810" cy="4442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ℱ</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ℊ</m:t>
                          </m:r>
                        </m:e>
                        <m:sub>
                          <m:r>
                            <a:rPr lang="zh-CN" altLang="en-US" sz="1600" i="1">
                              <a:latin typeface="Cambria Math" panose="02040503050406030204" pitchFamily="18" charset="0"/>
                            </a:rPr>
                            <m:t>𝑖</m:t>
                          </m:r>
                        </m:sub>
                      </m:sSub>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0">
                                  <a:latin typeface="Cambria Math" panose="02040503050406030204" pitchFamily="18" charset="0"/>
                                </a:rPr>
                                <m:t>Ѵ</m:t>
                              </m:r>
                            </m:e>
                          </m:acc>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a</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Ѵ</m:t>
                                      </m:r>
                                    </m:e>
                                    <m:sub>
                                      <m:r>
                                        <a:rPr lang="zh-CN" altLang="en-US" sz="1600" i="1">
                                          <a:latin typeface="Cambria Math" panose="02040503050406030204" pitchFamily="18" charset="0"/>
                                        </a:rPr>
                                        <m:t>𝑖</m:t>
                                      </m:r>
                                    </m:sub>
                                  </m:sSub>
                                </m:sub>
                              </m:sSub>
                            </m:e>
                          </m:d>
                        </m:e>
                        <m:sup>
                          <m:r>
                            <a:rPr lang="zh-CN" altLang="en-US" sz="1600" i="1">
                              <a:latin typeface="Cambria Math" panose="02040503050406030204" pitchFamily="18" charset="0"/>
                            </a:rPr>
                            <m:t>𝑇</m:t>
                          </m:r>
                        </m:sup>
                      </m:sSup>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ℊ</m:t>
                          </m:r>
                        </m:e>
                        <m:sub>
                          <m:r>
                            <a:rPr lang="zh-CN" altLang="en-US" sz="1600" i="1">
                              <a:latin typeface="Cambria Math" panose="02040503050406030204" pitchFamily="18" charset="0"/>
                            </a:rPr>
                            <m:t>𝑖</m:t>
                          </m:r>
                        </m:sub>
                      </m:sSub>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Ѵ</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𝑎</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𝑖</m:t>
                                      </m:r>
                                      <m:r>
                                        <a:rPr lang="zh-CN" altLang="en-US" sz="1600" i="0">
                                          <a:latin typeface="Cambria Math" panose="02040503050406030204" pitchFamily="18" charset="0"/>
                                        </a:rPr>
                                        <m:t>+1,  </m:t>
                                      </m:r>
                                      <m:r>
                                        <a:rPr lang="zh-CN" altLang="en-US" sz="1600" i="1">
                                          <a:latin typeface="Cambria Math" panose="02040503050406030204" pitchFamily="18" charset="0"/>
                                        </a:rPr>
                                        <m:t>𝑖</m:t>
                                      </m:r>
                                    </m:sub>
                                  </m:sSub>
                                </m:sub>
                              </m:sSub>
                            </m:e>
                          </m:d>
                        </m:e>
                        <m:sup>
                          <m:r>
                            <a:rPr lang="zh-CN" altLang="en-US" sz="1600" i="1">
                              <a:latin typeface="Cambria Math" panose="02040503050406030204" pitchFamily="18" charset="0"/>
                            </a:rPr>
                            <m:t>𝑇</m:t>
                          </m:r>
                        </m:sup>
                      </m:sSup>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ℱ</m:t>
                          </m:r>
                        </m:e>
                        <m:sub>
                          <m:r>
                            <a:rPr lang="zh-CN" altLang="en-US" sz="1600" i="1">
                              <a:latin typeface="Cambria Math" panose="02040503050406030204" pitchFamily="18" charset="0"/>
                            </a:rPr>
                            <m:t>𝑖</m:t>
                          </m:r>
                          <m:r>
                            <a:rPr lang="zh-CN" altLang="en-US" sz="1600" i="0">
                              <a:latin typeface="Cambria Math" panose="02040503050406030204" pitchFamily="18" charset="0"/>
                            </a:rPr>
                            <m:t>+1</m:t>
                          </m:r>
                        </m:sub>
                      </m:sSub>
                    </m:oMath>
                  </m:oMathPara>
                </a14:m>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4656761" y="3238574"/>
                <a:ext cx="3895810" cy="44428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3858370" y="2834414"/>
                <a:ext cx="2513060" cy="307777"/>
              </a:xfrm>
              <a:prstGeom prst="rect">
                <a:avLst/>
              </a:prstGeom>
            </p:spPr>
            <p:txBody>
              <a:bodyPr wrap="none">
                <a:spAutoFit/>
              </a:bodyPr>
              <a:lstStyle/>
              <a:p>
                <a:r>
                  <a:rPr lang="zh-CN" altLang="zh-CN" sz="1400" dirty="0" smtClean="0">
                    <a:solidFill>
                      <a:srgbClr val="002060"/>
                    </a:solidFill>
                    <a:cs typeface="MV Boli" panose="02000500030200090000" pitchFamily="2" charset="0"/>
                  </a:rPr>
                  <a:t>各关节力旋量</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ℱ</m:t>
                        </m:r>
                      </m:e>
                      <m:sub>
                        <m:r>
                          <a:rPr lang="en-US" altLang="zh-CN" sz="1400" i="1">
                            <a:solidFill>
                              <a:srgbClr val="002060"/>
                            </a:solidFill>
                            <a:latin typeface="Cambria Math" panose="02040503050406030204" pitchFamily="18" charset="0"/>
                            <a:cs typeface="MV Boli" panose="02000500030200090000" pitchFamily="2" charset="0"/>
                          </a:rPr>
                          <m:t>𝑖</m:t>
                        </m:r>
                      </m:sub>
                    </m:sSub>
                  </m:oMath>
                </a14:m>
                <a:r>
                  <a:rPr lang="zh-CN" altLang="zh-CN" sz="1400" dirty="0">
                    <a:solidFill>
                      <a:srgbClr val="002060"/>
                    </a:solidFill>
                    <a:cs typeface="MV Boli" panose="02000500030200090000" pitchFamily="2" charset="0"/>
                  </a:rPr>
                  <a:t>的内推</a:t>
                </a:r>
                <a:r>
                  <a:rPr lang="zh-CN" altLang="zh-CN" sz="1400" dirty="0" smtClean="0">
                    <a:solidFill>
                      <a:srgbClr val="002060"/>
                    </a:solidFill>
                    <a:cs typeface="MV Boli" panose="02000500030200090000" pitchFamily="2" charset="0"/>
                  </a:rPr>
                  <a:t>公式</a:t>
                </a:r>
                <a:r>
                  <a:rPr lang="zh-CN" altLang="en-US" sz="1400" dirty="0" smtClean="0">
                    <a:solidFill>
                      <a:srgbClr val="002060"/>
                    </a:solidFill>
                    <a:cs typeface="MV Boli" panose="02000500030200090000" pitchFamily="2" charset="0"/>
                  </a:rPr>
                  <a:t>：</a:t>
                </a:r>
                <a:endParaRPr lang="zh-CN" altLang="en-US" sz="1400" dirty="0">
                  <a:solidFill>
                    <a:srgbClr val="002060"/>
                  </a:solidFill>
                </a:endParaRPr>
              </a:p>
            </p:txBody>
          </p:sp>
        </mc:Choice>
        <mc:Fallback xmlns="">
          <p:sp>
            <p:nvSpPr>
              <p:cNvPr id="20" name="矩形 19"/>
              <p:cNvSpPr>
                <a:spLocks noRot="1" noChangeAspect="1" noMove="1" noResize="1" noEditPoints="1" noAdjustHandles="1" noChangeArrowheads="1" noChangeShapeType="1" noTextEdit="1"/>
              </p:cNvSpPr>
              <p:nvPr/>
            </p:nvSpPr>
            <p:spPr>
              <a:xfrm>
                <a:off x="3858370" y="2834414"/>
                <a:ext cx="2513060" cy="307777"/>
              </a:xfrm>
              <a:prstGeom prst="rect">
                <a:avLst/>
              </a:prstGeom>
              <a:blipFill>
                <a:blip r:embed="rId11"/>
                <a:stretch>
                  <a:fillRect l="-728" t="-8000" b="-16000"/>
                </a:stretch>
              </a:blipFill>
            </p:spPr>
            <p:txBody>
              <a:bodyPr/>
              <a:lstStyle/>
              <a:p>
                <a:r>
                  <a:rPr lang="zh-CN" altLang="en-US">
                    <a:noFill/>
                  </a:rPr>
                  <a:t> </a:t>
                </a:r>
              </a:p>
            </p:txBody>
          </p:sp>
        </mc:Fallback>
      </mc:AlternateContent>
      <p:sp>
        <p:nvSpPr>
          <p:cNvPr id="21" name="圆角矩形 20"/>
          <p:cNvSpPr/>
          <p:nvPr/>
        </p:nvSpPr>
        <p:spPr>
          <a:xfrm>
            <a:off x="4656761" y="3161662"/>
            <a:ext cx="3895810" cy="63548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176181" y="3982922"/>
            <a:ext cx="1877437" cy="276999"/>
          </a:xfrm>
          <a:prstGeom prst="rect">
            <a:avLst/>
          </a:prstGeom>
        </p:spPr>
        <p:txBody>
          <a:bodyPr wrap="none">
            <a:spAutoFit/>
          </a:bodyPr>
          <a:lstStyle/>
          <a:p>
            <a:r>
              <a:rPr lang="zh-CN" altLang="zh-CN" sz="1200" dirty="0">
                <a:solidFill>
                  <a:srgbClr val="002060"/>
                </a:solidFill>
                <a:cs typeface="MV Boli" panose="02000500030200090000" pitchFamily="2" charset="0"/>
              </a:rPr>
              <a:t>考虑末端执行器的接触力</a:t>
            </a:r>
            <a:endParaRPr lang="zh-CN" altLang="en-US" sz="1200" dirty="0">
              <a:solidFill>
                <a:srgbClr val="002060"/>
              </a:solidFill>
            </a:endParaRPr>
          </a:p>
        </p:txBody>
      </p:sp>
      <mc:AlternateContent xmlns:mc="http://schemas.openxmlformats.org/markup-compatibility/2006" xmlns:a14="http://schemas.microsoft.com/office/drawing/2010/main">
        <mc:Choice Requires="a14">
          <p:sp>
            <p:nvSpPr>
              <p:cNvPr id="23" name="矩形 22"/>
              <p:cNvSpPr/>
              <p:nvPr/>
            </p:nvSpPr>
            <p:spPr>
              <a:xfrm>
                <a:off x="6030138" y="4124735"/>
                <a:ext cx="2315506" cy="291298"/>
              </a:xfrm>
              <a:prstGeom prst="rect">
                <a:avLst/>
              </a:prstGeom>
            </p:spPr>
            <p:txBody>
              <a:bodyPr wrap="none">
                <a:spAutoFit/>
              </a:bodyPr>
              <a:lstStyle/>
              <a:p>
                <a:r>
                  <a:rPr lang="zh-CN" altLang="zh-CN" sz="1200" dirty="0">
                    <a:cs typeface="MV Boli" panose="02000500030200090000" pitchFamily="2" charset="0"/>
                  </a:rPr>
                  <a:t>初始项</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ℱ</m:t>
                        </m:r>
                      </m:e>
                      <m:sub>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sub>
                    </m:sSub>
                    <m:r>
                      <a:rPr lang="en-US" altLang="zh-CN" sz="1200">
                        <a:latin typeface="Cambria Math" panose="02040503050406030204" pitchFamily="18" charset="0"/>
                        <a:cs typeface="MV Boli" panose="02000500030200090000" pitchFamily="2" charset="0"/>
                      </a:rPr>
                      <m:t>=</m:t>
                    </m:r>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ℱ</m:t>
                        </m:r>
                      </m:e>
                      <m:sub>
                        <m:r>
                          <a:rPr lang="en-US" altLang="zh-CN" sz="1200" i="1">
                            <a:latin typeface="Cambria Math" panose="02040503050406030204" pitchFamily="18" charset="0"/>
                            <a:cs typeface="MV Boli" panose="02000500030200090000" pitchFamily="2" charset="0"/>
                          </a:rPr>
                          <m:t>𝑡𝑖𝑝</m:t>
                        </m:r>
                      </m:sub>
                    </m:sSub>
                    <m:r>
                      <a:rPr lang="en-US" altLang="zh-CN" sz="1200" i="1">
                        <a:latin typeface="Cambria Math" panose="02040503050406030204" pitchFamily="18" charset="0"/>
                        <a:cs typeface="MV Boli" panose="02000500030200090000" pitchFamily="2" charset="0"/>
                      </a:rPr>
                      <m:t>=(</m:t>
                    </m:r>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𝑛</m:t>
                        </m:r>
                      </m:e>
                      <m:sub>
                        <m:r>
                          <a:rPr lang="en-US" altLang="zh-CN" sz="1200" i="1">
                            <a:latin typeface="Cambria Math" panose="02040503050406030204" pitchFamily="18" charset="0"/>
                            <a:cs typeface="MV Boli" panose="02000500030200090000" pitchFamily="2" charset="0"/>
                          </a:rPr>
                          <m:t>𝑡𝑖𝑝</m:t>
                        </m:r>
                      </m:sub>
                    </m:sSub>
                    <m:r>
                      <a:rPr lang="en-US" altLang="zh-CN" sz="1200" i="1">
                        <a:latin typeface="Cambria Math" panose="02040503050406030204" pitchFamily="18" charset="0"/>
                        <a:cs typeface="MV Boli" panose="02000500030200090000" pitchFamily="2" charset="0"/>
                      </a:rPr>
                      <m:t>, </m:t>
                    </m:r>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𝑓</m:t>
                        </m:r>
                      </m:e>
                      <m:sub>
                        <m:r>
                          <a:rPr lang="en-US" altLang="zh-CN" sz="1200" i="1">
                            <a:latin typeface="Cambria Math" panose="02040503050406030204" pitchFamily="18" charset="0"/>
                            <a:cs typeface="MV Boli" panose="02000500030200090000" pitchFamily="2" charset="0"/>
                          </a:rPr>
                          <m:t>𝑡𝑖𝑝</m:t>
                        </m:r>
                      </m:sub>
                    </m:sSub>
                    <m:r>
                      <a:rPr lang="en-US" altLang="zh-CN" sz="1200" i="1">
                        <a:latin typeface="Cambria Math" panose="02040503050406030204" pitchFamily="18" charset="0"/>
                        <a:cs typeface="MV Boli" panose="02000500030200090000" pitchFamily="2" charset="0"/>
                      </a:rPr>
                      <m:t>)</m:t>
                    </m:r>
                  </m:oMath>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6030138" y="4124735"/>
                <a:ext cx="2315506" cy="291298"/>
              </a:xfrm>
              <a:prstGeom prst="rect">
                <a:avLst/>
              </a:prstGeom>
              <a:blipFill>
                <a:blip r:embed="rId12"/>
                <a:stretch>
                  <a:fillRect t="-4255"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4176181" y="4185333"/>
                <a:ext cx="1893916" cy="276999"/>
              </a:xfrm>
              <a:prstGeom prst="rect">
                <a:avLst/>
              </a:prstGeom>
            </p:spPr>
            <p:txBody>
              <a:bodyPr wrap="none">
                <a:spAutoFit/>
              </a:bodyPr>
              <a:lstStyle/>
              <a:p>
                <a:r>
                  <a:rPr lang="zh-CN" altLang="zh-CN" sz="1200" dirty="0">
                    <a:cs typeface="MV Boli" panose="02000500030200090000" pitchFamily="2" charset="0"/>
                  </a:rPr>
                  <a:t>末端执行器坐标系</a:t>
                </a:r>
                <a14:m>
                  <m:oMath xmlns:m="http://schemas.openxmlformats.org/officeDocument/2006/math">
                    <m:r>
                      <a:rPr lang="en-US" altLang="zh-CN" sz="1200">
                        <a:latin typeface="Cambria Math" panose="02040503050406030204" pitchFamily="18" charset="0"/>
                        <a:cs typeface="MV Boli" panose="02000500030200090000" pitchFamily="2" charset="0"/>
                      </a:rPr>
                      <m:t>{</m:t>
                    </m:r>
                    <m:r>
                      <a:rPr lang="en-US" altLang="zh-CN" sz="1200" i="1">
                        <a:latin typeface="Cambria Math" panose="02040503050406030204" pitchFamily="18" charset="0"/>
                        <a:cs typeface="MV Boli" panose="02000500030200090000" pitchFamily="2" charset="0"/>
                      </a:rPr>
                      <m:t>𝑛</m:t>
                    </m:r>
                    <m:r>
                      <a:rPr lang="en-US" altLang="zh-CN" sz="1200" i="1">
                        <a:latin typeface="Cambria Math" panose="02040503050406030204" pitchFamily="18" charset="0"/>
                        <a:cs typeface="MV Boli" panose="02000500030200090000" pitchFamily="2" charset="0"/>
                      </a:rPr>
                      <m:t>+1</m:t>
                    </m:r>
                    <m:r>
                      <a:rPr lang="en-US" altLang="zh-CN" sz="1200">
                        <a:latin typeface="Cambria Math" panose="02040503050406030204" pitchFamily="18" charset="0"/>
                        <a:cs typeface="MV Boli" panose="02000500030200090000" pitchFamily="2" charset="0"/>
                      </a:rPr>
                      <m:t>}</m:t>
                    </m:r>
                  </m:oMath>
                </a14:m>
                <a:endParaRPr lang="zh-CN" altLang="en-US" sz="1200" dirty="0"/>
              </a:p>
            </p:txBody>
          </p:sp>
        </mc:Choice>
        <mc:Fallback xmlns="">
          <p:sp>
            <p:nvSpPr>
              <p:cNvPr id="30" name="矩形 29"/>
              <p:cNvSpPr>
                <a:spLocks noRot="1" noChangeAspect="1" noMove="1" noResize="1" noEditPoints="1" noAdjustHandles="1" noChangeArrowheads="1" noChangeShapeType="1" noTextEdit="1"/>
              </p:cNvSpPr>
              <p:nvPr/>
            </p:nvSpPr>
            <p:spPr>
              <a:xfrm>
                <a:off x="4176181" y="4185333"/>
                <a:ext cx="1893916" cy="276999"/>
              </a:xfrm>
              <a:prstGeom prst="rect">
                <a:avLst/>
              </a:prstGeom>
              <a:blipFill>
                <a:blip r:embed="rId13"/>
                <a:stretch>
                  <a:fillRect t="-4444" b="-1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5791413" y="4668129"/>
                <a:ext cx="1215333" cy="3534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𝜏</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ℱ</m:t>
                              </m:r>
                            </m:e>
                            <m:sub>
                              <m:r>
                                <a:rPr lang="zh-CN" altLang="en-US" sz="1600" i="1">
                                  <a:latin typeface="Cambria Math" panose="02040503050406030204" pitchFamily="18" charset="0"/>
                                </a:rPr>
                                <m:t>𝑖</m:t>
                              </m:r>
                            </m:sub>
                          </m:sSub>
                        </m:e>
                        <m:sup>
                          <m:r>
                            <a:rPr lang="zh-CN" altLang="en-US" sz="1600" i="1">
                              <a:latin typeface="Cambria Math" panose="02040503050406030204" pitchFamily="18" charset="0"/>
                            </a:rPr>
                            <m:t>𝑇</m:t>
                          </m:r>
                        </m:sup>
                      </m:sSup>
                      <m:sSub>
                        <m:sSubPr>
                          <m:ctrlPr>
                            <a:rPr lang="zh-CN" altLang="en-US" sz="1600" i="1">
                              <a:latin typeface="Cambria Math" panose="02040503050406030204" pitchFamily="18" charset="0"/>
                            </a:rPr>
                          </m:ctrlPr>
                        </m:sSubPr>
                        <m:e>
                          <m:r>
                            <a:rPr lang="zh-CN" altLang="en-US" sz="1600" i="0">
                              <a:latin typeface="Cambria Math" panose="02040503050406030204" pitchFamily="18" charset="0"/>
                            </a:rPr>
                            <m:t>𝒜</m:t>
                          </m:r>
                        </m:e>
                        <m:sub>
                          <m:r>
                            <a:rPr lang="zh-CN" altLang="en-US" sz="1600" i="1">
                              <a:latin typeface="Cambria Math" panose="02040503050406030204" pitchFamily="18" charset="0"/>
                            </a:rPr>
                            <m:t>𝑖</m:t>
                          </m:r>
                        </m:sub>
                      </m:sSub>
                    </m:oMath>
                  </m:oMathPara>
                </a14:m>
                <a:endParaRPr lang="zh-CN" altLang="en-US" sz="1600" dirty="0"/>
              </a:p>
            </p:txBody>
          </p:sp>
        </mc:Choice>
        <mc:Fallback xmlns="">
          <p:sp>
            <p:nvSpPr>
              <p:cNvPr id="31" name="矩形 30"/>
              <p:cNvSpPr>
                <a:spLocks noRot="1" noChangeAspect="1" noMove="1" noResize="1" noEditPoints="1" noAdjustHandles="1" noChangeArrowheads="1" noChangeShapeType="1" noTextEdit="1"/>
              </p:cNvSpPr>
              <p:nvPr/>
            </p:nvSpPr>
            <p:spPr>
              <a:xfrm>
                <a:off x="5791413" y="4668129"/>
                <a:ext cx="1215333" cy="353495"/>
              </a:xfrm>
              <a:prstGeom prst="rect">
                <a:avLst/>
              </a:prstGeom>
              <a:blipFill>
                <a:blip r:embed="rId14"/>
                <a:stretch>
                  <a:fillRect/>
                </a:stretch>
              </a:blipFill>
            </p:spPr>
            <p:txBody>
              <a:bodyPr/>
              <a:lstStyle/>
              <a:p>
                <a:r>
                  <a:rPr lang="zh-CN" altLang="en-US">
                    <a:noFill/>
                  </a:rPr>
                  <a:t> </a:t>
                </a:r>
              </a:p>
            </p:txBody>
          </p:sp>
        </mc:Fallback>
      </mc:AlternateContent>
      <p:sp>
        <p:nvSpPr>
          <p:cNvPr id="32" name="矩形 31"/>
          <p:cNvSpPr/>
          <p:nvPr/>
        </p:nvSpPr>
        <p:spPr>
          <a:xfrm>
            <a:off x="3890310" y="4690989"/>
            <a:ext cx="1620957" cy="307777"/>
          </a:xfrm>
          <a:prstGeom prst="rect">
            <a:avLst/>
          </a:prstGeom>
        </p:spPr>
        <p:txBody>
          <a:bodyPr wrap="none">
            <a:spAutoFit/>
          </a:bodyPr>
          <a:lstStyle/>
          <a:p>
            <a:r>
              <a:rPr lang="zh-CN" altLang="zh-CN" sz="1400" dirty="0">
                <a:solidFill>
                  <a:srgbClr val="002060"/>
                </a:solidFill>
                <a:cs typeface="MV Boli" panose="02000500030200090000" pitchFamily="2" charset="0"/>
              </a:rPr>
              <a:t>关节控制所需力矩</a:t>
            </a:r>
            <a:endParaRPr lang="zh-CN" altLang="en-US" sz="1400" dirty="0">
              <a:solidFill>
                <a:srgbClr val="002060"/>
              </a:solidFill>
            </a:endParaRPr>
          </a:p>
        </p:txBody>
      </p:sp>
      <p:sp>
        <p:nvSpPr>
          <p:cNvPr id="33" name="圆角矩形 32"/>
          <p:cNvSpPr/>
          <p:nvPr/>
        </p:nvSpPr>
        <p:spPr>
          <a:xfrm>
            <a:off x="5557571" y="4522930"/>
            <a:ext cx="1630320" cy="55016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16029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197727735"/>
                  </p:ext>
                </p:extLst>
              </p:nvPr>
            </p:nvGraphicFramePr>
            <p:xfrm>
              <a:off x="611560" y="1112808"/>
              <a:ext cx="4536504" cy="3691190"/>
            </p:xfrm>
            <a:graphic>
              <a:graphicData uri="http://schemas.openxmlformats.org/drawingml/2006/table">
                <a:tbl>
                  <a:tblPr>
                    <a:tableStyleId>{5C22544A-7EE6-4342-B048-85BDC9FD1C3A}</a:tableStyleId>
                  </a:tblPr>
                  <a:tblGrid>
                    <a:gridCol w="4536504">
                      <a:extLst>
                        <a:ext uri="{9D8B030D-6E8A-4147-A177-3AD203B41FA5}">
                          <a16:colId xmlns:a16="http://schemas.microsoft.com/office/drawing/2014/main" val="3217778443"/>
                        </a:ext>
                      </a:extLst>
                    </a:gridCol>
                  </a:tblGrid>
                  <a:tr h="3691190">
                    <a:tc>
                      <a:txBody>
                        <a:bodyPr/>
                        <a:lstStyle/>
                        <a:p>
                          <a:pPr algn="l">
                            <a:spcAft>
                              <a:spcPts val="0"/>
                            </a:spcAft>
                          </a:pPr>
                          <a:r>
                            <a:rPr lang="en-US" sz="1600" kern="0" dirty="0">
                              <a:effectLst/>
                            </a:rPr>
                            <a:t>inputs: </a:t>
                          </a:r>
                          <a14:m>
                            <m:oMath xmlns:m="http://schemas.openxmlformats.org/officeDocument/2006/math">
                              <m:sSub>
                                <m:sSubPr>
                                  <m:ctrlPr>
                                    <a:rPr lang="zh-CN" sz="1600" i="1" kern="0">
                                      <a:effectLst/>
                                      <a:latin typeface="Cambria Math" panose="02040503050406030204" pitchFamily="18" charset="0"/>
                                    </a:rPr>
                                  </m:ctrlPr>
                                </m:sSubPr>
                                <m:e>
                                  <m:r>
                                    <a:rPr lang="en-US" sz="1600" kern="100">
                                      <a:effectLst/>
                                      <a:latin typeface="Cambria Math" panose="02040503050406030204" pitchFamily="18" charset="0"/>
                                    </a:rPr>
                                    <m:t>𝜃</m:t>
                                  </m:r>
                                </m:e>
                                <m:sub>
                                  <m:r>
                                    <a:rPr lang="en-US" sz="1600" kern="100">
                                      <a:effectLst/>
                                      <a:latin typeface="Cambria Math" panose="02040503050406030204" pitchFamily="18" charset="0"/>
                                    </a:rPr>
                                    <m:t>𝑖</m:t>
                                  </m:r>
                                </m:sub>
                              </m:sSub>
                            </m:oMath>
                          </a14:m>
                          <a:r>
                            <a:rPr lang="en-US" sz="1600" kern="0" dirty="0">
                              <a:effectLst/>
                            </a:rPr>
                            <a:t>,</a:t>
                          </a:r>
                          <a14:m>
                            <m:oMath xmlns:m="http://schemas.openxmlformats.org/officeDocument/2006/math">
                              <m:sSub>
                                <m:sSubPr>
                                  <m:ctrlPr>
                                    <a:rPr lang="zh-CN" sz="1600" i="1" kern="0">
                                      <a:effectLst/>
                                      <a:latin typeface="Cambria Math" panose="02040503050406030204" pitchFamily="18" charset="0"/>
                                    </a:rPr>
                                  </m:ctrlPr>
                                </m:sSubPr>
                                <m:e>
                                  <m:acc>
                                    <m:accPr>
                                      <m:chr m:val="̇"/>
                                      <m:ctrlPr>
                                        <a:rPr lang="zh-CN" sz="1600" i="1" kern="0">
                                          <a:effectLst/>
                                          <a:latin typeface="Cambria Math" panose="02040503050406030204" pitchFamily="18" charset="0"/>
                                        </a:rPr>
                                      </m:ctrlPr>
                                    </m:accPr>
                                    <m:e>
                                      <m:r>
                                        <a:rPr lang="en-US" sz="1600" kern="100">
                                          <a:effectLst/>
                                          <a:latin typeface="Cambria Math" panose="02040503050406030204" pitchFamily="18" charset="0"/>
                                        </a:rPr>
                                        <m:t>𝜃</m:t>
                                      </m:r>
                                    </m:e>
                                  </m:acc>
                                </m:e>
                                <m:sub>
                                  <m:r>
                                    <a:rPr lang="en-US" sz="1600" kern="100">
                                      <a:effectLst/>
                                      <a:latin typeface="Cambria Math" panose="02040503050406030204" pitchFamily="18" charset="0"/>
                                    </a:rPr>
                                    <m:t>𝑖</m:t>
                                  </m:r>
                                </m:sub>
                              </m:sSub>
                            </m:oMath>
                          </a14:m>
                          <a:r>
                            <a:rPr lang="en-US" sz="1600" kern="0" dirty="0">
                              <a:effectLst/>
                            </a:rPr>
                            <a:t>,</a:t>
                          </a:r>
                          <a14:m>
                            <m:oMath xmlns:m="http://schemas.openxmlformats.org/officeDocument/2006/math">
                              <m:r>
                                <a:rPr lang="en-US" sz="1600" kern="0">
                                  <a:effectLst/>
                                  <a:latin typeface="Cambria Math" panose="02040503050406030204" pitchFamily="18" charset="0"/>
                                </a:rPr>
                                <m:t> </m:t>
                              </m:r>
                              <m:sSub>
                                <m:sSubPr>
                                  <m:ctrlPr>
                                    <a:rPr lang="zh-CN" sz="1600" i="1" kern="0">
                                      <a:effectLst/>
                                      <a:latin typeface="Cambria Math" panose="02040503050406030204" pitchFamily="18" charset="0"/>
                                    </a:rPr>
                                  </m:ctrlPr>
                                </m:sSubPr>
                                <m:e>
                                  <m:acc>
                                    <m:accPr>
                                      <m:chr m:val="̈"/>
                                      <m:ctrlPr>
                                        <a:rPr lang="zh-CN" sz="1600" i="1" kern="0">
                                          <a:effectLst/>
                                          <a:latin typeface="Cambria Math" panose="02040503050406030204" pitchFamily="18" charset="0"/>
                                        </a:rPr>
                                      </m:ctrlPr>
                                    </m:accPr>
                                    <m:e>
                                      <m:r>
                                        <a:rPr lang="en-US" sz="1600" kern="100">
                                          <a:effectLst/>
                                          <a:latin typeface="Cambria Math" panose="02040503050406030204" pitchFamily="18" charset="0"/>
                                        </a:rPr>
                                        <m:t>𝜃</m:t>
                                      </m:r>
                                    </m:e>
                                  </m:acc>
                                </m:e>
                                <m:sub>
                                  <m:r>
                                    <a:rPr lang="en-US" sz="1600" kern="100">
                                      <a:effectLst/>
                                      <a:latin typeface="Cambria Math" panose="02040503050406030204" pitchFamily="18" charset="0"/>
                                    </a:rPr>
                                    <m:t>𝑖</m:t>
                                  </m:r>
                                </m:sub>
                              </m:sSub>
                            </m:oMath>
                          </a14:m>
                          <a:r>
                            <a:rPr lang="en-US" sz="1600" kern="0" dirty="0">
                              <a:effectLst/>
                            </a:rPr>
                            <a:t>,</a:t>
                          </a:r>
                          <a14:m>
                            <m:oMath xmlns:m="http://schemas.openxmlformats.org/officeDocument/2006/math">
                              <m:sSub>
                                <m:sSubPr>
                                  <m:ctrlPr>
                                    <a:rPr lang="zh-CN" sz="1600" i="1" kern="0">
                                      <a:effectLst/>
                                      <a:latin typeface="Cambria Math" panose="02040503050406030204" pitchFamily="18" charset="0"/>
                                    </a:rPr>
                                  </m:ctrlPr>
                                </m:sSubPr>
                                <m:e>
                                  <m:r>
                                    <a:rPr lang="en-US" sz="1600" kern="0">
                                      <a:effectLst/>
                                      <a:latin typeface="Cambria Math" panose="02040503050406030204" pitchFamily="18" charset="0"/>
                                    </a:rPr>
                                    <m:t>𝓕</m:t>
                                  </m:r>
                                </m:e>
                                <m:sub>
                                  <m:r>
                                    <a:rPr lang="en-US" sz="1600" kern="0">
                                      <a:effectLst/>
                                      <a:latin typeface="Cambria Math" panose="02040503050406030204" pitchFamily="18" charset="0"/>
                                    </a:rPr>
                                    <m:t>𝒏</m:t>
                                  </m:r>
                                  <m:r>
                                    <a:rPr lang="en-US" sz="1600" kern="0">
                                      <a:effectLst/>
                                      <a:latin typeface="Cambria Math" panose="02040503050406030204" pitchFamily="18" charset="0"/>
                                    </a:rPr>
                                    <m:t>+</m:t>
                                  </m:r>
                                  <m:r>
                                    <a:rPr lang="en-US" sz="1600" kern="0">
                                      <a:effectLst/>
                                      <a:latin typeface="Cambria Math" panose="02040503050406030204" pitchFamily="18" charset="0"/>
                                    </a:rPr>
                                    <m:t>𝟏</m:t>
                                  </m:r>
                                </m:sub>
                              </m:sSub>
                            </m:oMath>
                          </a14:m>
                          <a:endParaRPr lang="zh-CN" sz="1600" kern="100" dirty="0">
                            <a:effectLst/>
                          </a:endParaRPr>
                        </a:p>
                        <a:p>
                          <a:pPr algn="l">
                            <a:spcAft>
                              <a:spcPts val="0"/>
                            </a:spcAft>
                          </a:pPr>
                          <a:r>
                            <a:rPr lang="en-US" sz="1600" kern="0" dirty="0">
                              <a:effectLst/>
                            </a:rPr>
                            <a:t>output: τ</a:t>
                          </a:r>
                          <a:endParaRPr lang="zh-CN" sz="1600" kern="100" dirty="0">
                            <a:effectLst/>
                          </a:endParaRPr>
                        </a:p>
                        <a:p>
                          <a:pPr algn="l">
                            <a:spcAft>
                              <a:spcPts val="0"/>
                            </a:spcAft>
                          </a:pPr>
                          <a14:m>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𝒱</m:t>
                                  </m:r>
                                </m:e>
                                <m:sub>
                                  <m:r>
                                    <a:rPr lang="en-US" sz="1600" kern="100">
                                      <a:effectLst/>
                                      <a:latin typeface="Cambria Math" panose="02040503050406030204" pitchFamily="18" charset="0"/>
                                    </a:rPr>
                                    <m:t>0</m:t>
                                  </m:r>
                                </m:sub>
                              </m:sSub>
                            </m:oMath>
                          </a14:m>
                          <a:r>
                            <a:rPr lang="en-US" sz="1600" kern="0" dirty="0">
                              <a:effectLst/>
                            </a:rPr>
                            <a:t> = 0</a:t>
                          </a:r>
                          <a:endParaRPr lang="zh-CN" sz="1600" kern="100" dirty="0">
                            <a:effectLst/>
                          </a:endParaRPr>
                        </a:p>
                        <a:p>
                          <a:pPr algn="l">
                            <a:spcAft>
                              <a:spcPts val="0"/>
                            </a:spcAft>
                          </a:pPr>
                          <a14:m>
                            <m:oMath xmlns:m="http://schemas.openxmlformats.org/officeDocument/2006/math">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𝒱</m:t>
                                      </m:r>
                                    </m:e>
                                  </m:acc>
                                </m:e>
                                <m:sub>
                                  <m:r>
                                    <a:rPr lang="en-US" sz="1600" kern="100">
                                      <a:effectLst/>
                                      <a:latin typeface="Cambria Math" panose="02040503050406030204" pitchFamily="18" charset="0"/>
                                    </a:rPr>
                                    <m:t>0</m:t>
                                  </m:r>
                                </m:sub>
                              </m:sSub>
                            </m:oMath>
                          </a14:m>
                          <a:r>
                            <a:rPr lang="en-US" sz="1600" kern="0" dirty="0">
                              <a:effectLst/>
                            </a:rPr>
                            <a:t> = </a:t>
                          </a:r>
                          <a14:m>
                            <m:oMath xmlns:m="http://schemas.openxmlformats.org/officeDocument/2006/math">
                              <m:d>
                                <m:dPr>
                                  <m:ctrlPr>
                                    <a:rPr lang="zh-CN" sz="1600" i="1" kern="0">
                                      <a:effectLst/>
                                      <a:latin typeface="Cambria Math" panose="02040503050406030204" pitchFamily="18" charset="0"/>
                                    </a:rPr>
                                  </m:ctrlPr>
                                </m:dPr>
                                <m:e>
                                  <m:sSub>
                                    <m:sSubPr>
                                      <m:ctrlPr>
                                        <a:rPr lang="zh-CN" sz="1600" i="1" kern="0">
                                          <a:effectLst/>
                                          <a:latin typeface="Cambria Math" panose="02040503050406030204" pitchFamily="18" charset="0"/>
                                        </a:rPr>
                                      </m:ctrlPr>
                                    </m:sSubPr>
                                    <m:e>
                                      <m:acc>
                                        <m:accPr>
                                          <m:chr m:val="̇"/>
                                          <m:ctrlPr>
                                            <a:rPr lang="zh-CN" sz="1600" i="1" kern="0">
                                              <a:effectLst/>
                                              <a:latin typeface="Cambria Math" panose="02040503050406030204" pitchFamily="18" charset="0"/>
                                            </a:rPr>
                                          </m:ctrlPr>
                                        </m:accPr>
                                        <m:e>
                                          <m:r>
                                            <a:rPr lang="en-US" sz="1600" kern="0">
                                              <a:effectLst/>
                                              <a:latin typeface="Cambria Math" panose="02040503050406030204" pitchFamily="18" charset="0"/>
                                            </a:rPr>
                                            <m:t>𝜔</m:t>
                                          </m:r>
                                        </m:e>
                                      </m:acc>
                                    </m:e>
                                    <m:sub>
                                      <m:r>
                                        <a:rPr lang="en-US" sz="1600" kern="0">
                                          <a:effectLst/>
                                          <a:latin typeface="Cambria Math" panose="02040503050406030204" pitchFamily="18" charset="0"/>
                                        </a:rPr>
                                        <m:t>0</m:t>
                                      </m:r>
                                    </m:sub>
                                  </m:sSub>
                                  <m:r>
                                    <a:rPr lang="en-US" sz="1600" kern="0">
                                      <a:effectLst/>
                                      <a:latin typeface="Cambria Math" panose="02040503050406030204" pitchFamily="18" charset="0"/>
                                    </a:rPr>
                                    <m:t>,</m:t>
                                  </m:r>
                                  <m:sSub>
                                    <m:sSubPr>
                                      <m:ctrlPr>
                                        <a:rPr lang="zh-CN" sz="1600" i="1" kern="0">
                                          <a:effectLst/>
                                          <a:latin typeface="Cambria Math" panose="02040503050406030204" pitchFamily="18" charset="0"/>
                                        </a:rPr>
                                      </m:ctrlPr>
                                    </m:sSubPr>
                                    <m:e>
                                      <m:acc>
                                        <m:accPr>
                                          <m:chr m:val="̇"/>
                                          <m:ctrlPr>
                                            <a:rPr lang="zh-CN" sz="1600" i="1" kern="0">
                                              <a:effectLst/>
                                              <a:latin typeface="Cambria Math" panose="02040503050406030204" pitchFamily="18" charset="0"/>
                                            </a:rPr>
                                          </m:ctrlPr>
                                        </m:accPr>
                                        <m:e>
                                          <m:r>
                                            <a:rPr lang="en-US" sz="1600" kern="0">
                                              <a:effectLst/>
                                              <a:latin typeface="Cambria Math" panose="02040503050406030204" pitchFamily="18" charset="0"/>
                                            </a:rPr>
                                            <m:t>𝑣</m:t>
                                          </m:r>
                                        </m:e>
                                      </m:acc>
                                    </m:e>
                                    <m:sub>
                                      <m:r>
                                        <a:rPr lang="en-US" sz="1600" kern="0">
                                          <a:effectLst/>
                                          <a:latin typeface="Cambria Math" panose="02040503050406030204" pitchFamily="18" charset="0"/>
                                        </a:rPr>
                                        <m:t>0</m:t>
                                      </m:r>
                                    </m:sub>
                                  </m:sSub>
                                </m:e>
                              </m:d>
                            </m:oMath>
                          </a14:m>
                          <a:r>
                            <a:rPr lang="en-US" sz="1600" kern="0" dirty="0">
                              <a:effectLst/>
                            </a:rPr>
                            <a:t> = (0,-g)</a:t>
                          </a:r>
                          <a:endParaRPr lang="zh-CN" sz="1600" kern="100" dirty="0">
                            <a:effectLst/>
                          </a:endParaRPr>
                        </a:p>
                        <a:p>
                          <a:pPr algn="l">
                            <a:spcAft>
                              <a:spcPts val="0"/>
                            </a:spcAft>
                          </a:pPr>
                          <a:r>
                            <a:rPr lang="en-US" sz="1600" kern="0" dirty="0">
                              <a:effectLst/>
                            </a:rPr>
                            <a:t>for </a:t>
                          </a:r>
                          <a:r>
                            <a:rPr lang="en-US" sz="1600" kern="0" dirty="0" err="1">
                              <a:effectLst/>
                            </a:rPr>
                            <a:t>i</a:t>
                          </a:r>
                          <a:r>
                            <a:rPr lang="en-US" sz="1600" kern="0" dirty="0">
                              <a:effectLst/>
                            </a:rPr>
                            <a:t>=1 to </a:t>
                          </a:r>
                          <a14:m>
                            <m:oMath xmlns:m="http://schemas.openxmlformats.org/officeDocument/2006/math">
                              <m:r>
                                <a:rPr lang="en-US" sz="1600" kern="0">
                                  <a:effectLst/>
                                  <a:latin typeface="Cambria Math" panose="02040503050406030204" pitchFamily="18" charset="0"/>
                                </a:rPr>
                                <m:t>𝑛</m:t>
                              </m:r>
                            </m:oMath>
                          </a14:m>
                          <a:r>
                            <a:rPr lang="en-US" sz="1600" kern="0" dirty="0">
                              <a:effectLst/>
                            </a:rPr>
                            <a:t> do</a:t>
                          </a:r>
                          <a:endParaRPr lang="zh-CN" sz="1600" kern="100" dirty="0">
                            <a:effectLst/>
                          </a:endParaRPr>
                        </a:p>
                        <a:p>
                          <a:pPr>
                            <a:spcBef>
                              <a:spcPts val="600"/>
                            </a:spcBef>
                            <a:spcAft>
                              <a:spcPts val="600"/>
                            </a:spcAft>
                          </a:pPr>
                          <a:r>
                            <a:rPr lang="en-US" sz="1600" kern="100" dirty="0">
                              <a:effectLst/>
                            </a:rPr>
                            <a:t>    </a:t>
                          </a:r>
                          <a14:m>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𝑇</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 </m:t>
                                  </m:r>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d>
                                <m:dPr>
                                  <m:ctrlPr>
                                    <a:rPr lang="zh-CN" sz="1600" i="1" kern="100">
                                      <a:effectLst/>
                                      <a:latin typeface="Cambria Math" panose="02040503050406030204" pitchFamily="18" charset="0"/>
                                    </a:rPr>
                                  </m:ctrlPr>
                                </m:dPr>
                                <m:e>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𝜃</m:t>
                                      </m:r>
                                    </m:e>
                                    <m:sub>
                                      <m:r>
                                        <a:rPr lang="en-US" sz="1600" kern="100">
                                          <a:effectLst/>
                                          <a:latin typeface="Cambria Math" panose="02040503050406030204" pitchFamily="18" charset="0"/>
                                        </a:rPr>
                                        <m:t>𝑖</m:t>
                                      </m:r>
                                    </m:sub>
                                  </m:sSub>
                                </m:e>
                              </m:d>
                              <m:r>
                                <a:rPr lang="en-US" sz="1600" kern="100">
                                  <a:effectLst/>
                                  <a:latin typeface="Cambria Math" panose="02040503050406030204" pitchFamily="18" charset="0"/>
                                </a:rPr>
                                <m:t>=</m:t>
                              </m:r>
                              <m:sSup>
                                <m:sSupPr>
                                  <m:ctrlPr>
                                    <a:rPr lang="zh-CN" sz="1600" i="1" kern="100">
                                      <a:effectLst/>
                                      <a:latin typeface="Cambria Math" panose="02040503050406030204" pitchFamily="18" charset="0"/>
                                    </a:rPr>
                                  </m:ctrlPr>
                                </m:sSupPr>
                                <m:e>
                                  <m:r>
                                    <a:rPr lang="en-US" sz="1600" kern="100">
                                      <a:effectLst/>
                                      <a:latin typeface="Cambria Math" panose="02040503050406030204" pitchFamily="18" charset="0"/>
                                    </a:rPr>
                                    <m:t>𝑒</m:t>
                                  </m:r>
                                </m:e>
                                <m:sup>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𝒜</m:t>
                                      </m:r>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𝜃</m:t>
                                      </m:r>
                                    </m:e>
                                    <m:sub>
                                      <m:r>
                                        <a:rPr lang="en-US" sz="1600" kern="100">
                                          <a:effectLst/>
                                          <a:latin typeface="Cambria Math" panose="02040503050406030204" pitchFamily="18" charset="0"/>
                                        </a:rPr>
                                        <m:t>𝑖</m:t>
                                      </m:r>
                                    </m:sub>
                                  </m:sSub>
                                </m:sup>
                              </m:sSup>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𝑀</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m:t>
                                  </m:r>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oMath>
                          </a14:m>
                          <a:endParaRPr lang="zh-CN" sz="1600" kern="100" dirty="0">
                            <a:effectLst/>
                          </a:endParaRPr>
                        </a:p>
                        <a:p>
                          <a:pPr algn="l">
                            <a:spcAft>
                              <a:spcPts val="0"/>
                            </a:spcAft>
                          </a:pPr>
                          <a:r>
                            <a:rPr lang="en-US" sz="1600" kern="0" dirty="0">
                              <a:effectLst/>
                            </a:rPr>
                            <a:t>    </a:t>
                          </a:r>
                          <a14:m>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Ѵ</m:t>
                                  </m:r>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𝒜</m:t>
                                  </m:r>
                                </m:e>
                                <m:sub>
                                  <m:r>
                                    <a:rPr lang="en-US" sz="1600" kern="100">
                                      <a:effectLst/>
                                      <a:latin typeface="Cambria Math" panose="02040503050406030204" pitchFamily="18" charset="0"/>
                                    </a:rPr>
                                    <m:t>𝑖</m:t>
                                  </m:r>
                                </m:sub>
                              </m:sSub>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𝜃</m:t>
                                      </m:r>
                                    </m:e>
                                  </m:acc>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r>
                                <a:rPr lang="en-US" sz="1600" kern="100">
                                  <a:effectLst/>
                                  <a:latin typeface="Cambria Math" panose="02040503050406030204" pitchFamily="18" charset="0"/>
                                </a:rPr>
                                <m:t>𝐴</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𝑑</m:t>
                                  </m:r>
                                </m:e>
                                <m: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𝑇</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  </m:t>
                                      </m:r>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Ѵ</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oMath>
                          </a14:m>
                          <a:endParaRPr lang="zh-CN" sz="1600" kern="100" dirty="0">
                            <a:effectLst/>
                          </a:endParaRPr>
                        </a:p>
                        <a:p>
                          <a:pPr algn="l">
                            <a:spcAft>
                              <a:spcPts val="0"/>
                            </a:spcAft>
                          </a:pPr>
                          <a:r>
                            <a:rPr lang="en-US" sz="1600" kern="0" dirty="0">
                              <a:effectLst/>
                            </a:rPr>
                            <a:t>    </a:t>
                          </a:r>
                          <a14:m>
                            <m:oMath xmlns:m="http://schemas.openxmlformats.org/officeDocument/2006/math">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Ѵ</m:t>
                                      </m:r>
                                    </m:e>
                                  </m:acc>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𝒜</m:t>
                                  </m:r>
                                </m:e>
                                <m:sub>
                                  <m:r>
                                    <a:rPr lang="en-US" sz="1600" kern="100">
                                      <a:effectLst/>
                                      <a:latin typeface="Cambria Math" panose="02040503050406030204" pitchFamily="18" charset="0"/>
                                    </a:rPr>
                                    <m:t>𝑖</m:t>
                                  </m:r>
                                </m:sub>
                              </m:sSub>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𝜃</m:t>
                                      </m:r>
                                    </m:e>
                                  </m:acc>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d>
                                <m:dPr>
                                  <m:begChr m:val="["/>
                                  <m:endChr m:val="]"/>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𝑎</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𝑑</m:t>
                                      </m:r>
                                    </m:e>
                                    <m: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Ѵ</m:t>
                                          </m:r>
                                        </m:e>
                                        <m:sub>
                                          <m:r>
                                            <a:rPr lang="en-US" sz="1600" kern="100">
                                              <a:effectLst/>
                                              <a:latin typeface="Cambria Math" panose="02040503050406030204" pitchFamily="18" charset="0"/>
                                            </a:rPr>
                                            <m:t>𝑖</m:t>
                                          </m:r>
                                        </m:sub>
                                      </m:sSub>
                                    </m:sub>
                                  </m:sSub>
                                </m:e>
                              </m:d>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𝒜</m:t>
                                  </m:r>
                                </m:e>
                                <m:sub>
                                  <m:r>
                                    <a:rPr lang="en-US" sz="1600" kern="100">
                                      <a:effectLst/>
                                      <a:latin typeface="Cambria Math" panose="02040503050406030204" pitchFamily="18" charset="0"/>
                                    </a:rPr>
                                    <m:t>𝑖</m:t>
                                  </m:r>
                                </m:sub>
                              </m:sSub>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𝜃</m:t>
                                      </m:r>
                                    </m:e>
                                  </m:acc>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d>
                                <m:dPr>
                                  <m:begChr m:val="["/>
                                  <m:endChr m:val="]"/>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𝑎</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𝑑</m:t>
                                      </m:r>
                                    </m:e>
                                    <m: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𝑇</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  </m:t>
                                          </m:r>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sub>
                                  </m:sSub>
                                </m:e>
                              </m:d>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Ѵ</m:t>
                                      </m:r>
                                    </m:e>
                                  </m:acc>
                                </m:e>
                                <m:sub>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oMath>
                          </a14:m>
                          <a:endParaRPr lang="zh-CN" sz="1600" kern="100" dirty="0">
                            <a:effectLst/>
                          </a:endParaRPr>
                        </a:p>
                        <a:p>
                          <a:pPr algn="l">
                            <a:spcAft>
                              <a:spcPts val="0"/>
                            </a:spcAft>
                          </a:pPr>
                          <a:r>
                            <a:rPr lang="en-US" sz="1600" kern="0" dirty="0">
                              <a:effectLst/>
                            </a:rPr>
                            <a:t>end</a:t>
                          </a:r>
                          <a:endParaRPr lang="zh-CN" sz="1600" kern="100" dirty="0">
                            <a:effectLst/>
                          </a:endParaRPr>
                        </a:p>
                        <a:p>
                          <a:pPr algn="l">
                            <a:spcAft>
                              <a:spcPts val="0"/>
                            </a:spcAft>
                          </a:pPr>
                          <a:r>
                            <a:rPr lang="en-US" sz="1600" kern="0" dirty="0">
                              <a:effectLst/>
                            </a:rPr>
                            <a:t>for </a:t>
                          </a:r>
                          <a:r>
                            <a:rPr lang="en-US" sz="1600" kern="0" dirty="0" err="1">
                              <a:effectLst/>
                            </a:rPr>
                            <a:t>i</a:t>
                          </a:r>
                          <a:r>
                            <a:rPr lang="en-US" sz="1600" kern="0" dirty="0">
                              <a:effectLst/>
                            </a:rPr>
                            <a:t> =  </a:t>
                          </a:r>
                          <a14:m>
                            <m:oMath xmlns:m="http://schemas.openxmlformats.org/officeDocument/2006/math">
                              <m:r>
                                <a:rPr lang="en-US" sz="1600" kern="0">
                                  <a:effectLst/>
                                  <a:latin typeface="Cambria Math" panose="02040503050406030204" pitchFamily="18" charset="0"/>
                                </a:rPr>
                                <m:t>𝑛</m:t>
                              </m:r>
                            </m:oMath>
                          </a14:m>
                          <a:r>
                            <a:rPr lang="en-US" sz="1600" kern="0" dirty="0">
                              <a:effectLst/>
                            </a:rPr>
                            <a:t> to 1 do</a:t>
                          </a:r>
                          <a:endParaRPr lang="zh-CN" sz="1600" kern="100" dirty="0">
                            <a:effectLst/>
                          </a:endParaRPr>
                        </a:p>
                        <a:p>
                          <a:pPr algn="l">
                            <a:spcAft>
                              <a:spcPts val="0"/>
                            </a:spcAft>
                          </a:pPr>
                          <a:r>
                            <a:rPr lang="en-US" sz="1600" kern="0" dirty="0">
                              <a:effectLst/>
                            </a:rPr>
                            <a:t>    </a:t>
                          </a:r>
                          <a14:m>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ℱ</m:t>
                                  </m:r>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ℊ</m:t>
                                  </m:r>
                                </m:e>
                                <m:sub>
                                  <m:r>
                                    <a:rPr lang="en-US" sz="1600" kern="100">
                                      <a:effectLst/>
                                      <a:latin typeface="Cambria Math" panose="02040503050406030204" pitchFamily="18" charset="0"/>
                                    </a:rPr>
                                    <m:t>𝑖</m:t>
                                  </m:r>
                                </m:sub>
                              </m:sSub>
                              <m:sSub>
                                <m:sSubPr>
                                  <m:ctrlPr>
                                    <a:rPr lang="zh-CN" sz="1600" i="1" kern="100">
                                      <a:effectLst/>
                                      <a:latin typeface="Cambria Math" panose="02040503050406030204" pitchFamily="18" charset="0"/>
                                    </a:rPr>
                                  </m:ctrlPr>
                                </m:sSubPr>
                                <m:e>
                                  <m:acc>
                                    <m:accPr>
                                      <m:chr m:val="̇"/>
                                      <m:ctrlPr>
                                        <a:rPr lang="zh-CN" sz="1600" i="1" kern="100">
                                          <a:effectLst/>
                                          <a:latin typeface="Cambria Math" panose="02040503050406030204" pitchFamily="18" charset="0"/>
                                        </a:rPr>
                                      </m:ctrlPr>
                                    </m:accPr>
                                    <m:e>
                                      <m:r>
                                        <a:rPr lang="en-US" sz="1600" kern="100">
                                          <a:effectLst/>
                                          <a:latin typeface="Cambria Math" panose="02040503050406030204" pitchFamily="18" charset="0"/>
                                        </a:rPr>
                                        <m:t>Ѵ</m:t>
                                      </m:r>
                                    </m:e>
                                  </m:acc>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p>
                                <m:sSupPr>
                                  <m:ctrlPr>
                                    <a:rPr lang="zh-CN" sz="1600" i="1" kern="100">
                                      <a:effectLst/>
                                      <a:latin typeface="Cambria Math" panose="02040503050406030204" pitchFamily="18" charset="0"/>
                                    </a:rPr>
                                  </m:ctrlPr>
                                </m:sSupPr>
                                <m:e>
                                  <m:d>
                                    <m:dPr>
                                      <m:begChr m:val="["/>
                                      <m:endChr m:val="]"/>
                                      <m:ctrlPr>
                                        <a:rPr lang="zh-CN" sz="1600" i="1" kern="100">
                                          <a:effectLst/>
                                          <a:latin typeface="Cambria Math" panose="02040503050406030204" pitchFamily="18" charset="0"/>
                                        </a:rPr>
                                      </m:ctrlPr>
                                    </m:dPr>
                                    <m:e>
                                      <m:r>
                                        <m:rPr>
                                          <m:sty m:val="p"/>
                                        </m:rPr>
                                        <a:rPr lang="en-US" sz="1600" kern="100">
                                          <a:effectLst/>
                                          <a:latin typeface="Cambria Math" panose="02040503050406030204" pitchFamily="18" charset="0"/>
                                        </a:rPr>
                                        <m:t>a</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𝑑</m:t>
                                          </m:r>
                                        </m:e>
                                        <m: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Ѵ</m:t>
                                              </m:r>
                                            </m:e>
                                            <m:sub>
                                              <m:r>
                                                <a:rPr lang="en-US" sz="1600" kern="100">
                                                  <a:effectLst/>
                                                  <a:latin typeface="Cambria Math" panose="02040503050406030204" pitchFamily="18" charset="0"/>
                                                </a:rPr>
                                                <m:t>𝑖</m:t>
                                              </m:r>
                                            </m:sub>
                                          </m:sSub>
                                        </m:sub>
                                      </m:sSub>
                                    </m:e>
                                  </m:d>
                                </m:e>
                                <m:sup>
                                  <m:r>
                                    <a:rPr lang="en-US" sz="1600" kern="100">
                                      <a:effectLst/>
                                      <a:latin typeface="Cambria Math" panose="02040503050406030204" pitchFamily="18" charset="0"/>
                                    </a:rPr>
                                    <m:t>𝑇</m:t>
                                  </m:r>
                                </m:sup>
                              </m:sSup>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ℊ</m:t>
                                  </m:r>
                                </m:e>
                                <m:sub>
                                  <m:r>
                                    <a:rPr lang="en-US" sz="1600" kern="100">
                                      <a:effectLst/>
                                      <a:latin typeface="Cambria Math" panose="02040503050406030204" pitchFamily="18" charset="0"/>
                                    </a:rPr>
                                    <m:t>𝑖</m:t>
                                  </m:r>
                                </m:sub>
                              </m:s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Ѵ</m:t>
                                  </m:r>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p>
                                <m:sSupPr>
                                  <m:ctrlPr>
                                    <a:rPr lang="zh-CN" sz="1600" i="1" kern="100">
                                      <a:effectLst/>
                                      <a:latin typeface="Cambria Math" panose="02040503050406030204" pitchFamily="18" charset="0"/>
                                    </a:rPr>
                                  </m:ctrlPr>
                                </m:sSupPr>
                                <m:e>
                                  <m:d>
                                    <m:dPr>
                                      <m:begChr m:val="["/>
                                      <m:endChr m:val="]"/>
                                      <m:ctrlPr>
                                        <a:rPr lang="zh-CN" sz="1600" i="1" kern="100">
                                          <a:effectLst/>
                                          <a:latin typeface="Cambria Math" panose="02040503050406030204" pitchFamily="18" charset="0"/>
                                        </a:rPr>
                                      </m:ctrlPr>
                                    </m:dPr>
                                    <m:e>
                                      <m:r>
                                        <a:rPr lang="en-US" sz="1600" kern="100">
                                          <a:effectLst/>
                                          <a:latin typeface="Cambria Math" panose="02040503050406030204" pitchFamily="18" charset="0"/>
                                        </a:rPr>
                                        <m:t>𝐴</m:t>
                                      </m:r>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𝑑</m:t>
                                          </m:r>
                                        </m:e>
                                        <m:sub>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𝑇</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+1,  </m:t>
                                              </m:r>
                                              <m:r>
                                                <a:rPr lang="en-US" sz="1600" kern="100">
                                                  <a:effectLst/>
                                                  <a:latin typeface="Cambria Math" panose="02040503050406030204" pitchFamily="18" charset="0"/>
                                                </a:rPr>
                                                <m:t>𝑖</m:t>
                                              </m:r>
                                            </m:sub>
                                          </m:sSub>
                                        </m:sub>
                                      </m:sSub>
                                    </m:e>
                                  </m:d>
                                </m:e>
                                <m:sup>
                                  <m:r>
                                    <a:rPr lang="en-US" sz="1600" kern="100">
                                      <a:effectLst/>
                                      <a:latin typeface="Cambria Math" panose="02040503050406030204" pitchFamily="18" charset="0"/>
                                    </a:rPr>
                                    <m:t>𝑇</m:t>
                                  </m:r>
                                </m:sup>
                              </m:sSup>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ℱ</m:t>
                                  </m:r>
                                </m:e>
                                <m:sub>
                                  <m:r>
                                    <a:rPr lang="en-US" sz="1600" kern="100">
                                      <a:effectLst/>
                                      <a:latin typeface="Cambria Math" panose="02040503050406030204" pitchFamily="18" charset="0"/>
                                    </a:rPr>
                                    <m:t>𝑖</m:t>
                                  </m:r>
                                  <m:r>
                                    <a:rPr lang="en-US" sz="1600" kern="100">
                                      <a:effectLst/>
                                      <a:latin typeface="Cambria Math" panose="02040503050406030204" pitchFamily="18" charset="0"/>
                                    </a:rPr>
                                    <m:t>+1</m:t>
                                  </m:r>
                                </m:sub>
                              </m:sSub>
                            </m:oMath>
                          </a14:m>
                          <a:endParaRPr lang="zh-CN" sz="1600" kern="100" dirty="0">
                            <a:effectLst/>
                          </a:endParaRPr>
                        </a:p>
                        <a:p>
                          <a:pPr algn="l">
                            <a:spcAft>
                              <a:spcPts val="0"/>
                            </a:spcAft>
                          </a:pPr>
                          <a:r>
                            <a:rPr lang="en-US" sz="1600" kern="0" dirty="0">
                              <a:effectLst/>
                            </a:rPr>
                            <a:t>    </a:t>
                          </a:r>
                          <a14:m>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𝜏</m:t>
                                  </m:r>
                                </m:e>
                                <m:sub>
                                  <m:r>
                                    <a:rPr lang="en-US" sz="1600" kern="100">
                                      <a:effectLst/>
                                      <a:latin typeface="Cambria Math" panose="02040503050406030204" pitchFamily="18" charset="0"/>
                                    </a:rPr>
                                    <m:t>𝑖</m:t>
                                  </m:r>
                                </m:sub>
                              </m:sSub>
                              <m:r>
                                <a:rPr lang="en-US" sz="1600" kern="100">
                                  <a:effectLst/>
                                  <a:latin typeface="Cambria Math" panose="02040503050406030204" pitchFamily="18" charset="0"/>
                                </a:rPr>
                                <m:t>=</m:t>
                              </m:r>
                              <m:sSup>
                                <m:sSupPr>
                                  <m:ctrlPr>
                                    <a:rPr lang="zh-CN" sz="1600" i="1" kern="100">
                                      <a:effectLst/>
                                      <a:latin typeface="Cambria Math" panose="02040503050406030204" pitchFamily="18" charset="0"/>
                                    </a:rPr>
                                  </m:ctrlPr>
                                </m:sSupPr>
                                <m:e>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ℱ</m:t>
                                      </m:r>
                                    </m:e>
                                    <m:sub>
                                      <m:r>
                                        <a:rPr lang="en-US" sz="1600" kern="100">
                                          <a:effectLst/>
                                          <a:latin typeface="Cambria Math" panose="02040503050406030204" pitchFamily="18" charset="0"/>
                                        </a:rPr>
                                        <m:t>𝑖</m:t>
                                      </m:r>
                                    </m:sub>
                                  </m:sSub>
                                </m:e>
                                <m:sup>
                                  <m:r>
                                    <a:rPr lang="en-US" sz="1600" kern="100">
                                      <a:effectLst/>
                                      <a:latin typeface="Cambria Math" panose="02040503050406030204" pitchFamily="18" charset="0"/>
                                    </a:rPr>
                                    <m:t>𝑇</m:t>
                                  </m:r>
                                </m:sup>
                              </m:sSup>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𝒜</m:t>
                                  </m:r>
                                </m:e>
                                <m:sub>
                                  <m:r>
                                    <a:rPr lang="en-US" sz="1600" kern="100">
                                      <a:effectLst/>
                                      <a:latin typeface="Cambria Math" panose="02040503050406030204" pitchFamily="18" charset="0"/>
                                    </a:rPr>
                                    <m:t>𝑖</m:t>
                                  </m:r>
                                </m:sub>
                              </m:sSub>
                            </m:oMath>
                          </a14:m>
                          <a:endParaRPr lang="zh-CN" sz="1600" kern="100" dirty="0">
                            <a:effectLst/>
                          </a:endParaRPr>
                        </a:p>
                        <a:p>
                          <a:pPr algn="l">
                            <a:spcAft>
                              <a:spcPts val="0"/>
                            </a:spcAft>
                          </a:pPr>
                          <a:r>
                            <a:rPr lang="en-US" sz="1600" kern="0" dirty="0">
                              <a:effectLst/>
                            </a:rPr>
                            <a:t>end</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28668991"/>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197727735"/>
                  </p:ext>
                </p:extLst>
              </p:nvPr>
            </p:nvGraphicFramePr>
            <p:xfrm>
              <a:off x="611560" y="1112808"/>
              <a:ext cx="4536504" cy="3691190"/>
            </p:xfrm>
            <a:graphic>
              <a:graphicData uri="http://schemas.openxmlformats.org/drawingml/2006/table">
                <a:tbl>
                  <a:tblPr>
                    <a:tableStyleId>{5C22544A-7EE6-4342-B048-85BDC9FD1C3A}</a:tableStyleId>
                  </a:tblPr>
                  <a:tblGrid>
                    <a:gridCol w="4536504">
                      <a:extLst>
                        <a:ext uri="{9D8B030D-6E8A-4147-A177-3AD203B41FA5}">
                          <a16:colId xmlns:a16="http://schemas.microsoft.com/office/drawing/2014/main" val="3217778443"/>
                        </a:ext>
                      </a:extLst>
                    </a:gridCol>
                  </a:tblGrid>
                  <a:tr h="3691190">
                    <a:tc>
                      <a:txBody>
                        <a:bodyPr/>
                        <a:lstStyle/>
                        <a:p>
                          <a:endParaRPr lang="zh-CN"/>
                        </a:p>
                      </a:txBody>
                      <a:tcPr marL="68580" marR="68580" marT="0" marB="0">
                        <a:blipFill>
                          <a:blip r:embed="rId3"/>
                          <a:stretch>
                            <a:fillRect l="-134" t="-1318" r="-268" b="-988"/>
                          </a:stretch>
                        </a:blipFill>
                      </a:tcPr>
                    </a:tc>
                    <a:extLst>
                      <a:ext uri="{0D108BD9-81ED-4DB2-BD59-A6C34878D82A}">
                        <a16:rowId xmlns:a16="http://schemas.microsoft.com/office/drawing/2014/main" val="1728668991"/>
                      </a:ext>
                    </a:extLst>
                  </a:tr>
                </a:tbl>
              </a:graphicData>
            </a:graphic>
          </p:graphicFrame>
        </mc:Fallback>
      </mc:AlternateContent>
      <p:sp>
        <p:nvSpPr>
          <p:cNvPr id="3" name="Rectangle 1"/>
          <p:cNvSpPr>
            <a:spLocks noChangeArrowheads="1"/>
          </p:cNvSpPr>
          <p:nvPr/>
        </p:nvSpPr>
        <p:spPr bwMode="auto">
          <a:xfrm>
            <a:off x="2037199" y="725551"/>
            <a:ext cx="4493538"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66700" algn="ctr"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MV Boli" panose="02000500030200090000" pitchFamily="2" charset="0"/>
              </a:rPr>
              <a:t>表</a:t>
            </a:r>
            <a:r>
              <a:rPr kumimoji="0" lang="en-US" altLang="zh-CN"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 </a:t>
            </a: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MV Boli" panose="02000500030200090000" pitchFamily="2" charset="0"/>
              </a:rPr>
              <a:t>旋量法递归牛顿欧拉逆动力学算法</a:t>
            </a:r>
            <a:endParaRPr kumimoji="0" lang="zh-CN" altLang="en-US" b="0" i="0" u="none" strike="noStrike" cap="none" normalizeH="0" baseline="0" dirty="0" smtClean="0">
              <a:ln>
                <a:noFill/>
              </a:ln>
              <a:solidFill>
                <a:schemeClr val="tx1"/>
              </a:solidFill>
              <a:effectLst/>
              <a:latin typeface="Arial" panose="020B0604020202020204" pitchFamily="34" charset="0"/>
            </a:endParaRPr>
          </a:p>
        </p:txBody>
      </p:sp>
      <p:grpSp>
        <p:nvGrpSpPr>
          <p:cNvPr id="4" name="组合 3"/>
          <p:cNvGrpSpPr/>
          <p:nvPr/>
        </p:nvGrpSpPr>
        <p:grpSpPr>
          <a:xfrm>
            <a:off x="-247650" y="207010"/>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Formulation of Twist and Wrench</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运动</a:t>
              </a:r>
              <a:r>
                <a:rPr lang="zh-CN" altLang="en-US" sz="2000" b="1" dirty="0">
                  <a:latin typeface="Arial" panose="020B0604020202020204" pitchFamily="34" charset="0"/>
                  <a:ea typeface="微软雅黑" panose="020B0503020204020204" charset="-122"/>
                  <a:sym typeface="+mn-ea"/>
                </a:rPr>
                <a:t>旋量</a:t>
              </a:r>
              <a:r>
                <a:rPr lang="en-US" altLang="zh-CN" sz="2000" b="1" dirty="0">
                  <a:latin typeface="Arial" panose="020B0604020202020204" pitchFamily="34" charset="0"/>
                  <a:ea typeface="微软雅黑" panose="020B0503020204020204" charset="-122"/>
                  <a:sym typeface="+mn-ea"/>
                </a:rPr>
                <a:t>-</a:t>
              </a:r>
              <a:r>
                <a:rPr lang="zh-CN" altLang="en-US" sz="2000" b="1" dirty="0" smtClean="0">
                  <a:latin typeface="Arial" panose="020B0604020202020204" pitchFamily="34" charset="0"/>
                  <a:ea typeface="微软雅黑" panose="020B0503020204020204" charset="-122"/>
                  <a:sym typeface="+mn-ea"/>
                </a:rPr>
                <a:t>力旋量</a:t>
              </a:r>
              <a:r>
                <a:rPr lang="zh-CN" altLang="en-US" sz="2000" b="1" dirty="0">
                  <a:latin typeface="Arial" panose="020B0604020202020204" pitchFamily="34" charset="0"/>
                  <a:ea typeface="微软雅黑" panose="020B0503020204020204" charset="-122"/>
                  <a:sym typeface="+mn-ea"/>
                </a:rPr>
                <a:t>方程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3131840" y="252382"/>
            <a:ext cx="3536546" cy="461665"/>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基于旋量法的牛顿</a:t>
            </a:r>
            <a:r>
              <a:rPr lang="en-US" altLang="zh-CN"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欧拉逆</a:t>
            </a: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动力学方程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9" name="直接连接符 8"/>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142874" y="2643758"/>
            <a:ext cx="3893622" cy="923330"/>
          </a:xfrm>
          <a:prstGeom prst="rect">
            <a:avLst/>
          </a:prstGeom>
        </p:spPr>
        <p:txBody>
          <a:bodyPr wrap="square">
            <a:spAutoFit/>
          </a:bodyPr>
          <a:lstStyle/>
          <a:p>
            <a:r>
              <a:rPr lang="zh-CN" altLang="en-US" dirty="0"/>
              <a:t>https://github.com/mhuasong/Basics-of-Robotics-Theory-and-Technology/tree/main/ch4</a:t>
            </a:r>
          </a:p>
        </p:txBody>
      </p:sp>
      <p:sp>
        <p:nvSpPr>
          <p:cNvPr id="11" name="文本框 10"/>
          <p:cNvSpPr txBox="1"/>
          <p:nvPr/>
        </p:nvSpPr>
        <p:spPr>
          <a:xfrm>
            <a:off x="5191058" y="2214146"/>
            <a:ext cx="2954655" cy="369332"/>
          </a:xfrm>
          <a:prstGeom prst="rect">
            <a:avLst/>
          </a:prstGeom>
          <a:noFill/>
        </p:spPr>
        <p:txBody>
          <a:bodyPr wrap="none" rtlCol="0">
            <a:spAutoFit/>
          </a:bodyPr>
          <a:lstStyle/>
          <a:p>
            <a:r>
              <a:rPr lang="zh-CN" altLang="en-US" dirty="0" smtClean="0"/>
              <a:t>仿真实验代码及说明参见：</a:t>
            </a:r>
            <a:endParaRPr lang="zh-CN" altLang="en-US" dirty="0"/>
          </a:p>
        </p:txBody>
      </p:sp>
    </p:spTree>
    <p:extLst>
      <p:ext uri="{BB962C8B-B14F-4D97-AF65-F5344CB8AC3E}">
        <p14:creationId xmlns:p14="http://schemas.microsoft.com/office/powerpoint/2010/main" val="191174402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4319270" y="2473325"/>
                <a:ext cx="3849370" cy="1236044"/>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结合拉格朗日动力学原理，将牛顿</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欧拉逆动力学递归算法中的方程组织成封闭形式的运动学方程</a:t>
                </a:r>
                <a:r>
                  <a:rPr lang="zh-CN" altLang="en-US" sz="1200" dirty="0" smtClean="0">
                    <a:latin typeface="Arial" panose="020B0604020202020204" pitchFamily="34" charset="0"/>
                    <a:ea typeface="微软雅黑" panose="020B0503020204020204" charset="-122"/>
                    <a:sym typeface="+mn-ea"/>
                  </a:rPr>
                  <a:t>：</a:t>
                </a:r>
                <a:endParaRPr lang="en-US" altLang="zh-CN" sz="1200" i="1" dirty="0" smtClean="0"/>
              </a:p>
              <a:p>
                <a:pPr>
                  <a:lnSpc>
                    <a:spcPct val="150000"/>
                  </a:lnSpc>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rPr>
                        <m:t>𝜏</m:t>
                      </m:r>
                      <m:r>
                        <a:rPr lang="en-US" altLang="zh-CN" sz="1200">
                          <a:latin typeface="Cambria Math" panose="02040503050406030204" pitchFamily="18" charset="0"/>
                        </a:rPr>
                        <m:t>=</m:t>
                      </m:r>
                      <m:r>
                        <a:rPr lang="en-US" altLang="zh-CN" sz="1200" i="1">
                          <a:latin typeface="Cambria Math" panose="02040503050406030204" pitchFamily="18" charset="0"/>
                        </a:rPr>
                        <m:t>𝑀</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e>
                      </m:d>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r>
                        <a:rPr lang="en-US" altLang="zh-CN" sz="1200" i="1">
                          <a:latin typeface="Cambria Math" panose="02040503050406030204" pitchFamily="18" charset="0"/>
                        </a:rPr>
                        <m:t>+</m:t>
                      </m:r>
                      <m:r>
                        <a:rPr lang="en-US" altLang="zh-CN" sz="1200" i="1">
                          <a:latin typeface="Cambria Math" panose="02040503050406030204" pitchFamily="18" charset="0"/>
                        </a:rPr>
                        <m:t>𝑐</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r>
                            <a:rPr lang="en-US" altLang="zh-CN" sz="1200" i="1">
                              <a:latin typeface="Cambria Math" panose="02040503050406030204" pitchFamily="18" charset="0"/>
                            </a:rPr>
                            <m:t>, </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e>
                      </m:d>
                      <m:r>
                        <a:rPr lang="en-US" altLang="zh-CN" sz="1200" i="1">
                          <a:latin typeface="Cambria Math" panose="02040503050406030204" pitchFamily="18" charset="0"/>
                        </a:rPr>
                        <m:t>+</m:t>
                      </m:r>
                      <m:r>
                        <a:rPr lang="en-US" altLang="zh-CN" sz="1200" b="1" i="1">
                          <a:latin typeface="Cambria Math" panose="02040503050406030204" pitchFamily="18" charset="0"/>
                        </a:rPr>
                        <m:t>𝒈</m:t>
                      </m:r>
                      <m:r>
                        <a:rPr lang="en-US" altLang="zh-CN" sz="1200" b="1" i="1">
                          <a:latin typeface="Cambria Math" panose="02040503050406030204" pitchFamily="18" charset="0"/>
                        </a:rPr>
                        <m:t>(</m:t>
                      </m:r>
                      <m:r>
                        <a:rPr lang="en-US" altLang="zh-CN" sz="1200" i="1">
                          <a:latin typeface="Cambria Math" panose="02040503050406030204" pitchFamily="18" charset="0"/>
                        </a:rPr>
                        <m:t>𝜃</m:t>
                      </m:r>
                      <m:r>
                        <a:rPr lang="en-US" altLang="zh-CN" sz="1200" b="1" i="1">
                          <a:latin typeface="Cambria Math" panose="02040503050406030204" pitchFamily="18" charset="0"/>
                        </a:rPr>
                        <m:t>)</m:t>
                      </m:r>
                    </m:oMath>
                  </m:oMathPara>
                </a14:m>
                <a:endParaRPr lang="zh-CN" altLang="zh-CN" sz="1200" dirty="0"/>
              </a:p>
              <a:p>
                <a:pPr>
                  <a:lnSpc>
                    <a:spcPct val="150000"/>
                  </a:lnSpc>
                </a:pPr>
                <a:r>
                  <a:rPr lang="zh-CN" altLang="en-US" sz="1200" dirty="0" smtClean="0">
                    <a:latin typeface="Arial" panose="020B0604020202020204" pitchFamily="34" charset="0"/>
                    <a:ea typeface="微软雅黑" panose="020B0503020204020204" charset="-122"/>
                    <a:sym typeface="+mn-ea"/>
                  </a:rPr>
                  <a:t>进行一次性求解</a:t>
                </a:r>
                <a:endParaRPr lang="zh-CN" altLang="en-US" sz="1200" dirty="0">
                  <a:solidFill>
                    <a:schemeClr val="tx1"/>
                  </a:solidFill>
                  <a:latin typeface="Arial" panose="020B0604020202020204" pitchFamily="34" charset="0"/>
                  <a:ea typeface="微软雅黑" panose="020B0503020204020204" charset="-122"/>
                  <a:sym typeface="+mn-ea"/>
                </a:endParaRPr>
              </a:p>
            </p:txBody>
          </p:sp>
        </mc:Choice>
        <mc:Fallback xmlns="">
          <p:sp>
            <p:nvSpPr>
              <p:cNvPr id="6" name="矩形 5"/>
              <p:cNvSpPr>
                <a:spLocks noRot="1" noChangeAspect="1" noMove="1" noResize="1" noEditPoints="1" noAdjustHandles="1" noChangeArrowheads="1" noChangeShapeType="1" noTextEdit="1"/>
              </p:cNvSpPr>
              <p:nvPr/>
            </p:nvSpPr>
            <p:spPr>
              <a:xfrm>
                <a:off x="4319270" y="2473325"/>
                <a:ext cx="3849370" cy="1236044"/>
              </a:xfrm>
              <a:prstGeom prst="rect">
                <a:avLst/>
              </a:prstGeom>
              <a:blipFill>
                <a:blip r:embed="rId3"/>
                <a:stretch>
                  <a:fillRect l="-158" b="-990"/>
                </a:stretch>
              </a:blipFill>
            </p:spPr>
            <p:txBody>
              <a:bodyPr/>
              <a:lstStyle/>
              <a:p>
                <a:r>
                  <a:rPr lang="zh-CN" altLang="en-US">
                    <a:noFill/>
                  </a:rPr>
                  <a:t> </a:t>
                </a:r>
              </a:p>
            </p:txBody>
          </p:sp>
        </mc:Fallback>
      </mc:AlternateContent>
      <p:sp>
        <p:nvSpPr>
          <p:cNvPr id="7" name="文本框 6"/>
          <p:cNvSpPr txBox="1"/>
          <p:nvPr/>
        </p:nvSpPr>
        <p:spPr>
          <a:xfrm>
            <a:off x="4319270" y="1707654"/>
            <a:ext cx="4285178" cy="461665"/>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组合形式的动力学方程封闭</a:t>
            </a:r>
            <a:r>
              <a:rPr lang="zh-CN" altLang="en-US" sz="2400" b="1" dirty="0" smtClean="0">
                <a:latin typeface="Arial" panose="020B0604020202020204" pitchFamily="34" charset="0"/>
                <a:ea typeface="微软雅黑" panose="020B0503020204020204" charset="-122"/>
                <a:sym typeface="+mn-ea"/>
              </a:rPr>
              <a:t>解</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04</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7876982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 Equations in Closed Form</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组合形式的动力学方程封闭解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907172" y="628650"/>
            <a:ext cx="1415772" cy="418063"/>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封闭形式方程</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683568" y="1419622"/>
                <a:ext cx="1989840" cy="680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smtClean="0">
                          <a:latin typeface="Cambria Math" panose="02040503050406030204" pitchFamily="18" charset="0"/>
                        </a:rPr>
                        <m:t>ℒ</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r>
                            <a:rPr lang="zh-CN" altLang="en-US" sz="1400">
                              <a:latin typeface="Cambria Math" panose="02040503050406030204" pitchFamily="18" charset="0"/>
                            </a:rPr>
                            <m:t>, </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d>
                      <m:r>
                        <a:rPr lang="zh-CN" altLang="en-US" sz="140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a:latin typeface="Cambria Math" panose="02040503050406030204" pitchFamily="18" charset="0"/>
                            </a:rPr>
                            <m:t>=1</m:t>
                          </m:r>
                        </m:sub>
                        <m:sup>
                          <m:r>
                            <a:rPr lang="zh-CN" altLang="en-US" sz="1400" i="1">
                              <a:latin typeface="Cambria Math" panose="02040503050406030204" pitchFamily="18" charset="0"/>
                            </a:rPr>
                            <m:t>𝑛</m:t>
                          </m:r>
                        </m:sup>
                        <m:e>
                          <m:d>
                            <m:dPr>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𝒦</m:t>
                                  </m:r>
                                </m:e>
                                <m:sub>
                                  <m:r>
                                    <a:rPr lang="zh-CN" altLang="en-US" sz="1400" i="1">
                                      <a:latin typeface="Cambria Math" panose="02040503050406030204" pitchFamily="18" charset="0"/>
                                    </a:rPr>
                                    <m:t>𝑖</m:t>
                                  </m:r>
                                </m:sub>
                              </m:sSub>
                            </m:e>
                          </m:d>
                        </m:e>
                      </m:nary>
                      <m:r>
                        <a:rPr lang="zh-CN" altLang="en-US" sz="140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𝒫</m:t>
                          </m:r>
                        </m:e>
                        <m:sub>
                          <m:r>
                            <a:rPr lang="zh-CN" altLang="en-US" sz="1400" i="1">
                              <a:latin typeface="Cambria Math" panose="02040503050406030204" pitchFamily="18" charset="0"/>
                            </a:rPr>
                            <m:t>𝑖</m:t>
                          </m:r>
                        </m:sub>
                      </m:sSub>
                      <m:r>
                        <a:rPr lang="en-US" altLang="zh-CN" sz="1400" b="0" i="1" smtClean="0">
                          <a:latin typeface="Cambria Math" panose="02040503050406030204" pitchFamily="18" charset="0"/>
                        </a:rPr>
                        <m:t>)</m:t>
                      </m:r>
                    </m:oMath>
                  </m:oMathPara>
                </a14:m>
                <a:endParaRPr lang="zh-CN" altLang="en-US" sz="1400" dirty="0"/>
              </a:p>
            </p:txBody>
          </p:sp>
        </mc:Choice>
        <mc:Fallback xmlns="">
          <p:sp>
            <p:nvSpPr>
              <p:cNvPr id="2" name="矩形 1"/>
              <p:cNvSpPr>
                <a:spLocks noRot="1" noChangeAspect="1" noMove="1" noResize="1" noEditPoints="1" noAdjustHandles="1" noChangeArrowheads="1" noChangeShapeType="1" noTextEdit="1"/>
              </p:cNvSpPr>
              <p:nvPr/>
            </p:nvSpPr>
            <p:spPr>
              <a:xfrm>
                <a:off x="683568" y="1419622"/>
                <a:ext cx="1989840" cy="68050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539552" y="2212343"/>
                <a:ext cx="2714718" cy="49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𝒦</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0">
                              <a:latin typeface="Cambria Math" panose="02040503050406030204" pitchFamily="18" charset="0"/>
                            </a:rPr>
                            <m:t>2</m:t>
                          </m:r>
                        </m:den>
                      </m:f>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𝑖𝑏</m:t>
                              </m:r>
                            </m:sub>
                          </m:sSub>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𝐼</m:t>
                          </m:r>
                        </m:e>
                        <m:sub>
                          <m:r>
                            <a:rPr lang="zh-CN" altLang="en-US" sz="1400" i="1">
                              <a:latin typeface="Cambria Math" panose="02040503050406030204" pitchFamily="18" charset="0"/>
                            </a:rPr>
                            <m:t>𝑖𝑏</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𝜔</m:t>
                          </m:r>
                        </m:e>
                        <m:sub>
                          <m:r>
                            <a:rPr lang="zh-CN" altLang="en-US" sz="1400" i="1">
                              <a:latin typeface="Cambria Math" panose="02040503050406030204" pitchFamily="18" charset="0"/>
                            </a:rPr>
                            <m:t>𝑖𝑏</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0">
                              <a:latin typeface="Cambria Math" panose="02040503050406030204" pitchFamily="18" charset="0"/>
                            </a:rPr>
                            <m:t>2</m:t>
                          </m:r>
                        </m:den>
                      </m:f>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𝑚</m:t>
                                  </m:r>
                                </m:e>
                                <m:sub>
                                  <m:r>
                                    <a:rPr lang="zh-CN" altLang="en-US" sz="1400" i="1">
                                      <a:latin typeface="Cambria Math" panose="02040503050406030204" pitchFamily="18" charset="0"/>
                                    </a:rPr>
                                    <m:t>𝑖</m:t>
                                  </m:r>
                                </m:sub>
                              </m:sSub>
                              <m:r>
                                <a:rPr lang="zh-CN" altLang="en-US" sz="1400" i="1">
                                  <a:latin typeface="Cambria Math" panose="02040503050406030204" pitchFamily="18" charset="0"/>
                                </a:rPr>
                                <m:t>𝑣</m:t>
                              </m:r>
                            </m:e>
                            <m:sub>
                              <m:r>
                                <a:rPr lang="zh-CN" altLang="en-US" sz="1400" i="1">
                                  <a:latin typeface="Cambria Math" panose="02040503050406030204" pitchFamily="18" charset="0"/>
                                </a:rPr>
                                <m:t>𝑖𝑏</m:t>
                              </m:r>
                            </m:sub>
                          </m:sSub>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𝑣</m:t>
                          </m:r>
                        </m:e>
                        <m:sub>
                          <m:r>
                            <a:rPr lang="zh-CN" altLang="en-US" sz="1400" i="1">
                              <a:latin typeface="Cambria Math" panose="02040503050406030204" pitchFamily="18" charset="0"/>
                            </a:rPr>
                            <m:t>𝑖𝑏</m:t>
                          </m:r>
                        </m:sub>
                      </m:sSub>
                    </m:oMath>
                  </m:oMathPara>
                </a14:m>
                <a:endParaRPr lang="zh-CN" altLang="en-US" sz="1400" dirty="0"/>
              </a:p>
            </p:txBody>
          </p:sp>
        </mc:Choice>
        <mc:Fallback xmlns="">
          <p:sp>
            <p:nvSpPr>
              <p:cNvPr id="3" name="矩形 2"/>
              <p:cNvSpPr>
                <a:spLocks noRot="1" noChangeAspect="1" noMove="1" noResize="1" noEditPoints="1" noAdjustHandles="1" noChangeArrowheads="1" noChangeShapeType="1" noTextEdit="1"/>
              </p:cNvSpPr>
              <p:nvPr/>
            </p:nvSpPr>
            <p:spPr>
              <a:xfrm>
                <a:off x="539552" y="2212343"/>
                <a:ext cx="2714718" cy="495649"/>
              </a:xfrm>
              <a:prstGeom prst="rect">
                <a:avLst/>
              </a:prstGeom>
              <a:blipFill>
                <a:blip r:embed="rId4"/>
                <a:stretch>
                  <a:fillRect b="-12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750954" y="2819722"/>
                <a:ext cx="1640770" cy="4956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𝒦</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0">
                              <a:latin typeface="Cambria Math" panose="02040503050406030204" pitchFamily="18" charset="0"/>
                            </a:rPr>
                            <m:t>2</m:t>
                          </m:r>
                        </m:den>
                      </m:f>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𝑖𝑏</m:t>
                              </m:r>
                            </m:sub>
                          </m:sSub>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𝑖𝑏</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𝑖𝑏</m:t>
                          </m:r>
                        </m:sub>
                      </m:sSub>
                    </m:oMath>
                  </m:oMathPara>
                </a14:m>
                <a:endParaRPr lang="zh-CN" altLang="en-US" sz="1400" dirty="0"/>
              </a:p>
            </p:txBody>
          </p:sp>
        </mc:Choice>
        <mc:Fallback xmlns="">
          <p:sp>
            <p:nvSpPr>
              <p:cNvPr id="5" name="矩形 4"/>
              <p:cNvSpPr>
                <a:spLocks noRot="1" noChangeAspect="1" noMove="1" noResize="1" noEditPoints="1" noAdjustHandles="1" noChangeArrowheads="1" noChangeShapeType="1" noTextEdit="1"/>
              </p:cNvSpPr>
              <p:nvPr/>
            </p:nvSpPr>
            <p:spPr>
              <a:xfrm>
                <a:off x="750954" y="2819722"/>
                <a:ext cx="1640770" cy="495649"/>
              </a:xfrm>
              <a:prstGeom prst="rect">
                <a:avLst/>
              </a:prstGeom>
              <a:blipFill>
                <a:blip r:embed="rId5"/>
                <a:stretch>
                  <a:fillRect b="-12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628901" y="1620738"/>
                <a:ext cx="1636795" cy="680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a:latin typeface="Cambria Math" panose="02040503050406030204" pitchFamily="18" charset="0"/>
                        </a:rPr>
                        <m:t>𝒦</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0">
                              <a:latin typeface="Cambria Math" panose="02040503050406030204" pitchFamily="18" charset="0"/>
                            </a:rPr>
                            <m:t>2</m:t>
                          </m:r>
                        </m:den>
                      </m:f>
                      <m:nary>
                        <m:naryPr>
                          <m:chr m:val="∑"/>
                          <m:limLoc m:val="undOvr"/>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sub>
                              </m:sSub>
                            </m:e>
                            <m:sup>
                              <m:r>
                                <a:rPr lang="zh-CN" altLang="en-US" sz="1400" i="1">
                                  <a:latin typeface="Cambria Math" panose="02040503050406030204" pitchFamily="18" charset="0"/>
                                </a:rPr>
                                <m:t>𝑇</m:t>
                              </m:r>
                            </m:sup>
                          </m:sSup>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Ѵ</m:t>
                              </m:r>
                            </m:e>
                            <m:sub>
                              <m:r>
                                <a:rPr lang="zh-CN" altLang="en-US" sz="1400" i="1">
                                  <a:latin typeface="Cambria Math" panose="02040503050406030204" pitchFamily="18" charset="0"/>
                                </a:rPr>
                                <m:t>𝑖</m:t>
                              </m:r>
                            </m:sub>
                          </m:sSub>
                        </m:e>
                      </m:nary>
                    </m:oMath>
                  </m:oMathPara>
                </a14:m>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3628901" y="1620738"/>
                <a:ext cx="1636795" cy="680507"/>
              </a:xfrm>
              <a:prstGeom prst="rect">
                <a:avLst/>
              </a:prstGeom>
              <a:blipFill>
                <a:blip r:embed="rId6"/>
                <a:stretch>
                  <a:fillRect/>
                </a:stretch>
              </a:blipFill>
            </p:spPr>
            <p:txBody>
              <a:bodyPr/>
              <a:lstStyle/>
              <a:p>
                <a:r>
                  <a:rPr lang="zh-CN" altLang="en-US">
                    <a:noFill/>
                  </a:rPr>
                  <a:t> </a:t>
                </a:r>
              </a:p>
            </p:txBody>
          </p:sp>
        </mc:Fallback>
      </mc:AlternateContent>
      <p:sp>
        <p:nvSpPr>
          <p:cNvPr id="8" name="右大括号 7"/>
          <p:cNvSpPr/>
          <p:nvPr/>
        </p:nvSpPr>
        <p:spPr>
          <a:xfrm>
            <a:off x="3131840" y="1563638"/>
            <a:ext cx="360040" cy="1751733"/>
          </a:xfrm>
          <a:prstGeom prst="rightBrace">
            <a:avLst>
              <a:gd name="adj1" fmla="val 8333"/>
              <a:gd name="adj2" fmla="val 2357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矩形 8"/>
              <p:cNvSpPr/>
              <p:nvPr/>
            </p:nvSpPr>
            <p:spPr>
              <a:xfrm>
                <a:off x="5746612" y="1488087"/>
                <a:ext cx="3152593"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𝒦</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r>
                            <a:rPr lang="zh-CN" altLang="en-US" sz="1200" i="0">
                              <a:latin typeface="Cambria Math" panose="02040503050406030204" pitchFamily="18" charset="0"/>
                            </a:rPr>
                            <m:t>,</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d>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nary>
                        <m:naryPr>
                          <m:chr m:val="∑"/>
                          <m:limLoc m:val="undOvr"/>
                          <m:ctrlPr>
                            <a:rPr lang="zh-CN" altLang="en-US" sz="1200" i="1">
                              <a:latin typeface="Cambria Math" panose="02040503050406030204" pitchFamily="18" charset="0"/>
                            </a:rPr>
                          </m:ctrlPr>
                        </m:naryPr>
                        <m:sub>
                          <m:r>
                            <a:rPr lang="zh-CN" altLang="en-US" sz="1200" i="1">
                              <a:latin typeface="Cambria Math" panose="02040503050406030204" pitchFamily="18" charset="0"/>
                            </a:rPr>
                            <m:t>𝑖</m:t>
                          </m:r>
                          <m:r>
                            <a:rPr lang="zh-CN" altLang="en-US" sz="1200" i="0">
                              <a:latin typeface="Cambria Math" panose="02040503050406030204" pitchFamily="18" charset="0"/>
                            </a:rPr>
                            <m:t>=1</m:t>
                          </m:r>
                        </m:sub>
                        <m:sup>
                          <m:r>
                            <a:rPr lang="zh-CN" altLang="en-US" sz="1200" i="1">
                              <a:latin typeface="Cambria Math" panose="02040503050406030204" pitchFamily="18" charset="0"/>
                            </a:rPr>
                            <m:t>𝑛</m:t>
                          </m:r>
                        </m:sup>
                        <m:e>
                          <m:nary>
                            <m:naryPr>
                              <m:chr m:val="∑"/>
                              <m:limLoc m:val="undOvr"/>
                              <m:ctrlPr>
                                <a:rPr lang="zh-CN" altLang="en-US" sz="1200" i="1">
                                  <a:latin typeface="Cambria Math" panose="02040503050406030204" pitchFamily="18" charset="0"/>
                                </a:rPr>
                              </m:ctrlPr>
                            </m:naryPr>
                            <m:sub>
                              <m:r>
                                <a:rPr lang="zh-CN" altLang="en-US" sz="1200" i="1">
                                  <a:latin typeface="Cambria Math" panose="02040503050406030204" pitchFamily="18" charset="0"/>
                                </a:rPr>
                                <m:t>𝑗</m:t>
                              </m:r>
                              <m:r>
                                <a:rPr lang="zh-CN" altLang="en-US" sz="1200" i="0">
                                  <a:latin typeface="Cambria Math" panose="02040503050406030204" pitchFamily="18" charset="0"/>
                                </a:rPr>
                                <m:t>=1</m:t>
                              </m:r>
                            </m:sub>
                            <m:sup>
                              <m:r>
                                <a:rPr lang="zh-CN" altLang="en-US" sz="1200" i="1">
                                  <a:latin typeface="Cambria Math" panose="02040503050406030204" pitchFamily="18" charset="0"/>
                                </a:rPr>
                                <m:t>𝑛</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𝑚</m:t>
                                  </m:r>
                                </m:e>
                                <m:sub>
                                  <m:r>
                                    <a:rPr lang="zh-CN" altLang="en-US" sz="1200" i="1">
                                      <a:latin typeface="Cambria Math" panose="02040503050406030204" pitchFamily="18" charset="0"/>
                                    </a:rPr>
                                    <m:t>𝑖𝑗</m:t>
                                  </m:r>
                                </m:sub>
                              </m:sSub>
                              <m:r>
                                <a:rPr lang="zh-CN" altLang="en-US" sz="1200" i="0">
                                  <a:latin typeface="Cambria Math" panose="02040503050406030204" pitchFamily="18" charset="0"/>
                                </a:rPr>
                                <m:t>(</m:t>
                              </m:r>
                              <m:r>
                                <a:rPr lang="zh-CN" altLang="en-US" sz="1200" i="1">
                                  <a:latin typeface="Cambria Math" panose="02040503050406030204" pitchFamily="18" charset="0"/>
                                </a:rPr>
                                <m:t>𝜃</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𝑖</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𝑗</m:t>
                                  </m:r>
                                </m:sub>
                              </m:sSub>
                            </m:e>
                          </m:nary>
                        </m:e>
                      </m:nary>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sSup>
                        <m:sSupPr>
                          <m:ctrlPr>
                            <a:rPr lang="zh-CN" altLang="en-US" sz="1200" i="1">
                              <a:latin typeface="Cambria Math" panose="02040503050406030204" pitchFamily="18" charset="0"/>
                            </a:rPr>
                          </m:ctrlPr>
                        </m:sSup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p>
                          <m:r>
                            <a:rPr lang="zh-CN" altLang="en-US" sz="1200" i="1">
                              <a:latin typeface="Cambria Math" panose="02040503050406030204" pitchFamily="18" charset="0"/>
                            </a:rPr>
                            <m:t>𝑇</m:t>
                          </m:r>
                        </m:sup>
                      </m:sSup>
                      <m:r>
                        <a:rPr lang="zh-CN" altLang="en-US" sz="1200" i="1">
                          <a:latin typeface="Cambria Math" panose="02040503050406030204" pitchFamily="18" charset="0"/>
                        </a:rPr>
                        <m:t>𝑀</m:t>
                      </m:r>
                      <m:r>
                        <a:rPr lang="zh-CN" altLang="en-US" sz="1200" i="0">
                          <a:latin typeface="Cambria Math" panose="02040503050406030204" pitchFamily="18" charset="0"/>
                        </a:rPr>
                        <m:t>(</m:t>
                      </m:r>
                      <m:r>
                        <a:rPr lang="zh-CN" altLang="en-US" sz="1200" i="1">
                          <a:latin typeface="Cambria Math" panose="02040503050406030204" pitchFamily="18" charset="0"/>
                        </a:rPr>
                        <m:t>𝜃</m:t>
                      </m:r>
                      <m:r>
                        <a:rPr lang="zh-CN" altLang="en-US" sz="1200" i="0">
                          <a:latin typeface="Cambria Math" panose="02040503050406030204" pitchFamily="18" charset="0"/>
                        </a:rPr>
                        <m:t>)</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5746612" y="1488087"/>
                <a:ext cx="3152593" cy="61734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716003" y="2142323"/>
                <a:ext cx="2607189" cy="3178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Ѵ</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𝐽</m:t>
                          </m:r>
                        </m:e>
                        <m:sub>
                          <m:r>
                            <a:rPr lang="zh-CN" altLang="en-US" sz="1400" i="1">
                              <a:latin typeface="Cambria Math" panose="02040503050406030204" pitchFamily="18" charset="0"/>
                            </a:rPr>
                            <m:t>𝑖𝑏</m:t>
                          </m:r>
                        </m:sub>
                      </m:sSub>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       </m:t>
                      </m:r>
                      <m:r>
                        <a:rPr lang="zh-CN" altLang="en-US" sz="1400" i="1">
                          <a:latin typeface="Cambria Math" panose="02040503050406030204" pitchFamily="18" charset="0"/>
                        </a:rPr>
                        <m:t>𝑖</m:t>
                      </m:r>
                      <m:r>
                        <a:rPr lang="zh-CN" altLang="en-US" sz="1400" i="0">
                          <a:latin typeface="Cambria Math" panose="02040503050406030204" pitchFamily="18" charset="0"/>
                        </a:rPr>
                        <m:t>=1,⋯, </m:t>
                      </m:r>
                      <m:r>
                        <a:rPr lang="zh-CN" altLang="en-US" sz="1400" i="1">
                          <a:latin typeface="Cambria Math" panose="02040503050406030204" pitchFamily="18" charset="0"/>
                        </a:rPr>
                        <m:t>𝑛</m:t>
                      </m:r>
                    </m:oMath>
                  </m:oMathPara>
                </a14:m>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5716003" y="2142323"/>
                <a:ext cx="2607189" cy="317844"/>
              </a:xfrm>
              <a:prstGeom prst="rect">
                <a:avLst/>
              </a:prstGeom>
              <a:blipFill>
                <a:blip r:embed="rId8"/>
                <a:stretch>
                  <a:fillRect b="-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746612" y="2533940"/>
                <a:ext cx="2768322" cy="680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a:latin typeface="Cambria Math" panose="02040503050406030204" pitchFamily="18" charset="0"/>
                        </a:rPr>
                        <m:t>𝒦</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1</m:t>
                          </m:r>
                        </m:num>
                        <m:den>
                          <m:r>
                            <a:rPr lang="zh-CN" altLang="en-US" sz="1400" i="0">
                              <a:latin typeface="Cambria Math" panose="02040503050406030204" pitchFamily="18" charset="0"/>
                            </a:rPr>
                            <m:t>2</m:t>
                          </m:r>
                        </m:den>
                      </m:f>
                      <m:sSup>
                        <m:sSupPr>
                          <m:ctrlPr>
                            <a:rPr lang="zh-CN" altLang="en-US" sz="1400" i="1">
                              <a:latin typeface="Cambria Math" panose="02040503050406030204" pitchFamily="18" charset="0"/>
                            </a:rPr>
                          </m:ctrlPr>
                        </m:sSup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sup>
                          <m:r>
                            <a:rPr lang="zh-CN" altLang="en-US" sz="1400" i="1">
                              <a:latin typeface="Cambria Math" panose="02040503050406030204" pitchFamily="18" charset="0"/>
                            </a:rPr>
                            <m:t>𝑇</m:t>
                          </m:r>
                        </m:sup>
                      </m:sSup>
                      <m:d>
                        <m:dPr>
                          <m:ctrlPr>
                            <a:rPr lang="zh-CN" altLang="en-US" sz="1400" i="1">
                              <a:latin typeface="Cambria Math" panose="02040503050406030204" pitchFamily="18" charset="0"/>
                            </a:rPr>
                          </m:ctrlPr>
                        </m:dPr>
                        <m:e>
                          <m:nary>
                            <m:naryPr>
                              <m:chr m:val="∑"/>
                              <m:limLoc m:val="undOvr"/>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𝐽</m:t>
                                      </m:r>
                                    </m:e>
                                    <m:sub>
                                      <m:r>
                                        <a:rPr lang="zh-CN" altLang="en-US" sz="1400" i="1">
                                          <a:latin typeface="Cambria Math" panose="02040503050406030204" pitchFamily="18" charset="0"/>
                                        </a:rPr>
                                        <m:t>𝑖𝑏</m:t>
                                      </m:r>
                                    </m:sub>
                                  </m:sSub>
                                </m:e>
                                <m:sup>
                                  <m:r>
                                    <a:rPr lang="zh-CN" altLang="en-US" sz="1400" i="1">
                                      <a:latin typeface="Cambria Math" panose="02040503050406030204" pitchFamily="18" charset="0"/>
                                    </a:rPr>
                                    <m:t>𝑇</m:t>
                                  </m:r>
                                </m:sup>
                              </m:s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𝐽</m:t>
                                  </m:r>
                                </m:e>
                                <m:sub>
                                  <m:r>
                                    <a:rPr lang="zh-CN" altLang="en-US" sz="1400" i="1">
                                      <a:latin typeface="Cambria Math" panose="02040503050406030204" pitchFamily="18" charset="0"/>
                                    </a:rPr>
                                    <m:t>𝑖𝑏</m:t>
                                  </m:r>
                                </m:sub>
                              </m:sSub>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e>
                          </m:nary>
                        </m:e>
                      </m:d>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oMath>
                  </m:oMathPara>
                </a14:m>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5746612" y="2533940"/>
                <a:ext cx="2768322" cy="68050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3230552" y="2350476"/>
                <a:ext cx="2302169" cy="680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𝑀</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r>
                        <a:rPr lang="zh-CN" altLang="en-US" sz="1400" i="0">
                          <a:latin typeface="Cambria Math" panose="02040503050406030204" pitchFamily="18" charset="0"/>
                        </a:rPr>
                        <m:t>=</m:t>
                      </m:r>
                      <m:nary>
                        <m:naryPr>
                          <m:chr m:val="∑"/>
                          <m:limLoc m:val="undOvr"/>
                          <m:ctrlPr>
                            <a:rPr lang="zh-CN" altLang="en-US" sz="1400" i="1">
                              <a:latin typeface="Cambria Math" panose="02040503050406030204" pitchFamily="18" charset="0"/>
                            </a:rPr>
                          </m:ctrlPr>
                        </m:naryPr>
                        <m:sub>
                          <m:r>
                            <a:rPr lang="zh-CN" altLang="en-US" sz="1400" i="1">
                              <a:latin typeface="Cambria Math" panose="02040503050406030204" pitchFamily="18" charset="0"/>
                            </a:rPr>
                            <m:t>𝑖</m:t>
                          </m:r>
                          <m:r>
                            <a:rPr lang="zh-CN" altLang="en-US" sz="1400" i="0">
                              <a:latin typeface="Cambria Math" panose="02040503050406030204" pitchFamily="18" charset="0"/>
                            </a:rPr>
                            <m:t>=1</m:t>
                          </m:r>
                        </m:sub>
                        <m:sup>
                          <m:r>
                            <a:rPr lang="zh-CN" altLang="en-US" sz="1400" i="1">
                              <a:latin typeface="Cambria Math" panose="02040503050406030204" pitchFamily="18" charset="0"/>
                            </a:rPr>
                            <m:t>𝑛</m:t>
                          </m:r>
                        </m:sup>
                        <m:e>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𝐽</m:t>
                                  </m:r>
                                </m:e>
                                <m:sub>
                                  <m:r>
                                    <a:rPr lang="zh-CN" altLang="en-US" sz="1400" i="1">
                                      <a:latin typeface="Cambria Math" panose="02040503050406030204" pitchFamily="18" charset="0"/>
                                    </a:rPr>
                                    <m:t>𝑖𝑏</m:t>
                                  </m:r>
                                </m:sub>
                              </m:sSub>
                            </m:e>
                            <m:sup>
                              <m:r>
                                <a:rPr lang="zh-CN" altLang="en-US" sz="1400" i="1">
                                  <a:latin typeface="Cambria Math" panose="02040503050406030204" pitchFamily="18" charset="0"/>
                                </a:rPr>
                                <m:t>𝑇</m:t>
                              </m:r>
                            </m:sup>
                          </m:s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ℊ</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𝐽</m:t>
                              </m:r>
                            </m:e>
                            <m:sub>
                              <m:r>
                                <a:rPr lang="zh-CN" altLang="en-US" sz="1400" i="1">
                                  <a:latin typeface="Cambria Math" panose="02040503050406030204" pitchFamily="18" charset="0"/>
                                </a:rPr>
                                <m:t>𝑖𝑏</m:t>
                              </m:r>
                            </m:sub>
                          </m:sSub>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e>
                      </m:nary>
                    </m:oMath>
                  </m:oMathPara>
                </a14:m>
                <a:endParaRPr lang="zh-CN" altLang="en-US" sz="1400" dirty="0"/>
              </a:p>
            </p:txBody>
          </p:sp>
        </mc:Choice>
        <mc:Fallback xmlns="">
          <p:sp>
            <p:nvSpPr>
              <p:cNvPr id="24" name="矩形 23"/>
              <p:cNvSpPr>
                <a:spLocks noRot="1" noChangeAspect="1" noMove="1" noResize="1" noEditPoints="1" noAdjustHandles="1" noChangeArrowheads="1" noChangeShapeType="1" noTextEdit="1"/>
              </p:cNvSpPr>
              <p:nvPr/>
            </p:nvSpPr>
            <p:spPr>
              <a:xfrm>
                <a:off x="3230552" y="2350476"/>
                <a:ext cx="2302169" cy="680507"/>
              </a:xfrm>
              <a:prstGeom prst="rect">
                <a:avLst/>
              </a:prstGeom>
              <a:blipFill>
                <a:blip r:embed="rId10"/>
                <a:stretch>
                  <a:fillRect/>
                </a:stretch>
              </a:blipFill>
            </p:spPr>
            <p:txBody>
              <a:bodyPr/>
              <a:lstStyle/>
              <a:p>
                <a:r>
                  <a:rPr lang="zh-CN" altLang="en-US">
                    <a:noFill/>
                  </a:rPr>
                  <a:t> </a:t>
                </a:r>
              </a:p>
            </p:txBody>
          </p:sp>
        </mc:Fallback>
      </mc:AlternateContent>
      <p:sp>
        <p:nvSpPr>
          <p:cNvPr id="25" name="左大括号 24"/>
          <p:cNvSpPr/>
          <p:nvPr/>
        </p:nvSpPr>
        <p:spPr>
          <a:xfrm>
            <a:off x="5436096" y="1796761"/>
            <a:ext cx="310516" cy="1077432"/>
          </a:xfrm>
          <a:prstGeom prst="leftBrace">
            <a:avLst>
              <a:gd name="adj1" fmla="val 8333"/>
              <a:gd name="adj2" fmla="val 8222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矩形 25"/>
              <p:cNvSpPr/>
              <p:nvPr/>
            </p:nvSpPr>
            <p:spPr>
              <a:xfrm>
                <a:off x="3137070" y="3998885"/>
                <a:ext cx="2723438" cy="3702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𝜏</m:t>
                          </m:r>
                          <m:r>
                            <a:rPr lang="zh-CN" altLang="en-US" sz="1600" i="0">
                              <a:latin typeface="Cambria Math" panose="02040503050406030204" pitchFamily="18" charset="0"/>
                            </a:rPr>
                            <m:t>=</m:t>
                          </m:r>
                          <m:r>
                            <a:rPr lang="zh-CN" altLang="en-US" sz="1600" i="1">
                              <a:latin typeface="Cambria Math" panose="02040503050406030204" pitchFamily="18" charset="0"/>
                            </a:rPr>
                            <m:t>𝑀</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r>
                            <a:rPr lang="zh-CN" altLang="en-US" sz="1600" i="1">
                              <a:latin typeface="Cambria Math" panose="02040503050406030204" pitchFamily="18" charset="0"/>
                            </a:rPr>
                            <m:t>𝑐</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r>
                                <a:rPr lang="zh-CN" altLang="en-US" sz="1600" i="0">
                                  <a:latin typeface="Cambria Math" panose="02040503050406030204" pitchFamily="18" charset="0"/>
                                </a:rPr>
                                <m:t>, </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r>
                            <a:rPr lang="zh-CN" altLang="en-US" sz="1600" i="0">
                              <a:latin typeface="Cambria Math" panose="02040503050406030204" pitchFamily="18" charset="0"/>
                            </a:rPr>
                            <m:t>+</m:t>
                          </m:r>
                          <m:r>
                            <a:rPr lang="zh-CN" altLang="en-US" sz="1600" b="1" i="1">
                              <a:latin typeface="Cambria Math" panose="02040503050406030204" pitchFamily="18" charset="0"/>
                            </a:rPr>
                            <m:t>𝒈</m:t>
                          </m:r>
                          <m:r>
                            <a:rPr lang="zh-CN" altLang="en-US" sz="1600" b="0" i="0">
                              <a:latin typeface="Cambria Math" panose="02040503050406030204" pitchFamily="18" charset="0"/>
                            </a:rPr>
                            <m:t>(</m:t>
                          </m:r>
                          <m:r>
                            <a:rPr lang="zh-CN" altLang="en-US" sz="1600" b="0" i="1">
                              <a:latin typeface="Cambria Math" panose="02040503050406030204" pitchFamily="18" charset="0"/>
                            </a:rPr>
                            <m:t>𝜃</m:t>
                          </m:r>
                        </m:e>
                      </m:d>
                    </m:oMath>
                  </m:oMathPara>
                </a14:m>
                <a:endParaRPr lang="zh-CN" altLang="en-US" sz="1600" dirty="0"/>
              </a:p>
            </p:txBody>
          </p:sp>
        </mc:Choice>
        <mc:Fallback xmlns="">
          <p:sp>
            <p:nvSpPr>
              <p:cNvPr id="26" name="矩形 25"/>
              <p:cNvSpPr>
                <a:spLocks noRot="1" noChangeAspect="1" noMove="1" noResize="1" noEditPoints="1" noAdjustHandles="1" noChangeArrowheads="1" noChangeShapeType="1" noTextEdit="1"/>
              </p:cNvSpPr>
              <p:nvPr/>
            </p:nvSpPr>
            <p:spPr>
              <a:xfrm>
                <a:off x="3137070" y="3998885"/>
                <a:ext cx="2723438" cy="370294"/>
              </a:xfrm>
              <a:prstGeom prst="rect">
                <a:avLst/>
              </a:prstGeom>
              <a:blipFill>
                <a:blip r:embed="rId11"/>
                <a:stretch>
                  <a:fillRect t="-142623" r="-19955" b="-218033"/>
                </a:stretch>
              </a:blipFill>
            </p:spPr>
            <p:txBody>
              <a:bodyPr/>
              <a:lstStyle/>
              <a:p>
                <a:r>
                  <a:rPr lang="zh-CN" altLang="en-US">
                    <a:noFill/>
                  </a:rPr>
                  <a:t> </a:t>
                </a:r>
              </a:p>
            </p:txBody>
          </p:sp>
        </mc:Fallback>
      </mc:AlternateContent>
      <p:sp>
        <p:nvSpPr>
          <p:cNvPr id="27" name="矩形 26"/>
          <p:cNvSpPr/>
          <p:nvPr/>
        </p:nvSpPr>
        <p:spPr>
          <a:xfrm>
            <a:off x="1651103" y="3976283"/>
            <a:ext cx="1261884" cy="415498"/>
          </a:xfrm>
          <a:prstGeom prst="rect">
            <a:avLst/>
          </a:prstGeom>
        </p:spPr>
        <p:txBody>
          <a:bodyPr wrap="none">
            <a:spAutoFit/>
          </a:bodyPr>
          <a:lstStyle/>
          <a:p>
            <a:pPr>
              <a:lnSpc>
                <a:spcPct val="150000"/>
              </a:lnSpc>
            </a:pPr>
            <a:r>
              <a:rPr lang="zh-CN" altLang="en-US" sz="1400"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封闭形式方程</a:t>
            </a:r>
          </a:p>
        </p:txBody>
      </p:sp>
      <p:sp>
        <p:nvSpPr>
          <p:cNvPr id="28" name="圆角矩形 27"/>
          <p:cNvSpPr/>
          <p:nvPr/>
        </p:nvSpPr>
        <p:spPr>
          <a:xfrm>
            <a:off x="3563888" y="3998885"/>
            <a:ext cx="511051" cy="37029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p:cNvCxnSpPr>
            <a:stCxn id="24" idx="2"/>
            <a:endCxn id="28" idx="0"/>
          </p:cNvCxnSpPr>
          <p:nvPr/>
        </p:nvCxnSpPr>
        <p:spPr>
          <a:xfrm flipH="1">
            <a:off x="3819414" y="3030983"/>
            <a:ext cx="562223" cy="967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圆角矩形 34"/>
          <p:cNvSpPr/>
          <p:nvPr/>
        </p:nvSpPr>
        <p:spPr>
          <a:xfrm>
            <a:off x="4402473" y="3998885"/>
            <a:ext cx="673583" cy="370294"/>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a:off x="5265696" y="3998885"/>
            <a:ext cx="480916" cy="392896"/>
          </a:xfrm>
          <a:prstGeom prst="round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250033" y="4609534"/>
            <a:ext cx="1620957" cy="307777"/>
          </a:xfrm>
          <a:prstGeom prst="rect">
            <a:avLst/>
          </a:prstGeom>
          <a:noFill/>
        </p:spPr>
        <p:txBody>
          <a:bodyPr wrap="none" rtlCol="0">
            <a:spAutoFit/>
          </a:bodyPr>
          <a:lstStyle/>
          <a:p>
            <a:r>
              <a:rPr lang="zh-CN" altLang="en-US" sz="1400" dirty="0" smtClean="0">
                <a:solidFill>
                  <a:srgbClr val="002060"/>
                </a:solidFill>
              </a:rPr>
              <a:t>能否一次性给出？</a:t>
            </a:r>
            <a:endParaRPr lang="zh-CN" altLang="en-US" sz="1400" dirty="0">
              <a:solidFill>
                <a:srgbClr val="002060"/>
              </a:solidFill>
            </a:endParaRPr>
          </a:p>
        </p:txBody>
      </p:sp>
    </p:spTree>
    <p:extLst>
      <p:ext uri="{BB962C8B-B14F-4D97-AF65-F5344CB8AC3E}">
        <p14:creationId xmlns:p14="http://schemas.microsoft.com/office/powerpoint/2010/main" val="6707123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 Equations in Closed Form</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组合形式的动力学方程封闭解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3907172" y="628650"/>
            <a:ext cx="1005403" cy="418063"/>
          </a:xfrm>
          <a:prstGeom prst="rect">
            <a:avLst/>
          </a:prstGeom>
        </p:spPr>
        <p:txBody>
          <a:bodyPr wrap="none">
            <a:spAutoFit/>
          </a:bodyPr>
          <a:lstStyle/>
          <a:p>
            <a:pPr>
              <a:lnSpc>
                <a:spcPct val="150000"/>
              </a:lnSpc>
            </a:pPr>
            <a:r>
              <a:rPr lang="zh-CN" altLang="en-US" sz="1600" b="1"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组合向量</a:t>
            </a:r>
            <a:endPar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矩形 6"/>
              <p:cNvSpPr/>
              <p:nvPr/>
            </p:nvSpPr>
            <p:spPr>
              <a:xfrm>
                <a:off x="1043608" y="1311736"/>
                <a:ext cx="1270989" cy="6119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Ѵ</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m:t>
                                </m:r>
                              </m:e>
                            </m:m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𝑛</m:t>
                                    </m:r>
                                  </m:sub>
                                </m:sSub>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1043608" y="1311736"/>
                <a:ext cx="1270989" cy="61196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498587" y="1313147"/>
                <a:ext cx="1268168" cy="6108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ℱ</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ℱ</m:t>
                                    </m:r>
                                  </m:e>
                                  <m:sub>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m:t>
                                </m:r>
                              </m:e>
                            </m:m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ℱ</m:t>
                                    </m:r>
                                  </m:e>
                                  <m:sub>
                                    <m:r>
                                      <a:rPr lang="zh-CN" altLang="en-US" sz="1200" i="1">
                                        <a:latin typeface="Cambria Math" panose="02040503050406030204" pitchFamily="18" charset="0"/>
                                      </a:rPr>
                                      <m:t>𝑛</m:t>
                                    </m:r>
                                  </m:sub>
                                </m:sSub>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2498587" y="1313147"/>
                <a:ext cx="1268168" cy="6108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098990" y="2009524"/>
                <a:ext cx="2529730" cy="7944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𝒜</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0">
                                              <a:latin typeface="Cambria Math" panose="02040503050406030204" pitchFamily="18" charset="0"/>
                                            </a:rPr>
                                            <m:t>1</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0">
                                              <a:latin typeface="Cambria Math" panose="02040503050406030204" pitchFamily="18" charset="0"/>
                                            </a:rPr>
                                            <m:t>2</m:t>
                                          </m:r>
                                        </m:sub>
                                      </m:sSub>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m:t>
                                      </m:r>
                                    </m:e>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1">
                                              <a:latin typeface="Cambria Math" panose="02040503050406030204" pitchFamily="18" charset="0"/>
                                            </a:rPr>
                                            <m:t>𝑛</m:t>
                                          </m:r>
                                        </m:sub>
                                      </m:sSub>
                                    </m:e>
                                  </m:mr>
                                </m:m>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r>
                            <a:rPr lang="zh-CN" altLang="en-US" sz="1200" i="0">
                              <a:latin typeface="Cambria Math" panose="02040503050406030204" pitchFamily="18" charset="0"/>
                            </a:rPr>
                            <m:t>×</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1098990" y="2009524"/>
                <a:ext cx="2529730" cy="79444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150766" y="2803972"/>
                <a:ext cx="2426177" cy="7993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ℊ</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ℊ</m:t>
                                          </m:r>
                                        </m:e>
                                        <m:sub>
                                          <m:r>
                                            <a:rPr lang="zh-CN" altLang="en-US" sz="1200" i="0">
                                              <a:latin typeface="Cambria Math" panose="02040503050406030204" pitchFamily="18" charset="0"/>
                                            </a:rPr>
                                            <m:t>1</m:t>
                                          </m:r>
                                        </m:sub>
                                      </m:sSub>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ℊ</m:t>
                                          </m:r>
                                        </m:e>
                                        <m:sub>
                                          <m:r>
                                            <a:rPr lang="zh-CN" altLang="en-US" sz="1200" i="0">
                                              <a:latin typeface="Cambria Math" panose="02040503050406030204" pitchFamily="18" charset="0"/>
                                            </a:rPr>
                                            <m:t>2</m:t>
                                          </m:r>
                                        </m:sub>
                                      </m:sSub>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m:t>
                                      </m:r>
                                    </m:e>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ℊ</m:t>
                                          </m:r>
                                        </m:e>
                                        <m:sub>
                                          <m:r>
                                            <a:rPr lang="zh-CN" altLang="en-US" sz="1200" i="1">
                                              <a:latin typeface="Cambria Math" panose="02040503050406030204" pitchFamily="18" charset="0"/>
                                            </a:rPr>
                                            <m:t>𝑛</m:t>
                                          </m:r>
                                        </m:sub>
                                      </m:sSub>
                                    </m:e>
                                  </m:mr>
                                </m:m>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1150766" y="2803972"/>
                <a:ext cx="2426177" cy="79938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241984" y="1122773"/>
                <a:ext cx="4572000" cy="936090"/>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r>
                            <m:rPr>
                              <m:sty m:val="p"/>
                            </m:rPr>
                            <a:rPr lang="zh-CN" altLang="en-US" sz="120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r>
                                <a:rPr lang="zh-CN" altLang="en-US" sz="1200" i="0">
                                  <a:latin typeface="Cambria Math" panose="02040503050406030204" pitchFamily="18" charset="0"/>
                                </a:rPr>
                                <m:t>Ѵ</m:t>
                              </m:r>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0">
                                                      <a:latin typeface="Cambria Math" panose="02040503050406030204" pitchFamily="18" charset="0"/>
                                                    </a:rPr>
                                                    <m:t>1</m:t>
                                                  </m:r>
                                                </m:sub>
                                              </m:sSub>
                                            </m:sub>
                                          </m:sSub>
                                        </m:e>
                                      </m:d>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0">
                                                      <a:latin typeface="Cambria Math" panose="02040503050406030204" pitchFamily="18" charset="0"/>
                                                    </a:rPr>
                                                    <m:t>2</m:t>
                                                  </m:r>
                                                </m:sub>
                                              </m:sSub>
                                            </m:sub>
                                          </m:sSub>
                                        </m:e>
                                      </m:d>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m:t>
                                      </m:r>
                                    </m:e>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1">
                                                      <a:latin typeface="Cambria Math" panose="02040503050406030204" pitchFamily="18" charset="0"/>
                                                    </a:rPr>
                                                    <m:t>𝑛</m:t>
                                                  </m:r>
                                                </m:sub>
                                              </m:sSub>
                                            </m:sub>
                                          </m:sSub>
                                        </m:e>
                                      </m:d>
                                    </m:e>
                                  </m:mr>
                                </m:m>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4241984" y="1122773"/>
                <a:ext cx="4572000" cy="9360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409873" y="2009524"/>
                <a:ext cx="4572000" cy="97802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r>
                            <m:rPr>
                              <m:sty m:val="p"/>
                            </m:rPr>
                            <a:rPr lang="zh-CN" altLang="en-US" sz="120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r>
                                <a:rPr lang="zh-CN" altLang="en-US" sz="1200" i="0">
                                  <a:latin typeface="Cambria Math" panose="02040503050406030204" pitchFamily="18" charset="0"/>
                                </a:rPr>
                                <m:t>𝒜</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sub>
                                          </m:sSub>
                                        </m:e>
                                      </m:d>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0">
                                                      <a:latin typeface="Cambria Math" panose="02040503050406030204" pitchFamily="18" charset="0"/>
                                                    </a:rPr>
                                                    <m:t>2</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sub>
                                          </m:sSub>
                                        </m:e>
                                      </m:d>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m:t>
                                      </m:r>
                                    </m:e>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𝒜</m:t>
                                                  </m:r>
                                                </m:e>
                                                <m:sub>
                                                  <m:r>
                                                    <a:rPr lang="zh-CN" altLang="en-US" sz="1200" i="1">
                                                      <a:latin typeface="Cambria Math" panose="02040503050406030204" pitchFamily="18" charset="0"/>
                                                    </a:rPr>
                                                    <m:t>𝑛</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𝑛</m:t>
                                                  </m:r>
                                                </m:sub>
                                              </m:sSub>
                                            </m:sub>
                                          </m:sSub>
                                        </m:e>
                                      </m:d>
                                    </m:e>
                                  </m:mr>
                                </m:m>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4409873" y="2009524"/>
                <a:ext cx="4572000" cy="97802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437922" y="2943779"/>
                <a:ext cx="4572000" cy="1126590"/>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Ⱳ</m:t>
                      </m:r>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2,1</m:t>
                                                  </m:r>
                                                </m:sub>
                                              </m:sSub>
                                            </m:sub>
                                          </m:sSub>
                                        </m:e>
                                      </m:d>
                                    </m:e>
                                    <m:e>
                                      <m:r>
                                        <a:rPr lang="zh-CN" altLang="en-US" sz="1200" i="0">
                                          <a:latin typeface="Cambria Math" panose="02040503050406030204" pitchFamily="18" charset="0"/>
                                        </a:rPr>
                                        <m:t>0</m:t>
                                      </m:r>
                                    </m:e>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3,2</m:t>
                                                  </m:r>
                                                </m:sub>
                                              </m:sSub>
                                            </m:sub>
                                          </m:sSub>
                                        </m:e>
                                      </m:d>
                                    </m:e>
                                    <m:e>
                                      <m:r>
                                        <a:rPr lang="zh-CN" altLang="en-US" sz="1200" i="0">
                                          <a:latin typeface="Cambria Math" panose="02040503050406030204" pitchFamily="18" charset="0"/>
                                        </a:rPr>
                                        <m:t>⋯</m:t>
                                      </m:r>
                                    </m:e>
                                  </m:mr>
                                </m:m>
                              </m:e>
                              <m:e>
                                <m:r>
                                  <a:rPr lang="zh-CN" altLang="en-US" sz="1200" i="0">
                                    <a:latin typeface="Cambria Math" panose="02040503050406030204" pitchFamily="18" charset="0"/>
                                  </a:rPr>
                                  <m:t>   </m:t>
                                </m:r>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    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    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    0</m:t>
                                      </m:r>
                                    </m:e>
                                  </m:mr>
                                </m:m>
                              </m:e>
                            </m:mr>
                            <m:m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  ⋮</m:t>
                                      </m:r>
                                    </m:e>
                                    <m:e>
                                      <m:r>
                                        <a:rPr lang="zh-CN" altLang="en-US" sz="1200" i="0">
                                          <a:latin typeface="Cambria Math" panose="02040503050406030204" pitchFamily="18" charset="0"/>
                                        </a:rPr>
                                        <m:t>      ⋮</m:t>
                                      </m:r>
                                    </m:e>
                                    <m:e>
                                      <m:r>
                                        <a:rPr lang="zh-CN" altLang="en-US" sz="1200" i="0">
                                          <a:latin typeface="Cambria Math" panose="02040503050406030204" pitchFamily="18" charset="0"/>
                                        </a:rPr>
                                        <m:t>  ⋱</m:t>
                                      </m:r>
                                    </m:e>
                                  </m:mr>
                                  <m:mr>
                                    <m:e>
                                      <m:r>
                                        <a:rPr lang="zh-CN" altLang="en-US" sz="1200" i="0">
                                          <a:latin typeface="Cambria Math" panose="02040503050406030204" pitchFamily="18" charset="0"/>
                                        </a:rPr>
                                        <m:t>  0</m:t>
                                      </m:r>
                                    </m:e>
                                    <m:e>
                                      <m:r>
                                        <a:rPr lang="zh-CN" altLang="en-US" sz="1200" i="0">
                                          <a:latin typeface="Cambria Math" panose="02040503050406030204" pitchFamily="18" charset="0"/>
                                        </a:rPr>
                                        <m:t>      0</m:t>
                                      </m:r>
                                    </m:e>
                                    <m:e>
                                      <m:r>
                                        <a:rPr lang="zh-CN" altLang="en-US" sz="1200" i="0">
                                          <a:latin typeface="Cambria Math" panose="02040503050406030204" pitchFamily="18" charset="0"/>
                                        </a:rPr>
                                        <m:t>  ⋯</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r>
                                        <a:rPr lang="zh-CN" altLang="en-US" sz="1200" i="0">
                                          <a:latin typeface="Cambria Math" panose="02040503050406030204" pitchFamily="18" charset="0"/>
                                        </a:rPr>
                                        <m:t>⋮</m:t>
                                      </m:r>
                                    </m:e>
                                  </m:m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𝑛</m:t>
                                                  </m:r>
                                                  <m:r>
                                                    <a:rPr lang="zh-CN" altLang="en-US" sz="1200" i="0">
                                                      <a:latin typeface="Cambria Math" panose="02040503050406030204" pitchFamily="18" charset="0"/>
                                                    </a:rPr>
                                                    <m:t>,</m:t>
                                                  </m:r>
                                                  <m:r>
                                                    <a:rPr lang="zh-CN" altLang="en-US" sz="1200" i="1">
                                                      <a:latin typeface="Cambria Math" panose="02040503050406030204" pitchFamily="18" charset="0"/>
                                                    </a:rPr>
                                                    <m:t>𝑛</m:t>
                                                  </m:r>
                                                  <m:r>
                                                    <a:rPr lang="zh-CN" altLang="en-US" sz="1200" i="0">
                                                      <a:latin typeface="Cambria Math" panose="02040503050406030204" pitchFamily="18" charset="0"/>
                                                    </a:rPr>
                                                    <m:t>−1</m:t>
                                                  </m:r>
                                                </m:sub>
                                              </m:sSub>
                                            </m:sub>
                                          </m:sSub>
                                        </m:e>
                                      </m:d>
                                    </m:e>
                                    <m:e>
                                      <m:r>
                                        <a:rPr lang="zh-CN" altLang="en-US" sz="1200" i="0">
                                          <a:latin typeface="Cambria Math" panose="02040503050406030204" pitchFamily="18" charset="0"/>
                                        </a:rPr>
                                        <m:t>0</m:t>
                                      </m:r>
                                    </m:e>
                                  </m:mr>
                                </m:m>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16" name="矩形 15"/>
              <p:cNvSpPr>
                <a:spLocks noRot="1" noChangeAspect="1" noMove="1" noResize="1" noEditPoints="1" noAdjustHandles="1" noChangeArrowheads="1" noChangeShapeType="1" noTextEdit="1"/>
              </p:cNvSpPr>
              <p:nvPr/>
            </p:nvSpPr>
            <p:spPr>
              <a:xfrm>
                <a:off x="4437922" y="2943779"/>
                <a:ext cx="4572000" cy="1126590"/>
              </a:xfrm>
              <a:prstGeom prst="rect">
                <a:avLst/>
              </a:prstGeom>
              <a:blipFill>
                <a:blip r:embed="rId9"/>
                <a:stretch>
                  <a:fillRect/>
                </a:stretch>
              </a:blipFill>
            </p:spPr>
            <p:txBody>
              <a:bodyPr/>
              <a:lstStyle/>
              <a:p>
                <a:r>
                  <a:rPr lang="zh-CN" altLang="en-US">
                    <a:noFill/>
                  </a:rPr>
                  <a:t> </a:t>
                </a:r>
              </a:p>
            </p:txBody>
          </p:sp>
        </mc:Fallback>
      </mc:AlternateContent>
      <p:sp>
        <p:nvSpPr>
          <p:cNvPr id="19" name="矩形 18"/>
          <p:cNvSpPr/>
          <p:nvPr/>
        </p:nvSpPr>
        <p:spPr>
          <a:xfrm>
            <a:off x="5132631" y="732103"/>
            <a:ext cx="1531188" cy="307777"/>
          </a:xfrm>
          <a:prstGeom prst="rect">
            <a:avLst/>
          </a:prstGeom>
        </p:spPr>
        <p:txBody>
          <a:bodyPr wrap="none">
            <a:spAutoFit/>
          </a:bodyPr>
          <a:lstStyle/>
          <a:p>
            <a:r>
              <a:rPr lang="en-US" altLang="zh-CN" sz="1400" dirty="0">
                <a:solidFill>
                  <a:srgbClr val="002060"/>
                </a:solidFill>
                <a:latin typeface="宋体" panose="02010600030101010101" pitchFamily="2" charset="-122"/>
                <a:cs typeface="MV Boli" panose="02000500030200090000" pitchFamily="2" charset="0"/>
              </a:rPr>
              <a:t>stacked vectors</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20" name="矩形 19"/>
              <p:cNvSpPr/>
              <p:nvPr/>
            </p:nvSpPr>
            <p:spPr>
              <a:xfrm>
                <a:off x="1185931" y="3706308"/>
                <a:ext cx="2351669" cy="318549"/>
              </a:xfrm>
              <a:prstGeom prst="rect">
                <a:avLst/>
              </a:prstGeom>
            </p:spPr>
            <p:txBody>
              <a:bodyPr wrap="none">
                <a:spAutoFit/>
              </a:bodyPr>
              <a:lstStyle/>
              <a:p>
                <a:r>
                  <a:rPr lang="zh-CN" altLang="zh-CN" sz="1200" dirty="0">
                    <a:cs typeface="MV Boli" panose="02000500030200090000" pitchFamily="2" charset="0"/>
                  </a:rPr>
                  <a:t>连杆</a:t>
                </a:r>
                <a:r>
                  <a:rPr lang="en-US" altLang="zh-CN" sz="1200" dirty="0">
                    <a:cs typeface="MV Boli" panose="02000500030200090000" pitchFamily="2" charset="0"/>
                  </a:rPr>
                  <a:t>1</a:t>
                </a:r>
                <a:r>
                  <a:rPr lang="zh-CN" altLang="zh-CN" sz="1200" dirty="0">
                    <a:cs typeface="MV Boli" panose="02000500030200090000" pitchFamily="2" charset="0"/>
                  </a:rPr>
                  <a:t>的运动旋量</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Times New Roman" panose="02020603050405020304" pitchFamily="18" charset="0"/>
                          </a:rPr>
                          <m:t>1</m:t>
                        </m:r>
                      </m:sub>
                    </m:sSub>
                    <m:r>
                      <a:rPr lang="en-US" altLang="zh-CN" sz="1200" i="1">
                        <a:latin typeface="Cambria Math" panose="02040503050406030204" pitchFamily="18" charset="0"/>
                        <a:cs typeface="Times New Roman" panose="02020603050405020304" pitchFamily="18" charset="0"/>
                      </a:rPr>
                      <m:t>=</m:t>
                    </m:r>
                    <m:d>
                      <m:dPr>
                        <m:begChr m:val="["/>
                        <m:endChr m:val="]"/>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200">
                            <a:latin typeface="Cambria Math" panose="02040503050406030204" pitchFamily="18" charset="0"/>
                            <a:cs typeface="MV Boli" panose="02000500030200090000" pitchFamily="2" charset="0"/>
                          </a:rPr>
                          <m:t>a</m:t>
                        </m:r>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200">
                                <a:latin typeface="Cambria Math" panose="02040503050406030204" pitchFamily="18" charset="0"/>
                                <a:cs typeface="MV Boli" panose="02000500030200090000" pitchFamily="2" charset="0"/>
                              </a:rPr>
                              <m:t>d</m:t>
                            </m:r>
                          </m:e>
                          <m:sub>
                            <m:sSub>
                              <m:sSub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𝑇</m:t>
                                </m:r>
                              </m:e>
                              <m:sub>
                                <m:r>
                                  <a:rPr lang="en-US" altLang="zh-CN" sz="1200" i="1">
                                    <a:latin typeface="Cambria Math" panose="02040503050406030204" pitchFamily="18" charset="0"/>
                                    <a:cs typeface="MV Boli" panose="02000500030200090000" pitchFamily="2" charset="0"/>
                                  </a:rPr>
                                  <m:t>1,0</m:t>
                                </m:r>
                              </m:sub>
                            </m:sSub>
                          </m:sub>
                        </m:sSub>
                      </m:e>
                    </m:d>
                    <m:sSub>
                      <m:sSub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a:latin typeface="Cambria Math" panose="02040503050406030204" pitchFamily="18" charset="0"/>
                            <a:cs typeface="Times New Roman" panose="02020603050405020304" pitchFamily="18" charset="0"/>
                          </a:rPr>
                          <m:t>Ѵ</m:t>
                        </m:r>
                      </m:e>
                      <m:sub>
                        <m:r>
                          <a:rPr lang="en-US" altLang="zh-CN" sz="1200" i="1">
                            <a:latin typeface="Cambria Math" panose="02040503050406030204" pitchFamily="18" charset="0"/>
                            <a:cs typeface="Times New Roman" panose="02020603050405020304" pitchFamily="18" charset="0"/>
                          </a:rPr>
                          <m:t>0</m:t>
                        </m:r>
                      </m:sub>
                    </m:sSub>
                  </m:oMath>
                </a14:m>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1185931" y="3706308"/>
                <a:ext cx="2351669" cy="318549"/>
              </a:xfrm>
              <a:prstGeom prst="rect">
                <a:avLst/>
              </a:prstGeom>
              <a:blipFill>
                <a:blip r:embed="rId10"/>
                <a:stretch>
                  <a:fillRect l="-260"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362420" y="4227934"/>
                <a:ext cx="1998689" cy="8015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Ѵ</m:t>
                          </m:r>
                        </m:e>
                        <m:sub>
                          <m:r>
                            <a:rPr lang="zh-CN" altLang="en-US" sz="1200" i="1">
                              <a:latin typeface="Cambria Math" panose="02040503050406030204" pitchFamily="18" charset="0"/>
                            </a:rPr>
                            <m:t>𝑏𝑎𝑠𝑒</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1,0</m:t>
                                                  </m:r>
                                                </m:sub>
                                              </m:sSub>
                                            </m:sub>
                                          </m:sSub>
                                        </m:e>
                                      </m:d>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Ѵ</m:t>
                                          </m:r>
                                        </m:e>
                                        <m:sub>
                                          <m:r>
                                            <a:rPr lang="zh-CN" altLang="en-US" sz="1200" i="0">
                                              <a:latin typeface="Cambria Math" panose="02040503050406030204" pitchFamily="18" charset="0"/>
                                            </a:rPr>
                                            <m:t>0</m:t>
                                          </m:r>
                                        </m:sub>
                                      </m:sSub>
                                    </m:e>
                                  </m:mr>
                                  <m:mr>
                                    <m:e>
                                      <m:r>
                                        <a:rPr lang="zh-CN" altLang="en-US" sz="1200" i="0">
                                          <a:latin typeface="Cambria Math" panose="02040503050406030204" pitchFamily="18" charset="0"/>
                                        </a:rPr>
                                        <m:t>0</m:t>
                                      </m:r>
                                    </m:e>
                                  </m:mr>
                                </m:m>
                              </m:e>
                            </m:mr>
                            <m:mr>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21" name="矩形 20"/>
              <p:cNvSpPr>
                <a:spLocks noRot="1" noChangeAspect="1" noMove="1" noResize="1" noEditPoints="1" noAdjustHandles="1" noChangeArrowheads="1" noChangeShapeType="1" noTextEdit="1"/>
              </p:cNvSpPr>
              <p:nvPr/>
            </p:nvSpPr>
            <p:spPr>
              <a:xfrm>
                <a:off x="1362420" y="4227934"/>
                <a:ext cx="1998689" cy="801501"/>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3438577" y="4203123"/>
                <a:ext cx="1998689" cy="8015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a:latin typeface="Cambria Math" panose="02040503050406030204" pitchFamily="18" charset="0"/>
                                </a:rPr>
                                <m:t>Ѵ</m:t>
                              </m:r>
                            </m:e>
                          </m:acc>
                        </m:e>
                        <m:sub>
                          <m:r>
                            <a:rPr lang="zh-CN" altLang="en-US" sz="1200" i="1">
                              <a:latin typeface="Cambria Math" panose="02040503050406030204" pitchFamily="18" charset="0"/>
                            </a:rPr>
                            <m:t>𝑏𝑎𝑠𝑒</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d>
                                        <m:dPr>
                                          <m:begChr m:val="["/>
                                          <m:endChr m:val="]"/>
                                          <m:ctrlPr>
                                            <a:rPr lang="zh-CN" altLang="en-US" sz="1200" i="1">
                                              <a:latin typeface="Cambria Math" panose="02040503050406030204" pitchFamily="18" charset="0"/>
                                            </a:rPr>
                                          </m:ctrlPr>
                                        </m:dPr>
                                        <m:e>
                                          <m:r>
                                            <m:rPr>
                                              <m:sty m:val="p"/>
                                            </m:rPr>
                                            <a:rPr lang="zh-CN" altLang="en-US" sz="1200" i="0">
                                              <a:latin typeface="Cambria Math" panose="02040503050406030204" pitchFamily="18" charset="0"/>
                                            </a:rPr>
                                            <m:t>a</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d</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0">
                                                      <a:latin typeface="Cambria Math" panose="02040503050406030204" pitchFamily="18" charset="0"/>
                                                    </a:rPr>
                                                    <m:t>1,0</m:t>
                                                  </m:r>
                                                </m:sub>
                                              </m:sSub>
                                            </m:sub>
                                          </m:sSub>
                                        </m:e>
                                      </m:d>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0">
                                                  <a:latin typeface="Cambria Math" panose="02040503050406030204" pitchFamily="18" charset="0"/>
                                                </a:rPr>
                                                <m:t>Ѵ</m:t>
                                              </m:r>
                                            </m:e>
                                          </m:acc>
                                        </m:e>
                                        <m:sub>
                                          <m:r>
                                            <a:rPr lang="zh-CN" altLang="en-US" sz="1200" i="0">
                                              <a:latin typeface="Cambria Math" panose="02040503050406030204" pitchFamily="18" charset="0"/>
                                            </a:rPr>
                                            <m:t>0</m:t>
                                          </m:r>
                                        </m:sub>
                                      </m:sSub>
                                    </m:e>
                                  </m:mr>
                                  <m:mr>
                                    <m:e>
                                      <m:r>
                                        <a:rPr lang="zh-CN" altLang="en-US" sz="1200" i="0">
                                          <a:latin typeface="Cambria Math" panose="02040503050406030204" pitchFamily="18" charset="0"/>
                                        </a:rPr>
                                        <m:t>0</m:t>
                                      </m:r>
                                    </m:e>
                                  </m:mr>
                                </m:m>
                              </m:e>
                            </m:mr>
                            <m:mr>
                              <m:e>
                                <m:r>
                                  <a:rPr lang="zh-CN" altLang="en-US" sz="1200" i="0">
                                    <a:latin typeface="Cambria Math" panose="02040503050406030204" pitchFamily="18" charset="0"/>
                                  </a:rPr>
                                  <m:t>⋮</m:t>
                                </m:r>
                              </m:e>
                            </m:mr>
                            <m:mr>
                              <m:e>
                                <m:r>
                                  <a:rPr lang="zh-CN" altLang="en-US" sz="1200" i="0">
                                    <a:latin typeface="Cambria Math" panose="02040503050406030204" pitchFamily="18" charset="0"/>
                                  </a:rPr>
                                  <m:t>0</m:t>
                                </m:r>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3438577" y="4203123"/>
                <a:ext cx="1998689" cy="801501"/>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652120" y="4185678"/>
                <a:ext cx="2278508" cy="8437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a:latin typeface="Cambria Math" panose="02040503050406030204" pitchFamily="18" charset="0"/>
                            </a:rPr>
                            <m:t>ℱ</m:t>
                          </m:r>
                        </m:e>
                        <m:sub>
                          <m:r>
                            <a:rPr lang="zh-CN" altLang="en-US" sz="1200" i="1">
                              <a:latin typeface="Cambria Math" panose="02040503050406030204" pitchFamily="18" charset="0"/>
                            </a:rPr>
                            <m:t>𝑡𝑖𝑝</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e>
                                  </m:mr>
                                </m:m>
                              </m:e>
                            </m:mr>
                            <m:mr>
                              <m:e>
                                <m:r>
                                  <a:rPr lang="zh-CN" altLang="en-US" sz="1200" i="0">
                                    <a:latin typeface="Cambria Math" panose="02040503050406030204" pitchFamily="18" charset="0"/>
                                  </a:rPr>
                                  <m:t>0</m:t>
                                </m:r>
                              </m:e>
                            </m:mr>
                            <m:mr>
                              <m:e>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𝑎</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𝑛</m:t>
                                                </m:r>
                                                <m:r>
                                                  <a:rPr lang="zh-CN" altLang="en-US" sz="1200" i="0">
                                                    <a:latin typeface="Cambria Math" panose="02040503050406030204" pitchFamily="18" charset="0"/>
                                                  </a:rPr>
                                                  <m:t>+1,  </m:t>
                                                </m:r>
                                                <m:r>
                                                  <a:rPr lang="zh-CN" altLang="en-US" sz="1200" i="1">
                                                    <a:latin typeface="Cambria Math" panose="02040503050406030204" pitchFamily="18" charset="0"/>
                                                  </a:rPr>
                                                  <m:t>𝑛</m:t>
                                                </m:r>
                                              </m:sub>
                                            </m:sSub>
                                          </m:sub>
                                        </m:sSub>
                                      </m:e>
                                    </m:d>
                                  </m:e>
                                  <m:sup>
                                    <m:r>
                                      <a:rPr lang="zh-CN" altLang="en-US" sz="1200" i="1">
                                        <a:latin typeface="Cambria Math" panose="02040503050406030204" pitchFamily="18" charset="0"/>
                                      </a:rPr>
                                      <m:t>𝑇</m:t>
                                    </m:r>
                                  </m:sup>
                                </m:sSup>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ℱ</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0">
                              <a:latin typeface="Cambria Math" panose="02040503050406030204" pitchFamily="18" charset="0"/>
                            </a:rPr>
                            <m:t>ℝ</m:t>
                          </m:r>
                        </m:e>
                        <m:sup>
                          <m:r>
                            <a:rPr lang="zh-CN" altLang="en-US" sz="1200" i="0">
                              <a:latin typeface="Cambria Math" panose="02040503050406030204" pitchFamily="18" charset="0"/>
                            </a:rPr>
                            <m:t>6</m:t>
                          </m:r>
                          <m:r>
                            <a:rPr lang="zh-CN" altLang="en-US" sz="1200" i="1">
                              <a:latin typeface="Cambria Math" panose="02040503050406030204" pitchFamily="18" charset="0"/>
                            </a:rPr>
                            <m:t>𝑛</m:t>
                          </m:r>
                        </m:sup>
                      </m:sSup>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5652120" y="4185678"/>
                <a:ext cx="2278508" cy="843757"/>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65415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 Equations in Closed Form</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组合形式的动力学方程封闭解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2587942" y="628650"/>
            <a:ext cx="4288353" cy="418063"/>
          </a:xfrm>
          <a:prstGeom prst="rect">
            <a:avLst/>
          </a:prstGeom>
        </p:spPr>
        <p:txBody>
          <a:bodyPr wrap="none">
            <a:spAutoFit/>
          </a:bodyPr>
          <a:lstStyle/>
          <a:p>
            <a:pPr>
              <a:lnSpc>
                <a:spcPct val="150000"/>
              </a:lnSpc>
            </a:pPr>
            <a:r>
              <a:rPr lang="zh-CN" altLang="en-US" sz="1600" b="1"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将前面的逆动力学递归算法组合成矩阵方程组</a:t>
            </a:r>
          </a:p>
        </p:txBody>
      </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矩形 6"/>
              <p:cNvSpPr/>
              <p:nvPr/>
            </p:nvSpPr>
            <p:spPr>
              <a:xfrm>
                <a:off x="2214838" y="1300480"/>
                <a:ext cx="5382344" cy="1483291"/>
              </a:xfrm>
              <a:prstGeom prst="rect">
                <a:avLst/>
              </a:prstGeom>
            </p:spPr>
            <p:txBody>
              <a:bodyPr wrap="square">
                <a:spAutoFit/>
              </a:bodyPr>
              <a:lstStyle/>
              <a:p>
                <a:pPr indent="266700">
                  <a:spcBef>
                    <a:spcPts val="600"/>
                  </a:spcBef>
                  <a:spcAft>
                    <a:spcPts val="600"/>
                  </a:spcAft>
                </a:pPr>
                <a14:m>
                  <m:oMath xmlns:m="http://schemas.openxmlformats.org/officeDocument/2006/math">
                    <m:r>
                      <a:rPr lang="en-US" altLang="zh-CN" sz="1400">
                        <a:latin typeface="Cambria Math" panose="02040503050406030204" pitchFamily="18" charset="0"/>
                        <a:cs typeface="Times New Roman" panose="02020603050405020304" pitchFamily="18" charset="0"/>
                      </a:rPr>
                      <m:t>Ѵ</m:t>
                    </m:r>
                    <m:r>
                      <a:rPr lang="en-US" altLang="zh-CN" sz="1400">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a:latin typeface="Cambria Math" panose="02040503050406030204" pitchFamily="18" charset="0"/>
                        <a:cs typeface="Times New Roman" panose="02020603050405020304" pitchFamily="18" charset="0"/>
                      </a:rPr>
                      <m:t>Ѵ+</m:t>
                    </m:r>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latin typeface="Cambria Math" panose="02040503050406030204" pitchFamily="18" charset="0"/>
                            <a:cs typeface="Times New Roman" panose="02020603050405020304" pitchFamily="18" charset="0"/>
                          </a:rPr>
                          <m:t>Ѵ</m:t>
                        </m:r>
                      </m:e>
                      <m:sub>
                        <m:r>
                          <a:rPr lang="en-US" altLang="zh-CN" sz="1400" i="1">
                            <a:latin typeface="Cambria Math" panose="02040503050406030204" pitchFamily="18" charset="0"/>
                            <a:cs typeface="Times New Roman" panose="02020603050405020304" pitchFamily="18" charset="0"/>
                          </a:rPr>
                          <m:t>𝑏𝑎𝑠𝑒</m:t>
                        </m:r>
                      </m:sub>
                    </m:sSub>
                  </m:oMath>
                </a14:m>
                <a:r>
                  <a:rPr lang="en-US" altLang="zh-CN" sz="1400" dirty="0">
                    <a:latin typeface="宋体" panose="02010600030101010101" pitchFamily="2" charset="-122"/>
                    <a:cs typeface="MV Boli" panose="02000500030200090000" pitchFamily="2" charset="0"/>
                  </a:rPr>
                  <a:t> (4-33)</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r>
                      <a:rPr lang="en-US" altLang="zh-CN" sz="1400">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r>
                      <a:rPr lang="en-US" altLang="zh-CN" sz="1400">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r>
                      <a:rPr lang="en-US" altLang="zh-CN" sz="1400" i="1">
                        <a:latin typeface="Cambria Math" panose="02040503050406030204" pitchFamily="18" charset="0"/>
                        <a:cs typeface="MV Boli" panose="02000500030200090000" pitchFamily="2" charset="0"/>
                      </a:rPr>
                      <m:t>−</m:t>
                    </m:r>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sub>
                        </m:sSub>
                      </m:e>
                    </m:d>
                    <m:r>
                      <a:rPr lang="en-US" altLang="zh-CN" sz="1400" i="1">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a:latin typeface="Cambria Math" panose="02040503050406030204" pitchFamily="18" charset="0"/>
                        <a:cs typeface="Times New Roman" panose="02020603050405020304" pitchFamily="18" charset="0"/>
                      </a:rPr>
                      <m:t>Ѵ</m:t>
                    </m: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latin typeface="Cambria Math" panose="02040503050406030204" pitchFamily="18" charset="0"/>
                            <a:cs typeface="Times New Roman" panose="02020603050405020304" pitchFamily="18" charset="0"/>
                          </a:rPr>
                          <m:t>Ѵ</m:t>
                        </m:r>
                      </m:e>
                      <m:sub>
                        <m:r>
                          <a:rPr lang="en-US" altLang="zh-CN" sz="1400" i="1">
                            <a:latin typeface="Cambria Math" panose="02040503050406030204" pitchFamily="18" charset="0"/>
                            <a:cs typeface="Times New Roman" panose="02020603050405020304" pitchFamily="18" charset="0"/>
                          </a:rPr>
                          <m:t>𝑏𝑎𝑠𝑒</m:t>
                        </m:r>
                      </m:sub>
                    </m:sSub>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e>
                      <m:sub>
                        <m:r>
                          <a:rPr lang="en-US" altLang="zh-CN" sz="1400" i="1">
                            <a:latin typeface="Cambria Math" panose="02040503050406030204" pitchFamily="18" charset="0"/>
                            <a:cs typeface="Times New Roman" panose="02020603050405020304" pitchFamily="18" charset="0"/>
                          </a:rPr>
                          <m:t>𝑏𝑎𝑠𝑒</m:t>
                        </m:r>
                      </m:sub>
                    </m:sSub>
                  </m:oMath>
                </a14:m>
                <a:r>
                  <a:rPr lang="en-US" altLang="zh-CN" sz="1400" dirty="0">
                    <a:latin typeface="宋体" panose="02010600030101010101" pitchFamily="2" charset="-122"/>
                    <a:cs typeface="MV Boli" panose="02000500030200090000" pitchFamily="2" charset="0"/>
                  </a:rPr>
                  <a:t> (4-34)</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r>
                      <a:rPr lang="en-US" altLang="zh-CN" sz="1400" i="1">
                        <a:latin typeface="Cambria Math" panose="02040503050406030204" pitchFamily="18" charset="0"/>
                        <a:cs typeface="MV Boli" panose="02000500030200090000" pitchFamily="2" charset="0"/>
                      </a:rPr>
                      <m:t>ℱ</m:t>
                    </m:r>
                    <m:r>
                      <a:rPr lang="en-US" altLang="zh-CN" sz="1400">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a:latin typeface="Cambria Math" panose="02040503050406030204" pitchFamily="18" charset="0"/>
                            <a:cs typeface="Times New Roman" panose="02020603050405020304" pitchFamily="18" charset="0"/>
                          </a:rPr>
                          <m:t>Ⱳ</m:t>
                        </m:r>
                      </m:e>
                      <m:sup>
                        <m:r>
                          <a:rPr lang="en-US" altLang="zh-CN" sz="1400" i="1">
                            <a:latin typeface="Cambria Math" panose="02040503050406030204" pitchFamily="18" charset="0"/>
                            <a:cs typeface="Times New Roman" panose="02020603050405020304" pitchFamily="18" charset="0"/>
                          </a:rPr>
                          <m:t>𝑇</m:t>
                        </m:r>
                      </m:sup>
                    </m:sSup>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ℱ</m:t>
                    </m:r>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ℊ</m:t>
                    </m:r>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r>
                      <a:rPr lang="en-US" altLang="zh-CN" sz="1400" i="1">
                        <a:latin typeface="Cambria Math" panose="02040503050406030204" pitchFamily="18" charset="0"/>
                        <a:cs typeface="Times New Roman" panose="02020603050405020304" pitchFamily="18"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a:latin typeface="Cambria Math" panose="02040503050406030204" pitchFamily="18" charset="0"/>
                                    <a:cs typeface="Times New Roman" panose="02020603050405020304" pitchFamily="18" charset="0"/>
                                  </a:rPr>
                                  <m:t>Ѵ</m:t>
                                </m:r>
                              </m:sub>
                            </m:sSub>
                          </m:e>
                        </m:d>
                      </m:e>
                      <m:sup>
                        <m:r>
                          <a:rPr lang="en-US" altLang="zh-CN" sz="1400" i="1">
                            <a:latin typeface="Cambria Math" panose="02040503050406030204" pitchFamily="18" charset="0"/>
                            <a:cs typeface="MV Boli" panose="02000500030200090000" pitchFamily="2" charset="0"/>
                          </a:rPr>
                          <m:t>𝑇</m:t>
                        </m:r>
                      </m:sup>
                    </m:sSup>
                    <m:r>
                      <a:rPr lang="en-US" altLang="zh-CN" sz="1400" i="1">
                        <a:latin typeface="Cambria Math" panose="02040503050406030204" pitchFamily="18" charset="0"/>
                        <a:cs typeface="MV Boli" panose="02000500030200090000" pitchFamily="2" charset="0"/>
                      </a:rPr>
                      <m:t>ℊ</m:t>
                    </m:r>
                    <m:r>
                      <a:rPr lang="en-US" altLang="zh-CN" sz="1400">
                        <a:latin typeface="Cambria Math" panose="02040503050406030204" pitchFamily="18" charset="0"/>
                        <a:cs typeface="Times New Roman" panose="02020603050405020304" pitchFamily="18" charset="0"/>
                      </a:rPr>
                      <m:t>Ѵ+</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oMath>
                </a14:m>
                <a:r>
                  <a:rPr lang="en-US" altLang="zh-CN" sz="1400" dirty="0">
                    <a:latin typeface="宋体" panose="02010600030101010101" pitchFamily="2" charset="-122"/>
                    <a:cs typeface="MV Boli" panose="02000500030200090000" pitchFamily="2" charset="0"/>
                  </a:rPr>
                  <a:t> (4-35)</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r>
                      <a:rPr lang="en-US" altLang="zh-CN" sz="1400" i="1">
                        <a:latin typeface="Cambria Math" panose="02040503050406030204" pitchFamily="18" charset="0"/>
                        <a:cs typeface="MV Boli" panose="02000500030200090000" pitchFamily="2" charset="0"/>
                      </a:rPr>
                      <m:t>𝜏</m:t>
                    </m:r>
                    <m:r>
                      <a:rPr lang="en-US" altLang="zh-CN" sz="1400">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𝒜</m:t>
                        </m:r>
                      </m:e>
                      <m:sup>
                        <m:r>
                          <a:rPr lang="en-US" altLang="zh-CN" sz="1400" i="1">
                            <a:latin typeface="Cambria Math" panose="02040503050406030204" pitchFamily="18" charset="0"/>
                            <a:cs typeface="MV Boli" panose="02000500030200090000" pitchFamily="2" charset="0"/>
                          </a:rPr>
                          <m:t>𝑇</m:t>
                        </m:r>
                      </m:sup>
                    </m:sSup>
                    <m:r>
                      <a:rPr lang="en-US" altLang="zh-CN" sz="1400" i="1">
                        <a:latin typeface="Cambria Math" panose="02040503050406030204" pitchFamily="18" charset="0"/>
                        <a:cs typeface="MV Boli" panose="02000500030200090000" pitchFamily="2" charset="0"/>
                      </a:rPr>
                      <m:t>ℱ</m:t>
                    </m:r>
                  </m:oMath>
                </a14:m>
                <a:r>
                  <a:rPr lang="en-US" altLang="zh-CN" sz="1400" dirty="0">
                    <a:latin typeface="宋体" panose="02010600030101010101" pitchFamily="2" charset="-122"/>
                    <a:cs typeface="MV Boli" panose="02000500030200090000" pitchFamily="2" charset="0"/>
                  </a:rPr>
                  <a:t> (4-36)</a:t>
                </a:r>
                <a:endParaRPr lang="zh-CN" altLang="zh-CN" sz="1400" dirty="0">
                  <a:latin typeface="宋体" panose="02010600030101010101" pitchFamily="2" charset="-122"/>
                  <a:cs typeface="宋体"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214838" y="1300480"/>
                <a:ext cx="5382344" cy="1483291"/>
              </a:xfrm>
              <a:prstGeom prst="rect">
                <a:avLst/>
              </a:prstGeom>
              <a:blipFill>
                <a:blip r:embed="rId3"/>
                <a:stretch>
                  <a:fillRect t="-410" b="-28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812084" y="2886168"/>
                <a:ext cx="5459690" cy="276999"/>
              </a:xfrm>
              <a:prstGeom prst="rect">
                <a:avLst/>
              </a:prstGeom>
            </p:spPr>
            <p:txBody>
              <a:bodyPr wrap="square">
                <a:spAutoFit/>
              </a:bodyPr>
              <a:lstStyle/>
              <a:p>
                <a:r>
                  <a:rPr lang="zh-CN" altLang="zh-CN" sz="1200" dirty="0">
                    <a:cs typeface="MV Boli" panose="02000500030200090000" pitchFamily="2" charset="0"/>
                  </a:rPr>
                  <a:t>矩阵</a:t>
                </a:r>
                <a14:m>
                  <m:oMath xmlns:m="http://schemas.openxmlformats.org/officeDocument/2006/math">
                    <m:r>
                      <a:rPr lang="en-US" altLang="zh-CN" sz="1200">
                        <a:latin typeface="Cambria Math" panose="02040503050406030204" pitchFamily="18" charset="0"/>
                        <a:cs typeface="Times New Roman" panose="02020603050405020304" pitchFamily="18" charset="0"/>
                      </a:rPr>
                      <m:t>Ⱳ</m:t>
                    </m:r>
                    <m:d>
                      <m:d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latin typeface="Cambria Math" panose="02040503050406030204" pitchFamily="18" charset="0"/>
                            <a:cs typeface="MV Boli" panose="02000500030200090000" pitchFamily="2" charset="0"/>
                          </a:rPr>
                          <m:t>𝜃</m:t>
                        </m:r>
                      </m:e>
                    </m:d>
                  </m:oMath>
                </a14:m>
                <a:r>
                  <a:rPr lang="zh-CN" altLang="zh-CN" sz="1200" dirty="0">
                    <a:cs typeface="MV Boli" panose="02000500030200090000" pitchFamily="2" charset="0"/>
                  </a:rPr>
                  <a:t>的</a:t>
                </a:r>
                <a14:m>
                  <m:oMath xmlns:m="http://schemas.openxmlformats.org/officeDocument/2006/math">
                    <m:r>
                      <a:rPr lang="en-US" altLang="zh-CN" sz="1200" i="1">
                        <a:latin typeface="Cambria Math" panose="02040503050406030204" pitchFamily="18" charset="0"/>
                        <a:cs typeface="MV Boli" panose="02000500030200090000" pitchFamily="2" charset="0"/>
                      </a:rPr>
                      <m:t>𝑛</m:t>
                    </m:r>
                  </m:oMath>
                </a14:m>
                <a:r>
                  <a:rPr lang="zh-CN" altLang="zh-CN" sz="1200" dirty="0">
                    <a:cs typeface="MV Boli" panose="02000500030200090000" pitchFamily="2" charset="0"/>
                  </a:rPr>
                  <a:t>阶幂为零</a:t>
                </a:r>
                <a:r>
                  <a:rPr lang="en-US" altLang="zh-CN" sz="1200" dirty="0">
                    <a:cs typeface="MV Boli" panose="02000500030200090000" pitchFamily="2"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a:latin typeface="Cambria Math" panose="02040503050406030204" pitchFamily="18" charset="0"/>
                            <a:cs typeface="Times New Roman" panose="02020603050405020304" pitchFamily="18" charset="0"/>
                          </a:rPr>
                          <m:t>Ⱳ</m:t>
                        </m:r>
                      </m:e>
                      <m:sup>
                        <m:r>
                          <a:rPr lang="en-US" altLang="zh-CN" sz="1200" i="1">
                            <a:latin typeface="Cambria Math" panose="02040503050406030204" pitchFamily="18" charset="0"/>
                            <a:cs typeface="Times New Roman" panose="02020603050405020304" pitchFamily="18" charset="0"/>
                          </a:rPr>
                          <m:t>𝑛</m:t>
                        </m:r>
                      </m:sup>
                    </m:sSup>
                    <m:d>
                      <m:d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latin typeface="Cambria Math" panose="02040503050406030204" pitchFamily="18" charset="0"/>
                            <a:cs typeface="MV Boli" panose="02000500030200090000" pitchFamily="2" charset="0"/>
                          </a:rPr>
                          <m:t>𝜃</m:t>
                        </m:r>
                      </m:e>
                    </m:d>
                    <m:r>
                      <a:rPr lang="en-US" altLang="zh-CN" sz="1200">
                        <a:latin typeface="Cambria Math" panose="02040503050406030204" pitchFamily="18" charset="0"/>
                        <a:cs typeface="MV Boli" panose="02000500030200090000" pitchFamily="2" charset="0"/>
                      </a:rPr>
                      <m:t>=0</m:t>
                    </m:r>
                  </m:oMath>
                </a14:m>
                <a:r>
                  <a:rPr lang="zh-CN" altLang="zh-CN" sz="1200" dirty="0">
                    <a:cs typeface="MV Boli" panose="02000500030200090000" pitchFamily="2" charset="0"/>
                  </a:rPr>
                  <a:t>，定义另一个组合矩阵</a:t>
                </a:r>
                <a14:m>
                  <m:oMath xmlns:m="http://schemas.openxmlformats.org/officeDocument/2006/math">
                    <m:r>
                      <a:rPr lang="en-US" altLang="zh-CN" sz="1200" i="1">
                        <a:latin typeface="Cambria Math" panose="02040503050406030204" pitchFamily="18" charset="0"/>
                        <a:cs typeface="MV Boli" panose="02000500030200090000" pitchFamily="2" charset="0"/>
                      </a:rPr>
                      <m:t>ℒ</m:t>
                    </m:r>
                    <m:d>
                      <m:d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latin typeface="Cambria Math" panose="02040503050406030204" pitchFamily="18" charset="0"/>
                            <a:cs typeface="MV Boli" panose="02000500030200090000" pitchFamily="2" charset="0"/>
                          </a:rPr>
                          <m:t>𝜃</m:t>
                        </m:r>
                      </m:e>
                    </m:d>
                    <m:r>
                      <a:rPr lang="en-US" altLang="zh-CN" sz="1200">
                        <a:latin typeface="Cambria Math" panose="02040503050406030204" pitchFamily="18" charset="0"/>
                        <a:cs typeface="MV Boli" panose="02000500030200090000" pitchFamily="2" charset="0"/>
                      </a:rPr>
                      <m:t>=</m:t>
                    </m:r>
                    <m:sSup>
                      <m:sSup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200">
                            <a:latin typeface="Cambria Math" panose="02040503050406030204" pitchFamily="18" charset="0"/>
                            <a:cs typeface="MV Boli" panose="02000500030200090000" pitchFamily="2" charset="0"/>
                          </a:rPr>
                          <m:t>(</m:t>
                        </m:r>
                        <m:r>
                          <a:rPr lang="en-US" altLang="zh-CN" sz="1200" i="1">
                            <a:latin typeface="Cambria Math" panose="02040503050406030204" pitchFamily="18" charset="0"/>
                            <a:cs typeface="MV Boli" panose="02000500030200090000" pitchFamily="2" charset="0"/>
                          </a:rPr>
                          <m:t>𝐼</m:t>
                        </m:r>
                        <m:r>
                          <a:rPr lang="en-US" altLang="zh-CN" sz="1200" i="1">
                            <a:latin typeface="Cambria Math" panose="02040503050406030204" pitchFamily="18" charset="0"/>
                            <a:cs typeface="MV Boli" panose="02000500030200090000" pitchFamily="2" charset="0"/>
                          </a:rPr>
                          <m:t>−</m:t>
                        </m:r>
                        <m:r>
                          <a:rPr lang="en-US" altLang="zh-CN" sz="1200">
                            <a:latin typeface="Cambria Math" panose="02040503050406030204" pitchFamily="18" charset="0"/>
                            <a:cs typeface="Times New Roman" panose="02020603050405020304" pitchFamily="18" charset="0"/>
                          </a:rPr>
                          <m:t>Ⱳ</m:t>
                        </m:r>
                        <m:d>
                          <m:dPr>
                            <m:ctrlPr>
                              <a:rPr lang="zh-CN" altLang="zh-CN" sz="12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latin typeface="Cambria Math" panose="02040503050406030204" pitchFamily="18" charset="0"/>
                                <a:cs typeface="MV Boli" panose="02000500030200090000" pitchFamily="2" charset="0"/>
                              </a:rPr>
                              <m:t>𝜃</m:t>
                            </m:r>
                          </m:e>
                        </m:d>
                        <m:r>
                          <a:rPr lang="en-US" altLang="zh-CN" sz="1200" i="1">
                            <a:latin typeface="Cambria Math" panose="02040503050406030204" pitchFamily="18" charset="0"/>
                            <a:cs typeface="MV Boli" panose="02000500030200090000" pitchFamily="2" charset="0"/>
                          </a:rPr>
                          <m:t>)</m:t>
                        </m:r>
                      </m:e>
                      <m:sup>
                        <m:r>
                          <a:rPr lang="en-US" altLang="zh-CN" sz="1200" i="1">
                            <a:latin typeface="Cambria Math" panose="02040503050406030204" pitchFamily="18" charset="0"/>
                            <a:cs typeface="MV Boli" panose="02000500030200090000" pitchFamily="2" charset="0"/>
                          </a:rPr>
                          <m:t>−1</m:t>
                        </m:r>
                      </m:sup>
                    </m:sSup>
                  </m:oMath>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1812084" y="2886168"/>
                <a:ext cx="5459690" cy="276999"/>
              </a:xfrm>
              <a:prstGeom prst="rect">
                <a:avLst/>
              </a:prstGeom>
              <a:blipFill>
                <a:blip r:embed="rId4"/>
                <a:stretch>
                  <a:fillRect t="-2174" b="-173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446118" y="3113329"/>
                <a:ext cx="4572000" cy="2030171"/>
              </a:xfrm>
              <a:prstGeom prst="rect">
                <a:avLst/>
              </a:prstGeom>
            </p:spPr>
            <p:txBody>
              <a:bodyPr>
                <a:spAutoFit/>
              </a:bodyPr>
              <a:lstStyle/>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MV Boli" panose="02000500030200090000" pitchFamily="2" charset="0"/>
                        </a:rPr>
                        <m:t>ℒ</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𝐼</m:t>
                              </m:r>
                              <m:r>
                                <a:rPr lang="en-US" altLang="zh-CN" sz="1400" i="1">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e>
                          </m:d>
                        </m:e>
                        <m:sup>
                          <m:r>
                            <a:rPr lang="en-US" altLang="zh-CN" sz="1400" i="1">
                              <a:latin typeface="Cambria Math" panose="02040503050406030204" pitchFamily="18" charset="0"/>
                              <a:cs typeface="MV Boli" panose="02000500030200090000" pitchFamily="2" charset="0"/>
                            </a:rPr>
                            <m:t>−1</m:t>
                          </m:r>
                        </m:sup>
                      </m:sSup>
                    </m:oMath>
                  </m:oMathPara>
                </a14:m>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MV Boli" panose="02000500030200090000" pitchFamily="2" charset="0"/>
                        </a:rPr>
                        <m:t>ℒ</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𝐼</m:t>
                      </m:r>
                      <m:r>
                        <a:rPr lang="en-US" altLang="zh-CN" sz="1400" i="1">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a:latin typeface="Cambria Math" panose="02040503050406030204" pitchFamily="18" charset="0"/>
                              <a:cs typeface="Times New Roman" panose="02020603050405020304" pitchFamily="18" charset="0"/>
                            </a:rPr>
                            <m:t>Ⱳ</m:t>
                          </m:r>
                        </m:e>
                        <m:sup>
                          <m:r>
                            <a:rPr lang="en-US" altLang="zh-CN" sz="1400" i="1">
                              <a:latin typeface="Cambria Math" panose="02040503050406030204" pitchFamily="18" charset="0"/>
                              <a:cs typeface="Times New Roman" panose="02020603050405020304" pitchFamily="18" charset="0"/>
                            </a:rPr>
                            <m:t>𝑛</m:t>
                          </m:r>
                          <m:r>
                            <a:rPr lang="en-US" altLang="zh-CN" sz="1400" i="1">
                              <a:latin typeface="Cambria Math" panose="02040503050406030204" pitchFamily="18" charset="0"/>
                              <a:cs typeface="Times New Roman" panose="02020603050405020304" pitchFamily="18" charset="0"/>
                            </a:rPr>
                            <m:t>−1</m:t>
                          </m:r>
                        </m:sup>
                      </m:sSup>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oMath>
                  </m:oMathPara>
                </a14:m>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MV Boli" panose="02000500030200090000" pitchFamily="2" charset="0"/>
                        </a:rPr>
                        <m:t>ℒ</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m>
                                  <m:mPr>
                                    <m:mcs>
                                      <m:mc>
                                        <m:mcPr>
                                          <m:count m:val="3"/>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𝐼</m:t>
                                      </m:r>
                                    </m:e>
                                    <m:e>
                                      <m:r>
                                        <a:rPr lang="en-US" altLang="zh-CN" sz="1400" i="1">
                                          <a:latin typeface="Cambria Math" panose="02040503050406030204" pitchFamily="18" charset="0"/>
                                          <a:cs typeface="MV Boli" panose="02000500030200090000" pitchFamily="2" charset="0"/>
                                        </a:rPr>
                                        <m:t>0</m:t>
                                      </m:r>
                                    </m:e>
                                    <m:e>
                                      <m:r>
                                        <a:rPr lang="en-US" altLang="zh-CN" sz="1400" i="1">
                                          <a:latin typeface="Cambria Math" panose="02040503050406030204" pitchFamily="18" charset="0"/>
                                          <a:cs typeface="MV Boli" panose="02000500030200090000" pitchFamily="2" charset="0"/>
                                        </a:rPr>
                                        <m:t>0</m:t>
                                      </m:r>
                                    </m:e>
                                  </m:mr>
                                  <m:mr>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2,1</m:t>
                                                  </m:r>
                                                </m:sub>
                                              </m:sSub>
                                            </m:sub>
                                          </m:sSub>
                                        </m:e>
                                      </m:d>
                                    </m:e>
                                    <m:e>
                                      <m:r>
                                        <a:rPr lang="en-US" altLang="zh-CN" sz="1400" i="1">
                                          <a:latin typeface="Cambria Math" panose="02040503050406030204" pitchFamily="18" charset="0"/>
                                          <a:cs typeface="MV Boli" panose="02000500030200090000" pitchFamily="2" charset="0"/>
                                        </a:rPr>
                                        <m:t>𝐼</m:t>
                                      </m:r>
                                    </m:e>
                                    <m:e>
                                      <m:r>
                                        <a:rPr lang="en-US" altLang="zh-CN" sz="1400" i="1">
                                          <a:latin typeface="Cambria Math" panose="02040503050406030204" pitchFamily="18" charset="0"/>
                                          <a:cs typeface="MV Boli" panose="02000500030200090000" pitchFamily="2" charset="0"/>
                                        </a:rPr>
                                        <m:t>0</m:t>
                                      </m:r>
                                    </m:e>
                                  </m:mr>
                                  <m:mr>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3,1</m:t>
                                                  </m:r>
                                                </m:sub>
                                              </m:sSub>
                                            </m:sub>
                                          </m:sSub>
                                        </m:e>
                                      </m:d>
                                    </m:e>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3,2</m:t>
                                                  </m:r>
                                                </m:sub>
                                              </m:sSub>
                                            </m:sub>
                                          </m:sSub>
                                        </m:e>
                                      </m:d>
                                    </m:e>
                                    <m:e>
                                      <m:r>
                                        <a:rPr lang="en-US" altLang="zh-CN" sz="1400" i="1">
                                          <a:latin typeface="Cambria Math" panose="02040503050406030204" pitchFamily="18" charset="0"/>
                                          <a:cs typeface="MV Boli" panose="02000500030200090000" pitchFamily="2" charset="0"/>
                                        </a:rPr>
                                        <m:t>𝐼</m:t>
                                      </m:r>
                                    </m:e>
                                  </m:mr>
                                </m:m>
                              </m:e>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m:t>
                                      </m:r>
                                    </m:e>
                                    <m:e>
                                      <m:r>
                                        <a:rPr lang="en-US" altLang="zh-CN" sz="1400" i="1">
                                          <a:latin typeface="Cambria Math" panose="02040503050406030204" pitchFamily="18" charset="0"/>
                                          <a:cs typeface="MV Boli" panose="02000500030200090000" pitchFamily="2" charset="0"/>
                                        </a:rPr>
                                        <m:t>0</m:t>
                                      </m:r>
                                    </m:e>
                                  </m:mr>
                                  <m:mr>
                                    <m:e>
                                      <m:r>
                                        <a:rPr lang="en-US" altLang="zh-CN" sz="1400" i="1">
                                          <a:latin typeface="Cambria Math" panose="02040503050406030204" pitchFamily="18" charset="0"/>
                                          <a:cs typeface="MV Boli" panose="02000500030200090000" pitchFamily="2" charset="0"/>
                                        </a:rPr>
                                        <m:t>⋯</m:t>
                                      </m:r>
                                    </m:e>
                                    <m:e>
                                      <m:r>
                                        <a:rPr lang="en-US" altLang="zh-CN" sz="1400" i="1">
                                          <a:latin typeface="Cambria Math" panose="02040503050406030204" pitchFamily="18" charset="0"/>
                                          <a:cs typeface="MV Boli" panose="02000500030200090000" pitchFamily="2" charset="0"/>
                                        </a:rPr>
                                        <m:t>0</m:t>
                                      </m:r>
                                    </m:e>
                                  </m:mr>
                                  <m:mr>
                                    <m:e>
                                      <m:r>
                                        <a:rPr lang="en-US" altLang="zh-CN" sz="1400" i="1">
                                          <a:latin typeface="Cambria Math" panose="02040503050406030204" pitchFamily="18" charset="0"/>
                                          <a:cs typeface="MV Boli" panose="02000500030200090000" pitchFamily="2" charset="0"/>
                                        </a:rPr>
                                        <m:t>⋯</m:t>
                                      </m:r>
                                    </m:e>
                                    <m:e>
                                      <m:r>
                                        <a:rPr lang="en-US" altLang="zh-CN" sz="1400" i="1">
                                          <a:latin typeface="Cambria Math" panose="02040503050406030204" pitchFamily="18" charset="0"/>
                                          <a:cs typeface="MV Boli" panose="02000500030200090000" pitchFamily="2" charset="0"/>
                                        </a:rPr>
                                        <m:t>0</m:t>
                                      </m:r>
                                    </m:e>
                                  </m:mr>
                                </m:m>
                              </m:e>
                            </m:mr>
                            <m:mr>
                              <m:e>
                                <m:m>
                                  <m:mPr>
                                    <m:mcs>
                                      <m:mc>
                                        <m:mcPr>
                                          <m:count m:val="3"/>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  ⋮</m:t>
                                      </m:r>
                                    </m:e>
                                    <m:e>
                                      <m:r>
                                        <a:rPr lang="en-US" altLang="zh-CN" sz="1400" i="1">
                                          <a:latin typeface="Cambria Math" panose="02040503050406030204" pitchFamily="18" charset="0"/>
                                          <a:cs typeface="MV Boli" panose="02000500030200090000" pitchFamily="2" charset="0"/>
                                        </a:rPr>
                                        <m:t>      ⋮</m:t>
                                      </m:r>
                                    </m:e>
                                    <m:e>
                                      <m:r>
                                        <a:rPr lang="en-US" altLang="zh-CN" sz="1400" i="1">
                                          <a:latin typeface="Cambria Math" panose="02040503050406030204" pitchFamily="18" charset="0"/>
                                          <a:cs typeface="MV Boli" panose="02000500030200090000" pitchFamily="2" charset="0"/>
                                        </a:rPr>
                                        <m:t> ⋮</m:t>
                                      </m:r>
                                    </m:e>
                                  </m:mr>
                                  <m:mr>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,1</m:t>
                                                  </m:r>
                                                </m:sub>
                                              </m:sSub>
                                            </m:sub>
                                          </m:sSub>
                                        </m:e>
                                      </m:d>
                                    </m:e>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,2</m:t>
                                                  </m:r>
                                                </m:sub>
                                              </m:sSub>
                                            </m:sub>
                                          </m:sSub>
                                        </m:e>
                                      </m:d>
                                    </m:e>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𝑇</m:t>
                                                  </m:r>
                                                </m:e>
                                                <m:sub>
                                                  <m:r>
                                                    <a:rPr lang="en-US" altLang="zh-CN" sz="1400" i="1">
                                                      <a:latin typeface="Cambria Math" panose="02040503050406030204" pitchFamily="18" charset="0"/>
                                                      <a:cs typeface="MV Boli" panose="02000500030200090000" pitchFamily="2" charset="0"/>
                                                    </a:rPr>
                                                    <m:t>𝑛</m:t>
                                                  </m:r>
                                                  <m:r>
                                                    <a:rPr lang="en-US" altLang="zh-CN" sz="1400" i="1">
                                                      <a:latin typeface="Cambria Math" panose="02040503050406030204" pitchFamily="18" charset="0"/>
                                                      <a:cs typeface="MV Boli" panose="02000500030200090000" pitchFamily="2" charset="0"/>
                                                    </a:rPr>
                                                    <m:t>,3</m:t>
                                                  </m:r>
                                                </m:sub>
                                              </m:sSub>
                                            </m:sub>
                                          </m:sSub>
                                        </m:e>
                                      </m:d>
                                    </m:e>
                                  </m:mr>
                                </m:m>
                              </m:e>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r>
                                        <a:rPr lang="en-US" altLang="zh-CN" sz="1400" i="1">
                                          <a:latin typeface="Cambria Math" panose="02040503050406030204" pitchFamily="18" charset="0"/>
                                          <a:cs typeface="MV Boli" panose="02000500030200090000" pitchFamily="2" charset="0"/>
                                        </a:rPr>
                                        <m:t>⋱</m:t>
                                      </m:r>
                                    </m:e>
                                    <m:e>
                                      <m:r>
                                        <a:rPr lang="en-US" altLang="zh-CN" sz="1400" i="1">
                                          <a:latin typeface="Cambria Math" panose="02040503050406030204" pitchFamily="18" charset="0"/>
                                          <a:cs typeface="MV Boli" panose="02000500030200090000" pitchFamily="2" charset="0"/>
                                        </a:rPr>
                                        <m:t>⋮</m:t>
                                      </m:r>
                                    </m:e>
                                  </m:mr>
                                  <m:mr>
                                    <m:e>
                                      <m:r>
                                        <a:rPr lang="en-US" altLang="zh-CN" sz="1400" i="1">
                                          <a:latin typeface="Cambria Math" panose="02040503050406030204" pitchFamily="18" charset="0"/>
                                          <a:cs typeface="MV Boli" panose="02000500030200090000" pitchFamily="2" charset="0"/>
                                        </a:rPr>
                                        <m:t>⋯</m:t>
                                      </m:r>
                                    </m:e>
                                    <m:e>
                                      <m:r>
                                        <a:rPr lang="en-US" altLang="zh-CN" sz="1400" i="1">
                                          <a:latin typeface="Cambria Math" panose="02040503050406030204" pitchFamily="18" charset="0"/>
                                          <a:cs typeface="MV Boli" panose="02000500030200090000" pitchFamily="2" charset="0"/>
                                        </a:rPr>
                                        <m:t>𝐼</m:t>
                                      </m:r>
                                    </m:e>
                                  </m:mr>
                                </m:m>
                              </m:e>
                            </m:mr>
                          </m:m>
                        </m:e>
                      </m:d>
                      <m:r>
                        <a:rPr lang="en-US" altLang="zh-CN" sz="1400" i="1">
                          <a:latin typeface="Cambria Math" panose="02040503050406030204" pitchFamily="18" charset="0"/>
                          <a:cs typeface="Times New Roman" panose="02020603050405020304" pitchFamily="18" charset="0"/>
                        </a:rPr>
                        <m:t>∈</m:t>
                      </m:r>
                      <m:sSup>
                        <m:sSup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400" i="1">
                              <a:latin typeface="Cambria Math" panose="02040503050406030204" pitchFamily="18" charset="0"/>
                              <a:cs typeface="Times New Roman" panose="02020603050405020304" pitchFamily="18" charset="0"/>
                            </a:rPr>
                            <m:t>ℝ</m:t>
                          </m:r>
                        </m:e>
                        <m:sup>
                          <m:r>
                            <a:rPr lang="en-US" altLang="zh-CN" sz="1400" i="1">
                              <a:latin typeface="Cambria Math" panose="02040503050406030204" pitchFamily="18" charset="0"/>
                              <a:cs typeface="Times New Roman" panose="02020603050405020304" pitchFamily="18" charset="0"/>
                            </a:rPr>
                            <m:t>6</m:t>
                          </m:r>
                          <m:r>
                            <a:rPr lang="en-US" altLang="zh-CN" sz="1400" i="1">
                              <a:latin typeface="Cambria Math" panose="02040503050406030204" pitchFamily="18" charset="0"/>
                              <a:cs typeface="Times New Roman" panose="02020603050405020304" pitchFamily="18" charset="0"/>
                            </a:rPr>
                            <m:t>𝑛</m:t>
                          </m:r>
                          <m:r>
                            <a:rPr lang="en-US" altLang="zh-CN" sz="1400" i="1">
                              <a:latin typeface="Cambria Math" panose="02040503050406030204" pitchFamily="18" charset="0"/>
                              <a:cs typeface="Times New Roman" panose="02020603050405020304" pitchFamily="18" charset="0"/>
                            </a:rPr>
                            <m:t>×6</m:t>
                          </m:r>
                          <m:r>
                            <a:rPr lang="en-US" altLang="zh-CN" sz="1400" i="1">
                              <a:latin typeface="Cambria Math" panose="02040503050406030204" pitchFamily="18" charset="0"/>
                              <a:cs typeface="Times New Roman" panose="02020603050405020304" pitchFamily="18" charset="0"/>
                            </a:rPr>
                            <m:t>𝑛</m:t>
                          </m:r>
                        </m:sup>
                      </m:sSup>
                    </m:oMath>
                  </m:oMathPara>
                </a14:m>
                <a:endParaRPr lang="zh-CN" altLang="zh-CN" sz="1400" dirty="0">
                  <a:latin typeface="宋体" panose="02010600030101010101" pitchFamily="2" charset="-122"/>
                  <a:cs typeface="宋体"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2446118" y="3113329"/>
                <a:ext cx="4572000" cy="2030171"/>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01612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 Equations in Closed Form</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组合形式的动力学方程封闭解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1547664" y="1313350"/>
                <a:ext cx="6480720" cy="1483291"/>
              </a:xfrm>
              <a:prstGeom prst="rect">
                <a:avLst/>
              </a:prstGeom>
            </p:spPr>
            <p:txBody>
              <a:bodyPr wrap="square">
                <a:spAutoFit/>
              </a:bodyPr>
              <a:lstStyle/>
              <a:p>
                <a:pPr indent="266700">
                  <a:spcBef>
                    <a:spcPts val="600"/>
                  </a:spcBef>
                  <a:spcAft>
                    <a:spcPts val="600"/>
                  </a:spcAft>
                </a:pPr>
                <a14:m>
                  <m:oMath xmlns:m="http://schemas.openxmlformats.org/officeDocument/2006/math">
                    <m:r>
                      <a:rPr lang="en-US" altLang="zh-CN" sz="1400">
                        <a:latin typeface="Cambria Math" panose="02040503050406030204" pitchFamily="18" charset="0"/>
                        <a:cs typeface="Times New Roman" panose="02020603050405020304" pitchFamily="18" charset="0"/>
                      </a:rPr>
                      <m:t>Ѵ</m:t>
                    </m:r>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ℒ</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latin typeface="Cambria Math" panose="02040503050406030204" pitchFamily="18" charset="0"/>
                            <a:cs typeface="Times New Roman" panose="02020603050405020304" pitchFamily="18" charset="0"/>
                          </a:rPr>
                          <m:t>Ѵ</m:t>
                        </m:r>
                      </m:e>
                      <m:sub>
                        <m:r>
                          <a:rPr lang="en-US" altLang="zh-CN" sz="1400" i="1">
                            <a:latin typeface="Cambria Math" panose="02040503050406030204" pitchFamily="18" charset="0"/>
                            <a:cs typeface="Times New Roman" panose="02020603050405020304" pitchFamily="18" charset="0"/>
                          </a:rPr>
                          <m:t>𝑏𝑎𝑠𝑒</m:t>
                        </m:r>
                      </m:sub>
                    </m:sSub>
                    <m:r>
                      <a:rPr lang="en-US" altLang="zh-CN" sz="1400" i="1">
                        <a:latin typeface="Cambria Math" panose="02040503050406030204" pitchFamily="18" charset="0"/>
                        <a:cs typeface="Times New Roman" panose="02020603050405020304" pitchFamily="18" charset="0"/>
                      </a:rPr>
                      <m:t>)</m:t>
                    </m:r>
                  </m:oMath>
                </a14:m>
                <a:r>
                  <a:rPr lang="en-US" altLang="zh-CN" sz="1400" dirty="0">
                    <a:latin typeface="宋体" panose="02010600030101010101" pitchFamily="2" charset="-122"/>
                    <a:cs typeface="MV Boli" panose="02000500030200090000" pitchFamily="2" charset="0"/>
                  </a:rPr>
                  <a:t> (4-37)</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ℒ</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r>
                          <a:rPr lang="en-US" altLang="zh-CN" sz="1400" i="1">
                            <a:latin typeface="Cambria Math" panose="02040503050406030204" pitchFamily="18" charset="0"/>
                            <a:cs typeface="MV Boli" panose="02000500030200090000" pitchFamily="2" charset="0"/>
                          </a:rPr>
                          <m:t>−</m:t>
                        </m:r>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i="1">
                                    <a:latin typeface="Cambria Math" panose="02040503050406030204" pitchFamily="18" charset="0"/>
                                    <a:cs typeface="MV Boli" panose="02000500030200090000" pitchFamily="2" charset="0"/>
                                  </a:rPr>
                                  <m:t>𝒜</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sub>
                            </m:sSub>
                          </m:e>
                        </m:d>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a:latin typeface="Cambria Math" panose="02040503050406030204" pitchFamily="18" charset="0"/>
                                <a:cs typeface="Times New Roman" panose="02020603050405020304" pitchFamily="18" charset="0"/>
                              </a:rPr>
                              <m:t>Ⱳ</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a:latin typeface="Cambria Math" panose="02040503050406030204" pitchFamily="18" charset="0"/>
                                <a:cs typeface="Times New Roman" panose="02020603050405020304" pitchFamily="18" charset="0"/>
                              </a:rPr>
                              <m:t>Ѵ</m:t>
                            </m: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a:latin typeface="Cambria Math" panose="02040503050406030204" pitchFamily="18" charset="0"/>
                                    <a:cs typeface="Times New Roman" panose="02020603050405020304" pitchFamily="18" charset="0"/>
                                  </a:rPr>
                                  <m:t>Ѵ</m:t>
                                </m:r>
                              </m:e>
                              <m:sub>
                                <m:r>
                                  <a:rPr lang="en-US" altLang="zh-CN" sz="1400" i="1">
                                    <a:latin typeface="Cambria Math" panose="02040503050406030204" pitchFamily="18" charset="0"/>
                                    <a:cs typeface="Times New Roman" panose="02020603050405020304" pitchFamily="18" charset="0"/>
                                  </a:rPr>
                                  <m:t>𝑏𝑎𝑠𝑒</m:t>
                                </m:r>
                              </m:sub>
                            </m:sSub>
                          </m:e>
                        </m:d>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e>
                          <m:sub>
                            <m:r>
                              <a:rPr lang="en-US" altLang="zh-CN" sz="1400" i="1">
                                <a:latin typeface="Cambria Math" panose="02040503050406030204" pitchFamily="18" charset="0"/>
                                <a:cs typeface="Times New Roman" panose="02020603050405020304" pitchFamily="18" charset="0"/>
                              </a:rPr>
                              <m:t>𝑏𝑎𝑠𝑒</m:t>
                            </m:r>
                          </m:sub>
                        </m:sSub>
                      </m:e>
                    </m:d>
                  </m:oMath>
                </a14:m>
                <a:r>
                  <a:rPr lang="en-US" altLang="zh-CN" sz="1400" dirty="0">
                    <a:latin typeface="宋体" panose="02010600030101010101" pitchFamily="2" charset="-122"/>
                    <a:cs typeface="MV Boli" panose="02000500030200090000" pitchFamily="2" charset="0"/>
                  </a:rPr>
                  <a:t>  (4-38)</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r>
                      <a:rPr lang="en-US" altLang="zh-CN" sz="1400" i="1">
                        <a:latin typeface="Cambria Math" panose="02040503050406030204" pitchFamily="18" charset="0"/>
                        <a:cs typeface="MV Boli" panose="02000500030200090000" pitchFamily="2" charset="0"/>
                      </a:rPr>
                      <m:t>ℱ</m:t>
                    </m:r>
                    <m:r>
                      <a:rPr lang="en-US" altLang="zh-CN" sz="1400">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ℒ</m:t>
                        </m:r>
                      </m:e>
                      <m:sup>
                        <m:r>
                          <a:rPr lang="en-US" altLang="zh-CN" sz="1400" i="1">
                            <a:latin typeface="Cambria Math" panose="02040503050406030204" pitchFamily="18" charset="0"/>
                            <a:cs typeface="MV Boli" panose="02000500030200090000" pitchFamily="2" charset="0"/>
                          </a:rPr>
                          <m:t>𝑇</m:t>
                        </m:r>
                      </m:sup>
                    </m:sSup>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ℊ</m:t>
                    </m:r>
                    <m:acc>
                      <m:accPr>
                        <m:chr m:val="̇"/>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r>
                      <a:rPr lang="en-US" altLang="zh-CN" sz="1400" i="1">
                        <a:latin typeface="Cambria Math" panose="02040503050406030204" pitchFamily="18" charset="0"/>
                        <a:cs typeface="Times New Roman" panose="02020603050405020304" pitchFamily="18"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d>
                          <m:dPr>
                            <m:begChr m:val="["/>
                            <m:end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a:latin typeface="Cambria Math" panose="02040503050406030204" pitchFamily="18" charset="0"/>
                                    <a:cs typeface="Times New Roman" panose="02020603050405020304" pitchFamily="18" charset="0"/>
                                  </a:rPr>
                                  <m:t>Ѵ</m:t>
                                </m:r>
                              </m:sub>
                            </m:sSub>
                          </m:e>
                        </m:d>
                      </m:e>
                      <m:sup>
                        <m:r>
                          <a:rPr lang="en-US" altLang="zh-CN" sz="1400" i="1">
                            <a:latin typeface="Cambria Math" panose="02040503050406030204" pitchFamily="18" charset="0"/>
                            <a:cs typeface="MV Boli" panose="02000500030200090000" pitchFamily="2" charset="0"/>
                          </a:rPr>
                          <m:t>𝑇</m:t>
                        </m:r>
                      </m:sup>
                    </m:sSup>
                    <m:r>
                      <a:rPr lang="en-US" altLang="zh-CN" sz="1400" i="1">
                        <a:latin typeface="Cambria Math" panose="02040503050406030204" pitchFamily="18" charset="0"/>
                        <a:cs typeface="MV Boli" panose="02000500030200090000" pitchFamily="2" charset="0"/>
                      </a:rPr>
                      <m:t>ℊ</m:t>
                    </m:r>
                    <m:r>
                      <a:rPr lang="en-US" altLang="zh-CN" sz="1400">
                        <a:latin typeface="Cambria Math" panose="02040503050406030204" pitchFamily="18" charset="0"/>
                        <a:cs typeface="Times New Roman" panose="02020603050405020304" pitchFamily="18" charset="0"/>
                      </a:rPr>
                      <m:t>Ѵ+</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r>
                      <a:rPr lang="en-US" altLang="zh-CN" sz="1400" i="1">
                        <a:latin typeface="Cambria Math" panose="02040503050406030204" pitchFamily="18" charset="0"/>
                        <a:cs typeface="Times New Roman" panose="02020603050405020304" pitchFamily="18" charset="0"/>
                      </a:rPr>
                      <m:t>)</m:t>
                    </m:r>
                  </m:oMath>
                </a14:m>
                <a:r>
                  <a:rPr lang="en-US" altLang="zh-CN" sz="1400" dirty="0">
                    <a:latin typeface="宋体" panose="02010600030101010101" pitchFamily="2" charset="-122"/>
                    <a:cs typeface="MV Boli" panose="02000500030200090000" pitchFamily="2" charset="0"/>
                  </a:rPr>
                  <a:t>  (4-39)</a:t>
                </a:r>
                <a:endParaRPr lang="zh-CN" altLang="zh-CN" sz="1400" dirty="0">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r>
                      <a:rPr lang="en-US" altLang="zh-CN" sz="1400" i="1">
                        <a:latin typeface="Cambria Math" panose="02040503050406030204" pitchFamily="18" charset="0"/>
                        <a:cs typeface="MV Boli" panose="02000500030200090000" pitchFamily="2" charset="0"/>
                      </a:rPr>
                      <m:t>𝜏</m:t>
                    </m:r>
                    <m:r>
                      <a:rPr lang="en-US" altLang="zh-CN" sz="1400">
                        <a:latin typeface="Cambria Math" panose="02040503050406030204" pitchFamily="18" charset="0"/>
                        <a:cs typeface="MV Boli" panose="02000500030200090000" pitchFamily="2" charset="0"/>
                      </a:rPr>
                      <m:t>=</m:t>
                    </m:r>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𝒜</m:t>
                        </m:r>
                      </m:e>
                      <m:sup>
                        <m:r>
                          <a:rPr lang="en-US" altLang="zh-CN" sz="1400" i="1">
                            <a:latin typeface="Cambria Math" panose="02040503050406030204" pitchFamily="18" charset="0"/>
                            <a:cs typeface="MV Boli" panose="02000500030200090000" pitchFamily="2" charset="0"/>
                          </a:rPr>
                          <m:t>𝑇</m:t>
                        </m:r>
                      </m:sup>
                    </m:sSup>
                    <m:r>
                      <a:rPr lang="en-US" altLang="zh-CN" sz="1400" i="1">
                        <a:latin typeface="Cambria Math" panose="02040503050406030204" pitchFamily="18" charset="0"/>
                        <a:cs typeface="MV Boli" panose="02000500030200090000" pitchFamily="2" charset="0"/>
                      </a:rPr>
                      <m:t>ℱ</m:t>
                    </m:r>
                  </m:oMath>
                </a14:m>
                <a:r>
                  <a:rPr lang="en-US" altLang="zh-CN" sz="1400" dirty="0">
                    <a:latin typeface="宋体" panose="02010600030101010101" pitchFamily="2" charset="-122"/>
                    <a:cs typeface="MV Boli" panose="02000500030200090000" pitchFamily="2" charset="0"/>
                  </a:rPr>
                  <a:t>  (4-40)</a:t>
                </a:r>
                <a:endParaRPr lang="zh-CN" altLang="zh-CN" sz="1400" dirty="0">
                  <a:latin typeface="宋体" panose="02010600030101010101" pitchFamily="2" charset="-122"/>
                  <a:cs typeface="宋体" panose="0201060003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547664" y="1313350"/>
                <a:ext cx="6480720" cy="1483291"/>
              </a:xfrm>
              <a:prstGeom prst="rect">
                <a:avLst/>
              </a:prstGeom>
              <a:blipFill>
                <a:blip r:embed="rId3"/>
                <a:stretch>
                  <a:fillRect t="-410" b="-2869"/>
                </a:stretch>
              </a:blipFill>
            </p:spPr>
            <p:txBody>
              <a:bodyPr/>
              <a:lstStyle/>
              <a:p>
                <a:r>
                  <a:rPr lang="zh-CN" altLang="en-US">
                    <a:noFill/>
                  </a:rPr>
                  <a:t> </a:t>
                </a:r>
              </a:p>
            </p:txBody>
          </p:sp>
        </mc:Fallback>
      </mc:AlternateContent>
      <p:sp>
        <p:nvSpPr>
          <p:cNvPr id="3" name="矩形 2"/>
          <p:cNvSpPr/>
          <p:nvPr/>
        </p:nvSpPr>
        <p:spPr>
          <a:xfrm>
            <a:off x="1835696" y="997825"/>
            <a:ext cx="4572000" cy="377283"/>
          </a:xfrm>
          <a:prstGeom prst="rect">
            <a:avLst/>
          </a:prstGeom>
        </p:spPr>
        <p:txBody>
          <a:bodyPr>
            <a:spAutoFit/>
          </a:bodyPr>
          <a:lstStyle/>
          <a:p>
            <a:pPr>
              <a:lnSpc>
                <a:spcPct val="150000"/>
              </a:lnSpc>
            </a:pPr>
            <a:r>
              <a:rPr lang="zh-CN" altLang="en-US" sz="1400"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将前面</a:t>
            </a:r>
            <a:r>
              <a:rPr lang="zh-CN" altLang="en-US" sz="1400"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的组合</a:t>
            </a:r>
            <a:r>
              <a:rPr lang="zh-CN" altLang="en-US" sz="1400"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成矩阵</a:t>
            </a:r>
            <a:r>
              <a:rPr lang="zh-CN" altLang="en-US" sz="1400" dirty="0" smtClean="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rPr>
              <a:t>方程组改写</a:t>
            </a:r>
            <a:endParaRPr lang="zh-CN" altLang="en-US" sz="1400" dirty="0">
              <a:solidFill>
                <a:srgbClr val="002060"/>
              </a:solidFill>
              <a:latin typeface="Times New Roman" panose="02020603050405020304" pitchFamily="18" charset="0"/>
              <a:ea typeface="微软雅黑" panose="020B0503020204020204" charset="-122"/>
              <a:cs typeface="Times New Roman" panose="02020603050405020304" pitchFamily="18" charset="0"/>
              <a:sym typeface="+mn-ea"/>
            </a:endParaRPr>
          </a:p>
        </p:txBody>
      </p:sp>
      <mc:AlternateContent xmlns:mc="http://schemas.openxmlformats.org/markup-compatibility/2006" xmlns:a14="http://schemas.microsoft.com/office/drawing/2010/main">
        <mc:Choice Requires="a14">
          <p:sp>
            <p:nvSpPr>
              <p:cNvPr id="5" name="矩形 4"/>
              <p:cNvSpPr/>
              <p:nvPr/>
            </p:nvSpPr>
            <p:spPr>
              <a:xfrm>
                <a:off x="1691680" y="2888216"/>
                <a:ext cx="5526360" cy="324384"/>
              </a:xfrm>
              <a:prstGeom prst="rect">
                <a:avLst/>
              </a:prstGeom>
            </p:spPr>
            <p:txBody>
              <a:bodyPr wrap="square">
                <a:spAutoFit/>
              </a:bodyPr>
              <a:lstStyle/>
              <a:p>
                <a:r>
                  <a:rPr lang="zh-CN" altLang="zh-CN" sz="1400" b="1" dirty="0" smtClean="0">
                    <a:solidFill>
                      <a:srgbClr val="002060"/>
                    </a:solidFill>
                    <a:cs typeface="MV Boli" panose="02000500030200090000" pitchFamily="2" charset="0"/>
                  </a:rPr>
                  <a:t>考虑机器人末端执行器的外部力旋量</a:t>
                </a:r>
                <a14:m>
                  <m:oMath xmlns:m="http://schemas.openxmlformats.org/officeDocument/2006/math">
                    <m:sSub>
                      <m:sSubPr>
                        <m:ctrlPr>
                          <a:rPr lang="zh-CN" altLang="zh-CN" sz="1400" b="1" i="1">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1" i="1">
                            <a:solidFill>
                              <a:srgbClr val="002060"/>
                            </a:solidFill>
                            <a:latin typeface="Cambria Math" panose="02040503050406030204" pitchFamily="18" charset="0"/>
                            <a:cs typeface="Times New Roman" panose="02020603050405020304" pitchFamily="18" charset="0"/>
                          </a:rPr>
                          <m:t>𝓕</m:t>
                        </m:r>
                      </m:e>
                      <m:sub>
                        <m:r>
                          <a:rPr lang="en-US" altLang="zh-CN" sz="1400" b="1" i="1">
                            <a:solidFill>
                              <a:srgbClr val="002060"/>
                            </a:solidFill>
                            <a:latin typeface="Cambria Math" panose="02040503050406030204" pitchFamily="18" charset="0"/>
                            <a:cs typeface="Times New Roman" panose="02020603050405020304" pitchFamily="18" charset="0"/>
                          </a:rPr>
                          <m:t>𝒕𝒊𝒑</m:t>
                        </m:r>
                      </m:sub>
                    </m:sSub>
                  </m:oMath>
                </a14:m>
                <a:r>
                  <a:rPr lang="zh-CN" altLang="zh-CN" sz="1400" b="1" dirty="0">
                    <a:solidFill>
                      <a:srgbClr val="002060"/>
                    </a:solidFill>
                    <a:cs typeface="MV Boli" panose="02000500030200090000" pitchFamily="2" charset="0"/>
                  </a:rPr>
                  <a:t>，则其逆动力学方程可写为</a:t>
                </a:r>
                <a:endParaRPr lang="zh-CN" altLang="en-US" sz="1400" b="1" dirty="0">
                  <a:solidFill>
                    <a:srgbClr val="00206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691680" y="2888216"/>
                <a:ext cx="5526360" cy="324384"/>
              </a:xfrm>
              <a:prstGeom prst="rect">
                <a:avLst/>
              </a:prstGeom>
              <a:blipFill>
                <a:blip r:embed="rId4"/>
                <a:stretch>
                  <a:fillRect l="-331" t="-7547" b="-94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240642" y="3267259"/>
                <a:ext cx="3795783" cy="375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𝜏</m:t>
                      </m:r>
                      <m:r>
                        <a:rPr lang="zh-CN" altLang="en-US" sz="1600" i="0">
                          <a:latin typeface="Cambria Math" panose="02040503050406030204" pitchFamily="18" charset="0"/>
                        </a:rPr>
                        <m:t>=</m:t>
                      </m:r>
                      <m:r>
                        <a:rPr lang="zh-CN" altLang="en-US" sz="1600" i="1">
                          <a:latin typeface="Cambria Math" panose="02040503050406030204" pitchFamily="18" charset="0"/>
                        </a:rPr>
                        <m:t>𝑀</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r>
                        <a:rPr lang="zh-CN" altLang="en-US" sz="1600" i="1">
                          <a:latin typeface="Cambria Math" panose="02040503050406030204" pitchFamily="18" charset="0"/>
                        </a:rPr>
                        <m:t>𝑐</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r>
                            <a:rPr lang="zh-CN" altLang="en-US" sz="1600" i="0">
                              <a:latin typeface="Cambria Math" panose="02040503050406030204" pitchFamily="18" charset="0"/>
                            </a:rPr>
                            <m:t>, </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r>
                        <a:rPr lang="zh-CN" altLang="en-US" sz="1600" i="0">
                          <a:latin typeface="Cambria Math" panose="02040503050406030204" pitchFamily="18" charset="0"/>
                        </a:rPr>
                        <m:t>+</m:t>
                      </m:r>
                      <m:r>
                        <a:rPr lang="zh-CN" altLang="en-US" sz="1600" b="1" i="1">
                          <a:latin typeface="Cambria Math" panose="02040503050406030204" pitchFamily="18" charset="0"/>
                        </a:rPr>
                        <m:t>𝒈</m:t>
                      </m:r>
                      <m:d>
                        <m:dPr>
                          <m:ctrlPr>
                            <a:rPr lang="zh-CN" altLang="en-US" sz="1600" b="1" i="1">
                              <a:latin typeface="Cambria Math" panose="02040503050406030204" pitchFamily="18" charset="0"/>
                            </a:rPr>
                          </m:ctrlPr>
                        </m:dPr>
                        <m:e>
                          <m:r>
                            <a:rPr lang="zh-CN" altLang="en-US" sz="1600" b="0" i="1">
                              <a:latin typeface="Cambria Math" panose="02040503050406030204" pitchFamily="18" charset="0"/>
                            </a:rPr>
                            <m:t>𝜃</m:t>
                          </m:r>
                        </m:e>
                      </m:d>
                      <m:r>
                        <a:rPr lang="zh-CN" altLang="en-US" sz="1600" b="0" i="0">
                          <a:latin typeface="Cambria Math" panose="02040503050406030204" pitchFamily="18" charset="0"/>
                        </a:rPr>
                        <m:t>+</m:t>
                      </m:r>
                      <m:sSup>
                        <m:sSupPr>
                          <m:ctrlPr>
                            <a:rPr lang="zh-CN" altLang="en-US" sz="1600" b="0" i="1">
                              <a:latin typeface="Cambria Math" panose="02040503050406030204" pitchFamily="18" charset="0"/>
                            </a:rPr>
                          </m:ctrlPr>
                        </m:sSupPr>
                        <m:e>
                          <m:r>
                            <a:rPr lang="zh-CN" altLang="en-US" sz="1600" b="0" i="1">
                              <a:latin typeface="Cambria Math" panose="02040503050406030204" pitchFamily="18" charset="0"/>
                            </a:rPr>
                            <m:t>𝐽</m:t>
                          </m:r>
                        </m:e>
                        <m:sup>
                          <m:r>
                            <a:rPr lang="zh-CN" altLang="en-US" sz="1600" b="0" i="1">
                              <a:latin typeface="Cambria Math" panose="02040503050406030204" pitchFamily="18" charset="0"/>
                            </a:rPr>
                            <m:t>𝑇</m:t>
                          </m:r>
                        </m:sup>
                      </m:sSup>
                      <m:d>
                        <m:dPr>
                          <m:ctrlPr>
                            <a:rPr lang="zh-CN" altLang="en-US" sz="1600" b="0" i="1">
                              <a:latin typeface="Cambria Math" panose="02040503050406030204" pitchFamily="18" charset="0"/>
                            </a:rPr>
                          </m:ctrlPr>
                        </m:dPr>
                        <m:e>
                          <m:r>
                            <a:rPr lang="zh-CN" altLang="en-US" sz="1600" b="0" i="1">
                              <a:latin typeface="Cambria Math" panose="02040503050406030204" pitchFamily="18" charset="0"/>
                            </a:rPr>
                            <m:t>𝜃</m:t>
                          </m:r>
                        </m:e>
                      </m:d>
                      <m:sSub>
                        <m:sSubPr>
                          <m:ctrlPr>
                            <a:rPr lang="zh-CN" altLang="en-US" sz="1600" b="0" i="1">
                              <a:latin typeface="Cambria Math" panose="02040503050406030204" pitchFamily="18" charset="0"/>
                            </a:rPr>
                          </m:ctrlPr>
                        </m:sSubPr>
                        <m:e>
                          <m:r>
                            <a:rPr lang="zh-CN" altLang="en-US" sz="1600" b="0" i="0">
                              <a:latin typeface="Cambria Math" panose="02040503050406030204" pitchFamily="18" charset="0"/>
                            </a:rPr>
                            <m:t>ℱ</m:t>
                          </m:r>
                        </m:e>
                        <m:sub>
                          <m:r>
                            <a:rPr lang="zh-CN" altLang="en-US" sz="1600" b="0" i="1">
                              <a:latin typeface="Cambria Math" panose="02040503050406030204" pitchFamily="18" charset="0"/>
                            </a:rPr>
                            <m:t>𝑡𝑖𝑝</m:t>
                          </m:r>
                        </m:sub>
                      </m:sSub>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2240642" y="3267259"/>
                <a:ext cx="3795783" cy="375167"/>
              </a:xfrm>
              <a:prstGeom prst="rect">
                <a:avLst/>
              </a:prstGeom>
              <a:blipFill>
                <a:blip r:embed="rId5"/>
                <a:stretch>
                  <a:fillRect b="-64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240642" y="3642426"/>
                <a:ext cx="4779630" cy="324384"/>
              </a:xfrm>
              <a:prstGeom prst="rect">
                <a:avLst/>
              </a:prstGeom>
            </p:spPr>
            <p:txBody>
              <a:bodyPr wrap="square">
                <a:spAutoFit/>
              </a:bodyPr>
              <a:lstStyle/>
              <a:p>
                <a14:m>
                  <m:oMath xmlns:m="http://schemas.openxmlformats.org/officeDocument/2006/math">
                    <m:sSup>
                      <m:sSup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𝐽</m:t>
                        </m:r>
                      </m:e>
                      <m:sup>
                        <m:r>
                          <a:rPr lang="en-US" altLang="zh-CN" sz="1400" i="1">
                            <a:latin typeface="Cambria Math" panose="02040503050406030204" pitchFamily="18" charset="0"/>
                            <a:cs typeface="MV Boli" panose="02000500030200090000" pitchFamily="2" charset="0"/>
                          </a:rPr>
                          <m:t>𝑇</m:t>
                        </m:r>
                      </m:sup>
                    </m:sSup>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oMath>
                </a14:m>
                <a:r>
                  <a:rPr lang="zh-CN" altLang="zh-CN" sz="1400" dirty="0">
                    <a:cs typeface="MV Boli" panose="02000500030200090000" pitchFamily="2" charset="0"/>
                  </a:rPr>
                  <a:t>表示和</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oMath>
                </a14:m>
                <a:r>
                  <a:rPr lang="zh-CN" altLang="zh-CN" sz="1400" dirty="0">
                    <a:cs typeface="MV Boli" panose="02000500030200090000" pitchFamily="2" charset="0"/>
                  </a:rPr>
                  <a:t>在同一个坐标系中的正运动学雅可比矩阵</a:t>
                </a:r>
                <a:endParaRPr lang="zh-CN" altLang="en-US" sz="1400" dirty="0"/>
              </a:p>
            </p:txBody>
          </p:sp>
        </mc:Choice>
        <mc:Fallback xmlns="">
          <p:sp>
            <p:nvSpPr>
              <p:cNvPr id="8" name="矩形 7"/>
              <p:cNvSpPr>
                <a:spLocks noRot="1" noChangeAspect="1" noMove="1" noResize="1" noEditPoints="1" noAdjustHandles="1" noChangeArrowheads="1" noChangeShapeType="1" noTextEdit="1"/>
              </p:cNvSpPr>
              <p:nvPr/>
            </p:nvSpPr>
            <p:spPr>
              <a:xfrm>
                <a:off x="2240642" y="3642426"/>
                <a:ext cx="4779630" cy="324384"/>
              </a:xfrm>
              <a:prstGeom prst="rect">
                <a:avLst/>
              </a:prstGeom>
              <a:blipFill>
                <a:blip r:embed="rId6"/>
                <a:stretch>
                  <a:fillRect t="-7547" b="-94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40642" y="4017666"/>
                <a:ext cx="2287614" cy="307777"/>
              </a:xfrm>
              <a:prstGeom prst="rect">
                <a:avLst/>
              </a:prstGeom>
            </p:spPr>
            <p:txBody>
              <a:bodyPr wrap="none">
                <a:spAutoFit/>
              </a:bodyPr>
              <a:lstStyle/>
              <a:p>
                <a14:m>
                  <m:oMath xmlns:m="http://schemas.openxmlformats.org/officeDocument/2006/math">
                    <m:r>
                      <a:rPr lang="en-US" altLang="zh-CN" sz="1400" i="1">
                        <a:latin typeface="Cambria Math" panose="02040503050406030204" pitchFamily="18" charset="0"/>
                        <a:cs typeface="MV Boli" panose="02000500030200090000" pitchFamily="2" charset="0"/>
                      </a:rPr>
                      <m:t>𝑀</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𝒜</m:t>
                        </m:r>
                      </m:e>
                      <m:sup>
                        <m:r>
                          <a:rPr lang="en-US" altLang="zh-CN" sz="1400" i="1">
                            <a:latin typeface="Cambria Math" panose="02040503050406030204" pitchFamily="18" charset="0"/>
                            <a:cs typeface="MV Boli" panose="02000500030200090000" pitchFamily="2" charset="0"/>
                          </a:rPr>
                          <m:t>𝑇</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ℒ</m:t>
                        </m:r>
                      </m:e>
                      <m:sup>
                        <m:r>
                          <a:rPr lang="en-US" altLang="zh-CN" sz="1400" i="1">
                            <a:latin typeface="Cambria Math" panose="02040503050406030204" pitchFamily="18" charset="0"/>
                            <a:cs typeface="MV Boli" panose="02000500030200090000" pitchFamily="2" charset="0"/>
                          </a:rPr>
                          <m:t>𝑇</m:t>
                        </m:r>
                      </m:sup>
                    </m:sSup>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ℊℒ</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𝒜</m:t>
                    </m:r>
                  </m:oMath>
                </a14:m>
                <a:r>
                  <a:rPr lang="en-US" altLang="zh-CN" sz="1400" dirty="0">
                    <a:latin typeface="宋体" panose="02010600030101010101" pitchFamily="2" charset="-122"/>
                    <a:cs typeface="MV Boli" panose="02000500030200090000" pitchFamily="2" charset="0"/>
                  </a:rPr>
                  <a:t> </a:t>
                </a:r>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2240642" y="4017666"/>
                <a:ext cx="2287614" cy="307777"/>
              </a:xfrm>
              <a:prstGeom prst="rect">
                <a:avLst/>
              </a:prstGeom>
              <a:blipFill>
                <a:blip r:embed="rId7"/>
                <a:stretch>
                  <a:fillRect b="-78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2200800" y="4325443"/>
                <a:ext cx="5107503" cy="335476"/>
              </a:xfrm>
              <a:prstGeom prst="rect">
                <a:avLst/>
              </a:prstGeom>
            </p:spPr>
            <p:txBody>
              <a:bodyPr wrap="square">
                <a:spAutoFit/>
              </a:bodyPr>
              <a:lstStyle/>
              <a:p>
                <a14:m>
                  <m:oMath xmlns:m="http://schemas.openxmlformats.org/officeDocument/2006/math">
                    <m:r>
                      <a:rPr lang="en-US" altLang="zh-CN" sz="1400" i="1">
                        <a:latin typeface="Cambria Math" panose="02040503050406030204" pitchFamily="18" charset="0"/>
                        <a:cs typeface="MV Boli" panose="02000500030200090000" pitchFamily="2" charset="0"/>
                      </a:rPr>
                      <m:t>𝑐</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r>
                          <a:rPr lang="en-US" altLang="zh-CN" sz="1400" i="1">
                            <a:latin typeface="Cambria Math" panose="02040503050406030204" pitchFamily="18" charset="0"/>
                            <a:cs typeface="MV Boli" panose="02000500030200090000" pitchFamily="2" charset="0"/>
                          </a:rPr>
                          <m:t>, </m:t>
                        </m:r>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e>
                    </m:d>
                    <m:r>
                      <a:rPr lang="en-US" altLang="zh-CN" sz="1400"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𝒜</m:t>
                        </m:r>
                      </m:e>
                      <m:sup>
                        <m:r>
                          <a:rPr lang="en-US" altLang="zh-CN" sz="1400" i="1">
                            <a:latin typeface="Cambria Math" panose="02040503050406030204" pitchFamily="18" charset="0"/>
                            <a:cs typeface="MV Boli" panose="02000500030200090000" pitchFamily="2" charset="0"/>
                          </a:rPr>
                          <m:t>𝑇</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ℒ</m:t>
                        </m:r>
                      </m:e>
                      <m:sup>
                        <m:r>
                          <a:rPr lang="en-US" altLang="zh-CN" sz="1400" i="1">
                            <a:latin typeface="Cambria Math" panose="02040503050406030204" pitchFamily="18" charset="0"/>
                            <a:cs typeface="MV Boli" panose="02000500030200090000" pitchFamily="2" charset="0"/>
                          </a:rPr>
                          <m:t>𝑇</m:t>
                        </m:r>
                      </m:sup>
                    </m:sSup>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ℊℒ</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d>
                          <m:dPr>
                            <m:begChr m:val="["/>
                            <m:end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i="1">
                                    <a:latin typeface="Cambria Math" panose="02040503050406030204" pitchFamily="18" charset="0"/>
                                    <a:cs typeface="MV Boli" panose="02000500030200090000" pitchFamily="2" charset="0"/>
                                  </a:rPr>
                                  <m:t>𝒜</m:t>
                                </m:r>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sub>
                            </m:sSub>
                          </m:e>
                        </m:d>
                        <m:r>
                          <a:rPr lang="en-US" altLang="zh-CN" sz="1400">
                            <a:latin typeface="Cambria Math" panose="02040503050406030204" pitchFamily="18" charset="0"/>
                            <a:cs typeface="Times New Roman" panose="02020603050405020304" pitchFamily="18" charset="0"/>
                          </a:rPr>
                          <m:t>Ⱳ</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d>
                              <m:dPr>
                                <m:begChr m:val="["/>
                                <m:end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m:rPr>
                                    <m:sty m:val="p"/>
                                  </m:rPr>
                                  <a:rPr lang="en-US" altLang="zh-CN" sz="1400">
                                    <a:latin typeface="Cambria Math" panose="02040503050406030204" pitchFamily="18" charset="0"/>
                                    <a:cs typeface="MV Boli" panose="02000500030200090000" pitchFamily="2" charset="0"/>
                                  </a:rPr>
                                  <m:t>a</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d</m:t>
                                    </m:r>
                                  </m:e>
                                  <m:sub>
                                    <m:r>
                                      <a:rPr lang="en-US" altLang="zh-CN" sz="1400">
                                        <a:latin typeface="Cambria Math" panose="02040503050406030204" pitchFamily="18" charset="0"/>
                                        <a:cs typeface="Times New Roman" panose="02020603050405020304" pitchFamily="18" charset="0"/>
                                      </a:rPr>
                                      <m:t>Ѵ</m:t>
                                    </m:r>
                                  </m:sub>
                                </m:sSub>
                              </m:e>
                            </m:d>
                          </m:e>
                          <m:sup>
                            <m:r>
                              <a:rPr lang="en-US" altLang="zh-CN" sz="1400" i="1">
                                <a:latin typeface="Cambria Math" panose="02040503050406030204" pitchFamily="18" charset="0"/>
                                <a:cs typeface="MV Boli" panose="02000500030200090000" pitchFamily="2" charset="0"/>
                              </a:rPr>
                              <m:t>𝑇</m:t>
                            </m:r>
                          </m:sup>
                        </m:sSup>
                        <m:r>
                          <a:rPr lang="en-US" altLang="zh-CN" sz="1400" i="1">
                            <a:latin typeface="Cambria Math" panose="02040503050406030204" pitchFamily="18" charset="0"/>
                            <a:cs typeface="MV Boli" panose="02000500030200090000" pitchFamily="2" charset="0"/>
                          </a:rPr>
                          <m:t>ℊ</m:t>
                        </m:r>
                      </m:e>
                    </m:d>
                    <m:r>
                      <a:rPr lang="en-US" altLang="zh-CN" sz="1400" i="1">
                        <a:latin typeface="Cambria Math" panose="02040503050406030204" pitchFamily="18" charset="0"/>
                        <a:cs typeface="MV Boli" panose="02000500030200090000" pitchFamily="2" charset="0"/>
                      </a:rPr>
                      <m:t>ℒ</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𝒜</m:t>
                    </m:r>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oMath>
                </a14:m>
                <a:r>
                  <a:rPr lang="en-US" altLang="zh-CN" sz="1400" dirty="0">
                    <a:latin typeface="宋体" panose="02010600030101010101" pitchFamily="2" charset="-122"/>
                    <a:cs typeface="MV Boli" panose="02000500030200090000" pitchFamily="2" charset="0"/>
                  </a:rPr>
                  <a:t> </a:t>
                </a:r>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2200800" y="4325443"/>
                <a:ext cx="5107503" cy="335476"/>
              </a:xfrm>
              <a:prstGeom prst="rect">
                <a:avLst/>
              </a:prstGeom>
              <a:blipFill>
                <a:blip r:embed="rId8"/>
                <a:stretch>
                  <a:fillRect b="-18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240642" y="4692476"/>
                <a:ext cx="2510495" cy="315984"/>
              </a:xfrm>
              <a:prstGeom prst="rect">
                <a:avLst/>
              </a:prstGeom>
            </p:spPr>
            <p:txBody>
              <a:bodyPr wrap="none">
                <a:spAutoFit/>
              </a:bodyPr>
              <a:lstStyle/>
              <a:p>
                <a14:m>
                  <m:oMath xmlns:m="http://schemas.openxmlformats.org/officeDocument/2006/math">
                    <m:r>
                      <a:rPr lang="en-US" altLang="zh-CN" sz="1400" b="1" i="1">
                        <a:latin typeface="Cambria Math" panose="02040503050406030204" pitchFamily="18" charset="0"/>
                        <a:cs typeface="MV Boli" panose="02000500030200090000" pitchFamily="2" charset="0"/>
                      </a:rPr>
                      <m:t>𝒈</m:t>
                    </m:r>
                    <m:d>
                      <m:dPr>
                        <m:ctrlPr>
                          <a:rPr lang="zh-CN" altLang="zh-CN" sz="1400" b="1"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b="1"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𝒜</m:t>
                        </m:r>
                      </m:e>
                      <m:sup>
                        <m:r>
                          <a:rPr lang="en-US" altLang="zh-CN" sz="1400" i="1">
                            <a:latin typeface="Cambria Math" panose="02040503050406030204" pitchFamily="18" charset="0"/>
                            <a:cs typeface="MV Boli" panose="02000500030200090000" pitchFamily="2" charset="0"/>
                          </a:rPr>
                          <m:t>𝑇</m:t>
                        </m:r>
                      </m:sup>
                    </m:sSup>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ℒ</m:t>
                        </m:r>
                      </m:e>
                      <m:sup>
                        <m:r>
                          <a:rPr lang="en-US" altLang="zh-CN" sz="1400" i="1">
                            <a:latin typeface="Cambria Math" panose="02040503050406030204" pitchFamily="18" charset="0"/>
                            <a:cs typeface="MV Boli" panose="02000500030200090000" pitchFamily="2" charset="0"/>
                          </a:rPr>
                          <m:t>𝑇</m:t>
                        </m:r>
                      </m:sup>
                    </m:sSup>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r>
                      <a:rPr lang="en-US" altLang="zh-CN" sz="1400" i="1">
                        <a:latin typeface="Cambria Math" panose="02040503050406030204" pitchFamily="18" charset="0"/>
                        <a:cs typeface="MV Boli" panose="02000500030200090000" pitchFamily="2" charset="0"/>
                      </a:rPr>
                      <m:t>ℊℒ</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400">
                                <a:latin typeface="Cambria Math" panose="02040503050406030204" pitchFamily="18" charset="0"/>
                                <a:cs typeface="Times New Roman" panose="02020603050405020304" pitchFamily="18" charset="0"/>
                              </a:rPr>
                              <m:t>Ѵ</m:t>
                            </m:r>
                          </m:e>
                        </m:acc>
                      </m:e>
                      <m:sub>
                        <m:r>
                          <a:rPr lang="en-US" altLang="zh-CN" sz="1400" i="1">
                            <a:latin typeface="Cambria Math" panose="02040503050406030204" pitchFamily="18" charset="0"/>
                            <a:cs typeface="Times New Roman" panose="02020603050405020304" pitchFamily="18" charset="0"/>
                          </a:rPr>
                          <m:t>𝑏𝑎𝑠𝑒</m:t>
                        </m:r>
                      </m:sub>
                    </m:sSub>
                  </m:oMath>
                </a14:m>
                <a:r>
                  <a:rPr lang="en-US" altLang="zh-CN" sz="1400" dirty="0">
                    <a:latin typeface="宋体" panose="02010600030101010101" pitchFamily="2" charset="-122"/>
                    <a:cs typeface="MV Boli" panose="02000500030200090000" pitchFamily="2" charset="0"/>
                  </a:rPr>
                  <a:t> </a:t>
                </a:r>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2240642" y="4692476"/>
                <a:ext cx="2510495" cy="315984"/>
              </a:xfrm>
              <a:prstGeom prst="rect">
                <a:avLst/>
              </a:prstGeom>
              <a:blipFill>
                <a:blip r:embed="rId9"/>
                <a:stretch>
                  <a:fillRect b="-5769"/>
                </a:stretch>
              </a:blipFill>
            </p:spPr>
            <p:txBody>
              <a:bodyPr/>
              <a:lstStyle/>
              <a:p>
                <a:r>
                  <a:rPr lang="zh-CN" altLang="en-US">
                    <a:noFill/>
                  </a:rPr>
                  <a:t> </a:t>
                </a:r>
              </a:p>
            </p:txBody>
          </p:sp>
        </mc:Fallback>
      </mc:AlternateContent>
      <p:sp>
        <p:nvSpPr>
          <p:cNvPr id="14" name="圆角矩形 13"/>
          <p:cNvSpPr/>
          <p:nvPr/>
        </p:nvSpPr>
        <p:spPr>
          <a:xfrm>
            <a:off x="2051720" y="3267259"/>
            <a:ext cx="5040560" cy="174120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439197" y="673441"/>
            <a:ext cx="2276585"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逆</a:t>
            </a:r>
            <a:r>
              <a:rPr lang="zh-CN" altLang="zh-CN" b="1" dirty="0" smtClean="0">
                <a:solidFill>
                  <a:srgbClr val="002060"/>
                </a:solidFill>
                <a:latin typeface="Calibri" panose="020F0502020204030204" pitchFamily="34" charset="0"/>
                <a:cs typeface="Times New Roman" panose="02020603050405020304" pitchFamily="18" charset="0"/>
              </a:rPr>
              <a:t>动力学方程</a:t>
            </a:r>
            <a:r>
              <a:rPr lang="zh-CN" altLang="zh-CN" b="1" dirty="0">
                <a:solidFill>
                  <a:srgbClr val="002060"/>
                </a:solidFill>
                <a:latin typeface="Calibri" panose="020F0502020204030204" pitchFamily="34" charset="0"/>
                <a:cs typeface="Times New Roman" panose="02020603050405020304" pitchFamily="18" charset="0"/>
              </a:rPr>
              <a:t>封闭解</a:t>
            </a:r>
            <a:endParaRPr lang="zh-CN" altLang="en-US" b="1" dirty="0">
              <a:solidFill>
                <a:srgbClr val="002060"/>
              </a:solidFill>
            </a:endParaRPr>
          </a:p>
        </p:txBody>
      </p:sp>
    </p:spTree>
    <p:extLst>
      <p:ext uri="{BB962C8B-B14F-4D97-AF65-F5344CB8AC3E}">
        <p14:creationId xmlns:p14="http://schemas.microsoft.com/office/powerpoint/2010/main" val="1672379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015663"/>
          </a:xfrm>
          <a:prstGeom prst="rect">
            <a:avLst/>
          </a:prstGeom>
        </p:spPr>
        <p:txBody>
          <a:bodyPr wrap="square">
            <a:spAutoFit/>
          </a:bodyPr>
          <a:lstStyle/>
          <a:p>
            <a:r>
              <a:rPr lang="zh-CN" altLang="zh-CN" sz="1200" dirty="0"/>
              <a:t>在描述复合机器人、人形机器人等具有复杂运动链的动力学计算中，随着多体动力学的发展，机器人动力学多采用空间向量表示法中的运动树、运动环来对机器人的机构进行抽象，分别对应串联机器人和并联机器人的动力学分析。</a:t>
            </a:r>
          </a:p>
        </p:txBody>
      </p:sp>
      <p:sp>
        <p:nvSpPr>
          <p:cNvPr id="7" name="文本框 6"/>
          <p:cNvSpPr txBox="1"/>
          <p:nvPr/>
        </p:nvSpPr>
        <p:spPr>
          <a:xfrm>
            <a:off x="4319270" y="1707654"/>
            <a:ext cx="4285178" cy="461665"/>
          </a:xfrm>
          <a:prstGeom prst="rect">
            <a:avLst/>
          </a:prstGeom>
          <a:noFill/>
        </p:spPr>
        <p:txBody>
          <a:bodyPr wrap="square" rtlCol="0" anchor="t">
            <a:spAutoFit/>
          </a:bodyPr>
          <a:lstStyle/>
          <a:p>
            <a:r>
              <a:rPr lang="zh-CN" altLang="en-US" sz="2400" b="1" dirty="0" smtClean="0">
                <a:latin typeface="Arial" panose="020B0604020202020204" pitchFamily="34" charset="0"/>
                <a:ea typeface="微软雅黑" panose="020B0503020204020204" charset="-122"/>
                <a:sym typeface="+mn-ea"/>
              </a:rPr>
              <a:t>空间向量表示法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10980323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4170047" y="3651870"/>
            <a:ext cx="4453048" cy="113728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044149"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运动向量和力向量</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276879" y="2017635"/>
                <a:ext cx="1813445" cy="4651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𝑥</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𝑦</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𝑧</m:t>
                                  </m:r>
                                </m:sub>
                              </m:sSub>
                            </m:e>
                          </m:d>
                        </m:e>
                        <m:sup>
                          <m:r>
                            <a:rPr lang="zh-CN" altLang="en-US" i="1">
                              <a:latin typeface="Cambria Math" panose="02040503050406030204" pitchFamily="18" charset="0"/>
                            </a:rPr>
                            <m:t>𝑇</m:t>
                          </m:r>
                        </m:sup>
                      </m:sSup>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276879" y="2017635"/>
                <a:ext cx="1813445" cy="465192"/>
              </a:xfrm>
              <a:prstGeom prst="rect">
                <a:avLst/>
              </a:prstGeom>
              <a:blipFill>
                <a:blip r:embed="rId3"/>
                <a:stretch>
                  <a:fillRect b="-2632"/>
                </a:stretch>
              </a:blipFill>
            </p:spPr>
            <p:txBody>
              <a:bodyPr/>
              <a:lstStyle/>
              <a:p>
                <a:r>
                  <a:rPr lang="zh-CN" altLang="en-US">
                    <a:noFill/>
                  </a:rPr>
                  <a:t> </a:t>
                </a:r>
              </a:p>
            </p:txBody>
          </p:sp>
        </mc:Fallback>
      </mc:AlternateContent>
      <p:sp>
        <p:nvSpPr>
          <p:cNvPr id="3" name="矩形 2"/>
          <p:cNvSpPr/>
          <p:nvPr/>
        </p:nvSpPr>
        <p:spPr>
          <a:xfrm>
            <a:off x="4480077" y="1296317"/>
            <a:ext cx="156966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笛卡尔坐标系</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276879" y="1584031"/>
                <a:ext cx="2195921"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𝑣</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𝑥</m:t>
                          </m:r>
                        </m:sub>
                      </m:sSub>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𝑦</m:t>
                          </m:r>
                        </m:sub>
                      </m:sSub>
                      <m:r>
                        <a:rPr lang="zh-CN" altLang="en-US" i="1">
                          <a:latin typeface="Cambria Math" panose="02040503050406030204" pitchFamily="18" charset="0"/>
                        </a:rPr>
                        <m:t>𝑗</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𝑧</m:t>
                          </m:r>
                        </m:sub>
                      </m:sSub>
                      <m:r>
                        <a:rPr lang="zh-CN" altLang="en-US" i="1">
                          <a:latin typeface="Cambria Math" panose="02040503050406030204" pitchFamily="18" charset="0"/>
                        </a:rPr>
                        <m:t>𝑘</m:t>
                      </m:r>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276879" y="1584031"/>
                <a:ext cx="2195921" cy="391261"/>
              </a:xfrm>
              <a:prstGeom prst="rect">
                <a:avLst/>
              </a:prstGeom>
              <a:blipFill>
                <a:blip r:embed="rId4"/>
                <a:stretch>
                  <a:fillRect b="-7813"/>
                </a:stretch>
              </a:blipFill>
            </p:spPr>
            <p:txBody>
              <a:bodyPr/>
              <a:lstStyle/>
              <a:p>
                <a:r>
                  <a:rPr lang="zh-CN" altLang="en-US">
                    <a:noFill/>
                  </a:rPr>
                  <a:t> </a:t>
                </a:r>
              </a:p>
            </p:txBody>
          </p:sp>
        </mc:Fallback>
      </mc:AlternateContent>
      <p:sp>
        <p:nvSpPr>
          <p:cNvPr id="6" name="矩形 5"/>
          <p:cNvSpPr/>
          <p:nvPr/>
        </p:nvSpPr>
        <p:spPr>
          <a:xfrm>
            <a:off x="238125" y="1605960"/>
            <a:ext cx="1170513"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三维</a:t>
            </a:r>
            <a:r>
              <a:rPr lang="zh-CN" altLang="zh-CN" dirty="0" smtClean="0">
                <a:latin typeface="Calibri" panose="020F0502020204030204" pitchFamily="34" charset="0"/>
                <a:cs typeface="Times New Roman" panose="02020603050405020304" pitchFamily="18" charset="0"/>
              </a:rPr>
              <a:t>向量</a:t>
            </a:r>
            <a:r>
              <a:rPr lang="en-US" altLang="zh-CN" dirty="0" smtClean="0">
                <a:latin typeface="Calibri" panose="020F0502020204030204" pitchFamily="34" charset="0"/>
                <a:cs typeface="Times New Roman" panose="02020603050405020304" pitchFamily="18" charset="0"/>
              </a:rPr>
              <a:t>:</a:t>
            </a:r>
            <a:endParaRPr lang="zh-CN" altLang="en-US" dirty="0"/>
          </a:p>
        </p:txBody>
      </p:sp>
      <p:sp>
        <p:nvSpPr>
          <p:cNvPr id="8" name="矩形 7"/>
          <p:cNvSpPr/>
          <p:nvPr/>
        </p:nvSpPr>
        <p:spPr>
          <a:xfrm>
            <a:off x="238125" y="2119763"/>
            <a:ext cx="1170513"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坐标</a:t>
            </a:r>
            <a:r>
              <a:rPr lang="zh-CN" altLang="zh-CN" dirty="0" smtClean="0">
                <a:latin typeface="Calibri" panose="020F0502020204030204" pitchFamily="34" charset="0"/>
                <a:cs typeface="Times New Roman" panose="02020603050405020304" pitchFamily="18" charset="0"/>
              </a:rPr>
              <a:t>向量</a:t>
            </a:r>
            <a:r>
              <a:rPr lang="en-US" altLang="zh-CN" dirty="0" smtClean="0">
                <a:latin typeface="Calibri" panose="020F0502020204030204" pitchFamily="34" charset="0"/>
                <a:cs typeface="Times New Roman" panose="02020603050405020304" pitchFamily="18" charset="0"/>
              </a:rPr>
              <a:t>:</a:t>
            </a:r>
            <a:endParaRPr lang="zh-CN" altLang="en-US" dirty="0"/>
          </a:p>
        </p:txBody>
      </p:sp>
      <p:pic>
        <p:nvPicPr>
          <p:cNvPr id="26" name="图片 25"/>
          <p:cNvPicPr/>
          <p:nvPr/>
        </p:nvPicPr>
        <p:blipFill rotWithShape="1">
          <a:blip r:embed="rId5"/>
          <a:srcRect r="45716"/>
          <a:stretch/>
        </p:blipFill>
        <p:spPr>
          <a:xfrm>
            <a:off x="4261609" y="1721708"/>
            <a:ext cx="2303416" cy="1501338"/>
          </a:xfrm>
          <a:prstGeom prst="rect">
            <a:avLst/>
          </a:prstGeom>
        </p:spPr>
      </p:pic>
      <p:pic>
        <p:nvPicPr>
          <p:cNvPr id="27" name="图片 26"/>
          <p:cNvPicPr/>
          <p:nvPr/>
        </p:nvPicPr>
        <p:blipFill rotWithShape="1">
          <a:blip r:embed="rId5"/>
          <a:srcRect l="59253"/>
          <a:stretch/>
        </p:blipFill>
        <p:spPr>
          <a:xfrm>
            <a:off x="6681563" y="1730538"/>
            <a:ext cx="1941532" cy="1483678"/>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1408638" y="2933358"/>
                <a:ext cx="2195921"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𝑣</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𝑥</m:t>
                          </m:r>
                        </m:sub>
                      </m:sSub>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𝑦</m:t>
                          </m:r>
                        </m:sub>
                      </m:sSub>
                      <m:r>
                        <a:rPr lang="zh-CN" altLang="en-US" i="1">
                          <a:latin typeface="Cambria Math" panose="02040503050406030204" pitchFamily="18" charset="0"/>
                        </a:rPr>
                        <m:t>𝑗</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𝑧</m:t>
                          </m:r>
                        </m:sub>
                      </m:sSub>
                      <m:r>
                        <a:rPr lang="zh-CN" altLang="en-US" i="1">
                          <a:latin typeface="Cambria Math" panose="02040503050406030204" pitchFamily="18" charset="0"/>
                        </a:rPr>
                        <m:t>𝑘</m:t>
                      </m:r>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408638" y="2933358"/>
                <a:ext cx="2195921" cy="391261"/>
              </a:xfrm>
              <a:prstGeom prst="rect">
                <a:avLst/>
              </a:prstGeom>
              <a:blipFill>
                <a:blip r:embed="rId6"/>
                <a:stretch>
                  <a:fillRect b="-9375"/>
                </a:stretch>
              </a:blipFill>
            </p:spPr>
            <p:txBody>
              <a:bodyPr/>
              <a:lstStyle/>
              <a:p>
                <a:r>
                  <a:rPr lang="zh-CN" altLang="en-US">
                    <a:noFill/>
                  </a:rPr>
                  <a:t> </a:t>
                </a:r>
              </a:p>
            </p:txBody>
          </p:sp>
        </mc:Fallback>
      </mc:AlternateContent>
      <p:sp>
        <p:nvSpPr>
          <p:cNvPr id="10" name="矩形 9"/>
          <p:cNvSpPr/>
          <p:nvPr/>
        </p:nvSpPr>
        <p:spPr>
          <a:xfrm>
            <a:off x="6750961" y="1281192"/>
            <a:ext cx="156966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普吕克坐标系</a:t>
            </a:r>
            <a:endParaRPr lang="zh-CN" altLang="en-US" dirty="0"/>
          </a:p>
        </p:txBody>
      </p:sp>
      <mc:AlternateContent xmlns:mc="http://schemas.openxmlformats.org/markup-compatibility/2006" xmlns:a14="http://schemas.microsoft.com/office/drawing/2010/main">
        <mc:Choice Requires="a14">
          <p:sp>
            <p:nvSpPr>
              <p:cNvPr id="13" name="矩形 12"/>
              <p:cNvSpPr/>
              <p:nvPr/>
            </p:nvSpPr>
            <p:spPr>
              <a:xfrm>
                <a:off x="396001" y="3492386"/>
                <a:ext cx="3599935" cy="944746"/>
              </a:xfrm>
              <a:prstGeom prst="rect">
                <a:avLst/>
              </a:prstGeom>
            </p:spPr>
            <p:txBody>
              <a:bodyPr wrap="square">
                <a:spAutoFit/>
              </a:bodyPr>
              <a:lstStyle/>
              <a:p>
                <a:r>
                  <a:rPr lang="zh-CN" altLang="zh-CN" dirty="0">
                    <a:latin typeface="Calibri" panose="020F0502020204030204" pitchFamily="34" charset="0"/>
                    <a:cs typeface="Times New Roman" panose="02020603050405020304" pitchFamily="18" charset="0"/>
                  </a:rPr>
                  <a:t>假设</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p</m:t>
                    </m:r>
                  </m:oMath>
                </a14:m>
                <a:r>
                  <a:rPr lang="zh-CN" altLang="zh-CN" dirty="0">
                    <a:latin typeface="Calibri" panose="020F0502020204030204" pitchFamily="34" charset="0"/>
                    <a:cs typeface="Times New Roman" panose="02020603050405020304" pitchFamily="18" charset="0"/>
                  </a:rPr>
                  <a:t>为刚体上的任意一点，那么刚体上任意</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p</m:t>
                    </m:r>
                  </m:oMath>
                </a14:m>
                <a:r>
                  <a:rPr lang="zh-CN" altLang="zh-CN" dirty="0">
                    <a:latin typeface="Calibri" panose="020F0502020204030204" pitchFamily="34" charset="0"/>
                    <a:cs typeface="Times New Roman" panose="02020603050405020304" pitchFamily="18" charset="0"/>
                  </a:rPr>
                  <a:t>点的运动速度</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cs typeface="Times New Roman" panose="02020603050405020304" pitchFamily="18" charset="0"/>
                          </a:rPr>
                          <m:t>𝑣</m:t>
                        </m:r>
                      </m:e>
                      <m:sub>
                        <m:r>
                          <a:rPr lang="en-US" altLang="zh-CN" i="1">
                            <a:latin typeface="Cambria Math" panose="02040503050406030204" pitchFamily="18" charset="0"/>
                            <a:cs typeface="Times New Roman" panose="02020603050405020304" pitchFamily="18" charset="0"/>
                          </a:rPr>
                          <m:t>𝑝</m:t>
                        </m:r>
                      </m:sub>
                    </m:sSub>
                  </m:oMath>
                </a14:m>
                <a:r>
                  <a:rPr lang="zh-CN" altLang="zh-CN" dirty="0">
                    <a:latin typeface="Calibri" panose="020F0502020204030204" pitchFamily="34" charset="0"/>
                    <a:cs typeface="Times New Roman" panose="02020603050405020304" pitchFamily="18" charset="0"/>
                  </a:rPr>
                  <a:t>可表示成：</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396001" y="3492386"/>
                <a:ext cx="3599935" cy="944746"/>
              </a:xfrm>
              <a:prstGeom prst="rect">
                <a:avLst/>
              </a:prstGeom>
              <a:blipFill>
                <a:blip r:embed="rId7"/>
                <a:stretch>
                  <a:fillRect l="-1523" t="-5161" b="-70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136974" y="4356602"/>
                <a:ext cx="2010999" cy="432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𝑝</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r>
                            <a:rPr lang="zh-CN" altLang="en-US" i="1">
                              <a:latin typeface="Cambria Math" panose="02040503050406030204" pitchFamily="18" charset="0"/>
                            </a:rPr>
                            <m:t>𝑜</m:t>
                          </m:r>
                        </m:sub>
                      </m:sSub>
                      <m:r>
                        <a:rPr lang="zh-CN" altLang="en-US" i="0">
                          <a:latin typeface="Cambria Math" panose="02040503050406030204" pitchFamily="18" charset="0"/>
                        </a:rPr>
                        <m:t>+</m:t>
                      </m:r>
                      <m:r>
                        <a:rPr lang="zh-CN" altLang="en-US" i="1">
                          <a:latin typeface="Cambria Math" panose="02040503050406030204" pitchFamily="18" charset="0"/>
                        </a:rPr>
                        <m:t>𝜔</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𝑂𝑃</m:t>
                          </m:r>
                        </m:e>
                      </m:acc>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136974" y="4356602"/>
                <a:ext cx="2010999" cy="432554"/>
              </a:xfrm>
              <a:prstGeom prst="rect">
                <a:avLst/>
              </a:prstGeom>
              <a:blipFill>
                <a:blip r:embed="rId8"/>
                <a:stretch>
                  <a:fillRect b="-14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4201062" y="3769385"/>
                <a:ext cx="4305496" cy="667747"/>
              </a:xfrm>
              <a:prstGeom prst="rect">
                <a:avLst/>
              </a:prstGeom>
            </p:spPr>
            <p:txBody>
              <a:bodyPr wrap="square">
                <a:spAutoFit/>
              </a:bodyPr>
              <a:lstStyle/>
              <a:p>
                <a:r>
                  <a:rPr lang="zh-CN" altLang="zh-CN" dirty="0" smtClean="0">
                    <a:solidFill>
                      <a:srgbClr val="FF0000"/>
                    </a:solidFill>
                    <a:latin typeface="Calibri" panose="020F0502020204030204" pitchFamily="34" charset="0"/>
                    <a:cs typeface="Times New Roman" panose="02020603050405020304" pitchFamily="18" charset="0"/>
                  </a:rPr>
                  <a:t>该刚体的运动由</a:t>
                </a:r>
                <a14:m>
                  <m:oMath xmlns:m="http://schemas.openxmlformats.org/officeDocument/2006/math">
                    <m:r>
                      <m:rPr>
                        <m:sty m:val="p"/>
                      </m:rPr>
                      <a:rPr lang="en-US" altLang="zh-CN">
                        <a:solidFill>
                          <a:srgbClr val="FF0000"/>
                        </a:solidFill>
                        <a:latin typeface="Cambria Math" panose="02040503050406030204" pitchFamily="18" charset="0"/>
                        <a:cs typeface="Times New Roman" panose="02020603050405020304" pitchFamily="18" charset="0"/>
                      </a:rPr>
                      <m:t>p</m:t>
                    </m:r>
                    <m:r>
                      <a:rPr lang="zh-CN" altLang="zh-CN">
                        <a:solidFill>
                          <a:srgbClr val="FF0000"/>
                        </a:solidFill>
                        <a:latin typeface="Cambria Math" panose="02040503050406030204" pitchFamily="18" charset="0"/>
                        <a:cs typeface="Times New Roman" panose="02020603050405020304" pitchFamily="18" charset="0"/>
                      </a:rPr>
                      <m:t>、</m:t>
                    </m:r>
                    <m:sSub>
                      <m:sSubPr>
                        <m:ctrlPr>
                          <a:rPr lang="zh-CN" altLang="zh-CN" i="1">
                            <a:solidFill>
                              <a:srgbClr val="FF0000"/>
                            </a:solidFill>
                            <a:effectLst/>
                            <a:latin typeface="Cambria Math" panose="02040503050406030204" pitchFamily="18" charset="0"/>
                            <a:ea typeface="Cambria Math" panose="020405030504060302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𝑣</m:t>
                        </m:r>
                      </m:e>
                      <m:sub>
                        <m:r>
                          <a:rPr lang="en-US" altLang="zh-CN" i="1">
                            <a:solidFill>
                              <a:srgbClr val="FF0000"/>
                            </a:solidFill>
                            <a:latin typeface="Cambria Math" panose="02040503050406030204" pitchFamily="18" charset="0"/>
                            <a:cs typeface="Times New Roman" panose="02020603050405020304" pitchFamily="18" charset="0"/>
                          </a:rPr>
                          <m:t>𝑝</m:t>
                        </m:r>
                      </m:sub>
                    </m:sSub>
                  </m:oMath>
                </a14:m>
                <a:r>
                  <a:rPr lang="zh-CN" altLang="zh-CN" dirty="0">
                    <a:solidFill>
                      <a:srgbClr val="FF0000"/>
                    </a:solidFill>
                    <a:latin typeface="Calibri" panose="020F0502020204030204" pitchFamily="34" charset="0"/>
                    <a:cs typeface="Times New Roman" panose="02020603050405020304" pitchFamily="18" charset="0"/>
                  </a:rPr>
                  <a:t>、</a:t>
                </a:r>
                <a14:m>
                  <m:oMath xmlns:m="http://schemas.openxmlformats.org/officeDocument/2006/math">
                    <m:r>
                      <a:rPr lang="en-US" altLang="zh-CN" i="1">
                        <a:solidFill>
                          <a:srgbClr val="FF0000"/>
                        </a:solidFill>
                        <a:latin typeface="Cambria Math" panose="02040503050406030204" pitchFamily="18" charset="0"/>
                        <a:cs typeface="Times New Roman" panose="02020603050405020304" pitchFamily="18" charset="0"/>
                      </a:rPr>
                      <m:t>𝜔</m:t>
                    </m:r>
                  </m:oMath>
                </a14:m>
                <a:r>
                  <a:rPr lang="zh-CN" altLang="zh-CN" dirty="0">
                    <a:solidFill>
                      <a:srgbClr val="FF0000"/>
                    </a:solidFill>
                    <a:latin typeface="Calibri" panose="020F0502020204030204" pitchFamily="34" charset="0"/>
                    <a:cs typeface="Times New Roman" panose="02020603050405020304" pitchFamily="18" charset="0"/>
                  </a:rPr>
                  <a:t>表达和由</a:t>
                </a:r>
                <a14:m>
                  <m:oMath xmlns:m="http://schemas.openxmlformats.org/officeDocument/2006/math">
                    <m:r>
                      <m:rPr>
                        <m:sty m:val="p"/>
                      </m:rPr>
                      <a:rPr lang="en-US" altLang="zh-CN">
                        <a:solidFill>
                          <a:srgbClr val="FF0000"/>
                        </a:solidFill>
                        <a:latin typeface="Cambria Math" panose="02040503050406030204" pitchFamily="18" charset="0"/>
                        <a:cs typeface="Times New Roman" panose="02020603050405020304" pitchFamily="18" charset="0"/>
                      </a:rPr>
                      <m:t>O</m:t>
                    </m:r>
                  </m:oMath>
                </a14:m>
                <a:r>
                  <a:rPr lang="zh-CN" altLang="zh-CN" dirty="0">
                    <a:solidFill>
                      <a:srgbClr val="FF0000"/>
                    </a:solidFill>
                    <a:latin typeface="Calibri" panose="020F0502020204030204" pitchFamily="34" charset="0"/>
                    <a:cs typeface="Times New Roman" panose="02020603050405020304" pitchFamily="18" charset="0"/>
                  </a:rPr>
                  <a:t>、</a:t>
                </a:r>
                <a14:m>
                  <m:oMath xmlns:m="http://schemas.openxmlformats.org/officeDocument/2006/math">
                    <m:sSub>
                      <m:sSubPr>
                        <m:ctrlPr>
                          <a:rPr lang="zh-CN" altLang="zh-CN" i="1">
                            <a:solidFill>
                              <a:srgbClr val="FF0000"/>
                            </a:solidFill>
                            <a:effectLst/>
                            <a:latin typeface="Cambria Math" panose="02040503050406030204" pitchFamily="18" charset="0"/>
                            <a:ea typeface="Cambria Math" panose="020405030504060302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𝑣</m:t>
                        </m:r>
                      </m:e>
                      <m:sub>
                        <m:r>
                          <a:rPr lang="en-US" altLang="zh-CN" i="1">
                            <a:solidFill>
                              <a:srgbClr val="FF0000"/>
                            </a:solidFill>
                            <a:latin typeface="Cambria Math" panose="02040503050406030204" pitchFamily="18" charset="0"/>
                            <a:cs typeface="Times New Roman" panose="02020603050405020304" pitchFamily="18" charset="0"/>
                          </a:rPr>
                          <m:t>𝑜</m:t>
                        </m:r>
                      </m:sub>
                    </m:sSub>
                  </m:oMath>
                </a14:m>
                <a:r>
                  <a:rPr lang="zh-CN" altLang="zh-CN" dirty="0">
                    <a:solidFill>
                      <a:srgbClr val="FF0000"/>
                    </a:solidFill>
                    <a:latin typeface="Calibri" panose="020F0502020204030204" pitchFamily="34" charset="0"/>
                    <a:cs typeface="Times New Roman" panose="02020603050405020304" pitchFamily="18" charset="0"/>
                  </a:rPr>
                  <a:t>，</a:t>
                </a:r>
                <a14:m>
                  <m:oMath xmlns:m="http://schemas.openxmlformats.org/officeDocument/2006/math">
                    <m:r>
                      <a:rPr lang="en-US" altLang="zh-CN" i="1">
                        <a:solidFill>
                          <a:srgbClr val="FF0000"/>
                        </a:solidFill>
                        <a:latin typeface="Cambria Math" panose="02040503050406030204" pitchFamily="18" charset="0"/>
                        <a:cs typeface="Times New Roman" panose="02020603050405020304" pitchFamily="18" charset="0"/>
                      </a:rPr>
                      <m:t>𝜔</m:t>
                    </m:r>
                  </m:oMath>
                </a14:m>
                <a:r>
                  <a:rPr lang="zh-CN" altLang="zh-CN" dirty="0">
                    <a:solidFill>
                      <a:srgbClr val="FF0000"/>
                    </a:solidFill>
                    <a:latin typeface="Calibri" panose="020F0502020204030204" pitchFamily="34" charset="0"/>
                    <a:cs typeface="Times New Roman" panose="02020603050405020304" pitchFamily="18" charset="0"/>
                  </a:rPr>
                  <a:t>表达是一样</a:t>
                </a:r>
                <a:r>
                  <a:rPr lang="zh-CN" altLang="zh-CN" dirty="0" smtClean="0">
                    <a:solidFill>
                      <a:srgbClr val="FF0000"/>
                    </a:solidFill>
                    <a:latin typeface="Calibri" panose="020F0502020204030204" pitchFamily="34" charset="0"/>
                    <a:cs typeface="Times New Roman" panose="02020603050405020304" pitchFamily="18" charset="0"/>
                  </a:rPr>
                  <a:t>的</a:t>
                </a:r>
                <a:r>
                  <a:rPr lang="en-US" altLang="zh-CN" dirty="0" smtClean="0">
                    <a:solidFill>
                      <a:srgbClr val="FF0000"/>
                    </a:solidFill>
                    <a:latin typeface="Calibri" panose="020F0502020204030204" pitchFamily="34" charset="0"/>
                    <a:cs typeface="Times New Roman" panose="02020603050405020304" pitchFamily="18" charset="0"/>
                  </a:rPr>
                  <a:t>!</a:t>
                </a:r>
                <a:endParaRPr lang="zh-CN" altLang="en-US" dirty="0">
                  <a:solidFill>
                    <a:srgbClr val="FF0000"/>
                  </a:solidFill>
                </a:endParaRPr>
              </a:p>
            </p:txBody>
          </p:sp>
        </mc:Choice>
        <mc:Fallback xmlns="">
          <p:sp>
            <p:nvSpPr>
              <p:cNvPr id="24" name="矩形 23"/>
              <p:cNvSpPr>
                <a:spLocks noRot="1" noChangeAspect="1" noMove="1" noResize="1" noEditPoints="1" noAdjustHandles="1" noChangeArrowheads="1" noChangeShapeType="1" noTextEdit="1"/>
              </p:cNvSpPr>
              <p:nvPr/>
            </p:nvSpPr>
            <p:spPr>
              <a:xfrm>
                <a:off x="4201062" y="3769385"/>
                <a:ext cx="4305496" cy="667747"/>
              </a:xfrm>
              <a:prstGeom prst="rect">
                <a:avLst/>
              </a:prstGeom>
              <a:blipFill>
                <a:blip r:embed="rId9"/>
                <a:stretch>
                  <a:fillRect l="-1133" t="-7273" r="-6516"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300024" y="2627298"/>
                <a:ext cx="1895712" cy="382477"/>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rPr>
                      <m:t>𝑣</m:t>
                    </m:r>
                  </m:oMath>
                </a14:m>
                <a:r>
                  <a:rPr lang="zh-CN" altLang="zh-CN" dirty="0"/>
                  <a:t>与</a:t>
                </a:r>
                <a14:m>
                  <m:oMath xmlns:m="http://schemas.openxmlformats.org/officeDocument/2006/math">
                    <m:bar>
                      <m:barPr>
                        <m:ctrlPr>
                          <a:rPr lang="zh-CN" altLang="zh-CN" i="1">
                            <a:latin typeface="Cambria Math" panose="02040503050406030204" pitchFamily="18" charset="0"/>
                          </a:rPr>
                        </m:ctrlPr>
                      </m:barPr>
                      <m:e>
                        <m:r>
                          <a:rPr lang="en-US" altLang="zh-CN" i="1">
                            <a:latin typeface="Cambria Math" panose="02040503050406030204" pitchFamily="18" charset="0"/>
                          </a:rPr>
                          <m:t>𝑣</m:t>
                        </m:r>
                      </m:e>
                    </m:bar>
                  </m:oMath>
                </a14:m>
                <a:r>
                  <a:rPr lang="zh-CN" altLang="zh-CN" dirty="0"/>
                  <a:t>之间的</a:t>
                </a:r>
                <a:r>
                  <a:rPr lang="zh-CN" altLang="zh-CN" dirty="0" smtClean="0"/>
                  <a:t>关系</a:t>
                </a:r>
                <a:r>
                  <a:rPr lang="en-US" altLang="zh-CN" dirty="0" smtClean="0"/>
                  <a:t>:</a:t>
                </a:r>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300024" y="2627298"/>
                <a:ext cx="1895712" cy="382477"/>
              </a:xfrm>
              <a:prstGeom prst="rect">
                <a:avLst/>
              </a:prstGeom>
              <a:blipFill>
                <a:blip r:embed="rId10"/>
                <a:stretch>
                  <a:fillRect t="-14286" r="-2572" b="-222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89070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044149"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运动向量和力向量</a:t>
            </a:r>
            <a:endParaRPr lang="zh-CN" altLang="en-US" b="1" dirty="0">
              <a:solidFill>
                <a:srgbClr val="002060"/>
              </a:solidFill>
            </a:endParaRPr>
          </a:p>
        </p:txBody>
      </p:sp>
      <p:sp>
        <p:nvSpPr>
          <p:cNvPr id="3" name="矩形 2"/>
          <p:cNvSpPr/>
          <p:nvPr/>
        </p:nvSpPr>
        <p:spPr>
          <a:xfrm>
            <a:off x="794485" y="1211314"/>
            <a:ext cx="156966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笛卡尔坐标系</a:t>
            </a:r>
            <a:endParaRPr lang="zh-CN" altLang="en-US" dirty="0"/>
          </a:p>
        </p:txBody>
      </p:sp>
      <p:pic>
        <p:nvPicPr>
          <p:cNvPr id="26" name="图片 25"/>
          <p:cNvPicPr/>
          <p:nvPr/>
        </p:nvPicPr>
        <p:blipFill rotWithShape="1">
          <a:blip r:embed="rId3"/>
          <a:srcRect r="45716"/>
          <a:stretch/>
        </p:blipFill>
        <p:spPr>
          <a:xfrm>
            <a:off x="323013" y="1675762"/>
            <a:ext cx="2303416" cy="1501338"/>
          </a:xfrm>
          <a:prstGeom prst="rect">
            <a:avLst/>
          </a:prstGeom>
        </p:spPr>
      </p:pic>
      <p:pic>
        <p:nvPicPr>
          <p:cNvPr id="27" name="图片 26"/>
          <p:cNvPicPr/>
          <p:nvPr/>
        </p:nvPicPr>
        <p:blipFill rotWithShape="1">
          <a:blip r:embed="rId3"/>
          <a:srcRect l="59253"/>
          <a:stretch/>
        </p:blipFill>
        <p:spPr>
          <a:xfrm>
            <a:off x="3307864" y="1707206"/>
            <a:ext cx="1941532" cy="1483678"/>
          </a:xfrm>
          <a:prstGeom prst="rect">
            <a:avLst/>
          </a:prstGeom>
        </p:spPr>
      </p:pic>
      <p:sp>
        <p:nvSpPr>
          <p:cNvPr id="10" name="矩形 9"/>
          <p:cNvSpPr/>
          <p:nvPr/>
        </p:nvSpPr>
        <p:spPr>
          <a:xfrm>
            <a:off x="3622462" y="1214915"/>
            <a:ext cx="156966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普吕克坐标系</a:t>
            </a:r>
            <a:endParaRPr lang="zh-CN" altLang="en-US" dirty="0"/>
          </a:p>
        </p:txBody>
      </p:sp>
      <p:sp>
        <p:nvSpPr>
          <p:cNvPr id="4" name="矩形 3"/>
          <p:cNvSpPr/>
          <p:nvPr/>
        </p:nvSpPr>
        <p:spPr>
          <a:xfrm>
            <a:off x="414403" y="3478512"/>
            <a:ext cx="1632178" cy="369332"/>
          </a:xfrm>
          <a:prstGeom prst="rect">
            <a:avLst/>
          </a:prstGeom>
        </p:spPr>
        <p:txBody>
          <a:bodyPr wrap="none">
            <a:spAutoFit/>
          </a:bodyPr>
          <a:lstStyle/>
          <a:p>
            <a:r>
              <a:rPr lang="zh-CN" altLang="zh-CN" dirty="0"/>
              <a:t>单位运动</a:t>
            </a:r>
            <a:r>
              <a:rPr lang="zh-CN" altLang="zh-CN" dirty="0" smtClean="0"/>
              <a:t>向量</a:t>
            </a:r>
            <a:r>
              <a:rPr lang="en-US" altLang="zh-CN" dirty="0" smtClean="0"/>
              <a:t>:</a:t>
            </a:r>
            <a:endParaRPr lang="zh-CN" altLang="en-US" dirty="0"/>
          </a:p>
        </p:txBody>
      </p:sp>
      <mc:AlternateContent xmlns:mc="http://schemas.openxmlformats.org/markup-compatibility/2006" xmlns:a14="http://schemas.microsoft.com/office/drawing/2010/main">
        <mc:Choice Requires="a14">
          <p:sp>
            <p:nvSpPr>
              <p:cNvPr id="7" name="矩形 6"/>
              <p:cNvSpPr/>
              <p:nvPr/>
            </p:nvSpPr>
            <p:spPr>
              <a:xfrm>
                <a:off x="2139346" y="3342985"/>
                <a:ext cx="3829318"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𝒟</m:t>
                          </m:r>
                        </m:e>
                        <m:sub>
                          <m:r>
                            <a:rPr lang="zh-CN" altLang="en-US" i="1">
                              <a:latin typeface="Cambria Math" panose="02040503050406030204" pitchFamily="18" charset="0"/>
                            </a:rPr>
                            <m:t>𝑜</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𝑥</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𝑦</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𝑧</m:t>
                              </m:r>
                            </m:sub>
                          </m:sSub>
                        </m:e>
                      </m:d>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𝑀</m:t>
                          </m:r>
                        </m:e>
                        <m:sup>
                          <m:r>
                            <a:rPr lang="zh-CN" altLang="en-US" i="0">
                              <a:latin typeface="Cambria Math" panose="02040503050406030204" pitchFamily="18" charset="0"/>
                            </a:rPr>
                            <m:t>6</m:t>
                          </m:r>
                        </m:sup>
                      </m:sSup>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2139346" y="3342985"/>
                <a:ext cx="3829318" cy="504369"/>
              </a:xfrm>
              <a:prstGeom prst="rect">
                <a:avLst/>
              </a:prstGeom>
              <a:blipFill>
                <a:blip r:embed="rId4"/>
                <a:stretch>
                  <a:fillRect/>
                </a:stretch>
              </a:blipFill>
            </p:spPr>
            <p:txBody>
              <a:bodyPr/>
              <a:lstStyle/>
              <a:p>
                <a:r>
                  <a:rPr lang="zh-CN" altLang="en-US">
                    <a:noFill/>
                  </a:rPr>
                  <a:t> </a:t>
                </a:r>
              </a:p>
            </p:txBody>
          </p:sp>
        </mc:Fallback>
      </mc:AlternateContent>
      <p:sp>
        <p:nvSpPr>
          <p:cNvPr id="11" name="矩形 10"/>
          <p:cNvSpPr/>
          <p:nvPr/>
        </p:nvSpPr>
        <p:spPr>
          <a:xfrm>
            <a:off x="414403" y="3962063"/>
            <a:ext cx="4801314"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刚体的运动向量采用空间向量的形式表示为：</a:t>
            </a:r>
            <a:endParaRPr lang="zh-CN" altLang="en-US" dirty="0"/>
          </a:p>
        </p:txBody>
      </p:sp>
      <mc:AlternateContent xmlns:mc="http://schemas.openxmlformats.org/markup-compatibility/2006" xmlns:a14="http://schemas.microsoft.com/office/drawing/2010/main">
        <mc:Choice Requires="a14">
          <p:sp>
            <p:nvSpPr>
              <p:cNvPr id="12" name="矩形 11"/>
              <p:cNvSpPr/>
              <p:nvPr/>
            </p:nvSpPr>
            <p:spPr>
              <a:xfrm>
                <a:off x="1265625" y="4445125"/>
                <a:ext cx="6330636" cy="4223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v</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𝑥</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𝑦</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𝑧</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𝑥</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𝑦</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𝑧</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265625" y="4445125"/>
                <a:ext cx="6330636" cy="422360"/>
              </a:xfrm>
              <a:prstGeom prst="rect">
                <a:avLst/>
              </a:prstGeom>
              <a:blipFill>
                <a:blip r:embed="rId5"/>
                <a:stretch>
                  <a:fillRect b="-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940152" y="1338459"/>
                <a:ext cx="2880320" cy="945259"/>
              </a:xfrm>
              <a:prstGeom prst="rect">
                <a:avLst/>
              </a:prstGeom>
            </p:spPr>
            <p:txBody>
              <a:bodyPr wrap="square">
                <a:spAutoFit/>
              </a:bodyPr>
              <a:lstStyle/>
              <a:p>
                <a:r>
                  <a:rPr lang="zh-CN" altLang="zh-CN" dirty="0" smtClean="0">
                    <a:solidFill>
                      <a:srgbClr val="FF0000"/>
                    </a:solidFill>
                    <a:latin typeface="Times New Roman" panose="02020603050405020304" pitchFamily="18" charset="0"/>
                    <a:cs typeface="Times New Roman" panose="02020603050405020304" pitchFamily="18" charset="0"/>
                  </a:rPr>
                  <a:t>刚体的</a:t>
                </a:r>
                <a:r>
                  <a:rPr lang="zh-CN" altLang="zh-CN" b="1" dirty="0" smtClean="0">
                    <a:solidFill>
                      <a:schemeClr val="accent5"/>
                    </a:solidFill>
                    <a:latin typeface="Times New Roman" panose="02020603050405020304" pitchFamily="18" charset="0"/>
                    <a:cs typeface="Times New Roman" panose="02020603050405020304" pitchFamily="18" charset="0"/>
                  </a:rPr>
                  <a:t>运动向量</a:t>
                </a:r>
                <a:r>
                  <a:rPr lang="zh-CN" altLang="zh-CN" dirty="0" smtClean="0">
                    <a:solidFill>
                      <a:srgbClr val="FF0000"/>
                    </a:solidFill>
                    <a:latin typeface="Times New Roman" panose="02020603050405020304" pitchFamily="18" charset="0"/>
                    <a:cs typeface="Times New Roman" panose="02020603050405020304" pitchFamily="18" charset="0"/>
                  </a:rPr>
                  <a:t>在</a:t>
                </a:r>
                <a:r>
                  <a:rPr lang="zh-CN" altLang="zh-CN" dirty="0">
                    <a:solidFill>
                      <a:srgbClr val="FF0000"/>
                    </a:solidFill>
                    <a:latin typeface="Calibri" panose="020F0502020204030204" pitchFamily="34" charset="0"/>
                    <a:cs typeface="Times New Roman" panose="02020603050405020304" pitchFamily="18" charset="0"/>
                  </a:rPr>
                  <a:t>坐标系</a:t>
                </a:r>
                <a14:m>
                  <m:oMath xmlns:m="http://schemas.openxmlformats.org/officeDocument/2006/math">
                    <m:sSub>
                      <m:sSubPr>
                        <m:ctrlPr>
                          <a:rPr lang="zh-CN" altLang="zh-CN" i="1">
                            <a:solidFill>
                              <a:srgbClr val="FF0000"/>
                            </a:solidFill>
                            <a:effectLst/>
                            <a:latin typeface="Cambria Math" panose="02040503050406030204" pitchFamily="18" charset="0"/>
                            <a:ea typeface="Cambria Math" panose="02040503050406030204" pitchFamily="18" charset="0"/>
                          </a:rPr>
                        </m:ctrlPr>
                      </m:sSubPr>
                      <m:e>
                        <m:r>
                          <a:rPr lang="zh-CN" altLang="zh-CN" i="1">
                            <a:solidFill>
                              <a:srgbClr val="FF0000"/>
                            </a:solidFill>
                            <a:latin typeface="Cambria Math" panose="02040503050406030204" pitchFamily="18" charset="0"/>
                            <a:cs typeface="Times New Roman" panose="02020603050405020304" pitchFamily="18" charset="0"/>
                          </a:rPr>
                          <m:t>Ｏ</m:t>
                        </m:r>
                      </m:e>
                      <m:sub>
                        <m:r>
                          <a:rPr lang="en-US" altLang="zh-CN" i="1">
                            <a:solidFill>
                              <a:srgbClr val="FF0000"/>
                            </a:solidFill>
                            <a:latin typeface="Cambria Math" panose="02040503050406030204" pitchFamily="18" charset="0"/>
                            <a:cs typeface="Times New Roman" panose="02020603050405020304" pitchFamily="18" charset="0"/>
                          </a:rPr>
                          <m:t>𝑥𝑦𝑧</m:t>
                        </m:r>
                      </m:sub>
                    </m:sSub>
                  </m:oMath>
                </a14:m>
                <a:r>
                  <a:rPr lang="zh-CN" altLang="zh-CN" dirty="0">
                    <a:solidFill>
                      <a:srgbClr val="FF0000"/>
                    </a:solidFill>
                    <a:latin typeface="Calibri" panose="020F0502020204030204" pitchFamily="34" charset="0"/>
                    <a:cs typeface="Times New Roman" panose="02020603050405020304" pitchFamily="18" charset="0"/>
                  </a:rPr>
                  <a:t>中</a:t>
                </a:r>
                <a:r>
                  <a:rPr lang="zh-CN" altLang="zh-CN" dirty="0">
                    <a:solidFill>
                      <a:srgbClr val="FF0000"/>
                    </a:solidFill>
                    <a:latin typeface="Times New Roman" panose="02020603050405020304" pitchFamily="18" charset="0"/>
                    <a:cs typeface="Times New Roman" panose="02020603050405020304" pitchFamily="18" charset="0"/>
                  </a:rPr>
                  <a:t>采用坐标向量的形式表示为：</a:t>
                </a:r>
                <a:endParaRPr lang="zh-CN" altLang="en-US" dirty="0">
                  <a:solidFill>
                    <a:srgbClr val="FF000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5940152" y="1338459"/>
                <a:ext cx="2880320" cy="945259"/>
              </a:xfrm>
              <a:prstGeom prst="rect">
                <a:avLst/>
              </a:prstGeom>
              <a:blipFill>
                <a:blip r:embed="rId6"/>
                <a:stretch>
                  <a:fillRect l="-1691" t="-3871" b="-70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156176" y="2369315"/>
                <a:ext cx="2213298" cy="1615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v</m:t>
                              </m:r>
                            </m:e>
                          </m:bar>
                        </m:e>
                        <m:sub>
                          <m:r>
                            <a:rPr lang="zh-CN" altLang="en-US" i="1">
                              <a:latin typeface="Cambria Math" panose="02040503050406030204" pitchFamily="18" charset="0"/>
                            </a:rPr>
                            <m:t>𝑜</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𝑥</m:t>
                                    </m:r>
                                  </m:sub>
                                </m:sSub>
                              </m:e>
                            </m:mr>
                            <m:mr>
                              <m:e>
                                <m:m>
                                  <m:mPr>
                                    <m:mcs>
                                      <m:mc>
                                        <m:mcPr>
                                          <m:count m:val="1"/>
                                          <m:mcJc m:val="center"/>
                                        </m:mcPr>
                                      </m:mc>
                                    </m:mcs>
                                    <m:ctrlPr>
                                      <a:rPr lang="zh-CN" altLang="en-US" i="1">
                                        <a:latin typeface="Cambria Math" panose="02040503050406030204" pitchFamily="18" charset="0"/>
                                      </a:rPr>
                                    </m:ctrlPr>
                                  </m:mPr>
                                  <m:m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𝑦</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𝑧</m:t>
                                                </m:r>
                                              </m:sub>
                                            </m:sSub>
                                          </m:e>
                                        </m:mr>
                                      </m:m>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e>
                                  </m:mr>
                                </m:m>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𝑣</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𝑜</m:t>
                                    </m:r>
                                  </m:sub>
                                </m:sSub>
                              </m:e>
                            </m:mr>
                          </m:m>
                        </m:e>
                      </m:d>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6156176" y="2369315"/>
                <a:ext cx="2213298" cy="1615570"/>
              </a:xfrm>
              <a:prstGeom prst="rect">
                <a:avLst/>
              </a:prstGeom>
              <a:blipFill>
                <a:blip r:embed="rId7"/>
                <a:stretch>
                  <a:fillRect/>
                </a:stretch>
              </a:blipFill>
            </p:spPr>
            <p:txBody>
              <a:bodyPr/>
              <a:lstStyle/>
              <a:p>
                <a:r>
                  <a:rPr lang="zh-CN" altLang="en-US">
                    <a:noFill/>
                  </a:rPr>
                  <a:t> </a:t>
                </a:r>
              </a:p>
            </p:txBody>
          </p:sp>
        </mc:Fallback>
      </mc:AlternateContent>
      <p:sp>
        <p:nvSpPr>
          <p:cNvPr id="19" name="圆角矩形 18"/>
          <p:cNvSpPr/>
          <p:nvPr/>
        </p:nvSpPr>
        <p:spPr>
          <a:xfrm>
            <a:off x="5897152" y="1173313"/>
            <a:ext cx="2913999" cy="29734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62908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044149"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运动向量和力向量</a:t>
            </a:r>
            <a:endParaRPr lang="zh-CN" altLang="en-US" b="1" dirty="0">
              <a:solidFill>
                <a:srgbClr val="002060"/>
              </a:solidFill>
            </a:endParaRPr>
          </a:p>
        </p:txBody>
      </p:sp>
      <p:sp>
        <p:nvSpPr>
          <p:cNvPr id="19" name="圆角矩形 18"/>
          <p:cNvSpPr/>
          <p:nvPr/>
        </p:nvSpPr>
        <p:spPr>
          <a:xfrm>
            <a:off x="5897152" y="1173313"/>
            <a:ext cx="2913999" cy="29734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p:nvPr/>
        </p:nvPicPr>
        <p:blipFill>
          <a:blip r:embed="rId3"/>
          <a:stretch>
            <a:fillRect/>
          </a:stretch>
        </p:blipFill>
        <p:spPr>
          <a:xfrm>
            <a:off x="1043608" y="1393831"/>
            <a:ext cx="3742690" cy="1266190"/>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1345775" y="2859782"/>
                <a:ext cx="3546933"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ℱ</m:t>
                          </m:r>
                        </m:e>
                        <m:sub>
                          <m:r>
                            <a:rPr lang="zh-CN" altLang="en-US" i="1">
                              <a:latin typeface="Cambria Math" panose="02040503050406030204" pitchFamily="18" charset="0"/>
                            </a:rPr>
                            <m:t>𝑜</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x</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y</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z</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e>
                      </m:d>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𝐹</m:t>
                          </m:r>
                        </m:e>
                        <m:sup>
                          <m:r>
                            <a:rPr lang="zh-CN" altLang="en-US" i="0">
                              <a:latin typeface="Cambria Math" panose="02040503050406030204" pitchFamily="18" charset="0"/>
                            </a:rPr>
                            <m:t>6</m:t>
                          </m:r>
                        </m:sup>
                      </m:sSup>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345775" y="2859782"/>
                <a:ext cx="3546933" cy="50436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58553" y="3694940"/>
                <a:ext cx="5121376" cy="4223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f</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x</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y</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m:rPr>
                              <m:sty m:val="p"/>
                            </m:rPr>
                            <a:rPr lang="zh-CN" altLang="en-US" i="0">
                              <a:latin typeface="Cambria Math" panose="02040503050406030204" pitchFamily="18" charset="0"/>
                            </a:rPr>
                            <m:t>z</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𝑥</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𝑦</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𝑧</m:t>
                          </m:r>
                        </m:sub>
                      </m:sSub>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558553" y="3694940"/>
                <a:ext cx="5121376" cy="422360"/>
              </a:xfrm>
              <a:prstGeom prst="rect">
                <a:avLst/>
              </a:prstGeom>
              <a:blipFill>
                <a:blip r:embed="rId5"/>
                <a:stretch>
                  <a:fillRect b="-43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951723" y="1453061"/>
                <a:ext cx="2508710" cy="945259"/>
              </a:xfrm>
              <a:prstGeom prst="rect">
                <a:avLst/>
              </a:prstGeom>
            </p:spPr>
            <p:txBody>
              <a:bodyPr wrap="square">
                <a:spAutoFit/>
              </a:bodyPr>
              <a:lstStyle/>
              <a:p>
                <a:r>
                  <a:rPr lang="zh-CN" altLang="en-US" dirty="0" smtClean="0">
                    <a:solidFill>
                      <a:srgbClr val="FF0000"/>
                    </a:solidFill>
                    <a:latin typeface="Calibri" panose="020F0502020204030204" pitchFamily="34" charset="0"/>
                    <a:cs typeface="Times New Roman" panose="02020603050405020304" pitchFamily="18" charset="0"/>
                  </a:rPr>
                  <a:t>刚体的</a:t>
                </a:r>
                <a:r>
                  <a:rPr lang="zh-CN" altLang="en-US" b="1" dirty="0" smtClean="0">
                    <a:solidFill>
                      <a:srgbClr val="0065B0"/>
                    </a:solidFill>
                    <a:latin typeface="Calibri" panose="020F0502020204030204" pitchFamily="34" charset="0"/>
                    <a:cs typeface="Times New Roman" panose="02020603050405020304" pitchFamily="18" charset="0"/>
                  </a:rPr>
                  <a:t>力向量</a:t>
                </a:r>
                <a:r>
                  <a:rPr lang="zh-CN" altLang="zh-CN" dirty="0" smtClean="0">
                    <a:solidFill>
                      <a:srgbClr val="FF0000"/>
                    </a:solidFill>
                    <a:latin typeface="Calibri" panose="020F0502020204030204" pitchFamily="34" charset="0"/>
                    <a:cs typeface="Times New Roman" panose="02020603050405020304" pitchFamily="18" charset="0"/>
                  </a:rPr>
                  <a:t>在坐</a:t>
                </a:r>
                <a:r>
                  <a:rPr lang="zh-CN" altLang="zh-CN" dirty="0">
                    <a:solidFill>
                      <a:srgbClr val="FF0000"/>
                    </a:solidFill>
                    <a:latin typeface="Calibri" panose="020F0502020204030204" pitchFamily="34" charset="0"/>
                    <a:cs typeface="Times New Roman" panose="02020603050405020304" pitchFamily="18" charset="0"/>
                  </a:rPr>
                  <a:t>标系</a:t>
                </a:r>
                <a14:m>
                  <m:oMath xmlns:m="http://schemas.openxmlformats.org/officeDocument/2006/math">
                    <m:sSub>
                      <m:sSubPr>
                        <m:ctrlPr>
                          <a:rPr lang="zh-CN" altLang="zh-CN" i="1">
                            <a:solidFill>
                              <a:srgbClr val="FF0000"/>
                            </a:solidFill>
                            <a:effectLst/>
                            <a:latin typeface="Cambria Math" panose="02040503050406030204" pitchFamily="18" charset="0"/>
                            <a:ea typeface="Cambria Math" panose="02040503050406030204" pitchFamily="18" charset="0"/>
                          </a:rPr>
                        </m:ctrlPr>
                      </m:sSubPr>
                      <m:e>
                        <m:r>
                          <a:rPr lang="zh-CN" altLang="zh-CN" i="1">
                            <a:solidFill>
                              <a:srgbClr val="FF0000"/>
                            </a:solidFill>
                            <a:latin typeface="Cambria Math" panose="02040503050406030204" pitchFamily="18" charset="0"/>
                            <a:cs typeface="Times New Roman" panose="02020603050405020304" pitchFamily="18" charset="0"/>
                          </a:rPr>
                          <m:t>Ｏ</m:t>
                        </m:r>
                      </m:e>
                      <m:sub>
                        <m:r>
                          <a:rPr lang="en-US" altLang="zh-CN" i="1">
                            <a:solidFill>
                              <a:srgbClr val="FF0000"/>
                            </a:solidFill>
                            <a:latin typeface="Cambria Math" panose="02040503050406030204" pitchFamily="18" charset="0"/>
                            <a:cs typeface="Times New Roman" panose="02020603050405020304" pitchFamily="18" charset="0"/>
                          </a:rPr>
                          <m:t>𝑥𝑦𝑧</m:t>
                        </m:r>
                      </m:sub>
                    </m:sSub>
                  </m:oMath>
                </a14:m>
                <a:r>
                  <a:rPr lang="zh-CN" altLang="zh-CN" dirty="0">
                    <a:solidFill>
                      <a:srgbClr val="FF0000"/>
                    </a:solidFill>
                    <a:latin typeface="Calibri" panose="020F0502020204030204" pitchFamily="34" charset="0"/>
                    <a:cs typeface="Times New Roman" panose="02020603050405020304" pitchFamily="18" charset="0"/>
                  </a:rPr>
                  <a:t>中用坐标向量表示为：</a:t>
                </a:r>
                <a:endParaRPr lang="zh-CN" altLang="en-US"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5951723" y="1453061"/>
                <a:ext cx="2508710" cy="945259"/>
              </a:xfrm>
              <a:prstGeom prst="rect">
                <a:avLst/>
              </a:prstGeom>
              <a:blipFill>
                <a:blip r:embed="rId6"/>
                <a:stretch>
                  <a:fillRect l="-1942" t="-3226" r="-1456" b="-70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208440" y="2227717"/>
                <a:ext cx="2237087" cy="1768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f</m:t>
                              </m:r>
                            </m:e>
                          </m:bar>
                        </m:e>
                        <m:sub>
                          <m:r>
                            <a:rPr lang="zh-CN" altLang="en-US" i="1">
                              <a:latin typeface="Cambria Math" panose="02040503050406030204" pitchFamily="18" charset="0"/>
                            </a:rPr>
                            <m:t>𝑜</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𝑛</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e>
                                  </m:mr>
                                </m:m>
                              </m:e>
                            </m:mr>
                            <m:m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𝑥</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𝑦</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𝑧</m:t>
                                          </m:r>
                                        </m:sub>
                                      </m:sSub>
                                    </m:e>
                                  </m:mr>
                                </m:m>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𝑛</m:t>
                                        </m:r>
                                      </m:e>
                                    </m:bar>
                                  </m:e>
                                  <m:sub>
                                    <m:r>
                                      <a:rPr lang="zh-CN" altLang="en-US" i="1">
                                        <a:latin typeface="Cambria Math" panose="02040503050406030204" pitchFamily="18" charset="0"/>
                                      </a:rPr>
                                      <m:t>𝑜</m:t>
                                    </m:r>
                                  </m:sub>
                                </m:sSub>
                              </m:e>
                            </m:mr>
                            <m:mr>
                              <m:e>
                                <m:bar>
                                  <m:barPr>
                                    <m:ctrlPr>
                                      <a:rPr lang="zh-CN" altLang="en-US" i="1">
                                        <a:latin typeface="Cambria Math" panose="02040503050406030204" pitchFamily="18" charset="0"/>
                                      </a:rPr>
                                    </m:ctrlPr>
                                  </m:barPr>
                                  <m:e>
                                    <m:r>
                                      <a:rPr lang="zh-CN" altLang="en-US" i="1">
                                        <a:latin typeface="Cambria Math" panose="02040503050406030204" pitchFamily="18" charset="0"/>
                                      </a:rPr>
                                      <m:t>𝑓</m:t>
                                    </m:r>
                                  </m:e>
                                </m:bar>
                              </m:e>
                            </m:mr>
                          </m:m>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208440" y="2227717"/>
                <a:ext cx="2237087" cy="1768497"/>
              </a:xfrm>
              <a:prstGeom prst="rect">
                <a:avLst/>
              </a:prstGeom>
              <a:blipFill>
                <a:blip r:embed="rId7"/>
                <a:stretch>
                  <a:fillRect/>
                </a:stretch>
              </a:blipFill>
            </p:spPr>
            <p:txBody>
              <a:bodyPr/>
              <a:lstStyle/>
              <a:p>
                <a:r>
                  <a:rPr lang="zh-CN" altLang="en-US">
                    <a:noFill/>
                  </a:rPr>
                  <a:t> </a:t>
                </a:r>
              </a:p>
            </p:txBody>
          </p:sp>
        </mc:Fallback>
      </mc:AlternateContent>
      <p:sp>
        <p:nvSpPr>
          <p:cNvPr id="9" name="矩形 8"/>
          <p:cNvSpPr/>
          <p:nvPr/>
        </p:nvSpPr>
        <p:spPr>
          <a:xfrm>
            <a:off x="558553" y="4368050"/>
            <a:ext cx="8117902" cy="646331"/>
          </a:xfrm>
          <a:prstGeom prst="rect">
            <a:avLst/>
          </a:prstGeom>
        </p:spPr>
        <p:txBody>
          <a:bodyPr wrap="square">
            <a:spAutoFit/>
          </a:bodyPr>
          <a:lstStyle/>
          <a:p>
            <a:r>
              <a:rPr lang="zh-CN" altLang="zh-CN" dirty="0">
                <a:latin typeface="Calibri" panose="020F0502020204030204" pitchFamily="34" charset="0"/>
                <a:cs typeface="Times New Roman" panose="02020603050405020304" pitchFamily="18" charset="0"/>
              </a:rPr>
              <a:t>空间向量表示法中描述的刚体运动向量和力向量实际上和前面描述的运动旋量及力旋量的概念是一致。运动向量和力向量遵从一般向量的运算规则。</a:t>
            </a:r>
            <a:endParaRPr lang="zh-CN" altLang="en-US" dirty="0"/>
          </a:p>
        </p:txBody>
      </p:sp>
      <p:sp>
        <p:nvSpPr>
          <p:cNvPr id="13" name="圆角矩形 12"/>
          <p:cNvSpPr/>
          <p:nvPr/>
        </p:nvSpPr>
        <p:spPr>
          <a:xfrm>
            <a:off x="351204" y="4227934"/>
            <a:ext cx="8541276" cy="8830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490812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357248"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空间向量的运算规则</a:t>
            </a:r>
            <a:endParaRPr lang="zh-CN" altLang="en-US" b="1" dirty="0">
              <a:solidFill>
                <a:srgbClr val="002060"/>
              </a:solidFill>
            </a:endParaRPr>
          </a:p>
        </p:txBody>
      </p:sp>
      <p:sp>
        <p:nvSpPr>
          <p:cNvPr id="2" name="矩形 1"/>
          <p:cNvSpPr/>
          <p:nvPr/>
        </p:nvSpPr>
        <p:spPr>
          <a:xfrm>
            <a:off x="384171" y="1350068"/>
            <a:ext cx="1917513"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a:t>
            </a:r>
            <a:r>
              <a:rPr lang="en-US" altLang="zh-CN" dirty="0">
                <a:latin typeface="Calibri" panose="020F0502020204030204" pitchFamily="34" charset="0"/>
                <a:cs typeface="Times New Roman" panose="02020603050405020304" pitchFamily="18" charset="0"/>
              </a:rPr>
              <a:t>1</a:t>
            </a:r>
            <a:r>
              <a:rPr lang="zh-CN" altLang="zh-CN" dirty="0">
                <a:latin typeface="Calibri" panose="020F0502020204030204" pitchFamily="34" charset="0"/>
                <a:cs typeface="Times New Roman" panose="02020603050405020304" pitchFamily="18" charset="0"/>
              </a:rPr>
              <a:t>）加法和数乘</a:t>
            </a:r>
            <a:endParaRPr lang="zh-CN" altLang="en-US" dirty="0"/>
          </a:p>
        </p:txBody>
      </p:sp>
      <p:sp>
        <p:nvSpPr>
          <p:cNvPr id="3" name="矩形 2"/>
          <p:cNvSpPr/>
          <p:nvPr/>
        </p:nvSpPr>
        <p:spPr>
          <a:xfrm>
            <a:off x="2129695" y="1350068"/>
            <a:ext cx="1170513" cy="369332"/>
          </a:xfrm>
          <a:prstGeom prst="rect">
            <a:avLst/>
          </a:prstGeom>
        </p:spPr>
        <p:txBody>
          <a:bodyPr wrap="none">
            <a:spAutoFit/>
          </a:bodyPr>
          <a:lstStyle/>
          <a:p>
            <a:r>
              <a:rPr lang="en-US" altLang="zh-CN" dirty="0" smtClean="0">
                <a:latin typeface="Calibri" panose="020F0502020204030204" pitchFamily="34" charset="0"/>
                <a:cs typeface="Times New Roman" panose="02020603050405020304" pitchFamily="18" charset="0"/>
              </a:rPr>
              <a:t>:</a:t>
            </a:r>
            <a:r>
              <a:rPr lang="zh-CN" altLang="zh-CN" dirty="0" smtClean="0">
                <a:latin typeface="Calibri" panose="020F0502020204030204" pitchFamily="34" charset="0"/>
                <a:cs typeface="Times New Roman" panose="02020603050405020304" pitchFamily="18" charset="0"/>
              </a:rPr>
              <a:t>显</a:t>
            </a:r>
            <a:r>
              <a:rPr lang="zh-CN" altLang="zh-CN" dirty="0">
                <a:latin typeface="Calibri" panose="020F0502020204030204" pitchFamily="34" charset="0"/>
                <a:cs typeface="Times New Roman" panose="02020603050405020304" pitchFamily="18" charset="0"/>
              </a:rPr>
              <a:t>式方式</a:t>
            </a:r>
            <a:endParaRPr lang="zh-CN" altLang="en-US" dirty="0"/>
          </a:p>
        </p:txBody>
      </p:sp>
      <p:sp>
        <p:nvSpPr>
          <p:cNvPr id="4" name="矩形 3"/>
          <p:cNvSpPr/>
          <p:nvPr/>
        </p:nvSpPr>
        <p:spPr>
          <a:xfrm>
            <a:off x="323315" y="1923677"/>
            <a:ext cx="1225015"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a:t>
            </a:r>
            <a:r>
              <a:rPr lang="en-US" altLang="zh-CN" dirty="0">
                <a:latin typeface="Calibri" panose="020F0502020204030204" pitchFamily="34" charset="0"/>
                <a:cs typeface="Times New Roman" panose="02020603050405020304" pitchFamily="18" charset="0"/>
              </a:rPr>
              <a:t>2</a:t>
            </a:r>
            <a:r>
              <a:rPr lang="zh-CN" altLang="zh-CN" dirty="0">
                <a:latin typeface="Calibri" panose="020F0502020204030204" pitchFamily="34" charset="0"/>
                <a:cs typeface="Times New Roman" panose="02020603050405020304" pitchFamily="18" charset="0"/>
              </a:rPr>
              <a:t>）点乘</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428952" y="2293009"/>
                <a:ext cx="4572000" cy="1494192"/>
              </a:xfrm>
              <a:prstGeom prst="rect">
                <a:avLst/>
              </a:prstGeom>
            </p:spPr>
            <p:txBody>
              <a:bodyPr>
                <a:spAutoFit/>
              </a:bodyPr>
              <a:lstStyle/>
              <a:p>
                <a:r>
                  <a:rPr lang="zh-CN" altLang="zh-CN">
                    <a:latin typeface="Calibri" panose="020F0502020204030204" pitchFamily="34" charset="0"/>
                    <a:cs typeface="Times New Roman" panose="02020603050405020304" pitchFamily="18" charset="0"/>
                  </a:rPr>
                  <a:t>空间力向量与运动向量的数量积遵从一般空间向量的点乘规则，例如</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m</m:t>
                    </m:r>
                    <m:r>
                      <a:rPr lang="en-US" altLang="zh-CN">
                        <a:latin typeface="Cambria Math" panose="02040503050406030204" pitchFamily="18" charset="0"/>
                        <a:cs typeface="Times New Roman" panose="02020603050405020304" pitchFamily="18" charset="0"/>
                      </a:rPr>
                      <m:t>∙</m:t>
                    </m:r>
                    <m:r>
                      <m:rPr>
                        <m:sty m:val="p"/>
                      </m:rPr>
                      <a:rPr lang="en-US" altLang="zh-CN">
                        <a:latin typeface="Cambria Math" panose="02040503050406030204" pitchFamily="18" charset="0"/>
                        <a:cs typeface="Times New Roman" panose="02020603050405020304" pitchFamily="18" charset="0"/>
                      </a:rPr>
                      <m:t>f</m:t>
                    </m:r>
                  </m:oMath>
                </a14:m>
                <a:r>
                  <a:rPr lang="zh-CN" altLang="zh-CN" dirty="0">
                    <a:latin typeface="Calibri" panose="020F0502020204030204" pitchFamily="34" charset="0"/>
                    <a:cs typeface="Times New Roman" panose="02020603050405020304" pitchFamily="18" charset="0"/>
                  </a:rPr>
                  <a:t>或</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f</m:t>
                    </m:r>
                    <m:r>
                      <a:rPr lang="en-US" altLang="zh-CN">
                        <a:latin typeface="Cambria Math" panose="02040503050406030204" pitchFamily="18" charset="0"/>
                        <a:cs typeface="Times New Roman" panose="02020603050405020304" pitchFamily="18" charset="0"/>
                      </a:rPr>
                      <m:t>∙</m:t>
                    </m:r>
                    <m:r>
                      <m:rPr>
                        <m:sty m:val="p"/>
                      </m:rPr>
                      <a:rPr lang="en-US" altLang="zh-CN">
                        <a:latin typeface="Cambria Math" panose="02040503050406030204" pitchFamily="18" charset="0"/>
                        <a:cs typeface="Times New Roman" panose="02020603050405020304" pitchFamily="18" charset="0"/>
                      </a:rPr>
                      <m:t>m</m:t>
                    </m:r>
                  </m:oMath>
                </a14:m>
                <a:r>
                  <a:rPr lang="zh-CN" altLang="zh-CN" dirty="0">
                    <a:latin typeface="Calibri" panose="020F0502020204030204" pitchFamily="34" charset="0"/>
                    <a:cs typeface="Times New Roman" panose="02020603050405020304" pitchFamily="18" charset="0"/>
                  </a:rPr>
                  <a:t>，表示为作用于刚体的力</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f</m:t>
                    </m:r>
                  </m:oMath>
                </a14:m>
                <a:r>
                  <a:rPr lang="zh-CN" altLang="zh-CN" dirty="0">
                    <a:latin typeface="Calibri" panose="020F0502020204030204" pitchFamily="34" charset="0"/>
                    <a:cs typeface="Times New Roman" panose="02020603050405020304" pitchFamily="18" charset="0"/>
                  </a:rPr>
                  <a:t>使得刚体运动</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m</m:t>
                    </m:r>
                  </m:oMath>
                </a14:m>
                <a:r>
                  <a:rPr lang="zh-CN" altLang="zh-CN" dirty="0">
                    <a:latin typeface="Calibri" panose="020F0502020204030204" pitchFamily="34" charset="0"/>
                    <a:cs typeface="Times New Roman" panose="02020603050405020304" pitchFamily="18" charset="0"/>
                  </a:rPr>
                  <a:t>所做的功。而</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m</m:t>
                    </m:r>
                    <m:r>
                      <a:rPr lang="en-US" altLang="zh-CN">
                        <a:latin typeface="Cambria Math" panose="02040503050406030204" pitchFamily="18" charset="0"/>
                        <a:cs typeface="Times New Roman" panose="02020603050405020304" pitchFamily="18" charset="0"/>
                      </a:rPr>
                      <m:t>∙</m:t>
                    </m:r>
                    <m:r>
                      <m:rPr>
                        <m:sty m:val="p"/>
                      </m:rPr>
                      <a:rPr lang="en-US" altLang="zh-CN">
                        <a:latin typeface="Cambria Math" panose="02040503050406030204" pitchFamily="18" charset="0"/>
                        <a:cs typeface="Times New Roman" panose="02020603050405020304" pitchFamily="18" charset="0"/>
                      </a:rPr>
                      <m:t>m</m:t>
                    </m:r>
                  </m:oMath>
                </a14:m>
                <a:r>
                  <a:rPr lang="zh-CN" altLang="zh-CN" dirty="0">
                    <a:latin typeface="Calibri" panose="020F0502020204030204" pitchFamily="34" charset="0"/>
                    <a:cs typeface="Times New Roman" panose="02020603050405020304" pitchFamily="18" charset="0"/>
                  </a:rPr>
                  <a:t>或</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f</m:t>
                    </m:r>
                    <m:r>
                      <a:rPr lang="en-US" altLang="zh-CN">
                        <a:latin typeface="Cambria Math" panose="02040503050406030204" pitchFamily="18" charset="0"/>
                        <a:cs typeface="Times New Roman" panose="02020603050405020304" pitchFamily="18" charset="0"/>
                      </a:rPr>
                      <m:t>∙</m:t>
                    </m:r>
                    <m:r>
                      <m:rPr>
                        <m:sty m:val="p"/>
                      </m:rPr>
                      <a:rPr lang="en-US" altLang="zh-CN">
                        <a:latin typeface="Cambria Math" panose="02040503050406030204" pitchFamily="18" charset="0"/>
                        <a:cs typeface="Times New Roman" panose="02020603050405020304" pitchFamily="18" charset="0"/>
                      </a:rPr>
                      <m:t>f</m:t>
                    </m:r>
                  </m:oMath>
                </a14:m>
                <a:r>
                  <a:rPr lang="zh-CN" altLang="zh-CN" dirty="0">
                    <a:latin typeface="Calibri" panose="020F0502020204030204" pitchFamily="34" charset="0"/>
                    <a:cs typeface="Times New Roman" panose="02020603050405020304" pitchFamily="18" charset="0"/>
                  </a:rPr>
                  <a:t>则无意义。如果是同一坐标系下，用坐标向量来表示，则</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m</m:t>
                    </m:r>
                    <m:r>
                      <a:rPr lang="en-US" altLang="zh-CN">
                        <a:latin typeface="Cambria Math" panose="02040503050406030204" pitchFamily="18" charset="0"/>
                        <a:cs typeface="Times New Roman" panose="02020603050405020304" pitchFamily="18" charset="0"/>
                      </a:rPr>
                      <m:t>∙</m:t>
                    </m:r>
                    <m:r>
                      <m:rPr>
                        <m:sty m:val="p"/>
                      </m:rPr>
                      <a:rPr lang="en-US" altLang="zh-CN">
                        <a:latin typeface="Cambria Math" panose="02040503050406030204" pitchFamily="18" charset="0"/>
                        <a:cs typeface="Times New Roman" panose="02020603050405020304" pitchFamily="18" charset="0"/>
                      </a:rPr>
                      <m:t>f</m:t>
                    </m:r>
                    <m:r>
                      <a:rPr lang="en-US" altLang="zh-CN">
                        <a:latin typeface="Cambria Math" panose="02040503050406030204" pitchFamily="18" charset="0"/>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m</m:t>
                            </m:r>
                          </m:e>
                        </m:bar>
                      </m:e>
                      <m:sup>
                        <m:r>
                          <a:rPr lang="en-US" altLang="zh-CN" i="1">
                            <a:latin typeface="Cambria Math" panose="02040503050406030204" pitchFamily="18" charset="0"/>
                            <a:cs typeface="Times New Roman" panose="02020603050405020304" pitchFamily="18" charset="0"/>
                          </a:rPr>
                          <m:t>𝑇</m:t>
                        </m:r>
                      </m:sup>
                    </m:sSup>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f</m:t>
                        </m:r>
                      </m:e>
                    </m:bar>
                  </m:oMath>
                </a14:m>
                <a:r>
                  <a:rPr lang="zh-CN" altLang="zh-CN" dirty="0">
                    <a:latin typeface="Calibri" panose="020F0502020204030204" pitchFamily="34" charset="0"/>
                    <a:cs typeface="Times New Roman" panose="02020603050405020304" pitchFamily="18" charset="0"/>
                  </a:rPr>
                  <a:t>。</a:t>
                </a:r>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428952" y="2293009"/>
                <a:ext cx="4572000" cy="1494192"/>
              </a:xfrm>
              <a:prstGeom prst="rect">
                <a:avLst/>
              </a:prstGeom>
              <a:blipFill>
                <a:blip r:embed="rId3"/>
                <a:stretch>
                  <a:fillRect l="-1067" t="-2041" r="-6133" b="-3673"/>
                </a:stretch>
              </a:blipFill>
            </p:spPr>
            <p:txBody>
              <a:bodyPr/>
              <a:lstStyle/>
              <a:p>
                <a:r>
                  <a:rPr lang="zh-CN" altLang="en-US">
                    <a:noFill/>
                  </a:rPr>
                  <a:t> </a:t>
                </a:r>
              </a:p>
            </p:txBody>
          </p:sp>
        </mc:Fallback>
      </mc:AlternateContent>
      <p:sp>
        <p:nvSpPr>
          <p:cNvPr id="6" name="圆角矩形 5"/>
          <p:cNvSpPr/>
          <p:nvPr/>
        </p:nvSpPr>
        <p:spPr>
          <a:xfrm>
            <a:off x="323315" y="1923677"/>
            <a:ext cx="4752528" cy="18635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574092" y="1338321"/>
            <a:ext cx="168668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a:t>
            </a:r>
            <a:r>
              <a:rPr lang="en-US" altLang="zh-CN" dirty="0">
                <a:latin typeface="Calibri" panose="020F0502020204030204" pitchFamily="34" charset="0"/>
                <a:cs typeface="Times New Roman" panose="02020603050405020304" pitchFamily="18" charset="0"/>
              </a:rPr>
              <a:t>3</a:t>
            </a:r>
            <a:r>
              <a:rPr lang="zh-CN" altLang="zh-CN" dirty="0">
                <a:latin typeface="Calibri" panose="020F0502020204030204" pitchFamily="34" charset="0"/>
                <a:cs typeface="Times New Roman" panose="02020603050405020304" pitchFamily="18" charset="0"/>
              </a:rPr>
              <a:t>）坐标变换</a:t>
            </a:r>
            <a:endParaRPr lang="zh-CN" altLang="en-US" dirty="0"/>
          </a:p>
        </p:txBody>
      </p:sp>
      <mc:AlternateContent xmlns:mc="http://schemas.openxmlformats.org/markup-compatibility/2006" xmlns:a14="http://schemas.microsoft.com/office/drawing/2010/main">
        <mc:Choice Requires="a14">
          <p:sp>
            <p:nvSpPr>
              <p:cNvPr id="8" name="矩形 7"/>
              <p:cNvSpPr/>
              <p:nvPr/>
            </p:nvSpPr>
            <p:spPr>
              <a:xfrm>
                <a:off x="5409626" y="1993945"/>
                <a:ext cx="2900089" cy="4751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𝐵</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1">
                                  <a:latin typeface="Cambria Math" panose="02040503050406030204" pitchFamily="18" charset="0"/>
                                </a:rPr>
                                <m:t>𝐴</m:t>
                              </m:r>
                            </m:sub>
                            <m:sup>
                              <m:r>
                                <a:rPr lang="zh-CN" altLang="en-US" i="1">
                                  <a:latin typeface="Cambria Math" panose="02040503050406030204" pitchFamily="18" charset="0"/>
                                </a:rPr>
                                <m:t>𝐹</m:t>
                              </m:r>
                            </m:sup>
                          </m:sSubSup>
                        </m:e>
                      </m:sPre>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𝐵</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1">
                                          <a:latin typeface="Cambria Math" panose="02040503050406030204" pitchFamily="18" charset="0"/>
                                        </a:rPr>
                                        <m:t>𝐴</m:t>
                                      </m:r>
                                    </m:sub>
                                    <m:sup/>
                                  </m:sSubSup>
                                </m:e>
                              </m:sPre>
                            </m:e>
                          </m:d>
                        </m:e>
                        <m:sup>
                          <m:r>
                            <a:rPr lang="zh-CN" altLang="en-US" i="0">
                              <a:latin typeface="Cambria Math" panose="02040503050406030204" pitchFamily="18" charset="0"/>
                            </a:rPr>
                            <m:t>−</m:t>
                          </m:r>
                          <m:r>
                            <a:rPr lang="zh-CN" altLang="en-US" i="1">
                              <a:latin typeface="Cambria Math" panose="02040503050406030204" pitchFamily="18" charset="0"/>
                            </a:rPr>
                            <m:t>𝑇</m:t>
                          </m:r>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𝐴</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1">
                                          <a:latin typeface="Cambria Math" panose="02040503050406030204" pitchFamily="18" charset="0"/>
                                        </a:rPr>
                                        <m:t>𝐵</m:t>
                                      </m:r>
                                    </m:sub>
                                    <m:sup/>
                                  </m:sSubSup>
                                </m:e>
                              </m:sPre>
                            </m:e>
                          </m:d>
                        </m:e>
                        <m:sup>
                          <m:r>
                            <a:rPr lang="zh-CN" altLang="en-US" i="1">
                              <a:latin typeface="Cambria Math" panose="02040503050406030204" pitchFamily="18" charset="0"/>
                            </a:rPr>
                            <m:t>𝑇</m:t>
                          </m:r>
                        </m:sup>
                      </m:sSup>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5409626" y="1993945"/>
                <a:ext cx="2900089" cy="475195"/>
              </a:xfrm>
              <a:prstGeom prst="rect">
                <a:avLst/>
              </a:prstGeom>
              <a:blipFill>
                <a:blip r:embed="rId4"/>
                <a:stretch>
                  <a:fillRect/>
                </a:stretch>
              </a:blipFill>
            </p:spPr>
            <p:txBody>
              <a:bodyPr/>
              <a:lstStyle/>
              <a:p>
                <a:r>
                  <a:rPr lang="zh-CN" altLang="en-US">
                    <a:noFill/>
                  </a:rPr>
                  <a:t> </a:t>
                </a:r>
              </a:p>
            </p:txBody>
          </p:sp>
        </mc:Fallback>
      </mc:AlternateContent>
      <p:sp>
        <p:nvSpPr>
          <p:cNvPr id="9" name="圆角矩形 8"/>
          <p:cNvSpPr/>
          <p:nvPr/>
        </p:nvSpPr>
        <p:spPr>
          <a:xfrm>
            <a:off x="5219858" y="1275606"/>
            <a:ext cx="3594125" cy="37444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62353" y="1689505"/>
            <a:ext cx="2698175" cy="307777"/>
          </a:xfrm>
          <a:prstGeom prst="rect">
            <a:avLst/>
          </a:prstGeom>
          <a:noFill/>
        </p:spPr>
        <p:txBody>
          <a:bodyPr wrap="none" rtlCol="0">
            <a:spAutoFit/>
          </a:bodyPr>
          <a:lstStyle/>
          <a:p>
            <a:r>
              <a:rPr lang="zh-CN" altLang="en-US" sz="1400" dirty="0" smtClean="0"/>
              <a:t>运动向量与力转换之间的关系：</a:t>
            </a:r>
            <a:endParaRPr lang="zh-CN" altLang="en-US" sz="1400" dirty="0"/>
          </a:p>
        </p:txBody>
      </p:sp>
      <p:sp>
        <p:nvSpPr>
          <p:cNvPr id="11" name="圆角矩形 10"/>
          <p:cNvSpPr/>
          <p:nvPr/>
        </p:nvSpPr>
        <p:spPr>
          <a:xfrm>
            <a:off x="323315" y="1275606"/>
            <a:ext cx="4752528" cy="5853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矩形 11"/>
              <p:cNvSpPr/>
              <p:nvPr/>
            </p:nvSpPr>
            <p:spPr>
              <a:xfrm>
                <a:off x="4997346" y="2931261"/>
                <a:ext cx="3816637" cy="1225272"/>
              </a:xfrm>
              <a:prstGeom prst="rect">
                <a:avLst/>
              </a:prstGeom>
            </p:spPr>
            <p:txBody>
              <a:bodyPr wrap="square">
                <a:spAutoFit/>
              </a:bodyPr>
              <a:lstStyle/>
              <a:p>
                <a:pPr marL="266700" indent="266700">
                  <a:spcBef>
                    <a:spcPts val="600"/>
                  </a:spcBef>
                  <a:spcAft>
                    <a:spcPts val="600"/>
                  </a:spcAft>
                </a:pPr>
                <a14:m>
                  <m:oMathPara xmlns:m="http://schemas.openxmlformats.org/officeDocument/2006/math">
                    <m:oMathParaPr>
                      <m:jc m:val="centerGroup"/>
                    </m:oMathParaPr>
                    <m:oMath xmlns:m="http://schemas.openxmlformats.org/officeDocument/2006/math">
                      <m:sPre>
                        <m:sPre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400" i="1">
                              <a:latin typeface="Cambria Math" panose="02040503050406030204" pitchFamily="18" charset="0"/>
                              <a:cs typeface="宋体" panose="02010600030101010101" pitchFamily="2" charset="-122"/>
                            </a:rPr>
                            <m:t>𝐵</m:t>
                          </m:r>
                        </m:sup>
                        <m:e>
                          <m:sSubSup>
                            <m:sSubSup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400" i="1">
                                  <a:latin typeface="Cambria Math" panose="02040503050406030204" pitchFamily="18" charset="0"/>
                                  <a:cs typeface="宋体" panose="02010600030101010101" pitchFamily="2" charset="-122"/>
                                </a:rPr>
                                <m:t>𝑋</m:t>
                              </m:r>
                            </m:e>
                            <m:sub>
                              <m:r>
                                <a:rPr lang="en-US" altLang="zh-CN" sz="1400" i="1">
                                  <a:latin typeface="Cambria Math" panose="02040503050406030204" pitchFamily="18" charset="0"/>
                                  <a:cs typeface="宋体" panose="02010600030101010101" pitchFamily="2" charset="-122"/>
                                </a:rPr>
                                <m:t>𝐴</m:t>
                              </m:r>
                            </m:sub>
                            <m:sup/>
                          </m:sSubSup>
                        </m:e>
                      </m:sPre>
                      <m:r>
                        <a:rPr lang="en-US" altLang="zh-CN" sz="1400" i="1">
                          <a:latin typeface="Cambria Math" panose="02040503050406030204" pitchFamily="18" charset="0"/>
                          <a:cs typeface="宋体" panose="02010600030101010101" pitchFamily="2" charset="-122"/>
                        </a:rPr>
                        <m:t>=</m:t>
                      </m:r>
                      <m:d>
                        <m:d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400" i="1">
                                    <a:latin typeface="Cambria Math" panose="02040503050406030204" pitchFamily="18" charset="0"/>
                                    <a:cs typeface="宋体" panose="02010600030101010101" pitchFamily="2" charset="-122"/>
                                  </a:rPr>
                                  <m:t>1</m:t>
                                </m:r>
                              </m:e>
                              <m:e>
                                <m:r>
                                  <a:rPr lang="en-US" altLang="zh-CN" sz="1400" i="1">
                                    <a:latin typeface="Cambria Math" panose="02040503050406030204" pitchFamily="18" charset="0"/>
                                    <a:cs typeface="宋体" panose="02010600030101010101" pitchFamily="2" charset="-122"/>
                                  </a:rPr>
                                  <m:t>0</m:t>
                                </m:r>
                              </m:e>
                            </m:mr>
                            <m:mr>
                              <m:e>
                                <m:r>
                                  <a:rPr lang="en-US" altLang="zh-CN" sz="1400" i="1">
                                    <a:latin typeface="Cambria Math" panose="02040503050406030204" pitchFamily="18" charset="0"/>
                                    <a:cs typeface="宋体" panose="02010600030101010101" pitchFamily="2" charset="-122"/>
                                  </a:rPr>
                                  <m:t>𝑆</m:t>
                                </m:r>
                                <m:r>
                                  <a:rPr lang="en-US" altLang="zh-CN" sz="1400" i="1">
                                    <a:latin typeface="Cambria Math" panose="02040503050406030204" pitchFamily="18" charset="0"/>
                                    <a:cs typeface="宋体" panose="02010600030101010101" pitchFamily="2" charset="-122"/>
                                  </a:rPr>
                                  <m:t>(</m:t>
                                </m:r>
                                <m:sPre>
                                  <m:sPre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400" i="1">
                                        <a:latin typeface="Cambria Math" panose="02040503050406030204" pitchFamily="18" charset="0"/>
                                        <a:cs typeface="宋体" panose="02010600030101010101" pitchFamily="2" charset="-122"/>
                                      </a:rPr>
                                      <m:t>𝐵</m:t>
                                    </m:r>
                                  </m:sup>
                                  <m:e>
                                    <m:sSubSup>
                                      <m:sSubSup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SupPr>
                                      <m:e>
                                        <m:bar>
                                          <m:bar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barPr>
                                          <m:e>
                                            <m:r>
                                              <a:rPr lang="en-US" altLang="zh-CN" sz="1400" i="1">
                                                <a:latin typeface="Cambria Math" panose="02040503050406030204" pitchFamily="18" charset="0"/>
                                                <a:cs typeface="宋体" panose="02010600030101010101" pitchFamily="2" charset="-122"/>
                                              </a:rPr>
                                              <m:t>𝑃</m:t>
                                            </m:r>
                                          </m:e>
                                        </m:bar>
                                      </m:e>
                                      <m:sub>
                                        <m:r>
                                          <a:rPr lang="en-US" altLang="zh-CN" sz="1400" i="1">
                                            <a:latin typeface="Cambria Math" panose="02040503050406030204" pitchFamily="18" charset="0"/>
                                            <a:cs typeface="宋体" panose="02010600030101010101" pitchFamily="2" charset="-122"/>
                                          </a:rPr>
                                          <m:t>𝐴</m:t>
                                        </m:r>
                                      </m:sub>
                                      <m:sup/>
                                    </m:sSubSup>
                                  </m:e>
                                </m:sPre>
                                <m:r>
                                  <a:rPr lang="en-US" altLang="zh-CN" sz="1400" i="1">
                                    <a:latin typeface="Cambria Math" panose="02040503050406030204" pitchFamily="18" charset="0"/>
                                    <a:cs typeface="宋体" panose="02010600030101010101" pitchFamily="2" charset="-122"/>
                                  </a:rPr>
                                  <m:t>)</m:t>
                                </m:r>
                              </m:e>
                              <m:e>
                                <m:r>
                                  <a:rPr lang="en-US" altLang="zh-CN" sz="1400" i="1">
                                    <a:latin typeface="Cambria Math" panose="02040503050406030204" pitchFamily="18" charset="0"/>
                                    <a:cs typeface="宋体" panose="02010600030101010101" pitchFamily="2" charset="-122"/>
                                  </a:rPr>
                                  <m:t>1</m:t>
                                </m:r>
                              </m:e>
                            </m:mr>
                          </m:m>
                        </m:e>
                      </m:d>
                      <m:d>
                        <m:d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mPr>
                            <m:mr>
                              <m:e>
                                <m:sPre>
                                  <m:sPre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400" i="1">
                                        <a:latin typeface="Cambria Math" panose="02040503050406030204" pitchFamily="18" charset="0"/>
                                        <a:cs typeface="宋体" panose="02010600030101010101" pitchFamily="2" charset="-122"/>
                                      </a:rPr>
                                      <m:t>𝐵</m:t>
                                    </m:r>
                                  </m:sup>
                                  <m:e>
                                    <m:sSubSup>
                                      <m:sSubSup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400" i="1">
                                            <a:latin typeface="Cambria Math" panose="02040503050406030204" pitchFamily="18" charset="0"/>
                                            <a:cs typeface="宋体" panose="02010600030101010101" pitchFamily="2" charset="-122"/>
                                          </a:rPr>
                                          <m:t>𝑅</m:t>
                                        </m:r>
                                      </m:e>
                                      <m:sub>
                                        <m:r>
                                          <a:rPr lang="en-US" altLang="zh-CN" sz="1400" i="1">
                                            <a:latin typeface="Cambria Math" panose="02040503050406030204" pitchFamily="18" charset="0"/>
                                            <a:cs typeface="宋体" panose="02010600030101010101" pitchFamily="2" charset="-122"/>
                                          </a:rPr>
                                          <m:t>𝐴</m:t>
                                        </m:r>
                                      </m:sub>
                                      <m:sup/>
                                    </m:sSubSup>
                                  </m:e>
                                </m:sPre>
                              </m:e>
                              <m:e>
                                <m:r>
                                  <a:rPr lang="en-US" altLang="zh-CN" sz="1400" i="1">
                                    <a:latin typeface="Cambria Math" panose="02040503050406030204" pitchFamily="18" charset="0"/>
                                    <a:cs typeface="宋体" panose="02010600030101010101" pitchFamily="2" charset="-122"/>
                                  </a:rPr>
                                  <m:t>0</m:t>
                                </m:r>
                              </m:e>
                            </m:mr>
                            <m:mr>
                              <m:e>
                                <m:r>
                                  <a:rPr lang="en-US" altLang="zh-CN" sz="1400" i="1">
                                    <a:latin typeface="Cambria Math" panose="02040503050406030204" pitchFamily="18" charset="0"/>
                                    <a:cs typeface="宋体" panose="02010600030101010101" pitchFamily="2" charset="-122"/>
                                  </a:rPr>
                                  <m:t>0</m:t>
                                </m:r>
                              </m:e>
                              <m:e>
                                <m:sPre>
                                  <m:sPre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400" i="1">
                                        <a:latin typeface="Cambria Math" panose="02040503050406030204" pitchFamily="18" charset="0"/>
                                        <a:cs typeface="宋体" panose="02010600030101010101" pitchFamily="2" charset="-122"/>
                                      </a:rPr>
                                      <m:t>𝐵</m:t>
                                    </m:r>
                                  </m:sup>
                                  <m:e>
                                    <m:sSubSup>
                                      <m:sSubSup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400" i="1">
                                            <a:latin typeface="Cambria Math" panose="02040503050406030204" pitchFamily="18" charset="0"/>
                                            <a:cs typeface="宋体" panose="02010600030101010101" pitchFamily="2" charset="-122"/>
                                          </a:rPr>
                                          <m:t>𝑅</m:t>
                                        </m:r>
                                      </m:e>
                                      <m:sub>
                                        <m:r>
                                          <a:rPr lang="en-US" altLang="zh-CN" sz="1400" i="1">
                                            <a:latin typeface="Cambria Math" panose="02040503050406030204" pitchFamily="18" charset="0"/>
                                            <a:cs typeface="宋体" panose="02010600030101010101" pitchFamily="2" charset="-122"/>
                                          </a:rPr>
                                          <m:t>𝐴</m:t>
                                        </m:r>
                                      </m:sub>
                                      <m:sup/>
                                    </m:sSubSup>
                                  </m:e>
                                </m:sPre>
                              </m:e>
                            </m:mr>
                          </m:m>
                        </m:e>
                      </m:d>
                    </m:oMath>
                  </m:oMathPara>
                </a14:m>
                <a:endParaRPr lang="zh-CN" altLang="zh-CN" sz="14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Times New Roman" panose="02020603050405020304" pitchFamily="18" charset="0"/>
                        </a:rPr>
                        <m:t>=</m:t>
                      </m:r>
                      <m:d>
                        <m:dPr>
                          <m:ctrlPr>
                            <a:rPr lang="zh-CN" altLang="zh-CN" sz="14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1400" i="1">
                                  <a:effectLst/>
                                  <a:latin typeface="Cambria Math" panose="02040503050406030204" pitchFamily="18" charset="0"/>
                                  <a:ea typeface="Cambria Math" panose="02040503050406030204" pitchFamily="18" charset="0"/>
                                </a:rPr>
                              </m:ctrlPr>
                            </m:mPr>
                            <m:mr>
                              <m:e>
                                <m:sPre>
                                  <m:sPrePr>
                                    <m:ctrlPr>
                                      <a:rPr lang="zh-CN" altLang="zh-CN" sz="1400" i="1">
                                        <a:effectLst/>
                                        <a:latin typeface="Cambria Math" panose="02040503050406030204" pitchFamily="18" charset="0"/>
                                        <a:ea typeface="Cambria Math" panose="02040503050406030204" pitchFamily="18" charset="0"/>
                                      </a:rPr>
                                    </m:ctrlPr>
                                  </m:sPrePr>
                                  <m:sub/>
                                  <m:sup>
                                    <m:r>
                                      <a:rPr lang="en-US" altLang="zh-CN" sz="1400" i="1">
                                        <a:latin typeface="Cambria Math" panose="02040503050406030204" pitchFamily="18" charset="0"/>
                                        <a:cs typeface="Times New Roman" panose="02020603050405020304" pitchFamily="18" charset="0"/>
                                      </a:rPr>
                                      <m:t>𝐵</m:t>
                                    </m:r>
                                  </m:sup>
                                  <m:e>
                                    <m:sSubSup>
                                      <m:sSubSupPr>
                                        <m:ctrlPr>
                                          <a:rPr lang="zh-CN" altLang="zh-CN" sz="1400" i="1">
                                            <a:effectLst/>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cs typeface="Times New Roman" panose="02020603050405020304" pitchFamily="18" charset="0"/>
                                          </a:rPr>
                                          <m:t>𝑅</m:t>
                                        </m:r>
                                      </m:e>
                                      <m:sub>
                                        <m:r>
                                          <a:rPr lang="en-US" altLang="zh-CN" sz="1400" i="1">
                                            <a:latin typeface="Cambria Math" panose="02040503050406030204" pitchFamily="18" charset="0"/>
                                            <a:cs typeface="Times New Roman" panose="02020603050405020304" pitchFamily="18" charset="0"/>
                                          </a:rPr>
                                          <m:t>𝐴</m:t>
                                        </m:r>
                                      </m:sub>
                                      <m:sup/>
                                    </m:sSubSup>
                                  </m:e>
                                </m:sPre>
                              </m:e>
                              <m:e>
                                <m:r>
                                  <a:rPr lang="en-US" altLang="zh-CN" sz="1400" i="1">
                                    <a:latin typeface="Cambria Math" panose="02040503050406030204" pitchFamily="18" charset="0"/>
                                    <a:cs typeface="Times New Roman" panose="02020603050405020304" pitchFamily="18" charset="0"/>
                                  </a:rPr>
                                  <m:t>0</m:t>
                                </m:r>
                              </m:e>
                            </m:mr>
                            <m:mr>
                              <m:e>
                                <m:r>
                                  <a:rPr lang="en-US" altLang="zh-CN" sz="1400" i="1">
                                    <a:latin typeface="Cambria Math" panose="02040503050406030204" pitchFamily="18" charset="0"/>
                                    <a:cs typeface="Times New Roman" panose="02020603050405020304" pitchFamily="18" charset="0"/>
                                  </a:rPr>
                                  <m:t>𝑆</m:t>
                                </m:r>
                                <m:r>
                                  <a:rPr lang="en-US" altLang="zh-CN" sz="1400" i="1">
                                    <a:latin typeface="Cambria Math" panose="02040503050406030204" pitchFamily="18" charset="0"/>
                                    <a:cs typeface="Times New Roman" panose="02020603050405020304" pitchFamily="18" charset="0"/>
                                  </a:rPr>
                                  <m:t>(</m:t>
                                </m:r>
                                <m:sPre>
                                  <m:sPrePr>
                                    <m:ctrlPr>
                                      <a:rPr lang="zh-CN" altLang="zh-CN" sz="1400" i="1">
                                        <a:effectLst/>
                                        <a:latin typeface="Cambria Math" panose="02040503050406030204" pitchFamily="18" charset="0"/>
                                        <a:ea typeface="Cambria Math" panose="02040503050406030204" pitchFamily="18" charset="0"/>
                                      </a:rPr>
                                    </m:ctrlPr>
                                  </m:sPrePr>
                                  <m:sub/>
                                  <m:sup>
                                    <m:r>
                                      <a:rPr lang="en-US" altLang="zh-CN" sz="1400" i="1">
                                        <a:latin typeface="Cambria Math" panose="02040503050406030204" pitchFamily="18" charset="0"/>
                                        <a:cs typeface="Times New Roman" panose="02020603050405020304" pitchFamily="18" charset="0"/>
                                      </a:rPr>
                                      <m:t>𝐵</m:t>
                                    </m:r>
                                  </m:sup>
                                  <m:e>
                                    <m:sSubSup>
                                      <m:sSubSupPr>
                                        <m:ctrlPr>
                                          <a:rPr lang="zh-CN" altLang="zh-CN" sz="1400" i="1">
                                            <a:effectLst/>
                                            <a:latin typeface="Cambria Math" panose="02040503050406030204" pitchFamily="18" charset="0"/>
                                            <a:ea typeface="Cambria Math" panose="02040503050406030204" pitchFamily="18" charset="0"/>
                                          </a:rPr>
                                        </m:ctrlPr>
                                      </m:sSubSupPr>
                                      <m:e>
                                        <m:bar>
                                          <m:barPr>
                                            <m:ctrlPr>
                                              <a:rPr lang="zh-CN" altLang="zh-CN" sz="1400" i="1">
                                                <a:effectLst/>
                                                <a:latin typeface="Cambria Math" panose="02040503050406030204" pitchFamily="18" charset="0"/>
                                                <a:ea typeface="Cambria Math" panose="02040503050406030204" pitchFamily="18" charset="0"/>
                                              </a:rPr>
                                            </m:ctrlPr>
                                          </m:barPr>
                                          <m:e>
                                            <m:r>
                                              <a:rPr lang="en-US" altLang="zh-CN" sz="1400" i="1">
                                                <a:latin typeface="Cambria Math" panose="02040503050406030204" pitchFamily="18" charset="0"/>
                                                <a:cs typeface="Times New Roman" panose="02020603050405020304" pitchFamily="18" charset="0"/>
                                              </a:rPr>
                                              <m:t>𝑃</m:t>
                                            </m:r>
                                          </m:e>
                                        </m:bar>
                                      </m:e>
                                      <m:sub>
                                        <m:r>
                                          <a:rPr lang="en-US" altLang="zh-CN" sz="1400" i="1">
                                            <a:latin typeface="Cambria Math" panose="02040503050406030204" pitchFamily="18" charset="0"/>
                                            <a:cs typeface="Times New Roman" panose="02020603050405020304" pitchFamily="18" charset="0"/>
                                          </a:rPr>
                                          <m:t>𝐴</m:t>
                                        </m:r>
                                      </m:sub>
                                      <m:sup/>
                                    </m:sSubSup>
                                  </m:e>
                                </m:sPre>
                                <m:r>
                                  <a:rPr lang="en-US" altLang="zh-CN" sz="1400" i="1">
                                    <a:latin typeface="Cambria Math" panose="02040503050406030204" pitchFamily="18" charset="0"/>
                                    <a:cs typeface="Times New Roman" panose="02020603050405020304" pitchFamily="18" charset="0"/>
                                  </a:rPr>
                                  <m:t>)</m:t>
                                </m:r>
                                <m:sPre>
                                  <m:sPrePr>
                                    <m:ctrlPr>
                                      <a:rPr lang="zh-CN" altLang="zh-CN" sz="1400" i="1">
                                        <a:effectLst/>
                                        <a:latin typeface="Cambria Math" panose="02040503050406030204" pitchFamily="18" charset="0"/>
                                        <a:ea typeface="Cambria Math" panose="02040503050406030204" pitchFamily="18" charset="0"/>
                                      </a:rPr>
                                    </m:ctrlPr>
                                  </m:sPrePr>
                                  <m:sub/>
                                  <m:sup>
                                    <m:r>
                                      <a:rPr lang="en-US" altLang="zh-CN" sz="1400" i="1">
                                        <a:latin typeface="Cambria Math" panose="02040503050406030204" pitchFamily="18" charset="0"/>
                                        <a:cs typeface="Times New Roman" panose="02020603050405020304" pitchFamily="18" charset="0"/>
                                      </a:rPr>
                                      <m:t>𝐵</m:t>
                                    </m:r>
                                  </m:sup>
                                  <m:e>
                                    <m:sSubSup>
                                      <m:sSubSupPr>
                                        <m:ctrlPr>
                                          <a:rPr lang="zh-CN" altLang="zh-CN" sz="1400" i="1">
                                            <a:effectLst/>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cs typeface="Times New Roman" panose="02020603050405020304" pitchFamily="18" charset="0"/>
                                          </a:rPr>
                                          <m:t>𝑅</m:t>
                                        </m:r>
                                      </m:e>
                                      <m:sub>
                                        <m:r>
                                          <a:rPr lang="en-US" altLang="zh-CN" sz="1400" i="1">
                                            <a:latin typeface="Cambria Math" panose="02040503050406030204" pitchFamily="18" charset="0"/>
                                            <a:cs typeface="Times New Roman" panose="02020603050405020304" pitchFamily="18" charset="0"/>
                                          </a:rPr>
                                          <m:t>𝐴</m:t>
                                        </m:r>
                                      </m:sub>
                                      <m:sup/>
                                    </m:sSubSup>
                                  </m:e>
                                </m:sPre>
                              </m:e>
                              <m:e>
                                <m:sPre>
                                  <m:sPrePr>
                                    <m:ctrlPr>
                                      <a:rPr lang="zh-CN" altLang="zh-CN" sz="1400" i="1">
                                        <a:effectLst/>
                                        <a:latin typeface="Cambria Math" panose="02040503050406030204" pitchFamily="18" charset="0"/>
                                        <a:ea typeface="Cambria Math" panose="02040503050406030204" pitchFamily="18" charset="0"/>
                                      </a:rPr>
                                    </m:ctrlPr>
                                  </m:sPrePr>
                                  <m:sub/>
                                  <m:sup>
                                    <m:r>
                                      <a:rPr lang="en-US" altLang="zh-CN" sz="1400" i="1">
                                        <a:latin typeface="Cambria Math" panose="02040503050406030204" pitchFamily="18" charset="0"/>
                                        <a:cs typeface="Times New Roman" panose="02020603050405020304" pitchFamily="18" charset="0"/>
                                      </a:rPr>
                                      <m:t>𝐵</m:t>
                                    </m:r>
                                  </m:sup>
                                  <m:e>
                                    <m:sSubSup>
                                      <m:sSubSupPr>
                                        <m:ctrlPr>
                                          <a:rPr lang="zh-CN" altLang="zh-CN" sz="1400" i="1">
                                            <a:effectLst/>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cs typeface="Times New Roman" panose="02020603050405020304" pitchFamily="18" charset="0"/>
                                          </a:rPr>
                                          <m:t>𝑅</m:t>
                                        </m:r>
                                      </m:e>
                                      <m:sub>
                                        <m:r>
                                          <a:rPr lang="en-US" altLang="zh-CN" sz="1400" i="1">
                                            <a:latin typeface="Cambria Math" panose="02040503050406030204" pitchFamily="18" charset="0"/>
                                            <a:cs typeface="Times New Roman" panose="02020603050405020304" pitchFamily="18" charset="0"/>
                                          </a:rPr>
                                          <m:t>𝐴</m:t>
                                        </m:r>
                                      </m:sub>
                                      <m:sup/>
                                    </m:sSubSup>
                                  </m:e>
                                </m:sPre>
                              </m:e>
                            </m:mr>
                          </m:m>
                        </m:e>
                      </m:d>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4997346" y="2931261"/>
                <a:ext cx="3816637" cy="1225272"/>
              </a:xfrm>
              <a:prstGeom prst="rect">
                <a:avLst/>
              </a:prstGeom>
              <a:blipFill>
                <a:blip r:embed="rId5"/>
                <a:stretch>
                  <a:fillRect/>
                </a:stretch>
              </a:blipFill>
            </p:spPr>
            <p:txBody>
              <a:bodyPr/>
              <a:lstStyle/>
              <a:p>
                <a:r>
                  <a:rPr lang="zh-CN" altLang="en-US">
                    <a:noFill/>
                  </a:rPr>
                  <a:t> </a:t>
                </a:r>
              </a:p>
            </p:txBody>
          </p:sp>
        </mc:Fallback>
      </mc:AlternateContent>
      <p:sp>
        <p:nvSpPr>
          <p:cNvPr id="13" name="矩形 12"/>
          <p:cNvSpPr/>
          <p:nvPr/>
        </p:nvSpPr>
        <p:spPr>
          <a:xfrm>
            <a:off x="5409626" y="2515152"/>
            <a:ext cx="3377731" cy="523220"/>
          </a:xfrm>
          <a:prstGeom prst="rect">
            <a:avLst/>
          </a:prstGeom>
        </p:spPr>
        <p:txBody>
          <a:bodyPr wrap="square">
            <a:spAutoFit/>
          </a:bodyPr>
          <a:lstStyle/>
          <a:p>
            <a:r>
              <a:rPr lang="zh-CN" altLang="zh-CN" sz="1400" dirty="0">
                <a:latin typeface="Calibri" panose="020F0502020204030204" pitchFamily="34" charset="0"/>
                <a:cs typeface="Times New Roman" panose="02020603050405020304" pitchFamily="18" charset="0"/>
              </a:rPr>
              <a:t>运动向量的坐标系变换可通过平移变换矩阵以及旋转变换矩阵来描述</a:t>
            </a:r>
            <a:endParaRPr lang="zh-CN" altLang="en-US" sz="1400" dirty="0"/>
          </a:p>
        </p:txBody>
      </p:sp>
      <mc:AlternateContent xmlns:mc="http://schemas.openxmlformats.org/markup-compatibility/2006" xmlns:a14="http://schemas.microsoft.com/office/drawing/2010/main">
        <mc:Choice Requires="a14">
          <p:sp>
            <p:nvSpPr>
              <p:cNvPr id="14" name="矩形 13"/>
              <p:cNvSpPr/>
              <p:nvPr/>
            </p:nvSpPr>
            <p:spPr>
              <a:xfrm>
                <a:off x="5401823" y="4263999"/>
                <a:ext cx="3216586" cy="6172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𝐴</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𝑋</m:t>
                              </m:r>
                            </m:e>
                            <m:sub>
                              <m:r>
                                <a:rPr lang="zh-CN" altLang="en-US" sz="1400" i="1">
                                  <a:latin typeface="Cambria Math" panose="02040503050406030204" pitchFamily="18" charset="0"/>
                                </a:rPr>
                                <m:t>𝐵</m:t>
                              </m:r>
                            </m:sub>
                            <m:sup/>
                          </m:sSubSup>
                        </m:e>
                      </m:sPre>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𝐴</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𝑅</m:t>
                                        </m:r>
                                      </m:e>
                                      <m:sub>
                                        <m:r>
                                          <a:rPr lang="zh-CN" altLang="en-US" sz="1400" i="1">
                                            <a:latin typeface="Cambria Math" panose="02040503050406030204" pitchFamily="18" charset="0"/>
                                          </a:rPr>
                                          <m:t>𝐵</m:t>
                                        </m:r>
                                      </m:sub>
                                      <m:sup/>
                                    </m:sSubSup>
                                  </m:e>
                                </m:sPre>
                              </m:e>
                              <m:e>
                                <m:r>
                                  <a:rPr lang="zh-CN" altLang="en-US" sz="1400" i="0">
                                    <a:latin typeface="Cambria Math" panose="02040503050406030204" pitchFamily="18" charset="0"/>
                                  </a:rPr>
                                  <m:t>0</m:t>
                                </m:r>
                              </m:e>
                            </m:mr>
                            <m:mr>
                              <m:e>
                                <m:r>
                                  <a:rPr lang="zh-CN" altLang="en-US" sz="1400" i="0">
                                    <a:latin typeface="Cambria Math" panose="02040503050406030204" pitchFamily="18" charset="0"/>
                                  </a:rPr>
                                  <m:t>0</m:t>
                                </m:r>
                              </m:e>
                              <m: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𝐴</m:t>
                                    </m:r>
                                  </m:sup>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𝑅</m:t>
                                        </m:r>
                                      </m:e>
                                      <m:sub>
                                        <m:r>
                                          <a:rPr lang="zh-CN" altLang="en-US" sz="1400" i="1">
                                            <a:latin typeface="Cambria Math" panose="02040503050406030204" pitchFamily="18" charset="0"/>
                                          </a:rPr>
                                          <m:t>𝐵</m:t>
                                        </m:r>
                                      </m:sub>
                                      <m:sup/>
                                    </m:sSubSup>
                                  </m:e>
                                </m:sPre>
                              </m:e>
                            </m:mr>
                          </m:m>
                        </m:e>
                      </m:d>
                      <m:d>
                        <m:dPr>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r>
                                  <a:rPr lang="zh-CN" altLang="en-US" sz="1400" i="0">
                                    <a:latin typeface="Cambria Math" panose="02040503050406030204" pitchFamily="18" charset="0"/>
                                  </a:rPr>
                                  <m:t>1</m:t>
                                </m:r>
                              </m:e>
                              <m:e>
                                <m:r>
                                  <a:rPr lang="zh-CN" altLang="en-US" sz="1400" i="0">
                                    <a:latin typeface="Cambria Math" panose="02040503050406030204" pitchFamily="18" charset="0"/>
                                  </a:rPr>
                                  <m:t>0</m:t>
                                </m:r>
                              </m:e>
                            </m:mr>
                            <m:mr>
                              <m:e>
                                <m:d>
                                  <m:dPr>
                                    <m:begChr m:val=""/>
                                    <m:ctrlPr>
                                      <a:rPr lang="zh-CN" altLang="en-US" sz="1400" i="1">
                                        <a:latin typeface="Cambria Math" panose="02040503050406030204" pitchFamily="18" charset="0"/>
                                      </a:rPr>
                                    </m:ctrlPr>
                                  </m:dPr>
                                  <m:e>
                                    <m:r>
                                      <a:rPr lang="zh-CN" altLang="en-US" sz="1400" i="0">
                                        <a:latin typeface="Cambria Math" panose="02040503050406030204" pitchFamily="18" charset="0"/>
                                      </a:rPr>
                                      <m:t>−</m:t>
                                    </m:r>
                                    <m:r>
                                      <a:rPr lang="zh-CN" altLang="en-US" sz="1400" i="1">
                                        <a:latin typeface="Cambria Math" panose="02040503050406030204" pitchFamily="18" charset="0"/>
                                      </a:rPr>
                                      <m:t>𝑆</m:t>
                                    </m:r>
                                    <m:r>
                                      <a:rPr lang="zh-CN" altLang="en-US" sz="1400" i="0">
                                        <a:latin typeface="Cambria Math" panose="02040503050406030204" pitchFamily="18" charset="0"/>
                                      </a:rPr>
                                      <m:t>(</m:t>
                                    </m:r>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𝐵</m:t>
                                        </m:r>
                                      </m:sup>
                                      <m:e>
                                        <m:sSubSup>
                                          <m:sSubSupPr>
                                            <m:ctrlPr>
                                              <a:rPr lang="zh-CN" altLang="en-US" sz="1400" i="1">
                                                <a:latin typeface="Cambria Math" panose="02040503050406030204" pitchFamily="18" charset="0"/>
                                              </a:rPr>
                                            </m:ctrlPr>
                                          </m:sSubSupPr>
                                          <m:e>
                                            <m:bar>
                                              <m:barPr>
                                                <m:ctrlPr>
                                                  <a:rPr lang="zh-CN" altLang="en-US" sz="1400" i="1">
                                                    <a:latin typeface="Cambria Math" panose="02040503050406030204" pitchFamily="18" charset="0"/>
                                                  </a:rPr>
                                                </m:ctrlPr>
                                              </m:barPr>
                                              <m:e>
                                                <m:r>
                                                  <a:rPr lang="zh-CN" altLang="en-US" sz="1400" i="1">
                                                    <a:latin typeface="Cambria Math" panose="02040503050406030204" pitchFamily="18" charset="0"/>
                                                  </a:rPr>
                                                  <m:t>𝑃</m:t>
                                                </m:r>
                                              </m:e>
                                            </m:bar>
                                          </m:e>
                                          <m:sub>
                                            <m:r>
                                              <a:rPr lang="zh-CN" altLang="en-US" sz="1400" i="1">
                                                <a:latin typeface="Cambria Math" panose="02040503050406030204" pitchFamily="18" charset="0"/>
                                              </a:rPr>
                                              <m:t>𝐴</m:t>
                                            </m:r>
                                          </m:sub>
                                          <m:sup/>
                                        </m:sSubSup>
                                      </m:e>
                                    </m:sPre>
                                  </m:e>
                                </m:d>
                              </m:e>
                              <m:e>
                                <m:r>
                                  <a:rPr lang="zh-CN" altLang="en-US" sz="1400" i="0">
                                    <a:latin typeface="Cambria Math" panose="02040503050406030204" pitchFamily="18" charset="0"/>
                                  </a:rPr>
                                  <m:t>1</m:t>
                                </m:r>
                              </m:e>
                            </m:mr>
                          </m:m>
                        </m:e>
                      </m:d>
                    </m:oMath>
                  </m:oMathPara>
                </a14:m>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5401823" y="4263999"/>
                <a:ext cx="3216586" cy="61728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263106" y="4076878"/>
                <a:ext cx="2812950" cy="871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𝑃</m:t>
                              </m:r>
                            </m:e>
                          </m:bar>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0</m:t>
                                </m:r>
                              </m:e>
                              <m:e>
                                <m:r>
                                  <a:rPr lang="zh-CN" altLang="en-US" i="0">
                                    <a:latin typeface="Cambria Math" panose="02040503050406030204" pitchFamily="18" charset="0"/>
                                  </a:rPr>
                                  <m:t>−</m:t>
                                </m:r>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𝑦</m:t>
                                          </m:r>
                                        </m:sub>
                                      </m:sSub>
                                    </m:e>
                                  </m:mr>
                                </m:m>
                              </m:e>
                            </m:mr>
                            <m:m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𝑧</m:t>
                                          </m:r>
                                        </m:sub>
                                      </m:sSub>
                                    </m:e>
                                  </m:mr>
                                  <m:mr>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𝑦</m:t>
                                          </m:r>
                                        </m:sub>
                                      </m:sSub>
                                    </m:e>
                                  </m:mr>
                                </m:m>
                              </m:e>
                              <m:e>
                                <m:m>
                                  <m:mPr>
                                    <m:mcs>
                                      <m:mc>
                                        <m:mcPr>
                                          <m:count m:val="1"/>
                                          <m:mcJc m:val="center"/>
                                        </m:mcPr>
                                      </m:mc>
                                    </m:mcs>
                                    <m:ctrlPr>
                                      <a:rPr lang="zh-CN" altLang="en-US" i="1">
                                        <a:latin typeface="Cambria Math" panose="02040503050406030204" pitchFamily="18" charset="0"/>
                                      </a:rPr>
                                    </m:ctrlPr>
                                  </m:mPr>
                                  <m:m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0</m:t>
                                            </m:r>
                                          </m:e>
                                          <m: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𝑥</m:t>
                                                </m:r>
                                              </m:sub>
                                            </m:sSub>
                                          </m:e>
                                        </m:mr>
                                      </m:m>
                                    </m:e>
                                  </m:mr>
                                  <m:mr>
                                    <m:e>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𝑥</m:t>
                                                </m:r>
                                              </m:sub>
                                            </m:sSub>
                                          </m:e>
                                          <m:e>
                                            <m:r>
                                              <a:rPr lang="zh-CN" altLang="en-US" i="0">
                                                <a:latin typeface="Cambria Math" panose="02040503050406030204" pitchFamily="18" charset="0"/>
                                              </a:rPr>
                                              <m:t>0</m:t>
                                            </m:r>
                                          </m:e>
                                        </m:mr>
                                      </m:m>
                                    </m:e>
                                  </m:mr>
                                </m:m>
                              </m:e>
                            </m:mr>
                          </m:m>
                        </m:e>
                      </m:d>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2263106" y="4076878"/>
                <a:ext cx="2812950" cy="87113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23528" y="4351437"/>
                <a:ext cx="2036648" cy="380553"/>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Times New Roman" panose="02020603050405020304" pitchFamily="18" charset="0"/>
                      </a:rPr>
                      <m:t>𝑆</m:t>
                    </m:r>
                    <m:r>
                      <a:rPr lang="en-US" altLang="zh-CN" i="1">
                        <a:latin typeface="Cambria Math" panose="02040503050406030204" pitchFamily="18" charset="0"/>
                        <a:cs typeface="Times New Roman" panose="02020603050405020304" pitchFamily="18" charset="0"/>
                      </a:rPr>
                      <m:t>(</m:t>
                    </m:r>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𝑃</m:t>
                        </m:r>
                      </m:e>
                    </m:bar>
                    <m:r>
                      <a:rPr lang="en-US" altLang="zh-CN" i="1">
                        <a:latin typeface="Cambria Math" panose="02040503050406030204" pitchFamily="18" charset="0"/>
                        <a:cs typeface="Times New Roman" panose="02020603050405020304" pitchFamily="18" charset="0"/>
                      </a:rPr>
                      <m:t>)</m:t>
                    </m:r>
                  </m:oMath>
                </a14:m>
                <a:r>
                  <a:rPr lang="zh-CN" altLang="zh-CN" dirty="0">
                    <a:latin typeface="Calibri" panose="020F0502020204030204" pitchFamily="34" charset="0"/>
                    <a:cs typeface="Times New Roman" panose="02020603050405020304" pitchFamily="18" charset="0"/>
                  </a:rPr>
                  <a:t>为反对称矩阵</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23528" y="4351437"/>
                <a:ext cx="2036648" cy="380553"/>
              </a:xfrm>
              <a:prstGeom prst="rect">
                <a:avLst/>
              </a:prstGeom>
              <a:blipFill>
                <a:blip r:embed="rId8"/>
                <a:stretch>
                  <a:fillRect t="-14516" r="-2695" b="-17742"/>
                </a:stretch>
              </a:blipFill>
            </p:spPr>
            <p:txBody>
              <a:bodyPr/>
              <a:lstStyle/>
              <a:p>
                <a:r>
                  <a:rPr lang="zh-CN" altLang="en-US">
                    <a:noFill/>
                  </a:rPr>
                  <a:t> </a:t>
                </a:r>
              </a:p>
            </p:txBody>
          </p:sp>
        </mc:Fallback>
      </mc:AlternateContent>
      <p:sp>
        <p:nvSpPr>
          <p:cNvPr id="19" name="圆角矩形 18"/>
          <p:cNvSpPr/>
          <p:nvPr/>
        </p:nvSpPr>
        <p:spPr>
          <a:xfrm>
            <a:off x="269875" y="4010148"/>
            <a:ext cx="4805968" cy="100987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071839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357248"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空间向量的运算规则</a:t>
            </a:r>
            <a:endParaRPr lang="zh-CN" altLang="en-US" b="1" dirty="0">
              <a:solidFill>
                <a:srgbClr val="002060"/>
              </a:solidFill>
            </a:endParaRPr>
          </a:p>
        </p:txBody>
      </p:sp>
      <p:sp>
        <p:nvSpPr>
          <p:cNvPr id="14" name="矩形 13"/>
          <p:cNvSpPr/>
          <p:nvPr/>
        </p:nvSpPr>
        <p:spPr>
          <a:xfrm>
            <a:off x="1049237" y="1491630"/>
            <a:ext cx="1225015"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a:t>
            </a:r>
            <a:r>
              <a:rPr lang="en-US" altLang="zh-CN" dirty="0">
                <a:latin typeface="Calibri" panose="020F0502020204030204" pitchFamily="34" charset="0"/>
                <a:cs typeface="Times New Roman" panose="02020603050405020304" pitchFamily="18" charset="0"/>
              </a:rPr>
              <a:t>4</a:t>
            </a:r>
            <a:r>
              <a:rPr lang="zh-CN" altLang="zh-CN" dirty="0">
                <a:latin typeface="Calibri" panose="020F0502020204030204" pitchFamily="34" charset="0"/>
                <a:cs typeface="Times New Roman" panose="02020603050405020304" pitchFamily="18" charset="0"/>
              </a:rPr>
              <a:t>）叉乘</a:t>
            </a:r>
            <a:endParaRPr lang="zh-CN" altLang="en-US" dirty="0"/>
          </a:p>
        </p:txBody>
      </p:sp>
      <mc:AlternateContent xmlns:mc="http://schemas.openxmlformats.org/markup-compatibility/2006" xmlns:a14="http://schemas.microsoft.com/office/drawing/2010/main">
        <mc:Choice Requires="a14">
          <p:sp>
            <p:nvSpPr>
              <p:cNvPr id="21" name="矩形 20"/>
              <p:cNvSpPr/>
              <p:nvPr/>
            </p:nvSpPr>
            <p:spPr>
              <a:xfrm>
                <a:off x="1979712" y="1187957"/>
                <a:ext cx="6264696" cy="6073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v</m:t>
                              </m:r>
                            </m:e>
                          </m:ba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0">
                              <a:latin typeface="Cambria Math" panose="02040503050406030204" pitchFamily="18" charset="0"/>
                            </a:rPr>
                            <m:t>2</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1</m:t>
                                    </m:r>
                                  </m:sub>
                                </m:sSub>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0">
                                        <a:latin typeface="Cambria Math" panose="02040503050406030204" pitchFamily="18" charset="0"/>
                                      </a:rPr>
                                      <m:t>1</m:t>
                                    </m:r>
                                    <m:r>
                                      <a:rPr lang="zh-CN" altLang="en-US" i="1">
                                        <a:latin typeface="Cambria Math" panose="02040503050406030204" pitchFamily="18" charset="0"/>
                                      </a:rPr>
                                      <m:t>𝑜</m:t>
                                    </m:r>
                                  </m:sub>
                                </m:sSub>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2</m:t>
                                    </m:r>
                                  </m:sub>
                                </m:sSub>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0">
                                        <a:latin typeface="Cambria Math" panose="02040503050406030204" pitchFamily="18" charset="0"/>
                                      </a:rPr>
                                      <m:t>2</m:t>
                                    </m:r>
                                    <m:r>
                                      <a:rPr lang="zh-CN" altLang="en-US" i="1">
                                        <a:latin typeface="Cambria Math" panose="02040503050406030204" pitchFamily="18" charset="0"/>
                                      </a:rPr>
                                      <m:t>𝑜</m:t>
                                    </m:r>
                                  </m:sub>
                                </m:sSub>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2</m:t>
                                    </m:r>
                                  </m:sub>
                                </m:sSub>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0">
                                        <a:latin typeface="Cambria Math" panose="02040503050406030204" pitchFamily="18" charset="0"/>
                                      </a:rPr>
                                      <m:t>2</m:t>
                                    </m:r>
                                    <m:r>
                                      <a:rPr lang="zh-CN" altLang="en-US" i="1">
                                        <a:latin typeface="Cambria Math" panose="02040503050406030204" pitchFamily="18" charset="0"/>
                                      </a:rPr>
                                      <m:t>𝑜</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0">
                                        <a:latin typeface="Cambria Math" panose="02040503050406030204" pitchFamily="18" charset="0"/>
                                      </a:rPr>
                                      <m:t>1</m:t>
                                    </m:r>
                                    <m:r>
                                      <a:rPr lang="zh-CN" altLang="en-US" i="1">
                                        <a:latin typeface="Cambria Math" panose="02040503050406030204" pitchFamily="18" charset="0"/>
                                      </a:rPr>
                                      <m:t>𝑜</m:t>
                                    </m:r>
                                    <m:r>
                                      <a:rPr lang="zh-CN" altLang="en-US" i="0">
                                        <a:latin typeface="Cambria Math" panose="02040503050406030204" pitchFamily="18" charset="0"/>
                                      </a:rPr>
                                      <m:t>×</m:t>
                                    </m:r>
                                  </m:sub>
                                </m:sSub>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sub>
                                    <m:r>
                                      <a:rPr lang="zh-CN" altLang="en-US" i="0">
                                        <a:latin typeface="Cambria Math" panose="02040503050406030204" pitchFamily="18" charset="0"/>
                                      </a:rPr>
                                      <m:t>2</m:t>
                                    </m:r>
                                  </m:sub>
                                </m:sSub>
                              </m:e>
                            </m:mr>
                          </m:m>
                        </m:e>
                      </m:d>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1979712" y="1187957"/>
                <a:ext cx="6264696" cy="60734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2718392" y="1923677"/>
                <a:ext cx="4375236" cy="7619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v</m:t>
                          </m:r>
                        </m:e>
                      </m:bar>
                      <m:r>
                        <a:rPr lang="zh-CN" altLang="en-US" i="0">
                          <a:latin typeface="Cambria Math" panose="02040503050406030204" pitchFamily="18" charset="0"/>
                        </a:rPr>
                        <m:t>×</m:t>
                      </m:r>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f</m:t>
                          </m:r>
                        </m:e>
                      </m:bar>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𝑜</m:t>
                                    </m:r>
                                  </m:sub>
                                </m:sSub>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𝑛</m:t>
                                        </m:r>
                                      </m:e>
                                    </m:bar>
                                  </m:e>
                                  <m:sub>
                                    <m:r>
                                      <a:rPr lang="zh-CN" altLang="en-US" i="1">
                                        <a:latin typeface="Cambria Math" panose="02040503050406030204" pitchFamily="18" charset="0"/>
                                      </a:rPr>
                                      <m:t>𝑜</m:t>
                                    </m:r>
                                  </m:sub>
                                </m:sSub>
                              </m:e>
                            </m:mr>
                            <m:mr>
                              <m:e>
                                <m:bar>
                                  <m:barPr>
                                    <m:ctrlPr>
                                      <a:rPr lang="zh-CN" altLang="en-US" i="1">
                                        <a:latin typeface="Cambria Math" panose="02040503050406030204" pitchFamily="18" charset="0"/>
                                      </a:rPr>
                                    </m:ctrlPr>
                                  </m:barPr>
                                  <m:e>
                                    <m:r>
                                      <a:rPr lang="zh-CN" altLang="en-US" i="1">
                                        <a:latin typeface="Cambria Math" panose="02040503050406030204" pitchFamily="18" charset="0"/>
                                      </a:rPr>
                                      <m:t>𝑓</m:t>
                                    </m:r>
                                  </m:e>
                                </m:bar>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𝑛</m:t>
                                        </m:r>
                                      </m:e>
                                    </m:bar>
                                  </m:e>
                                  <m:sub>
                                    <m:r>
                                      <a:rPr lang="zh-CN" altLang="en-US" i="1">
                                        <a:latin typeface="Cambria Math" panose="02040503050406030204" pitchFamily="18" charset="0"/>
                                      </a:rPr>
                                      <m:t>𝑜</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𝑜</m:t>
                                    </m:r>
                                  </m:sub>
                                </m:sSub>
                                <m:r>
                                  <a:rPr lang="zh-CN" altLang="en-US" i="0">
                                    <a:latin typeface="Cambria Math" panose="02040503050406030204" pitchFamily="18" charset="0"/>
                                  </a:rPr>
                                  <m:t>×</m:t>
                                </m:r>
                                <m:bar>
                                  <m:barPr>
                                    <m:ctrlPr>
                                      <a:rPr lang="zh-CN" altLang="en-US" i="1">
                                        <a:latin typeface="Cambria Math" panose="02040503050406030204" pitchFamily="18" charset="0"/>
                                      </a:rPr>
                                    </m:ctrlPr>
                                  </m:barPr>
                                  <m:e>
                                    <m:r>
                                      <a:rPr lang="zh-CN" altLang="en-US" i="1">
                                        <a:latin typeface="Cambria Math" panose="02040503050406030204" pitchFamily="18" charset="0"/>
                                      </a:rPr>
                                      <m:t>𝑓</m:t>
                                    </m:r>
                                  </m:e>
                                </m:bar>
                              </m:e>
                            </m:mr>
                            <m:m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r>
                                  <a:rPr lang="zh-CN" altLang="en-US" i="0">
                                    <a:latin typeface="Cambria Math" panose="02040503050406030204" pitchFamily="18" charset="0"/>
                                  </a:rPr>
                                  <m:t>×</m:t>
                                </m:r>
                                <m:bar>
                                  <m:barPr>
                                    <m:ctrlPr>
                                      <a:rPr lang="zh-CN" altLang="en-US" i="1">
                                        <a:latin typeface="Cambria Math" panose="02040503050406030204" pitchFamily="18" charset="0"/>
                                      </a:rPr>
                                    </m:ctrlPr>
                                  </m:barPr>
                                  <m:e>
                                    <m:r>
                                      <a:rPr lang="zh-CN" altLang="en-US" i="1">
                                        <a:latin typeface="Cambria Math" panose="02040503050406030204" pitchFamily="18" charset="0"/>
                                      </a:rPr>
                                      <m:t>𝑓</m:t>
                                    </m:r>
                                  </m:e>
                                </m:bar>
                              </m:e>
                            </m:mr>
                          </m:m>
                        </m:e>
                      </m:d>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2718392" y="1923677"/>
                <a:ext cx="4375236" cy="761940"/>
              </a:xfrm>
              <a:prstGeom prst="rect">
                <a:avLst/>
              </a:prstGeom>
              <a:blipFill>
                <a:blip r:embed="rId4"/>
                <a:stretch>
                  <a:fillRect/>
                </a:stretch>
              </a:blipFill>
            </p:spPr>
            <p:txBody>
              <a:bodyPr/>
              <a:lstStyle/>
              <a:p>
                <a:r>
                  <a:rPr lang="zh-CN" altLang="en-US">
                    <a:noFill/>
                  </a:rPr>
                  <a:t> </a:t>
                </a:r>
              </a:p>
            </p:txBody>
          </p:sp>
        </mc:Fallback>
      </mc:AlternateContent>
      <p:sp>
        <p:nvSpPr>
          <p:cNvPr id="23" name="圆角矩形 22"/>
          <p:cNvSpPr/>
          <p:nvPr/>
        </p:nvSpPr>
        <p:spPr>
          <a:xfrm>
            <a:off x="1049237" y="1187957"/>
            <a:ext cx="6763123" cy="14976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508365" y="3322050"/>
            <a:ext cx="1107996"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叉乘算子</a:t>
            </a:r>
            <a:endParaRPr lang="zh-CN" altLang="en-US" dirty="0"/>
          </a:p>
        </p:txBody>
      </p:sp>
      <mc:AlternateContent xmlns:mc="http://schemas.openxmlformats.org/markup-compatibility/2006" xmlns:a14="http://schemas.microsoft.com/office/drawing/2010/main">
        <mc:Choice Requires="a14">
          <p:sp>
            <p:nvSpPr>
              <p:cNvPr id="25" name="矩形 24"/>
              <p:cNvSpPr/>
              <p:nvPr/>
            </p:nvSpPr>
            <p:spPr>
              <a:xfrm>
                <a:off x="3741538" y="3173643"/>
                <a:ext cx="2533579" cy="7574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𝑆</m:t>
                                    </m:r>
                                    <m:r>
                                      <a:rPr lang="zh-CN" altLang="en-US" i="0">
                                        <a:latin typeface="Cambria Math" panose="02040503050406030204" pitchFamily="18" charset="0"/>
                                      </a:rPr>
                                      <m:t>(</m:t>
                                    </m:r>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d>
                              </m:e>
                              <m:e>
                                <m:r>
                                  <a:rPr lang="zh-CN" altLang="en-US" i="0">
                                    <a:latin typeface="Cambria Math" panose="02040503050406030204" pitchFamily="18" charset="0"/>
                                  </a:rPr>
                                  <m:t>0</m:t>
                                </m:r>
                              </m:e>
                            </m:mr>
                            <m:mr>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𝑆</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𝑜</m:t>
                                        </m:r>
                                      </m:sub>
                                    </m:sSub>
                                  </m:e>
                                </m:d>
                              </m:e>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𝑆</m:t>
                                    </m:r>
                                    <m:r>
                                      <a:rPr lang="zh-CN" altLang="en-US" i="0">
                                        <a:latin typeface="Cambria Math" panose="02040503050406030204" pitchFamily="18" charset="0"/>
                                      </a:rPr>
                                      <m:t>(</m:t>
                                    </m:r>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d>
                              </m:e>
                            </m:mr>
                          </m:m>
                        </m:e>
                      </m:d>
                    </m:oMath>
                  </m:oMathPara>
                </a14:m>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3741538" y="3173643"/>
                <a:ext cx="2533579" cy="75745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4877539" y="4308802"/>
                <a:ext cx="1807354" cy="459806"/>
              </a:xfrm>
              <a:prstGeom prst="rect">
                <a:avLst/>
              </a:prstGeom>
            </p:spPr>
            <p:txBody>
              <a:bodyPr wrap="none">
                <a:spAutoFit/>
              </a:bodyPr>
              <a:lstStyle/>
              <a:p>
                <a14:m>
                  <m:oMath xmlns:m="http://schemas.openxmlformats.org/officeDocument/2006/math">
                    <m:bar>
                      <m:barPr>
                        <m:ctrlPr>
                          <a:rPr lang="zh-CN" altLang="zh-CN" i="1">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v</m:t>
                        </m:r>
                      </m:e>
                    </m:bar>
                    <m:r>
                      <a:rPr lang="en-US" altLang="zh-CN" i="1">
                        <a:latin typeface="Cambria Math" panose="02040503050406030204" pitchFamily="18" charset="0"/>
                        <a:cs typeface="Times New Roman" panose="02020603050405020304" pitchFamily="18" charset="0"/>
                      </a:rPr>
                      <m:t>×</m:t>
                    </m:r>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f</m:t>
                        </m:r>
                      </m:e>
                    </m:bar>
                    <m:r>
                      <a:rPr lang="en-US" altLang="zh-CN">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𝑆</m:t>
                        </m:r>
                        <m:d>
                          <m:dPr>
                            <m:ctrlPr>
                              <a:rPr lang="zh-CN" altLang="zh-CN" i="1">
                                <a:effectLst/>
                                <a:latin typeface="Cambria Math" panose="02040503050406030204" pitchFamily="18" charset="0"/>
                                <a:ea typeface="Cambria Math" panose="02040503050406030204" pitchFamily="18" charset="0"/>
                              </a:rPr>
                            </m:ctrlPr>
                          </m:d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v</m:t>
                                </m:r>
                              </m:e>
                            </m:bar>
                          </m:e>
                        </m:d>
                      </m:e>
                      <m:sup>
                        <m:r>
                          <a:rPr lang="en-US" altLang="zh-CN" i="1">
                            <a:latin typeface="Cambria Math" panose="02040503050406030204" pitchFamily="18" charset="0"/>
                            <a:cs typeface="Times New Roman" panose="02020603050405020304" pitchFamily="18" charset="0"/>
                          </a:rPr>
                          <m:t>𝑇</m:t>
                        </m:r>
                      </m:sup>
                    </m:sSup>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f</m:t>
                        </m:r>
                      </m:e>
                    </m:bar>
                  </m:oMath>
                </a14:m>
                <a:r>
                  <a:rPr lang="en-US" altLang="zh-CN" dirty="0">
                    <a:latin typeface="Calibri" panose="020F0502020204030204" pitchFamily="34" charset="0"/>
                    <a:cs typeface="Times New Roman" panose="02020603050405020304" pitchFamily="18" charset="0"/>
                  </a:rPr>
                  <a:t> </a:t>
                </a:r>
                <a:endParaRPr lang="zh-CN" altLang="en-US" dirty="0"/>
              </a:p>
            </p:txBody>
          </p:sp>
        </mc:Choice>
        <mc:Fallback xmlns="">
          <p:sp>
            <p:nvSpPr>
              <p:cNvPr id="28" name="矩形 27"/>
              <p:cNvSpPr>
                <a:spLocks noRot="1" noChangeAspect="1" noMove="1" noResize="1" noEditPoints="1" noAdjustHandles="1" noChangeArrowheads="1" noChangeShapeType="1" noTextEdit="1"/>
              </p:cNvSpPr>
              <p:nvPr/>
            </p:nvSpPr>
            <p:spPr>
              <a:xfrm>
                <a:off x="4877539" y="4308802"/>
                <a:ext cx="1807354" cy="45980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1791554" y="4342089"/>
                <a:ext cx="2012089" cy="3817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v</m:t>
                              </m:r>
                            </m:e>
                          </m:ba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𝑆</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0">
                              <a:latin typeface="Cambria Math" panose="02040503050406030204" pitchFamily="18" charset="0"/>
                            </a:rPr>
                            <m:t>2</m:t>
                          </m:r>
                        </m:sub>
                      </m:sSub>
                    </m:oMath>
                  </m:oMathPara>
                </a14:m>
                <a:endParaRPr lang="zh-CN" altLang="en-US" dirty="0"/>
              </a:p>
            </p:txBody>
          </p:sp>
        </mc:Choice>
        <mc:Fallback xmlns="">
          <p:sp>
            <p:nvSpPr>
              <p:cNvPr id="29" name="矩形 28"/>
              <p:cNvSpPr>
                <a:spLocks noRot="1" noChangeAspect="1" noMove="1" noResize="1" noEditPoints="1" noAdjustHandles="1" noChangeArrowheads="1" noChangeShapeType="1" noTextEdit="1"/>
              </p:cNvSpPr>
              <p:nvPr/>
            </p:nvSpPr>
            <p:spPr>
              <a:xfrm>
                <a:off x="1791554" y="4342089"/>
                <a:ext cx="2012089" cy="381708"/>
              </a:xfrm>
              <a:prstGeom prst="rect">
                <a:avLst/>
              </a:prstGeom>
              <a:blipFill>
                <a:blip r:embed="rId7"/>
                <a:stretch>
                  <a:fillRect b="-11111"/>
                </a:stretch>
              </a:blipFill>
            </p:spPr>
            <p:txBody>
              <a:bodyPr/>
              <a:lstStyle/>
              <a:p>
                <a:r>
                  <a:rPr lang="zh-CN" altLang="en-US">
                    <a:noFill/>
                  </a:rPr>
                  <a:t> </a:t>
                </a:r>
              </a:p>
            </p:txBody>
          </p:sp>
        </mc:Fallback>
      </mc:AlternateContent>
      <p:sp>
        <p:nvSpPr>
          <p:cNvPr id="30" name="圆角矩形 29"/>
          <p:cNvSpPr/>
          <p:nvPr/>
        </p:nvSpPr>
        <p:spPr>
          <a:xfrm>
            <a:off x="1049237" y="3075806"/>
            <a:ext cx="6763123" cy="18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944086" y="3993691"/>
            <a:ext cx="1800493" cy="307777"/>
          </a:xfrm>
          <a:prstGeom prst="rect">
            <a:avLst/>
          </a:prstGeom>
        </p:spPr>
        <p:txBody>
          <a:bodyPr wrap="none">
            <a:spAutoFit/>
          </a:bodyPr>
          <a:lstStyle/>
          <a:p>
            <a:r>
              <a:rPr lang="zh-CN" altLang="zh-CN" sz="1400" dirty="0">
                <a:latin typeface="Calibri" panose="020F0502020204030204" pitchFamily="34" charset="0"/>
                <a:cs typeface="Times New Roman" panose="02020603050405020304" pitchFamily="18" charset="0"/>
              </a:rPr>
              <a:t>两个运动向量的叉乘</a:t>
            </a:r>
            <a:endParaRPr lang="zh-CN" altLang="en-US" sz="1400" dirty="0"/>
          </a:p>
        </p:txBody>
      </p:sp>
      <p:sp>
        <p:nvSpPr>
          <p:cNvPr id="32" name="矩形 31"/>
          <p:cNvSpPr/>
          <p:nvPr/>
        </p:nvSpPr>
        <p:spPr>
          <a:xfrm>
            <a:off x="4560019" y="4018991"/>
            <a:ext cx="2159566" cy="307777"/>
          </a:xfrm>
          <a:prstGeom prst="rect">
            <a:avLst/>
          </a:prstGeom>
        </p:spPr>
        <p:txBody>
          <a:bodyPr wrap="none">
            <a:spAutoFit/>
          </a:bodyPr>
          <a:lstStyle/>
          <a:p>
            <a:r>
              <a:rPr lang="zh-CN" altLang="zh-CN" sz="1400" dirty="0">
                <a:latin typeface="Calibri" panose="020F0502020204030204" pitchFamily="34" charset="0"/>
                <a:cs typeface="Times New Roman" panose="02020603050405020304" pitchFamily="18" charset="0"/>
              </a:rPr>
              <a:t>运动向量与力向量的叉乘</a:t>
            </a:r>
            <a:endParaRPr lang="zh-CN" altLang="en-US" sz="1400" dirty="0"/>
          </a:p>
        </p:txBody>
      </p:sp>
    </p:spTree>
    <p:extLst>
      <p:ext uri="{BB962C8B-B14F-4D97-AF65-F5344CB8AC3E}">
        <p14:creationId xmlns:p14="http://schemas.microsoft.com/office/powerpoint/2010/main" val="30679313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357248"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空间向量的运算规则</a:t>
            </a:r>
            <a:endParaRPr lang="zh-CN" altLang="en-US" b="1" dirty="0">
              <a:solidFill>
                <a:srgbClr val="002060"/>
              </a:solidFill>
            </a:endParaRPr>
          </a:p>
        </p:txBody>
      </p:sp>
      <p:sp>
        <p:nvSpPr>
          <p:cNvPr id="2" name="矩形 1"/>
          <p:cNvSpPr/>
          <p:nvPr/>
        </p:nvSpPr>
        <p:spPr>
          <a:xfrm>
            <a:off x="524178" y="1458029"/>
            <a:ext cx="1492716" cy="369332"/>
          </a:xfrm>
          <a:prstGeom prst="rect">
            <a:avLst/>
          </a:prstGeom>
        </p:spPr>
        <p:txBody>
          <a:bodyPr wrap="none">
            <a:spAutoFit/>
          </a:bodyPr>
          <a:lstStyle/>
          <a:p>
            <a:pPr indent="266700">
              <a:spcBef>
                <a:spcPts val="600"/>
              </a:spcBef>
              <a:spcAft>
                <a:spcPts val="600"/>
              </a:spcAft>
            </a:pPr>
            <a:r>
              <a:rPr lang="zh-CN" altLang="zh-CN" dirty="0">
                <a:latin typeface="宋体" panose="02010600030101010101" pitchFamily="2" charset="-122"/>
                <a:cs typeface="宋体" panose="02010600030101010101" pitchFamily="2" charset="-122"/>
              </a:rPr>
              <a:t>（</a:t>
            </a:r>
            <a:r>
              <a:rPr lang="en-US" altLang="zh-CN" dirty="0">
                <a:latin typeface="宋体" panose="02010600030101010101" pitchFamily="2" charset="-122"/>
                <a:cs typeface="宋体" panose="02010600030101010101" pitchFamily="2" charset="-122"/>
              </a:rPr>
              <a:t>5</a:t>
            </a:r>
            <a:r>
              <a:rPr lang="zh-CN" altLang="zh-CN" dirty="0">
                <a:latin typeface="宋体" panose="02010600030101010101" pitchFamily="2" charset="-122"/>
                <a:cs typeface="宋体" panose="02010600030101010101" pitchFamily="2" charset="-122"/>
              </a:rPr>
              <a:t>）微分</a:t>
            </a:r>
          </a:p>
        </p:txBody>
      </p:sp>
      <mc:AlternateContent xmlns:mc="http://schemas.openxmlformats.org/markup-compatibility/2006" xmlns:a14="http://schemas.microsoft.com/office/drawing/2010/main">
        <mc:Choice Requires="a14">
          <p:sp>
            <p:nvSpPr>
              <p:cNvPr id="3" name="矩形 2"/>
              <p:cNvSpPr/>
              <p:nvPr/>
            </p:nvSpPr>
            <p:spPr>
              <a:xfrm>
                <a:off x="3347864" y="2163041"/>
                <a:ext cx="3490827" cy="6298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r>
                            <a:rPr lang="zh-CN" altLang="en-US" i="1">
                              <a:latin typeface="Cambria Math" panose="02040503050406030204" pitchFamily="18" charset="0"/>
                            </a:rPr>
                            <m:t>𝑑</m:t>
                          </m:r>
                        </m:num>
                        <m:den>
                          <m:r>
                            <a:rPr lang="zh-CN" altLang="en-US" i="1">
                              <a:latin typeface="Cambria Math" panose="02040503050406030204" pitchFamily="18" charset="0"/>
                            </a:rPr>
                            <m:t>𝑑𝑥</m:t>
                          </m:r>
                        </m:den>
                      </m:f>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𝑥</m:t>
                      </m:r>
                      <m:r>
                        <a:rPr lang="zh-CN" altLang="en-US" i="0">
                          <a:latin typeface="Cambria Math" panose="02040503050406030204" pitchFamily="18" charset="0"/>
                        </a:rPr>
                        <m:t>)=</m:t>
                      </m:r>
                      <m:func>
                        <m:funcPr>
                          <m:ctrlPr>
                            <a:rPr lang="zh-CN" altLang="en-US" i="1">
                              <a:latin typeface="Cambria Math" panose="02040503050406030204" pitchFamily="18" charset="0"/>
                            </a:rPr>
                          </m:ctrlPr>
                        </m:funcPr>
                        <m:fName>
                          <m:limLow>
                            <m:limLowPr>
                              <m:ctrlPr>
                                <a:rPr lang="zh-CN" altLang="en-US" i="1">
                                  <a:latin typeface="Cambria Math" panose="02040503050406030204" pitchFamily="18" charset="0"/>
                                </a:rPr>
                              </m:ctrlPr>
                            </m:limLowPr>
                            <m:e>
                              <m:r>
                                <m:rPr>
                                  <m:sty m:val="p"/>
                                </m:rPr>
                                <a:rPr lang="zh-CN" altLang="en-US" i="0">
                                  <a:latin typeface="Cambria Math" panose="02040503050406030204" pitchFamily="18" charset="0"/>
                                </a:rPr>
                                <m:t>lim</m:t>
                              </m:r>
                            </m:e>
                            <m:lim>
                              <m:r>
                                <a:rPr lang="zh-CN" altLang="en-US" i="1">
                                  <a:latin typeface="Cambria Math" panose="02040503050406030204" pitchFamily="18" charset="0"/>
                                </a:rPr>
                                <m:t>𝛿</m:t>
                              </m:r>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0">
                                  <a:latin typeface="Cambria Math" panose="02040503050406030204" pitchFamily="18" charset="0"/>
                                </a:rPr>
                                <m:t>0</m:t>
                              </m:r>
                            </m:lim>
                          </m:limLow>
                        </m:fName>
                        <m:e>
                          <m:f>
                            <m:fPr>
                              <m:ctrlPr>
                                <a:rPr lang="zh-CN" altLang="en-US" i="1">
                                  <a:latin typeface="Cambria Math" panose="02040503050406030204" pitchFamily="18" charset="0"/>
                                </a:rPr>
                              </m:ctrlPr>
                            </m:fPr>
                            <m:num>
                              <m:d>
                                <m:dPr>
                                  <m:begChr m:val=""/>
                                  <m:ctrlPr>
                                    <a:rPr lang="zh-CN" altLang="en-US" i="1">
                                      <a:latin typeface="Cambria Math" panose="02040503050406030204" pitchFamily="18" charset="0"/>
                                    </a:rPr>
                                  </m:ctrlPr>
                                </m:dPr>
                                <m:e>
                                  <m:r>
                                    <a:rPr lang="zh-CN" altLang="en-US" i="1">
                                      <a:latin typeface="Cambria Math" panose="02040503050406030204" pitchFamily="18" charset="0"/>
                                    </a:rPr>
                                    <m:t>𝑣</m:t>
                                  </m:r>
                                  <m:d>
                                    <m:dPr>
                                      <m:ctrlPr>
                                        <a:rPr lang="zh-CN" altLang="en-US" i="1">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𝛿</m:t>
                                      </m:r>
                                      <m:r>
                                        <a:rPr lang="zh-CN" altLang="en-US" i="1">
                                          <a:latin typeface="Cambria Math" panose="02040503050406030204" pitchFamily="18" charset="0"/>
                                        </a:rPr>
                                        <m:t>𝑥</m:t>
                                      </m:r>
                                    </m:e>
                                  </m:d>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𝑥</m:t>
                                  </m:r>
                                </m:e>
                              </m:d>
                            </m:num>
                            <m:den>
                              <m:r>
                                <a:rPr lang="zh-CN" altLang="en-US" i="1">
                                  <a:latin typeface="Cambria Math" panose="02040503050406030204" pitchFamily="18" charset="0"/>
                                </a:rPr>
                                <m:t>𝛿</m:t>
                              </m:r>
                              <m:r>
                                <a:rPr lang="zh-CN" altLang="en-US" i="1">
                                  <a:latin typeface="Cambria Math" panose="02040503050406030204" pitchFamily="18" charset="0"/>
                                </a:rPr>
                                <m:t>𝑥</m:t>
                              </m:r>
                            </m:den>
                          </m:f>
                        </m:e>
                      </m:func>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3347864" y="2163041"/>
                <a:ext cx="3490827" cy="629852"/>
              </a:xfrm>
              <a:prstGeom prst="rect">
                <a:avLst/>
              </a:prstGeom>
              <a:blipFill>
                <a:blip r:embed="rId3"/>
                <a:stretch>
                  <a:fillRect/>
                </a:stretch>
              </a:blipFill>
            </p:spPr>
            <p:txBody>
              <a:bodyPr/>
              <a:lstStyle/>
              <a:p>
                <a:r>
                  <a:rPr lang="zh-CN" altLang="en-US">
                    <a:noFill/>
                  </a:rPr>
                  <a:t> </a:t>
                </a:r>
              </a:p>
            </p:txBody>
          </p:sp>
        </mc:Fallback>
      </mc:AlternateContent>
      <p:sp>
        <p:nvSpPr>
          <p:cNvPr id="4" name="矩形 3"/>
          <p:cNvSpPr/>
          <p:nvPr/>
        </p:nvSpPr>
        <p:spPr>
          <a:xfrm>
            <a:off x="885815" y="2346434"/>
            <a:ext cx="2262158"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空间向量的导数定义</a:t>
            </a:r>
            <a:endParaRPr lang="zh-CN" altLang="en-US" dirty="0"/>
          </a:p>
        </p:txBody>
      </p:sp>
      <p:sp>
        <p:nvSpPr>
          <p:cNvPr id="5" name="矩形 4"/>
          <p:cNvSpPr/>
          <p:nvPr/>
        </p:nvSpPr>
        <p:spPr>
          <a:xfrm>
            <a:off x="896576" y="3509566"/>
            <a:ext cx="2582758"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对任意空间向量</a:t>
            </a:r>
            <a:r>
              <a:rPr lang="en-US" altLang="zh-CN" dirty="0">
                <a:latin typeface="Calibri" panose="020F0502020204030204" pitchFamily="34" charset="0"/>
                <a:cs typeface="Times New Roman" panose="02020603050405020304" pitchFamily="18" charset="0"/>
              </a:rPr>
              <a:t>s</a:t>
            </a:r>
            <a:r>
              <a:rPr lang="zh-CN" altLang="zh-CN" dirty="0">
                <a:latin typeface="Calibri" panose="020F0502020204030204" pitchFamily="34" charset="0"/>
                <a:cs typeface="Times New Roman" panose="02020603050405020304" pitchFamily="18" charset="0"/>
              </a:rPr>
              <a:t>求微分</a:t>
            </a:r>
            <a:endParaRPr lang="zh-CN" altLang="en-US" dirty="0"/>
          </a:p>
        </p:txBody>
      </p:sp>
      <mc:AlternateContent xmlns:mc="http://schemas.openxmlformats.org/markup-compatibility/2006" xmlns:a14="http://schemas.microsoft.com/office/drawing/2010/main">
        <mc:Choice Requires="a14">
          <p:sp>
            <p:nvSpPr>
              <p:cNvPr id="6" name="矩形 5"/>
              <p:cNvSpPr/>
              <p:nvPr/>
            </p:nvSpPr>
            <p:spPr>
              <a:xfrm>
                <a:off x="3504120" y="3266302"/>
                <a:ext cx="2803780" cy="7507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d>
                            <m:dPr>
                              <m:ctrlPr>
                                <a:rPr lang="zh-CN" altLang="en-US" i="1">
                                  <a:latin typeface="Cambria Math" panose="02040503050406030204" pitchFamily="18" charset="0"/>
                                </a:rPr>
                              </m:ctrlPr>
                            </m:dPr>
                            <m:e>
                              <m:f>
                                <m:fPr>
                                  <m:ctrlPr>
                                    <a:rPr lang="zh-CN" altLang="en-US" i="1">
                                      <a:latin typeface="Cambria Math" panose="02040503050406030204" pitchFamily="18" charset="0"/>
                                    </a:rPr>
                                  </m:ctrlPr>
                                </m:fPr>
                                <m:num>
                                  <m:r>
                                    <a:rPr lang="zh-CN" altLang="en-US" i="1">
                                      <a:latin typeface="Cambria Math" panose="02040503050406030204" pitchFamily="18" charset="0"/>
                                    </a:rPr>
                                    <m:t>𝑑</m:t>
                                  </m:r>
                                </m:num>
                                <m:den>
                                  <m:r>
                                    <a:rPr lang="zh-CN" altLang="en-US" i="1">
                                      <a:latin typeface="Cambria Math" panose="02040503050406030204" pitchFamily="18" charset="0"/>
                                    </a:rPr>
                                    <m:t>𝑑𝑡</m:t>
                                  </m:r>
                                </m:den>
                              </m:f>
                              <m:r>
                                <a:rPr lang="zh-CN" altLang="en-US" i="1">
                                  <a:latin typeface="Cambria Math" panose="02040503050406030204" pitchFamily="18" charset="0"/>
                                </a:rPr>
                                <m:t>𝑠</m:t>
                              </m:r>
                            </m:e>
                          </m:d>
                        </m:e>
                        <m:sub>
                          <m:r>
                            <a:rPr lang="zh-CN" altLang="en-US" i="1">
                              <a:latin typeface="Cambria Math" panose="02040503050406030204" pitchFamily="18" charset="0"/>
                            </a:rPr>
                            <m:t>𝐴</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𝑑</m:t>
                          </m:r>
                        </m:num>
                        <m:den>
                          <m:r>
                            <a:rPr lang="zh-CN" altLang="en-US" i="1">
                              <a:latin typeface="Cambria Math" panose="02040503050406030204" pitchFamily="18" charset="0"/>
                            </a:rPr>
                            <m:t>𝑑𝑡</m:t>
                          </m:r>
                        </m:den>
                      </m:f>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𝑠</m:t>
                              </m:r>
                            </m:e>
                          </m:bar>
                        </m:e>
                        <m:sub>
                          <m:r>
                            <a:rPr lang="zh-CN" altLang="en-US" i="1">
                              <a:latin typeface="Cambria Math" panose="02040503050406030204" pitchFamily="18" charset="0"/>
                            </a:rPr>
                            <m:t>𝐴</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1">
                              <a:latin typeface="Cambria Math" panose="02040503050406030204" pitchFamily="18" charset="0"/>
                            </a:rPr>
                            <m:t>𝐴</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s</m:t>
                              </m:r>
                            </m:e>
                          </m:bar>
                        </m:e>
                        <m:sub>
                          <m:r>
                            <a:rPr lang="zh-CN" altLang="en-US" i="1">
                              <a:latin typeface="Cambria Math" panose="02040503050406030204" pitchFamily="18" charset="0"/>
                            </a:rPr>
                            <m:t>𝐴</m:t>
                          </m:r>
                        </m:sub>
                      </m:sSub>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3504120" y="3266302"/>
                <a:ext cx="2803780" cy="750783"/>
              </a:xfrm>
              <a:prstGeom prst="rect">
                <a:avLst/>
              </a:prstGeom>
              <a:blipFill>
                <a:blip r:embed="rId4"/>
                <a:stretch>
                  <a:fillRect/>
                </a:stretch>
              </a:blipFill>
            </p:spPr>
            <p:txBody>
              <a:bodyPr/>
              <a:lstStyle/>
              <a:p>
                <a:r>
                  <a:rPr lang="zh-CN" altLang="en-US">
                    <a:noFill/>
                  </a:rPr>
                  <a:t> </a:t>
                </a:r>
              </a:p>
            </p:txBody>
          </p:sp>
        </mc:Fallback>
      </mc:AlternateContent>
      <p:sp>
        <p:nvSpPr>
          <p:cNvPr id="7" name="圆角矩形 6"/>
          <p:cNvSpPr/>
          <p:nvPr/>
        </p:nvSpPr>
        <p:spPr>
          <a:xfrm>
            <a:off x="755576" y="1923678"/>
            <a:ext cx="6192688" cy="11521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755576" y="3266302"/>
            <a:ext cx="6192688" cy="10336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32286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1346844"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空间加速度</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611560" y="1347163"/>
                <a:ext cx="4572000" cy="659348"/>
              </a:xfrm>
              <a:prstGeom prst="rect">
                <a:avLst/>
              </a:prstGeom>
            </p:spPr>
            <p:txBody>
              <a:bodyPr>
                <a:spAutoFit/>
              </a:bodyPr>
              <a:lstStyle/>
              <a:p>
                <a:r>
                  <a:rPr lang="zh-CN" altLang="zh-CN" dirty="0">
                    <a:latin typeface="Calibri" panose="020F0502020204030204" pitchFamily="34" charset="0"/>
                    <a:cs typeface="Times New Roman" panose="02020603050405020304" pitchFamily="18" charset="0"/>
                  </a:rPr>
                  <a:t>而空间加速度</a:t>
                </a:r>
                <a14:m>
                  <m:oMath xmlns:m="http://schemas.openxmlformats.org/officeDocument/2006/math">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𝑎</m:t>
                        </m:r>
                      </m:e>
                    </m:bar>
                  </m:oMath>
                </a14:m>
                <a:r>
                  <a:rPr lang="zh-CN" altLang="zh-CN" dirty="0">
                    <a:latin typeface="Calibri" panose="020F0502020204030204" pitchFamily="34" charset="0"/>
                    <a:cs typeface="Times New Roman" panose="02020603050405020304" pitchFamily="18" charset="0"/>
                  </a:rPr>
                  <a:t>和传统的刚体加速度（这里称之为经典加速度）定义有所区别：</a:t>
                </a:r>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611560" y="1347163"/>
                <a:ext cx="4572000" cy="659348"/>
              </a:xfrm>
              <a:prstGeom prst="rect">
                <a:avLst/>
              </a:prstGeom>
              <a:blipFill>
                <a:blip r:embed="rId3"/>
                <a:stretch>
                  <a:fillRect l="-1067" t="-8333"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624511" y="2006511"/>
                <a:ext cx="2134302" cy="18852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a</m:t>
                          </m:r>
                        </m:e>
                      </m:bar>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sub>
                                    <m:r>
                                      <a:rPr lang="zh-CN" altLang="en-US" i="1">
                                        <a:latin typeface="Cambria Math" panose="02040503050406030204" pitchFamily="18" charset="0"/>
                                      </a:rPr>
                                      <m:t>𝑥</m:t>
                                    </m:r>
                                  </m:sub>
                                </m:sSub>
                              </m:e>
                            </m:mr>
                            <m:mr>
                              <m:e>
                                <m:m>
                                  <m:mPr>
                                    <m:mcs>
                                      <m:mc>
                                        <m:mcPr>
                                          <m:count m:val="1"/>
                                          <m:mcJc m:val="center"/>
                                        </m:mcPr>
                                      </m:mc>
                                    </m:mcs>
                                    <m:ctrlPr>
                                      <a:rPr lang="zh-CN" altLang="en-US" i="1">
                                        <a:latin typeface="Cambria Math" panose="02040503050406030204" pitchFamily="18" charset="0"/>
                                      </a:rPr>
                                    </m:ctrlPr>
                                  </m:mPr>
                                  <m:m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sub>
                                                <m:r>
                                                  <a:rPr lang="zh-CN" altLang="en-US" i="1">
                                                    <a:latin typeface="Cambria Math" panose="02040503050406030204" pitchFamily="18" charset="0"/>
                                                  </a:rPr>
                                                  <m:t>𝑦</m:t>
                                                </m:r>
                                              </m:sub>
                                            </m:sSub>
                                          </m:e>
                                        </m:m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sub>
                                                <m:r>
                                                  <a:rPr lang="zh-CN" altLang="en-US" i="1">
                                                    <a:latin typeface="Cambria Math" panose="02040503050406030204" pitchFamily="18" charset="0"/>
                                                  </a:rPr>
                                                  <m:t>𝑧</m:t>
                                                </m:r>
                                              </m:sub>
                                            </m:sSub>
                                          </m:e>
                                        </m:mr>
                                      </m:m>
                                    </m:e>
                                  </m:m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𝑥</m:t>
                                              </m:r>
                                            </m:sub>
                                          </m:sSub>
                                        </m:sub>
                                      </m:sSub>
                                    </m:e>
                                  </m:m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𝑦</m:t>
                                              </m:r>
                                            </m:sub>
                                          </m:sSub>
                                        </m:sub>
                                      </m:sSub>
                                    </m:e>
                                  </m:mr>
                                </m:m>
                              </m:e>
                            </m:mr>
                            <m:mr>
                              <m:e>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𝑂</m:t>
                                        </m:r>
                                      </m:e>
                                      <m:sub>
                                        <m:r>
                                          <a:rPr lang="zh-CN" altLang="en-US" i="1">
                                            <a:latin typeface="Cambria Math" panose="02040503050406030204" pitchFamily="18" charset="0"/>
                                          </a:rPr>
                                          <m:t>𝑧</m:t>
                                        </m:r>
                                      </m:sub>
                                    </m:sSub>
                                  </m:sub>
                                </m:sSub>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bar>
                                  <m:barPr>
                                    <m:ctrlPr>
                                      <a:rPr lang="zh-CN" altLang="en-US" i="1">
                                        <a:latin typeface="Cambria Math" panose="02040503050406030204" pitchFamily="18" charset="0"/>
                                      </a:rPr>
                                    </m:ctrlPr>
                                  </m:bar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bar>
                              </m:e>
                            </m:m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𝑣</m:t>
                                            </m:r>
                                          </m:e>
                                        </m:acc>
                                      </m:e>
                                    </m:bar>
                                  </m:e>
                                  <m:sub>
                                    <m:r>
                                      <a:rPr lang="zh-CN" altLang="en-US" i="1">
                                        <a:latin typeface="Cambria Math" panose="02040503050406030204" pitchFamily="18" charset="0"/>
                                      </a:rPr>
                                      <m:t>𝑜</m:t>
                                    </m:r>
                                  </m:sub>
                                </m:sSub>
                              </m:e>
                            </m:mr>
                          </m:m>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624511" y="2006511"/>
                <a:ext cx="2134302" cy="1885260"/>
              </a:xfrm>
              <a:prstGeom prst="rect">
                <a:avLst/>
              </a:prstGeom>
              <a:blipFill>
                <a:blip r:embed="rId4"/>
                <a:stretch>
                  <a:fillRect/>
                </a:stretch>
              </a:blipFill>
            </p:spPr>
            <p:txBody>
              <a:bodyPr/>
              <a:lstStyle/>
              <a:p>
                <a:r>
                  <a:rPr lang="zh-CN" altLang="en-US">
                    <a:noFill/>
                  </a:rPr>
                  <a:t> </a:t>
                </a:r>
              </a:p>
            </p:txBody>
          </p:sp>
        </mc:Fallback>
      </mc:AlternateContent>
      <p:pic>
        <p:nvPicPr>
          <p:cNvPr id="10" name="图片 9"/>
          <p:cNvPicPr/>
          <p:nvPr/>
        </p:nvPicPr>
        <p:blipFill>
          <a:blip r:embed="rId5"/>
          <a:stretch>
            <a:fillRect/>
          </a:stretch>
        </p:blipFill>
        <p:spPr>
          <a:xfrm>
            <a:off x="5292080" y="1088570"/>
            <a:ext cx="3255960" cy="1409932"/>
          </a:xfrm>
          <a:prstGeom prst="rect">
            <a:avLst/>
          </a:prstGeom>
        </p:spPr>
      </p:pic>
      <p:sp>
        <p:nvSpPr>
          <p:cNvPr id="4" name="矩形 3"/>
          <p:cNvSpPr/>
          <p:nvPr/>
        </p:nvSpPr>
        <p:spPr>
          <a:xfrm>
            <a:off x="5292080" y="2527489"/>
            <a:ext cx="341632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空间加速度与经典加速度的关系</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715387" y="4273446"/>
                <a:ext cx="1553117" cy="5553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a</m:t>
                          </m:r>
                        </m:e>
                      </m:bar>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mr>
                            <m:m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𝑟</m:t>
                                    </m:r>
                                  </m:e>
                                </m:acc>
                                <m:r>
                                  <a:rPr lang="zh-CN" altLang="en-US" i="0">
                                    <a:latin typeface="Cambria Math" panose="02040503050406030204" pitchFamily="18" charset="0"/>
                                  </a:rPr>
                                  <m:t>−</m:t>
                                </m:r>
                                <m:r>
                                  <a:rPr lang="zh-CN" altLang="en-US" i="1">
                                    <a:latin typeface="Cambria Math" panose="02040503050406030204" pitchFamily="18" charset="0"/>
                                  </a:rPr>
                                  <m:t>𝜔</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𝑟</m:t>
                                    </m:r>
                                  </m:e>
                                </m:acc>
                              </m:e>
                            </m:mr>
                          </m:m>
                        </m:e>
                      </m:d>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715387" y="4273446"/>
                <a:ext cx="1553117" cy="55534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868885" y="4275242"/>
                <a:ext cx="1118127" cy="5535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a</m:t>
                              </m:r>
                            </m:e>
                          </m:bar>
                        </m:e>
                        <m:sup>
                          <m:r>
                            <a:rPr lang="zh-CN" altLang="en-US" i="0">
                              <a:latin typeface="Cambria Math" panose="02040503050406030204" pitchFamily="18" charset="0"/>
                            </a:rPr>
                            <m:t>′</m:t>
                          </m:r>
                        </m:sup>
                      </m:sSup>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e>
                            </m:mr>
                            <m:m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𝑟</m:t>
                                    </m:r>
                                  </m:e>
                                </m:acc>
                              </m:e>
                            </m:mr>
                          </m:m>
                        </m:e>
                      </m:d>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2868885" y="4275242"/>
                <a:ext cx="1118127" cy="55354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6000383" y="3147814"/>
                <a:ext cx="1999714" cy="6245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a</m:t>
                          </m:r>
                        </m:e>
                      </m:bar>
                      <m:r>
                        <a:rPr lang="zh-CN" altLang="en-US" i="0">
                          <a:latin typeface="Cambria Math" panose="02040503050406030204" pitchFamily="18" charset="0"/>
                        </a:rPr>
                        <m:t>=</m:t>
                      </m:r>
                      <m:sSup>
                        <m:sSupPr>
                          <m:ctrlPr>
                            <a:rPr lang="zh-CN" altLang="en-US" i="1">
                              <a:latin typeface="Cambria Math" panose="02040503050406030204" pitchFamily="18" charset="0"/>
                            </a:rPr>
                          </m:ctrlPr>
                        </m:sSup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a</m:t>
                              </m:r>
                            </m:e>
                          </m:bar>
                        </m:e>
                        <m:sup>
                          <m:r>
                            <a:rPr lang="zh-CN" altLang="en-US" i="0">
                              <a:latin typeface="Cambria Math" panose="02040503050406030204" pitchFamily="18" charset="0"/>
                            </a:rPr>
                            <m:t>′</m:t>
                          </m:r>
                        </m:sup>
                      </m:sSup>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bar>
                                  <m:barPr>
                                    <m:ctrlPr>
                                      <a:rPr lang="zh-CN" altLang="en-US" i="1">
                                        <a:latin typeface="Cambria Math" panose="02040503050406030204" pitchFamily="18" charset="0"/>
                                      </a:rPr>
                                    </m:ctrlPr>
                                  </m:barPr>
                                  <m:e>
                                    <m:r>
                                      <a:rPr lang="zh-CN" altLang="en-US" i="0">
                                        <a:latin typeface="Cambria Math" panose="02040503050406030204" pitchFamily="18" charset="0"/>
                                      </a:rPr>
                                      <m:t>0</m:t>
                                    </m:r>
                                  </m:e>
                                </m:bar>
                              </m:e>
                            </m:mr>
                            <m:mr>
                              <m:e>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𝑜</m:t>
                                    </m:r>
                                  </m:sub>
                                </m:sSub>
                              </m:e>
                            </m:mr>
                          </m:m>
                        </m:e>
                      </m:d>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6000383" y="3147814"/>
                <a:ext cx="1999714" cy="624595"/>
              </a:xfrm>
              <a:prstGeom prst="rect">
                <a:avLst/>
              </a:prstGeom>
              <a:blipFill>
                <a:blip r:embed="rId8"/>
                <a:stretch>
                  <a:fillRect/>
                </a:stretch>
              </a:blipFill>
            </p:spPr>
            <p:txBody>
              <a:bodyPr/>
              <a:lstStyle/>
              <a:p>
                <a:r>
                  <a:rPr lang="zh-CN" altLang="en-US">
                    <a:noFill/>
                  </a:rPr>
                  <a:t> </a:t>
                </a:r>
              </a:p>
            </p:txBody>
          </p:sp>
        </mc:Fallback>
      </mc:AlternateContent>
      <p:sp>
        <p:nvSpPr>
          <p:cNvPr id="8" name="矩形 7"/>
          <p:cNvSpPr/>
          <p:nvPr/>
        </p:nvSpPr>
        <p:spPr>
          <a:xfrm>
            <a:off x="4494817" y="3966408"/>
            <a:ext cx="4319167" cy="923330"/>
          </a:xfrm>
          <a:prstGeom prst="rect">
            <a:avLst/>
          </a:prstGeom>
        </p:spPr>
        <p:txBody>
          <a:bodyPr wrap="square">
            <a:spAutoFit/>
          </a:bodyPr>
          <a:lstStyle/>
          <a:p>
            <a:r>
              <a:rPr lang="zh-CN" altLang="zh-CN" dirty="0">
                <a:latin typeface="Calibri" panose="020F0502020204030204" pitchFamily="34" charset="0"/>
                <a:cs typeface="Times New Roman" panose="02020603050405020304" pitchFamily="18" charset="0"/>
              </a:rPr>
              <a:t>空间加速度向量和速度向量一样可以简单进行相加，采用空间加速度的好处是不用考虑科氏力</a:t>
            </a:r>
            <a:r>
              <a:rPr lang="en-US" altLang="zh-CN" dirty="0">
                <a:latin typeface="Calibri" panose="020F0502020204030204" pitchFamily="34" charset="0"/>
                <a:cs typeface="Times New Roman" panose="02020603050405020304" pitchFamily="18" charset="0"/>
              </a:rPr>
              <a:t>(Coriolis)</a:t>
            </a:r>
            <a:r>
              <a:rPr lang="zh-CN" altLang="zh-CN" dirty="0">
                <a:latin typeface="Calibri" panose="020F0502020204030204" pitchFamily="34" charset="0"/>
                <a:cs typeface="Times New Roman" panose="02020603050405020304" pitchFamily="18" charset="0"/>
              </a:rPr>
              <a:t>或离心力项。</a:t>
            </a:r>
            <a:endParaRPr lang="zh-CN" altLang="en-US" dirty="0"/>
          </a:p>
        </p:txBody>
      </p:sp>
      <p:sp>
        <p:nvSpPr>
          <p:cNvPr id="9" name="圆角矩形 8"/>
          <p:cNvSpPr/>
          <p:nvPr/>
        </p:nvSpPr>
        <p:spPr>
          <a:xfrm>
            <a:off x="4494817" y="3966408"/>
            <a:ext cx="4319167" cy="9233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7402813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357248"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空间动量与空间惯量</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467544" y="1222468"/>
                <a:ext cx="4572000" cy="646331"/>
              </a:xfrm>
              <a:prstGeom prst="rect">
                <a:avLst/>
              </a:prstGeom>
            </p:spPr>
            <p:txBody>
              <a:bodyPr>
                <a:spAutoFit/>
              </a:bodyPr>
              <a:lstStyle/>
              <a:p>
                <a:r>
                  <a:rPr lang="zh-CN" altLang="zh-CN" dirty="0">
                    <a:latin typeface="Calibri" panose="020F0502020204030204" pitchFamily="34" charset="0"/>
                    <a:cs typeface="Times New Roman" panose="02020603050405020304" pitchFamily="18" charset="0"/>
                  </a:rPr>
                  <a:t>将线性动量和角动量组合成空间动量向量</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cs typeface="Times New Roman" panose="02020603050405020304" pitchFamily="18" charset="0"/>
                          </a:rPr>
                          <m:t>h</m:t>
                        </m:r>
                      </m:e>
                      <m:sub>
                        <m:r>
                          <a:rPr lang="en-US" altLang="zh-CN" i="1">
                            <a:latin typeface="Cambria Math" panose="02040503050406030204" pitchFamily="18" charset="0"/>
                            <a:cs typeface="Times New Roman" panose="02020603050405020304" pitchFamily="18" charset="0"/>
                          </a:rPr>
                          <m:t>𝐶</m:t>
                        </m:r>
                      </m:sub>
                    </m:sSub>
                  </m:oMath>
                </a14:m>
                <a:r>
                  <a:rPr lang="zh-CN" altLang="zh-CN" dirty="0">
                    <a:latin typeface="Calibri" panose="020F0502020204030204" pitchFamily="34" charset="0"/>
                    <a:cs typeface="Times New Roman" panose="02020603050405020304" pitchFamily="18" charset="0"/>
                  </a:rPr>
                  <a:t>，在普吕克坐标系下可表达为：</a:t>
                </a:r>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467544" y="1222468"/>
                <a:ext cx="4572000" cy="646331"/>
              </a:xfrm>
              <a:prstGeom prst="rect">
                <a:avLst/>
              </a:prstGeom>
              <a:blipFill>
                <a:blip r:embed="rId3"/>
                <a:stretch>
                  <a:fillRect l="-1200" t="-7547" r="-6133"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128553" y="2029583"/>
                <a:ext cx="2291397" cy="6213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h</m:t>
                              </m:r>
                            </m:e>
                          </m:bar>
                        </m:e>
                        <m:sub>
                          <m:r>
                            <a:rPr lang="zh-CN" altLang="en-US" i="1">
                              <a:latin typeface="Cambria Math" panose="02040503050406030204" pitchFamily="18" charset="0"/>
                            </a:rPr>
                            <m:t>𝐶</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h</m:t>
                                        </m:r>
                                      </m:e>
                                    </m:bar>
                                  </m:e>
                                  <m:sub>
                                    <m:r>
                                      <a:rPr lang="zh-CN" altLang="en-US" i="1">
                                        <a:latin typeface="Cambria Math" panose="02040503050406030204" pitchFamily="18" charset="0"/>
                                      </a:rPr>
                                      <m:t>𝐶</m:t>
                                    </m:r>
                                  </m:sub>
                                </m:sSub>
                              </m:e>
                            </m:mr>
                            <m:mr>
                              <m:e>
                                <m:r>
                                  <m:rPr>
                                    <m:sty m:val="p"/>
                                  </m:rPr>
                                  <a:rPr lang="zh-CN" altLang="en-US" i="0">
                                    <a:latin typeface="Cambria Math" panose="02040503050406030204" pitchFamily="18" charset="0"/>
                                  </a:rPr>
                                  <m:t>h</m:t>
                                </m:r>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𝑐𝑚</m:t>
                                    </m:r>
                                  </m:sub>
                                </m:sSub>
                                <m:bar>
                                  <m:barPr>
                                    <m:ctrlPr>
                                      <a:rPr lang="zh-CN" altLang="en-US" i="1">
                                        <a:latin typeface="Cambria Math" panose="02040503050406030204" pitchFamily="18" charset="0"/>
                                      </a:rPr>
                                    </m:ctrlPr>
                                  </m:barPr>
                                  <m:e>
                                    <m:r>
                                      <a:rPr lang="zh-CN" altLang="en-US" i="1">
                                        <a:latin typeface="Cambria Math" panose="02040503050406030204" pitchFamily="18" charset="0"/>
                                      </a:rPr>
                                      <m:t>𝜔</m:t>
                                    </m:r>
                                  </m:e>
                                </m:bar>
                              </m:e>
                            </m:mr>
                            <m:mr>
                              <m:e>
                                <m:r>
                                  <a:rPr lang="zh-CN" altLang="en-US" i="1">
                                    <a:latin typeface="Cambria Math" panose="02040503050406030204" pitchFamily="18" charset="0"/>
                                  </a:rPr>
                                  <m:t>𝑚</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a:rPr lang="zh-CN" altLang="en-US" i="1">
                                            <a:latin typeface="Cambria Math" panose="02040503050406030204" pitchFamily="18" charset="0"/>
                                          </a:rPr>
                                          <m:t>𝑣</m:t>
                                        </m:r>
                                      </m:e>
                                    </m:bar>
                                  </m:e>
                                  <m:sub>
                                    <m:r>
                                      <a:rPr lang="zh-CN" altLang="en-US" i="1">
                                        <a:latin typeface="Cambria Math" panose="02040503050406030204" pitchFamily="18" charset="0"/>
                                      </a:rPr>
                                      <m:t>𝐶</m:t>
                                    </m:r>
                                  </m:sub>
                                </m:sSub>
                              </m:e>
                            </m:mr>
                          </m:m>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128553" y="2029583"/>
                <a:ext cx="2291397" cy="621389"/>
              </a:xfrm>
              <a:prstGeom prst="rect">
                <a:avLst/>
              </a:prstGeom>
              <a:blipFill>
                <a:blip r:embed="rId4"/>
                <a:stretch>
                  <a:fillRect/>
                </a:stretch>
              </a:blipFill>
            </p:spPr>
            <p:txBody>
              <a:bodyPr/>
              <a:lstStyle/>
              <a:p>
                <a:r>
                  <a:rPr lang="zh-CN" altLang="en-US">
                    <a:noFill/>
                  </a:rPr>
                  <a:t> </a:t>
                </a:r>
              </a:p>
            </p:txBody>
          </p:sp>
        </mc:Fallback>
      </mc:AlternateContent>
      <p:pic>
        <p:nvPicPr>
          <p:cNvPr id="10" name="图片 9"/>
          <p:cNvPicPr/>
          <p:nvPr/>
        </p:nvPicPr>
        <p:blipFill>
          <a:blip r:embed="rId5"/>
          <a:stretch>
            <a:fillRect/>
          </a:stretch>
        </p:blipFill>
        <p:spPr>
          <a:xfrm>
            <a:off x="5292080" y="1284362"/>
            <a:ext cx="3285490" cy="1694815"/>
          </a:xfrm>
          <a:prstGeom prst="rect">
            <a:avLst/>
          </a:prstGeom>
        </p:spPr>
      </p:pic>
      <mc:AlternateContent xmlns:mc="http://schemas.openxmlformats.org/markup-compatibility/2006" xmlns:a14="http://schemas.microsoft.com/office/drawing/2010/main">
        <mc:Choice Requires="a14">
          <p:sp>
            <p:nvSpPr>
              <p:cNvPr id="4" name="矩形 3"/>
              <p:cNvSpPr/>
              <p:nvPr/>
            </p:nvSpPr>
            <p:spPr>
              <a:xfrm>
                <a:off x="532959" y="2650972"/>
                <a:ext cx="333617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相对于点</a:t>
                </a:r>
                <a14:m>
                  <m:oMath xmlns:m="http://schemas.openxmlformats.org/officeDocument/2006/math">
                    <m:r>
                      <m:rPr>
                        <m:sty m:val="p"/>
                      </m:rPr>
                      <a:rPr lang="en-US" altLang="zh-CN">
                        <a:latin typeface="Cambria Math" panose="02040503050406030204" pitchFamily="18" charset="0"/>
                        <a:cs typeface="Times New Roman" panose="02020603050405020304" pitchFamily="18" charset="0"/>
                      </a:rPr>
                      <m:t>O</m:t>
                    </m:r>
                  </m:oMath>
                </a14:m>
                <a:r>
                  <a:rPr lang="zh-CN" altLang="zh-CN" dirty="0">
                    <a:latin typeface="Calibri" panose="020F0502020204030204" pitchFamily="34" charset="0"/>
                    <a:cs typeface="Times New Roman" panose="02020603050405020304" pitchFamily="18" charset="0"/>
                  </a:rPr>
                  <a:t>的空间动量向量</a:t>
                </a:r>
                <a:r>
                  <a:rPr lang="zh-CN" altLang="zh-CN" dirty="0" smtClean="0">
                    <a:latin typeface="Calibri" panose="020F0502020204030204" pitchFamily="34" charset="0"/>
                    <a:cs typeface="Times New Roman" panose="02020603050405020304" pitchFamily="18" charset="0"/>
                  </a:rPr>
                  <a:t>为</a:t>
                </a:r>
                <a:r>
                  <a:rPr lang="zh-CN" altLang="en-US" dirty="0" smtClean="0">
                    <a:latin typeface="Calibri" panose="020F0502020204030204" pitchFamily="34" charset="0"/>
                    <a:cs typeface="Times New Roman" panose="02020603050405020304" pitchFamily="18" charset="0"/>
                  </a:rPr>
                  <a:t>：</a:t>
                </a:r>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532959" y="2650972"/>
                <a:ext cx="3336170" cy="369332"/>
              </a:xfrm>
              <a:prstGeom prst="rect">
                <a:avLst/>
              </a:prstGeom>
              <a:blipFill>
                <a:blip r:embed="rId6"/>
                <a:stretch>
                  <a:fillRect l="-1460" t="-15000" r="-912" b="-2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804417" y="3051758"/>
                <a:ext cx="3983608" cy="1248290"/>
              </a:xfrm>
              <a:prstGeom prst="rect">
                <a:avLst/>
              </a:prstGeom>
            </p:spPr>
            <p:txBody>
              <a:bodyPr wrap="square">
                <a:spAutoFit/>
              </a:bodyPr>
              <a:lstStyle/>
              <a:p>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h</m:t>
                            </m:r>
                          </m:e>
                        </m:bar>
                      </m:e>
                      <m:sub>
                        <m:r>
                          <a:rPr lang="en-US" altLang="zh-CN" i="1">
                            <a:latin typeface="Cambria Math" panose="02040503050406030204" pitchFamily="18" charset="0"/>
                            <a:cs typeface="Times New Roman" panose="02020603050405020304" pitchFamily="18" charset="0"/>
                          </a:rPr>
                          <m:t>𝑜</m:t>
                        </m:r>
                      </m:sub>
                    </m:sSub>
                    <m:r>
                      <a:rPr lang="en-US" altLang="zh-CN" i="1">
                        <a:latin typeface="Cambria Math" panose="02040503050406030204" pitchFamily="18" charset="0"/>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h</m:t>
                                      </m:r>
                                    </m:e>
                                  </m:bar>
                                </m:e>
                                <m:sub>
                                  <m:r>
                                    <a:rPr lang="en-US" altLang="zh-CN" i="1">
                                      <a:latin typeface="Cambria Math" panose="02040503050406030204" pitchFamily="18" charset="0"/>
                                      <a:cs typeface="Times New Roman" panose="02020603050405020304" pitchFamily="18" charset="0"/>
                                    </a:rPr>
                                    <m:t>𝑜</m:t>
                                  </m:r>
                                </m:sub>
                              </m:sSub>
                            </m:e>
                          </m:mr>
                          <m:mr>
                            <m:e>
                              <m:r>
                                <m:rPr>
                                  <m:sty m:val="p"/>
                                </m:rPr>
                                <a:rPr lang="en-US" altLang="zh-CN">
                                  <a:latin typeface="Cambria Math" panose="02040503050406030204" pitchFamily="18" charset="0"/>
                                  <a:ea typeface="MS Gothic" panose="020B0609070205080204" pitchFamily="49" charset="-128"/>
                                  <a:cs typeface="MS Gothic" panose="020B0609070205080204" pitchFamily="49" charset="-128"/>
                                </a:rPr>
                                <m:t>h</m:t>
                              </m:r>
                            </m:e>
                          </m:mr>
                        </m:m>
                      </m:e>
                    </m:d>
                    <m:r>
                      <a:rPr lang="en-US" altLang="zh-CN">
                        <a:latin typeface="Cambria Math" panose="02040503050406030204" pitchFamily="18" charset="0"/>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i="1">
                                <a:effectLst/>
                                <a:latin typeface="Cambria Math" panose="02040503050406030204" pitchFamily="18" charset="0"/>
                                <a:ea typeface="Cambria Math" panose="02040503050406030204" pitchFamily="18" charset="0"/>
                              </a:rPr>
                            </m:ctrlPr>
                          </m:mPr>
                          <m:mr>
                            <m:e>
                              <m:sSub>
                                <m:sSub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i="1">
                                      <a:latin typeface="Cambria Math" panose="02040503050406030204" pitchFamily="18" charset="0"/>
                                      <a:cs typeface="MV Boli" panose="02000500030200090000" pitchFamily="2" charset="0"/>
                                    </a:rPr>
                                    <m:t>𝐼</m:t>
                                  </m:r>
                                </m:e>
                                <m:sub>
                                  <m:r>
                                    <a:rPr lang="en-US" altLang="zh-CN" i="1">
                                      <a:latin typeface="Cambria Math" panose="02040503050406030204" pitchFamily="18" charset="0"/>
                                      <a:cs typeface="MV Boli" panose="02000500030200090000" pitchFamily="2" charset="0"/>
                                    </a:rPr>
                                    <m:t>𝑐𝑚</m:t>
                                  </m:r>
                                </m:sub>
                              </m:sSub>
                              <m:bar>
                                <m:bar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barPr>
                                <m:e>
                                  <m:r>
                                    <a:rPr lang="en-US" altLang="zh-CN" i="1">
                                      <a:latin typeface="Cambria Math" panose="02040503050406030204" pitchFamily="18" charset="0"/>
                                      <a:cs typeface="MV Boli" panose="02000500030200090000" pitchFamily="2" charset="0"/>
                                    </a:rPr>
                                    <m:t>𝜔</m:t>
                                  </m:r>
                                </m:e>
                              </m:bar>
                              <m:r>
                                <a:rPr lang="en-US" altLang="zh-CN" i="1">
                                  <a:latin typeface="Cambria Math" panose="02040503050406030204" pitchFamily="18" charset="0"/>
                                  <a:cs typeface="MV Boli" panose="02000500030200090000" pitchFamily="2" charset="0"/>
                                </a:rPr>
                                <m:t>+</m:t>
                              </m:r>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cs typeface="Times New Roman" panose="02020603050405020304" pitchFamily="18" charset="0"/>
                                    </a:rPr>
                                    <m:t>𝑂𝐶</m:t>
                                  </m:r>
                                </m:e>
                              </m:acc>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𝑚</m:t>
                              </m:r>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𝑣</m:t>
                                      </m:r>
                                    </m:e>
                                  </m:bar>
                                </m:e>
                                <m:sub>
                                  <m:r>
                                    <a:rPr lang="en-US" altLang="zh-CN" i="1">
                                      <a:latin typeface="Cambria Math" panose="02040503050406030204" pitchFamily="18" charset="0"/>
                                      <a:cs typeface="Times New Roman" panose="02020603050405020304" pitchFamily="18" charset="0"/>
                                    </a:rPr>
                                    <m:t>𝑐</m:t>
                                  </m:r>
                                </m:sub>
                              </m:sSub>
                            </m:e>
                          </m:mr>
                          <m:mr>
                            <m:e>
                              <m:r>
                                <a:rPr lang="en-US" altLang="zh-CN" i="1">
                                  <a:latin typeface="Cambria Math" panose="02040503050406030204" pitchFamily="18" charset="0"/>
                                  <a:cs typeface="Times New Roman" panose="02020603050405020304" pitchFamily="18" charset="0"/>
                                </a:rPr>
                                <m:t>𝑚</m:t>
                              </m:r>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𝑣</m:t>
                                      </m:r>
                                    </m:e>
                                  </m:bar>
                                </m:e>
                                <m:sub>
                                  <m:r>
                                    <a:rPr lang="en-US" altLang="zh-CN" i="1">
                                      <a:latin typeface="Cambria Math" panose="02040503050406030204" pitchFamily="18" charset="0"/>
                                      <a:cs typeface="Times New Roman" panose="02020603050405020304" pitchFamily="18" charset="0"/>
                                    </a:rPr>
                                    <m:t>𝑐</m:t>
                                  </m:r>
                                </m:sub>
                              </m:sSub>
                            </m:e>
                          </m:mr>
                        </m:m>
                      </m:e>
                    </m:d>
                    <m:r>
                      <a:rPr lang="en-US" altLang="zh-CN" i="1">
                        <a:latin typeface="Cambria Math" panose="02040503050406030204" pitchFamily="18" charset="0"/>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i="1">
                                  <a:latin typeface="Cambria Math" panose="02040503050406030204" pitchFamily="18" charset="0"/>
                                  <a:cs typeface="Times New Roman" panose="02020603050405020304" pitchFamily="18" charset="0"/>
                                </a:rPr>
                                <m:t>1</m:t>
                              </m:r>
                            </m:e>
                            <m:e>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cs typeface="Times New Roman" panose="02020603050405020304" pitchFamily="18" charset="0"/>
                                    </a:rPr>
                                    <m:t>𝑂𝐶</m:t>
                                  </m:r>
                                </m:e>
                              </m:acc>
                              <m:r>
                                <a:rPr lang="en-US" altLang="zh-CN" i="1">
                                  <a:latin typeface="Cambria Math" panose="02040503050406030204" pitchFamily="18" charset="0"/>
                                  <a:cs typeface="Times New Roman" panose="02020603050405020304" pitchFamily="18" charset="0"/>
                                </a:rPr>
                                <m:t>×</m:t>
                              </m:r>
                            </m:e>
                          </m:mr>
                          <m:mr>
                            <m:e>
                              <m:r>
                                <a:rPr lang="en-US" altLang="zh-CN" i="1">
                                  <a:latin typeface="Cambria Math" panose="02040503050406030204" pitchFamily="18" charset="0"/>
                                  <a:cs typeface="Times New Roman" panose="02020603050405020304" pitchFamily="18" charset="0"/>
                                </a:rPr>
                                <m:t>0</m:t>
                              </m:r>
                            </m:e>
                            <m:e>
                              <m:r>
                                <a:rPr lang="en-US" altLang="zh-CN" i="1">
                                  <a:latin typeface="Cambria Math" panose="02040503050406030204" pitchFamily="18" charset="0"/>
                                  <a:cs typeface="Times New Roman" panose="02020603050405020304" pitchFamily="18" charset="0"/>
                                </a:rPr>
                                <m:t>1</m:t>
                              </m:r>
                            </m:e>
                          </m:mr>
                        </m:m>
                      </m:e>
                    </m:d>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h</m:t>
                            </m:r>
                          </m:e>
                        </m:bar>
                      </m:e>
                      <m:sub>
                        <m:r>
                          <a:rPr lang="en-US" altLang="zh-CN" i="1">
                            <a:latin typeface="Cambria Math" panose="02040503050406030204" pitchFamily="18" charset="0"/>
                            <a:cs typeface="Times New Roman" panose="02020603050405020304" pitchFamily="18" charset="0"/>
                          </a:rPr>
                          <m:t>𝐶</m:t>
                        </m:r>
                      </m:sub>
                    </m:sSub>
                    <m:r>
                      <a:rPr lang="en-US" altLang="zh-CN" i="1">
                        <a:latin typeface="Cambria Math" panose="02040503050406030204" pitchFamily="18" charset="0"/>
                        <a:cs typeface="Times New Roman" panose="02020603050405020304" pitchFamily="18" charset="0"/>
                      </a:rPr>
                      <m:t>=</m:t>
                    </m:r>
                    <m:d>
                      <m:dPr>
                        <m:ctrlPr>
                          <a:rPr lang="zh-CN" altLang="zh-CN"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i="1">
                                <a:effectLst/>
                                <a:latin typeface="Cambria Math" panose="02040503050406030204" pitchFamily="18" charset="0"/>
                                <a:ea typeface="Cambria Math" panose="02040503050406030204" pitchFamily="18" charset="0"/>
                              </a:rPr>
                            </m:ctrlPr>
                          </m:mPr>
                          <m:mr>
                            <m:e>
                              <m:r>
                                <a:rPr lang="en-US" altLang="zh-CN" i="1">
                                  <a:latin typeface="Cambria Math" panose="02040503050406030204" pitchFamily="18" charset="0"/>
                                  <a:cs typeface="Times New Roman" panose="02020603050405020304" pitchFamily="18" charset="0"/>
                                </a:rPr>
                                <m:t>1</m:t>
                              </m:r>
                            </m:e>
                            <m:e>
                              <m:r>
                                <a:rPr lang="en-US" altLang="zh-CN" i="1">
                                  <a:latin typeface="Cambria Math" panose="02040503050406030204" pitchFamily="18" charset="0"/>
                                  <a:cs typeface="Times New Roman" panose="02020603050405020304" pitchFamily="18" charset="0"/>
                                </a:rPr>
                                <m:t>𝑆</m:t>
                              </m:r>
                              <m:r>
                                <a:rPr lang="en-US" altLang="zh-CN" i="1">
                                  <a:latin typeface="Cambria Math" panose="02040503050406030204" pitchFamily="18" charset="0"/>
                                  <a:cs typeface="Times New Roman" panose="02020603050405020304" pitchFamily="18" charset="0"/>
                                </a:rPr>
                                <m:t>(</m:t>
                              </m:r>
                              <m:bar>
                                <m:barPr>
                                  <m:ctrlPr>
                                    <a:rPr lang="zh-CN" altLang="zh-CN" i="1">
                                      <a:effectLst/>
                                      <a:latin typeface="Cambria Math" panose="02040503050406030204" pitchFamily="18" charset="0"/>
                                      <a:ea typeface="Cambria Math" panose="02040503050406030204" pitchFamily="18" charset="0"/>
                                    </a:rPr>
                                  </m:ctrlPr>
                                </m:barPr>
                                <m:e>
                                  <m:r>
                                    <a:rPr lang="en-US" altLang="zh-CN" i="1">
                                      <a:latin typeface="Cambria Math" panose="02040503050406030204" pitchFamily="18" charset="0"/>
                                      <a:cs typeface="Times New Roman" panose="02020603050405020304" pitchFamily="18" charset="0"/>
                                    </a:rPr>
                                    <m:t>𝑐</m:t>
                                  </m:r>
                                </m:e>
                              </m:bar>
                              <m:r>
                                <a:rPr lang="en-US" altLang="zh-CN" i="1">
                                  <a:latin typeface="Cambria Math" panose="02040503050406030204" pitchFamily="18" charset="0"/>
                                  <a:cs typeface="Times New Roman" panose="02020603050405020304" pitchFamily="18" charset="0"/>
                                </a:rPr>
                                <m:t>)</m:t>
                              </m:r>
                            </m:e>
                          </m:mr>
                          <m:mr>
                            <m:e>
                              <m:r>
                                <a:rPr lang="en-US" altLang="zh-CN" i="1">
                                  <a:latin typeface="Cambria Math" panose="02040503050406030204" pitchFamily="18" charset="0"/>
                                  <a:cs typeface="Times New Roman" panose="02020603050405020304" pitchFamily="18" charset="0"/>
                                </a:rPr>
                                <m:t>0</m:t>
                              </m:r>
                            </m:e>
                            <m:e>
                              <m:r>
                                <a:rPr lang="en-US" altLang="zh-CN" i="1">
                                  <a:latin typeface="Cambria Math" panose="02040503050406030204" pitchFamily="18" charset="0"/>
                                  <a:cs typeface="Times New Roman" panose="02020603050405020304" pitchFamily="18" charset="0"/>
                                </a:rPr>
                                <m:t>1</m:t>
                              </m:r>
                            </m:e>
                          </m:mr>
                        </m:m>
                      </m:e>
                    </m:d>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h</m:t>
                            </m:r>
                          </m:e>
                        </m:bar>
                      </m:e>
                      <m:sub>
                        <m:r>
                          <a:rPr lang="en-US" altLang="zh-CN" i="1">
                            <a:latin typeface="Cambria Math" panose="02040503050406030204" pitchFamily="18" charset="0"/>
                            <a:cs typeface="Times New Roman" panose="02020603050405020304" pitchFamily="18" charset="0"/>
                          </a:rPr>
                          <m:t>𝐶</m:t>
                        </m:r>
                      </m:sub>
                    </m:sSub>
                  </m:oMath>
                </a14:m>
                <a:r>
                  <a:rPr lang="en-US" altLang="zh-CN" dirty="0">
                    <a:latin typeface="Calibri" panose="020F0502020204030204" pitchFamily="34" charset="0"/>
                    <a:cs typeface="Times New Roman" panose="02020603050405020304" pitchFamily="18" charset="0"/>
                  </a:rPr>
                  <a:t> </a:t>
                </a:r>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804417" y="3051758"/>
                <a:ext cx="3983608" cy="12482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67544" y="4515966"/>
                <a:ext cx="4572000" cy="353495"/>
              </a:xfrm>
              <a:prstGeom prst="rect">
                <a:avLst/>
              </a:prstGeom>
            </p:spPr>
            <p:txBody>
              <a:bodyPr>
                <a:spAutoFit/>
              </a:bodyPr>
              <a:lstStyle/>
              <a:p>
                <a:r>
                  <a:rPr lang="zh-CN" altLang="zh-CN" sz="1600" dirty="0" smtClean="0">
                    <a:solidFill>
                      <a:srgbClr val="FF0000"/>
                    </a:solidFill>
                    <a:latin typeface="Calibri" panose="020F0502020204030204" pitchFamily="34" charset="0"/>
                    <a:cs typeface="Times New Roman" panose="02020603050405020304" pitchFamily="18" charset="0"/>
                  </a:rPr>
                  <a:t>空间动量向量</a:t>
                </a:r>
                <a14:m>
                  <m:oMath xmlns:m="http://schemas.openxmlformats.org/officeDocument/2006/math">
                    <m:bar>
                      <m:barPr>
                        <m:ctrlPr>
                          <a:rPr lang="zh-CN" altLang="zh-CN" sz="1600" i="1">
                            <a:solidFill>
                              <a:srgbClr val="FF0000"/>
                            </a:solidFill>
                            <a:effectLst/>
                            <a:latin typeface="Cambria Math" panose="02040503050406030204" pitchFamily="18" charset="0"/>
                            <a:ea typeface="Cambria Math" panose="02040503050406030204" pitchFamily="18" charset="0"/>
                          </a:rPr>
                        </m:ctrlPr>
                      </m:barPr>
                      <m:e>
                        <m:r>
                          <m:rPr>
                            <m:sty m:val="p"/>
                          </m:rPr>
                          <a:rPr lang="en-US" altLang="zh-CN" sz="1600">
                            <a:solidFill>
                              <a:srgbClr val="FF0000"/>
                            </a:solidFill>
                            <a:latin typeface="Cambria Math" panose="02040503050406030204" pitchFamily="18" charset="0"/>
                            <a:cs typeface="Times New Roman" panose="02020603050405020304" pitchFamily="18" charset="0"/>
                          </a:rPr>
                          <m:t>h</m:t>
                        </m:r>
                      </m:e>
                    </m:bar>
                    <m:r>
                      <a:rPr lang="en-US" altLang="zh-CN" sz="1600">
                        <a:solidFill>
                          <a:srgbClr val="FF0000"/>
                        </a:solidFill>
                        <a:latin typeface="Cambria Math" panose="02040503050406030204" pitchFamily="18" charset="0"/>
                        <a:cs typeface="Times New Roman" panose="02020603050405020304" pitchFamily="18" charset="0"/>
                      </a:rPr>
                      <m:t>⊂</m:t>
                    </m:r>
                    <m:sSup>
                      <m:sSupPr>
                        <m:ctrlPr>
                          <a:rPr lang="zh-CN" altLang="zh-CN" sz="1600" i="1">
                            <a:solidFill>
                              <a:srgbClr val="FF0000"/>
                            </a:solidFill>
                            <a:effectLst/>
                            <a:latin typeface="Cambria Math" panose="02040503050406030204" pitchFamily="18" charset="0"/>
                            <a:ea typeface="Cambria Math" panose="02040503050406030204" pitchFamily="18" charset="0"/>
                          </a:rPr>
                        </m:ctrlPr>
                      </m:sSupPr>
                      <m:e>
                        <m:r>
                          <a:rPr lang="en-US" altLang="zh-CN" sz="1600" i="1">
                            <a:solidFill>
                              <a:srgbClr val="FF0000"/>
                            </a:solidFill>
                            <a:latin typeface="Cambria Math" panose="02040503050406030204" pitchFamily="18" charset="0"/>
                            <a:cs typeface="Times New Roman" panose="02020603050405020304" pitchFamily="18" charset="0"/>
                          </a:rPr>
                          <m:t>𝐹</m:t>
                        </m:r>
                      </m:e>
                      <m:sup>
                        <m:r>
                          <a:rPr lang="en-US" altLang="zh-CN" sz="1600">
                            <a:solidFill>
                              <a:srgbClr val="FF0000"/>
                            </a:solidFill>
                            <a:latin typeface="Cambria Math" panose="02040503050406030204" pitchFamily="18" charset="0"/>
                            <a:cs typeface="Times New Roman" panose="02020603050405020304" pitchFamily="18" charset="0"/>
                          </a:rPr>
                          <m:t>6</m:t>
                        </m:r>
                      </m:sup>
                    </m:sSup>
                  </m:oMath>
                </a14:m>
                <a:r>
                  <a:rPr lang="zh-CN" altLang="zh-CN" sz="1600" dirty="0">
                    <a:solidFill>
                      <a:srgbClr val="FF0000"/>
                    </a:solidFill>
                    <a:latin typeface="Calibri" panose="020F0502020204030204" pitchFamily="34" charset="0"/>
                    <a:cs typeface="Times New Roman" panose="02020603050405020304" pitchFamily="18" charset="0"/>
                  </a:rPr>
                  <a:t>，和空间力向量的维度一致</a:t>
                </a:r>
                <a:endParaRPr lang="zh-CN" altLang="en-US" sz="1600" dirty="0">
                  <a:solidFill>
                    <a:srgbClr val="FF000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467544" y="4515966"/>
                <a:ext cx="4572000" cy="353495"/>
              </a:xfrm>
              <a:prstGeom prst="rect">
                <a:avLst/>
              </a:prstGeom>
              <a:blipFill>
                <a:blip r:embed="rId8"/>
                <a:stretch>
                  <a:fillRect l="-800" t="-6897" b="-15517"/>
                </a:stretch>
              </a:blipFill>
            </p:spPr>
            <p:txBody>
              <a:bodyPr/>
              <a:lstStyle/>
              <a:p>
                <a:r>
                  <a:rPr lang="zh-CN" altLang="en-US">
                    <a:noFill/>
                  </a:rPr>
                  <a:t> </a:t>
                </a:r>
              </a:p>
            </p:txBody>
          </p:sp>
        </mc:Fallback>
      </mc:AlternateContent>
      <p:sp>
        <p:nvSpPr>
          <p:cNvPr id="7" name="矩形 6"/>
          <p:cNvSpPr/>
          <p:nvPr/>
        </p:nvSpPr>
        <p:spPr>
          <a:xfrm>
            <a:off x="4972300" y="3207052"/>
            <a:ext cx="3775393" cy="307777"/>
          </a:xfrm>
          <a:prstGeom prst="rect">
            <a:avLst/>
          </a:prstGeom>
        </p:spPr>
        <p:txBody>
          <a:bodyPr wrap="none">
            <a:spAutoFit/>
          </a:bodyPr>
          <a:lstStyle/>
          <a:p>
            <a:r>
              <a:rPr lang="zh-CN" altLang="zh-CN" sz="1400" dirty="0">
                <a:latin typeface="Calibri" panose="020F0502020204030204" pitchFamily="34" charset="0"/>
                <a:cs typeface="Times New Roman" panose="02020603050405020304" pitchFamily="18" charset="0"/>
              </a:rPr>
              <a:t>刚体的空间动量表示为空间惯量与速度的积：</a:t>
            </a:r>
            <a:endParaRPr lang="zh-CN" altLang="en-US" sz="1400" dirty="0"/>
          </a:p>
        </p:txBody>
      </p:sp>
      <mc:AlternateContent xmlns:mc="http://schemas.openxmlformats.org/markup-compatibility/2006" xmlns:a14="http://schemas.microsoft.com/office/drawing/2010/main">
        <mc:Choice Requires="a14">
          <p:sp>
            <p:nvSpPr>
              <p:cNvPr id="8" name="矩形 7"/>
              <p:cNvSpPr/>
              <p:nvPr/>
            </p:nvSpPr>
            <p:spPr>
              <a:xfrm>
                <a:off x="6660232" y="3564901"/>
                <a:ext cx="85792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h</m:t>
                      </m:r>
                      <m:r>
                        <a:rPr lang="zh-CN" altLang="en-US" i="0">
                          <a:latin typeface="Cambria Math" panose="02040503050406030204" pitchFamily="18" charset="0"/>
                        </a:rPr>
                        <m:t>=</m:t>
                      </m:r>
                      <m:r>
                        <m:rPr>
                          <m:sty m:val="p"/>
                        </m:rPr>
                        <a:rPr lang="zh-CN" altLang="en-US" i="0">
                          <a:latin typeface="Cambria Math" panose="02040503050406030204" pitchFamily="18" charset="0"/>
                        </a:rPr>
                        <m:t>Iv</m:t>
                      </m:r>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660232" y="3564901"/>
                <a:ext cx="857927"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906010" y="3883818"/>
                <a:ext cx="3907974" cy="532005"/>
              </a:xfrm>
              <a:prstGeom prst="rect">
                <a:avLst/>
              </a:prstGeom>
            </p:spPr>
            <p:txBody>
              <a:bodyPr wrap="square">
                <a:spAutoFit/>
              </a:bodyPr>
              <a:lstStyle/>
              <a:p>
                <a:r>
                  <a:rPr lang="zh-CN" altLang="zh-CN" sz="1400">
                    <a:latin typeface="Calibri" panose="020F0502020204030204" pitchFamily="34" charset="0"/>
                    <a:cs typeface="Times New Roman" panose="02020603050405020304" pitchFamily="18" charset="0"/>
                  </a:rPr>
                  <a:t>空间动量坐标向量</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bar>
                          <m:barPr>
                            <m:ctrlPr>
                              <a:rPr lang="zh-CN" altLang="zh-CN" sz="1400" i="1">
                                <a:effectLst/>
                                <a:latin typeface="Cambria Math" panose="02040503050406030204" pitchFamily="18" charset="0"/>
                                <a:ea typeface="Cambria Math" panose="02040503050406030204" pitchFamily="18" charset="0"/>
                              </a:rPr>
                            </m:ctrlPr>
                          </m:barPr>
                          <m:e>
                            <m:r>
                              <m:rPr>
                                <m:sty m:val="p"/>
                              </m:rPr>
                              <a:rPr lang="en-US" altLang="zh-CN" sz="1400">
                                <a:latin typeface="Cambria Math" panose="02040503050406030204" pitchFamily="18" charset="0"/>
                                <a:cs typeface="Times New Roman" panose="02020603050405020304" pitchFamily="18" charset="0"/>
                              </a:rPr>
                              <m:t>h</m:t>
                            </m:r>
                          </m:e>
                        </m:bar>
                      </m:e>
                      <m:sub>
                        <m:r>
                          <a:rPr lang="en-US" altLang="zh-CN" sz="1400" i="1">
                            <a:latin typeface="Cambria Math" panose="02040503050406030204" pitchFamily="18" charset="0"/>
                            <a:cs typeface="Times New Roman" panose="02020603050405020304" pitchFamily="18" charset="0"/>
                          </a:rPr>
                          <m:t>𝐶</m:t>
                        </m:r>
                      </m:sub>
                    </m:sSub>
                  </m:oMath>
                </a14:m>
                <a:r>
                  <a:rPr lang="zh-CN" altLang="zh-CN" sz="1400" dirty="0">
                    <a:latin typeface="Calibri" panose="020F0502020204030204" pitchFamily="34" charset="0"/>
                    <a:cs typeface="Times New Roman" panose="02020603050405020304" pitchFamily="18" charset="0"/>
                  </a:rPr>
                  <a:t>在刚体质心</a:t>
                </a:r>
                <a14:m>
                  <m:oMath xmlns:m="http://schemas.openxmlformats.org/officeDocument/2006/math">
                    <m:r>
                      <a:rPr lang="en-US" altLang="zh-CN" sz="1400" i="1">
                        <a:latin typeface="Cambria Math" panose="02040503050406030204" pitchFamily="18" charset="0"/>
                        <a:cs typeface="Times New Roman" panose="02020603050405020304" pitchFamily="18" charset="0"/>
                      </a:rPr>
                      <m:t>𝐶</m:t>
                    </m:r>
                  </m:oMath>
                </a14:m>
                <a:r>
                  <a:rPr lang="zh-CN" altLang="zh-CN" sz="1400" dirty="0">
                    <a:latin typeface="Calibri" panose="020F0502020204030204" pitchFamily="34" charset="0"/>
                    <a:cs typeface="Times New Roman" panose="02020603050405020304" pitchFamily="18" charset="0"/>
                  </a:rPr>
                  <a:t>点用普吕克坐标表示为：</a:t>
                </a:r>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4906010" y="3883818"/>
                <a:ext cx="3907974" cy="532005"/>
              </a:xfrm>
              <a:prstGeom prst="rect">
                <a:avLst/>
              </a:prstGeom>
              <a:blipFill>
                <a:blip r:embed="rId10"/>
                <a:stretch>
                  <a:fillRect l="-468" t="-4598" b="-91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6480951" y="4515966"/>
                <a:ext cx="1216487" cy="3817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h</m:t>
                              </m:r>
                            </m:e>
                          </m:bar>
                        </m:e>
                        <m:sub>
                          <m:r>
                            <a:rPr lang="zh-CN" altLang="en-US" i="1">
                              <a:latin typeface="Cambria Math" panose="02040503050406030204" pitchFamily="18" charset="0"/>
                            </a:rPr>
                            <m:t>𝐶</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I</m:t>
                          </m:r>
                        </m:e>
                        <m:sub>
                          <m:r>
                            <a:rPr lang="zh-CN" altLang="en-US" i="1">
                              <a:latin typeface="Cambria Math" panose="02040503050406030204" pitchFamily="18" charset="0"/>
                            </a:rPr>
                            <m:t>𝐶</m:t>
                          </m:r>
                        </m:sub>
                      </m:sSub>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1">
                              <a:latin typeface="Cambria Math" panose="02040503050406030204" pitchFamily="18" charset="0"/>
                            </a:rPr>
                            <m:t>𝐶</m:t>
                          </m:r>
                        </m:sub>
                      </m:sSub>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6480951" y="4515966"/>
                <a:ext cx="1216487" cy="381708"/>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413422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357248"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空间动量与空间惯量</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12" name="矩形 11"/>
              <p:cNvSpPr/>
              <p:nvPr/>
            </p:nvSpPr>
            <p:spPr>
              <a:xfrm>
                <a:off x="1369485" y="1059582"/>
                <a:ext cx="1809534" cy="5615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I</m:t>
                          </m:r>
                        </m:e>
                        <m:sub>
                          <m:r>
                            <a:rPr lang="zh-CN" altLang="en-US" i="1">
                              <a:latin typeface="Cambria Math" panose="02040503050406030204" pitchFamily="18" charset="0"/>
                            </a:rPr>
                            <m:t>𝐶</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𝑐𝑚</m:t>
                                    </m:r>
                                  </m:sub>
                                </m:sSub>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1">
                                    <a:latin typeface="Cambria Math" panose="02040503050406030204" pitchFamily="18" charset="0"/>
                                  </a:rPr>
                                  <m:t>𝑚𝐼</m:t>
                                </m:r>
                              </m:e>
                            </m:mr>
                          </m:m>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369485" y="1059582"/>
                <a:ext cx="1809534" cy="5615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707904" y="1075342"/>
                <a:ext cx="5106080" cy="158703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I</m:t>
                          </m:r>
                        </m:e>
                        <m:sub>
                          <m:r>
                            <m:rPr>
                              <m:sty m:val="p"/>
                            </m:rPr>
                            <a:rPr lang="zh-CN" altLang="en-US" i="0">
                              <a:latin typeface="Cambria Math" panose="02040503050406030204" pitchFamily="18" charset="0"/>
                            </a:rPr>
                            <m:t>o</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𝑐𝑚</m:t>
                                    </m:r>
                                  </m:sub>
                                </m:sSub>
                                <m:r>
                                  <a:rPr lang="zh-CN" altLang="en-US" i="0">
                                    <a:latin typeface="Cambria Math" panose="02040503050406030204" pitchFamily="18" charset="0"/>
                                  </a:rPr>
                                  <m:t>+</m:t>
                                </m:r>
                                <m:r>
                                  <a:rPr lang="zh-CN" altLang="en-US" i="1">
                                    <a:latin typeface="Cambria Math" panose="02040503050406030204" pitchFamily="18" charset="0"/>
                                  </a:rPr>
                                  <m:t>𝑚𝑆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sSup>
                                  <m:sSupPr>
                                    <m:ctrlPr>
                                      <a:rPr lang="zh-CN" altLang="en-US" i="1">
                                        <a:latin typeface="Cambria Math" panose="02040503050406030204" pitchFamily="18" charset="0"/>
                                      </a:rPr>
                                    </m:ctrlPr>
                                  </m:sSupPr>
                                  <m:e>
                                    <m:r>
                                      <a:rPr lang="zh-CN" altLang="en-US" i="1">
                                        <a:latin typeface="Cambria Math" panose="02040503050406030204" pitchFamily="18" charset="0"/>
                                      </a:rPr>
                                      <m:t>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e>
                                  <m:sup>
                                    <m:r>
                                      <a:rPr lang="zh-CN" altLang="en-US" i="1">
                                        <a:latin typeface="Cambria Math" panose="02040503050406030204" pitchFamily="18" charset="0"/>
                                      </a:rPr>
                                      <m:t>𝑇</m:t>
                                    </m:r>
                                  </m:sup>
                                </m:sSup>
                              </m:e>
                              <m:e>
                                <m:r>
                                  <a:rPr lang="zh-CN" altLang="en-US" i="1">
                                    <a:latin typeface="Cambria Math" panose="02040503050406030204" pitchFamily="18" charset="0"/>
                                  </a:rPr>
                                  <m:t>𝑚𝑆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e>
                            </m:mr>
                            <m:mr>
                              <m:e>
                                <m:r>
                                  <a:rPr lang="zh-CN" altLang="en-US" i="1">
                                    <a:latin typeface="Cambria Math" panose="02040503050406030204" pitchFamily="18" charset="0"/>
                                  </a:rPr>
                                  <m:t>𝑚</m:t>
                                </m:r>
                                <m:sSup>
                                  <m:sSupPr>
                                    <m:ctrlPr>
                                      <a:rPr lang="zh-CN" altLang="en-US" i="1">
                                        <a:latin typeface="Cambria Math" panose="02040503050406030204" pitchFamily="18" charset="0"/>
                                      </a:rPr>
                                    </m:ctrlPr>
                                  </m:sSupPr>
                                  <m:e>
                                    <m:r>
                                      <a:rPr lang="zh-CN" altLang="en-US" i="1">
                                        <a:latin typeface="Cambria Math" panose="02040503050406030204" pitchFamily="18" charset="0"/>
                                      </a:rPr>
                                      <m:t>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e>
                                  <m:sup>
                                    <m:r>
                                      <a:rPr lang="zh-CN" altLang="en-US" i="1">
                                        <a:latin typeface="Cambria Math" panose="02040503050406030204" pitchFamily="18" charset="0"/>
                                      </a:rPr>
                                      <m:t>𝑇</m:t>
                                    </m:r>
                                  </m:sup>
                                </m:sSup>
                              </m:e>
                              <m:e>
                                <m:r>
                                  <a:rPr lang="zh-CN" altLang="en-US" i="1">
                                    <a:latin typeface="Cambria Math" panose="02040503050406030204" pitchFamily="18" charset="0"/>
                                  </a:rPr>
                                  <m:t>𝑚𝐼</m:t>
                                </m:r>
                              </m:e>
                            </m:mr>
                          </m:m>
                        </m:e>
                      </m:d>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𝑜𝑚</m:t>
                                    </m:r>
                                  </m:sub>
                                </m:sSub>
                              </m:e>
                              <m:e>
                                <m:r>
                                  <a:rPr lang="zh-CN" altLang="en-US" i="1">
                                    <a:latin typeface="Cambria Math" panose="02040503050406030204" pitchFamily="18" charset="0"/>
                                  </a:rPr>
                                  <m:t>𝑚𝑆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e>
                            </m:mr>
                            <m:mr>
                              <m:e>
                                <m:r>
                                  <a:rPr lang="zh-CN" altLang="en-US" i="1">
                                    <a:latin typeface="Cambria Math" panose="02040503050406030204" pitchFamily="18" charset="0"/>
                                  </a:rPr>
                                  <m:t>𝑚</m:t>
                                </m:r>
                                <m:sSup>
                                  <m:sSupPr>
                                    <m:ctrlPr>
                                      <a:rPr lang="zh-CN" altLang="en-US" i="1">
                                        <a:latin typeface="Cambria Math" panose="02040503050406030204" pitchFamily="18" charset="0"/>
                                      </a:rPr>
                                    </m:ctrlPr>
                                  </m:sSupPr>
                                  <m:e>
                                    <m:r>
                                      <a:rPr lang="zh-CN" altLang="en-US" i="1">
                                        <a:latin typeface="Cambria Math" panose="02040503050406030204" pitchFamily="18" charset="0"/>
                                      </a:rPr>
                                      <m:t>𝑆</m:t>
                                    </m:r>
                                    <m:d>
                                      <m:dPr>
                                        <m:ctrlPr>
                                          <a:rPr lang="zh-CN" altLang="en-US" i="1">
                                            <a:latin typeface="Cambria Math" panose="02040503050406030204" pitchFamily="18" charset="0"/>
                                          </a:rPr>
                                        </m:ctrlPr>
                                      </m:dPr>
                                      <m:e>
                                        <m:bar>
                                          <m:barPr>
                                            <m:ctrlPr>
                                              <a:rPr lang="zh-CN" altLang="en-US" i="1">
                                                <a:latin typeface="Cambria Math" panose="02040503050406030204" pitchFamily="18" charset="0"/>
                                              </a:rPr>
                                            </m:ctrlPr>
                                          </m:barPr>
                                          <m:e>
                                            <m:r>
                                              <a:rPr lang="zh-CN" altLang="en-US" i="1">
                                                <a:latin typeface="Cambria Math" panose="02040503050406030204" pitchFamily="18" charset="0"/>
                                              </a:rPr>
                                              <m:t>𝑐</m:t>
                                            </m:r>
                                          </m:e>
                                        </m:bar>
                                      </m:e>
                                    </m:d>
                                  </m:e>
                                  <m:sup>
                                    <m:r>
                                      <a:rPr lang="zh-CN" altLang="en-US" i="1">
                                        <a:latin typeface="Cambria Math" panose="02040503050406030204" pitchFamily="18" charset="0"/>
                                      </a:rPr>
                                      <m:t>𝑇</m:t>
                                    </m:r>
                                  </m:sup>
                                </m:sSup>
                              </m:e>
                              <m:e>
                                <m:r>
                                  <a:rPr lang="zh-CN" altLang="en-US" i="1">
                                    <a:latin typeface="Cambria Math" panose="02040503050406030204" pitchFamily="18" charset="0"/>
                                  </a:rPr>
                                  <m:t>𝑚𝐼</m:t>
                                </m:r>
                              </m:e>
                            </m:mr>
                          </m:m>
                        </m:e>
                      </m:d>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3707904" y="1075342"/>
                <a:ext cx="5106080" cy="158703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755576" y="1868861"/>
                <a:ext cx="2952328" cy="738664"/>
              </a:xfrm>
              <a:prstGeom prst="rect">
                <a:avLst/>
              </a:prstGeom>
            </p:spPr>
            <p:txBody>
              <a:bodyPr wrap="square">
                <a:spAutoFit/>
              </a:bodyPr>
              <a:lstStyle/>
              <a:p>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oMath>
                </a14:m>
                <a:r>
                  <a:rPr lang="zh-CN" altLang="zh-CN" sz="1400" dirty="0">
                    <a:latin typeface="Calibri" panose="020F0502020204030204" pitchFamily="34" charset="0"/>
                    <a:cs typeface="Times New Roman" panose="02020603050405020304" pitchFamily="18" charset="0"/>
                  </a:rPr>
                  <a:t>为刚体质心处的转动惯量，</a:t>
                </a:r>
                <a14:m>
                  <m:oMath xmlns:m="http://schemas.openxmlformats.org/officeDocument/2006/math">
                    <m:r>
                      <a:rPr lang="en-US" altLang="zh-CN" sz="1400" i="1">
                        <a:latin typeface="Cambria Math" panose="02040503050406030204" pitchFamily="18" charset="0"/>
                        <a:cs typeface="MV Boli" panose="02000500030200090000" pitchFamily="2" charset="0"/>
                      </a:rPr>
                      <m:t>𝑚</m:t>
                    </m:r>
                  </m:oMath>
                </a14:m>
                <a:r>
                  <a:rPr lang="zh-CN" altLang="zh-CN" sz="1400" dirty="0">
                    <a:latin typeface="Calibri" panose="020F0502020204030204" pitchFamily="34" charset="0"/>
                    <a:cs typeface="Times New Roman" panose="02020603050405020304" pitchFamily="18" charset="0"/>
                  </a:rPr>
                  <a:t>为刚体质量，</a:t>
                </a:r>
                <a14:m>
                  <m:oMath xmlns:m="http://schemas.openxmlformats.org/officeDocument/2006/math">
                    <m:r>
                      <a:rPr lang="en-US" altLang="zh-CN" sz="1400" i="1">
                        <a:latin typeface="Cambria Math" panose="02040503050406030204" pitchFamily="18" charset="0"/>
                        <a:cs typeface="MV Boli" panose="02000500030200090000" pitchFamily="2" charset="0"/>
                      </a:rPr>
                      <m:t>𝐼</m:t>
                    </m:r>
                  </m:oMath>
                </a14:m>
                <a:r>
                  <a:rPr lang="zh-CN" altLang="zh-CN" sz="1400" dirty="0">
                    <a:latin typeface="Calibri" panose="020F0502020204030204" pitchFamily="34" charset="0"/>
                    <a:cs typeface="Times New Roman" panose="02020603050405020304" pitchFamily="18" charset="0"/>
                  </a:rPr>
                  <a:t>为单位矩阵。</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I</m:t>
                        </m:r>
                      </m:e>
                      <m:sub>
                        <m:r>
                          <a:rPr lang="en-US" altLang="zh-CN" sz="1400" i="1">
                            <a:latin typeface="Cambria Math" panose="02040503050406030204" pitchFamily="18" charset="0"/>
                            <a:cs typeface="MV Boli" panose="02000500030200090000" pitchFamily="2" charset="0"/>
                          </a:rPr>
                          <m:t>𝐶</m:t>
                        </m:r>
                      </m:sub>
                    </m:sSub>
                  </m:oMath>
                </a14:m>
                <a:r>
                  <a:rPr lang="zh-CN" altLang="zh-CN" sz="1400" dirty="0">
                    <a:latin typeface="Calibri" panose="020F0502020204030204" pitchFamily="34" charset="0"/>
                    <a:cs typeface="Times New Roman" panose="02020603050405020304" pitchFamily="18" charset="0"/>
                  </a:rPr>
                  <a:t>为普吕克坐标系相对于质心</a:t>
                </a:r>
                <a:r>
                  <a:rPr lang="en-US" altLang="zh-CN" sz="1400" dirty="0">
                    <a:latin typeface="Calibri" panose="020F0502020204030204" pitchFamily="34" charset="0"/>
                    <a:cs typeface="Times New Roman" panose="02020603050405020304" pitchFamily="18" charset="0"/>
                  </a:rPr>
                  <a:t>C</a:t>
                </a:r>
                <a:r>
                  <a:rPr lang="zh-CN" altLang="zh-CN" sz="1400" dirty="0">
                    <a:latin typeface="Calibri" panose="020F0502020204030204" pitchFamily="34" charset="0"/>
                    <a:cs typeface="Times New Roman" panose="02020603050405020304" pitchFamily="18" charset="0"/>
                  </a:rPr>
                  <a:t>点的空间</a:t>
                </a:r>
                <a:r>
                  <a:rPr lang="zh-CN" altLang="zh-CN" sz="1400" dirty="0" smtClean="0">
                    <a:latin typeface="Calibri" panose="020F0502020204030204" pitchFamily="34" charset="0"/>
                    <a:cs typeface="Times New Roman" panose="02020603050405020304" pitchFamily="18" charset="0"/>
                  </a:rPr>
                  <a:t>惯量</a:t>
                </a:r>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755576" y="1868861"/>
                <a:ext cx="2952328" cy="738664"/>
              </a:xfrm>
              <a:prstGeom prst="rect">
                <a:avLst/>
              </a:prstGeom>
              <a:blipFill>
                <a:blip r:embed="rId5"/>
                <a:stretch>
                  <a:fillRect l="-620" t="-2479" b="-8264"/>
                </a:stretch>
              </a:blipFill>
            </p:spPr>
            <p:txBody>
              <a:bodyPr/>
              <a:lstStyle/>
              <a:p>
                <a:r>
                  <a:rPr lang="zh-CN" altLang="en-US">
                    <a:noFill/>
                  </a:rPr>
                  <a:t> </a:t>
                </a:r>
              </a:p>
            </p:txBody>
          </p:sp>
        </mc:Fallback>
      </mc:AlternateContent>
      <p:sp>
        <p:nvSpPr>
          <p:cNvPr id="16" name="圆角矩形 15"/>
          <p:cNvSpPr/>
          <p:nvPr/>
        </p:nvSpPr>
        <p:spPr>
          <a:xfrm>
            <a:off x="611560" y="1819993"/>
            <a:ext cx="3240360" cy="86409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矩形 16"/>
              <p:cNvSpPr/>
              <p:nvPr/>
            </p:nvSpPr>
            <p:spPr>
              <a:xfrm>
                <a:off x="4278630" y="2684089"/>
                <a:ext cx="4132775" cy="809004"/>
              </a:xfrm>
              <a:prstGeom prst="rect">
                <a:avLst/>
              </a:prstGeom>
            </p:spPr>
            <p:txBody>
              <a:bodyPr wrap="square">
                <a:spAutoFit/>
              </a:bodyPr>
              <a:lstStyle/>
              <a:p>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m:rPr>
                            <m:sty m:val="p"/>
                          </m:rPr>
                          <a:rPr lang="en-US" altLang="zh-CN" sz="1400">
                            <a:latin typeface="Cambria Math" panose="02040503050406030204" pitchFamily="18" charset="0"/>
                            <a:cs typeface="MV Boli" panose="02000500030200090000" pitchFamily="2" charset="0"/>
                          </a:rPr>
                          <m:t>I</m:t>
                        </m:r>
                      </m:e>
                      <m:sub>
                        <m:r>
                          <m:rPr>
                            <m:sty m:val="p"/>
                          </m:rPr>
                          <a:rPr lang="en-US" altLang="zh-CN" sz="1400">
                            <a:latin typeface="Cambria Math" panose="02040503050406030204" pitchFamily="18" charset="0"/>
                            <a:cs typeface="MV Boli" panose="02000500030200090000" pitchFamily="2" charset="0"/>
                          </a:rPr>
                          <m:t>o</m:t>
                        </m:r>
                      </m:sub>
                    </m:sSub>
                  </m:oMath>
                </a14:m>
                <a:r>
                  <a:rPr lang="zh-CN" altLang="zh-CN" sz="1400" dirty="0">
                    <a:latin typeface="Calibri" panose="020F0502020204030204" pitchFamily="34" charset="0"/>
                    <a:cs typeface="Times New Roman" panose="02020603050405020304" pitchFamily="18" charset="0"/>
                  </a:rPr>
                  <a:t>为刚体相对于</a:t>
                </a:r>
                <a14:m>
                  <m:oMath xmlns:m="http://schemas.openxmlformats.org/officeDocument/2006/math">
                    <m:r>
                      <m:rPr>
                        <m:sty m:val="p"/>
                      </m:rPr>
                      <a:rPr lang="en-US" altLang="zh-CN" sz="1400">
                        <a:latin typeface="Cambria Math" panose="02040503050406030204" pitchFamily="18" charset="0"/>
                        <a:cs typeface="Times New Roman" panose="02020603050405020304" pitchFamily="18" charset="0"/>
                      </a:rPr>
                      <m:t>O</m:t>
                    </m:r>
                  </m:oMath>
                </a14:m>
                <a:r>
                  <a:rPr lang="zh-CN" altLang="zh-CN" sz="1400" dirty="0">
                    <a:latin typeface="Calibri" panose="020F0502020204030204" pitchFamily="34" charset="0"/>
                    <a:cs typeface="Times New Roman" panose="02020603050405020304" pitchFamily="18" charset="0"/>
                  </a:rPr>
                  <a:t>点的空间惯量，而等式右边矩阵中的第一项</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𝑜𝑚</m:t>
                        </m:r>
                      </m:sub>
                    </m:sSub>
                    <m:r>
                      <a:rPr lang="en-US" altLang="zh-CN" sz="1400" i="1">
                        <a:latin typeface="Cambria Math" panose="02040503050406030204" pitchFamily="18" charset="0"/>
                        <a:cs typeface="MV Boli" panose="02000500030200090000" pitchFamily="2" charset="0"/>
                      </a:rPr>
                      <m:t>=</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𝑚𝑆</m:t>
                    </m:r>
                    <m:d>
                      <m:dPr>
                        <m:ctrlPr>
                          <a:rPr lang="zh-CN" altLang="zh-CN" sz="1400" i="1">
                            <a:effectLst/>
                            <a:latin typeface="Cambria Math" panose="02040503050406030204" pitchFamily="18" charset="0"/>
                            <a:ea typeface="Cambria Math" panose="02040503050406030204" pitchFamily="18" charset="0"/>
                          </a:rPr>
                        </m:ctrlPr>
                      </m:dPr>
                      <m:e>
                        <m:bar>
                          <m:barPr>
                            <m:ctrlPr>
                              <a:rPr lang="zh-CN" altLang="zh-CN" sz="1400" i="1">
                                <a:effectLst/>
                                <a:latin typeface="Cambria Math" panose="02040503050406030204" pitchFamily="18" charset="0"/>
                                <a:ea typeface="Cambria Math" panose="02040503050406030204" pitchFamily="18" charset="0"/>
                              </a:rPr>
                            </m:ctrlPr>
                          </m:barPr>
                          <m:e>
                            <m:r>
                              <a:rPr lang="en-US" altLang="zh-CN" sz="1400" i="1">
                                <a:latin typeface="Cambria Math" panose="02040503050406030204" pitchFamily="18" charset="0"/>
                                <a:cs typeface="Times New Roman" panose="02020603050405020304" pitchFamily="18" charset="0"/>
                              </a:rPr>
                              <m:t>𝑐</m:t>
                            </m:r>
                          </m:e>
                        </m:bar>
                      </m:e>
                    </m:d>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cs typeface="Times New Roman" panose="02020603050405020304" pitchFamily="18" charset="0"/>
                          </a:rPr>
                          <m:t>𝑆</m:t>
                        </m:r>
                        <m:d>
                          <m:dPr>
                            <m:ctrlPr>
                              <a:rPr lang="zh-CN" altLang="zh-CN" sz="1400" i="1">
                                <a:effectLst/>
                                <a:latin typeface="Cambria Math" panose="02040503050406030204" pitchFamily="18" charset="0"/>
                                <a:ea typeface="Cambria Math" panose="02040503050406030204" pitchFamily="18" charset="0"/>
                              </a:rPr>
                            </m:ctrlPr>
                          </m:dPr>
                          <m:e>
                            <m:bar>
                              <m:barPr>
                                <m:ctrlPr>
                                  <a:rPr lang="zh-CN" altLang="zh-CN" sz="1400" i="1">
                                    <a:effectLst/>
                                    <a:latin typeface="Cambria Math" panose="02040503050406030204" pitchFamily="18" charset="0"/>
                                    <a:ea typeface="Cambria Math" panose="02040503050406030204" pitchFamily="18" charset="0"/>
                                  </a:rPr>
                                </m:ctrlPr>
                              </m:barPr>
                              <m:e>
                                <m:r>
                                  <a:rPr lang="en-US" altLang="zh-CN" sz="1400" i="1">
                                    <a:latin typeface="Cambria Math" panose="02040503050406030204" pitchFamily="18" charset="0"/>
                                    <a:cs typeface="Times New Roman" panose="02020603050405020304" pitchFamily="18" charset="0"/>
                                  </a:rPr>
                                  <m:t>𝑐</m:t>
                                </m:r>
                              </m:e>
                            </m:bar>
                          </m:e>
                        </m:d>
                      </m:e>
                      <m:sup>
                        <m:r>
                          <a:rPr lang="en-US" altLang="zh-CN" sz="1400" i="1">
                            <a:latin typeface="Cambria Math" panose="02040503050406030204" pitchFamily="18" charset="0"/>
                            <a:cs typeface="Times New Roman" panose="02020603050405020304" pitchFamily="18" charset="0"/>
                          </a:rPr>
                          <m:t>𝑇</m:t>
                        </m:r>
                      </m:sup>
                    </m:sSup>
                  </m:oMath>
                </a14:m>
                <a:r>
                  <a:rPr lang="zh-CN" altLang="zh-CN" sz="1400" dirty="0">
                    <a:latin typeface="Calibri" panose="020F0502020204030204" pitchFamily="34" charset="0"/>
                    <a:cs typeface="Times New Roman" panose="02020603050405020304" pitchFamily="18" charset="0"/>
                  </a:rPr>
                  <a:t>可认为是刚体的关于</a:t>
                </a:r>
                <a14:m>
                  <m:oMath xmlns:m="http://schemas.openxmlformats.org/officeDocument/2006/math">
                    <m:r>
                      <m:rPr>
                        <m:sty m:val="p"/>
                      </m:rPr>
                      <a:rPr lang="en-US" altLang="zh-CN" sz="1400">
                        <a:latin typeface="Cambria Math" panose="02040503050406030204" pitchFamily="18" charset="0"/>
                        <a:cs typeface="Times New Roman" panose="02020603050405020304" pitchFamily="18" charset="0"/>
                      </a:rPr>
                      <m:t>O</m:t>
                    </m:r>
                  </m:oMath>
                </a14:m>
                <a:r>
                  <a:rPr lang="zh-CN" altLang="zh-CN" sz="1400" dirty="0">
                    <a:latin typeface="Calibri" panose="020F0502020204030204" pitchFamily="34" charset="0"/>
                    <a:cs typeface="Times New Roman" panose="02020603050405020304" pitchFamily="18" charset="0"/>
                  </a:rPr>
                  <a:t>点的转动惯量</a:t>
                </a:r>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4278630" y="2684089"/>
                <a:ext cx="4132775" cy="809004"/>
              </a:xfrm>
              <a:prstGeom prst="rect">
                <a:avLst/>
              </a:prstGeom>
              <a:blipFill>
                <a:blip r:embed="rId6"/>
                <a:stretch>
                  <a:fillRect l="-442" t="-1504" b="-5263"/>
                </a:stretch>
              </a:blipFill>
            </p:spPr>
            <p:txBody>
              <a:bodyPr/>
              <a:lstStyle/>
              <a:p>
                <a:r>
                  <a:rPr lang="zh-CN" altLang="en-US">
                    <a:noFill/>
                  </a:rPr>
                  <a:t> </a:t>
                </a:r>
              </a:p>
            </p:txBody>
          </p:sp>
        </mc:Fallback>
      </mc:AlternateContent>
      <p:sp>
        <p:nvSpPr>
          <p:cNvPr id="19" name="圆角矩形 18"/>
          <p:cNvSpPr/>
          <p:nvPr/>
        </p:nvSpPr>
        <p:spPr>
          <a:xfrm>
            <a:off x="4278630" y="2684089"/>
            <a:ext cx="4132775" cy="938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矩形 19"/>
              <p:cNvSpPr/>
              <p:nvPr/>
            </p:nvSpPr>
            <p:spPr>
              <a:xfrm>
                <a:off x="899592" y="2936714"/>
                <a:ext cx="2527680" cy="984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𝑐𝑚</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𝑥𝑧</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𝑦𝑧</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𝑧𝑧</m:t>
                                    </m:r>
                                  </m:sub>
                                </m:sSub>
                              </m:e>
                            </m:mr>
                          </m:m>
                        </m:e>
                      </m:d>
                    </m:oMath>
                  </m:oMathPara>
                </a14:m>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899592" y="2936714"/>
                <a:ext cx="2527680" cy="98405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5673673" y="3694133"/>
                <a:ext cx="1894621" cy="453266"/>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cs typeface="Times New Roman" panose="02020603050405020304" pitchFamily="18" charset="0"/>
                          </a:rPr>
                          <m:t>I</m:t>
                        </m:r>
                      </m:e>
                      <m:sub>
                        <m:r>
                          <m:rPr>
                            <m:sty m:val="p"/>
                          </m:rPr>
                          <a:rPr lang="en-US" altLang="zh-CN">
                            <a:latin typeface="Cambria Math" panose="02040503050406030204" pitchFamily="18" charset="0"/>
                            <a:cs typeface="Times New Roman" panose="02020603050405020304" pitchFamily="18" charset="0"/>
                          </a:rPr>
                          <m:t>B</m:t>
                        </m:r>
                      </m:sub>
                    </m:sSub>
                    <m:r>
                      <a:rPr lang="en-US" altLang="zh-CN" i="1">
                        <a:latin typeface="Cambria Math" panose="02040503050406030204" pitchFamily="18" charset="0"/>
                        <a:cs typeface="Times New Roman" panose="02020603050405020304" pitchFamily="18" charset="0"/>
                      </a:rPr>
                      <m:t>=</m:t>
                    </m:r>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cs typeface="Times New Roman" panose="02020603050405020304" pitchFamily="18" charset="0"/>
                          </a:rPr>
                          <m:t>𝐵</m:t>
                        </m:r>
                      </m:sup>
                      <m:e>
                        <m:sSubSup>
                          <m:sSubSupPr>
                            <m:ctrlPr>
                              <a:rPr lang="zh-CN" altLang="zh-CN" i="1">
                                <a:effectLst/>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cs typeface="Times New Roman" panose="02020603050405020304" pitchFamily="18" charset="0"/>
                              </a:rPr>
                              <m:t>𝑋</m:t>
                            </m:r>
                          </m:e>
                          <m:sub>
                            <m:r>
                              <a:rPr lang="en-US" altLang="zh-CN" i="1">
                                <a:latin typeface="Cambria Math" panose="02040503050406030204" pitchFamily="18" charset="0"/>
                                <a:cs typeface="Times New Roman" panose="02020603050405020304" pitchFamily="18" charset="0"/>
                              </a:rPr>
                              <m:t>𝐴</m:t>
                            </m:r>
                          </m:sub>
                          <m:sup>
                            <m:r>
                              <a:rPr lang="en-US" altLang="zh-CN" i="1">
                                <a:latin typeface="Cambria Math" panose="02040503050406030204" pitchFamily="18" charset="0"/>
                                <a:cs typeface="Times New Roman" panose="02020603050405020304" pitchFamily="18" charset="0"/>
                              </a:rPr>
                              <m:t>𝐹</m:t>
                            </m:r>
                          </m:sup>
                        </m:sSubSup>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a:latin typeface="Cambria Math" panose="02040503050406030204" pitchFamily="18" charset="0"/>
                                <a:cs typeface="Times New Roman" panose="02020603050405020304" pitchFamily="18" charset="0"/>
                              </a:rPr>
                              <m:t>I</m:t>
                            </m:r>
                          </m:e>
                          <m:sub>
                            <m:r>
                              <m:rPr>
                                <m:sty m:val="p"/>
                              </m:rPr>
                              <a:rPr lang="en-US" altLang="zh-CN">
                                <a:latin typeface="Cambria Math" panose="02040503050406030204" pitchFamily="18" charset="0"/>
                                <a:cs typeface="Times New Roman" panose="02020603050405020304" pitchFamily="18" charset="0"/>
                              </a:rPr>
                              <m:t>A</m:t>
                            </m:r>
                          </m:sub>
                        </m:sSub>
                        <m:sPre>
                          <m:sPrePr>
                            <m:ctrlPr>
                              <a:rPr lang="zh-CN" altLang="zh-CN" i="1">
                                <a:effectLst/>
                                <a:latin typeface="Cambria Math" panose="02040503050406030204" pitchFamily="18" charset="0"/>
                                <a:ea typeface="Cambria Math" panose="02040503050406030204" pitchFamily="18" charset="0"/>
                              </a:rPr>
                            </m:ctrlPr>
                          </m:sPrePr>
                          <m:sub/>
                          <m:sup>
                            <m:r>
                              <a:rPr lang="zh-CN" altLang="zh-CN" i="1">
                                <a:latin typeface="Cambria Math" panose="02040503050406030204" pitchFamily="18" charset="0"/>
                                <a:cs typeface="Times New Roman" panose="02020603050405020304" pitchFamily="18" charset="0"/>
                              </a:rPr>
                              <m:t>Ａ</m:t>
                            </m:r>
                          </m:sup>
                          <m:e>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cs typeface="Times New Roman" panose="02020603050405020304" pitchFamily="18" charset="0"/>
                                  </a:rPr>
                                  <m:t>𝑋</m:t>
                                </m:r>
                              </m:e>
                              <m:sub>
                                <m:r>
                                  <a:rPr lang="en-US" altLang="zh-CN" i="1">
                                    <a:latin typeface="Cambria Math" panose="02040503050406030204" pitchFamily="18" charset="0"/>
                                    <a:cs typeface="Times New Roman" panose="02020603050405020304" pitchFamily="18" charset="0"/>
                                  </a:rPr>
                                  <m:t>𝐵</m:t>
                                </m:r>
                              </m:sub>
                            </m:sSub>
                          </m:e>
                        </m:sPre>
                      </m:e>
                    </m:sPre>
                  </m:oMath>
                </a14:m>
                <a:r>
                  <a:rPr lang="en-US" altLang="zh-CN" dirty="0">
                    <a:latin typeface="Calibri" panose="020F0502020204030204" pitchFamily="34" charset="0"/>
                    <a:cs typeface="Times New Roman" panose="02020603050405020304" pitchFamily="18" charset="0"/>
                  </a:rPr>
                  <a:t> </a:t>
                </a:r>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5673673" y="3694133"/>
                <a:ext cx="1894621" cy="45326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602935" y="4218493"/>
                <a:ext cx="2247730" cy="4751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I</m:t>
                          </m:r>
                        </m:e>
                        <m:sub>
                          <m:r>
                            <m:rPr>
                              <m:sty m:val="p"/>
                            </m:rPr>
                            <a:rPr lang="zh-CN" altLang="en-US" i="0">
                              <a:latin typeface="Cambria Math" panose="02040503050406030204" pitchFamily="18" charset="0"/>
                            </a:rPr>
                            <m:t>A</m:t>
                          </m:r>
                        </m:sub>
                      </m:sSub>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𝐵</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1">
                                          <a:latin typeface="Cambria Math" panose="02040503050406030204" pitchFamily="18" charset="0"/>
                                        </a:rPr>
                                        <m:t>𝐴</m:t>
                                      </m:r>
                                    </m:sub>
                                    <m:sup/>
                                  </m:sSubSup>
                                </m:e>
                              </m:sPre>
                            </m:e>
                          </m:d>
                        </m:e>
                        <m:sup>
                          <m:r>
                            <a:rPr lang="zh-CN" altLang="en-US" i="1">
                              <a:latin typeface="Cambria Math" panose="02040503050406030204" pitchFamily="18" charset="0"/>
                            </a:rPr>
                            <m:t>𝑇</m:t>
                          </m:r>
                        </m:sup>
                      </m:sSup>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I</m:t>
                          </m:r>
                        </m:e>
                        <m:sub>
                          <m:r>
                            <m:rPr>
                              <m:sty m:val="p"/>
                            </m:rPr>
                            <a:rPr lang="zh-CN" altLang="en-US" i="0">
                              <a:latin typeface="Cambria Math" panose="02040503050406030204" pitchFamily="18" charset="0"/>
                            </a:rPr>
                            <m:t>B</m:t>
                          </m:r>
                        </m:sub>
                      </m:sSub>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𝐵</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1">
                                  <a:latin typeface="Cambria Math" panose="02040503050406030204" pitchFamily="18" charset="0"/>
                                </a:rPr>
                                <m:t>𝐴</m:t>
                              </m:r>
                            </m:sub>
                            <m:sup/>
                          </m:sSubSup>
                        </m:e>
                      </m:sPre>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5602935" y="4218493"/>
                <a:ext cx="2247730" cy="475195"/>
              </a:xfrm>
              <a:prstGeom prst="rect">
                <a:avLst/>
              </a:prstGeom>
              <a:blipFill>
                <a:blip r:embed="rId9"/>
                <a:stretch>
                  <a:fillRect/>
                </a:stretch>
              </a:blipFill>
            </p:spPr>
            <p:txBody>
              <a:bodyPr/>
              <a:lstStyle/>
              <a:p>
                <a:r>
                  <a:rPr lang="zh-CN" altLang="en-US">
                    <a:noFill/>
                  </a:rPr>
                  <a:t> </a:t>
                </a:r>
              </a:p>
            </p:txBody>
          </p:sp>
        </mc:Fallback>
      </mc:AlternateContent>
      <p:sp>
        <p:nvSpPr>
          <p:cNvPr id="23" name="圆角矩形 22"/>
          <p:cNvSpPr/>
          <p:nvPr/>
        </p:nvSpPr>
        <p:spPr>
          <a:xfrm>
            <a:off x="5076056" y="3694133"/>
            <a:ext cx="3096344" cy="10696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矩形 23"/>
              <p:cNvSpPr/>
              <p:nvPr/>
            </p:nvSpPr>
            <p:spPr>
              <a:xfrm>
                <a:off x="1197702" y="4135935"/>
                <a:ext cx="149201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m:rPr>
                              <m:sty m:val="p"/>
                            </m:rPr>
                            <a:rPr lang="zh-CN" altLang="en-US">
                              <a:latin typeface="Cambria Math" panose="02040503050406030204" pitchFamily="18" charset="0"/>
                            </a:rPr>
                            <m:t>I</m:t>
                          </m:r>
                        </m:e>
                        <m:sub>
                          <m:r>
                            <m:rPr>
                              <m:sty m:val="p"/>
                            </m:rPr>
                            <a:rPr lang="zh-CN" altLang="en-US" i="0">
                              <a:latin typeface="Cambria Math" panose="02040503050406030204" pitchFamily="18" charset="0"/>
                            </a:rPr>
                            <m:t>tot</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I</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I</m:t>
                          </m:r>
                        </m:e>
                        <m:sub>
                          <m:r>
                            <a:rPr lang="zh-CN" altLang="en-US" i="0">
                              <a:latin typeface="Cambria Math" panose="02040503050406030204" pitchFamily="18" charset="0"/>
                            </a:rPr>
                            <m:t>2</m:t>
                          </m:r>
                        </m:sub>
                      </m:sSub>
                    </m:oMath>
                  </m:oMathPara>
                </a14:m>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1197702" y="4135935"/>
                <a:ext cx="1492012" cy="369332"/>
              </a:xfrm>
              <a:prstGeom prst="rect">
                <a:avLst/>
              </a:prstGeom>
              <a:blipFill>
                <a:blip r:embed="rId10"/>
                <a:stretch>
                  <a:fillRect/>
                </a:stretch>
              </a:blipFill>
            </p:spPr>
            <p:txBody>
              <a:bodyPr/>
              <a:lstStyle/>
              <a:p>
                <a:r>
                  <a:rPr lang="zh-CN" altLang="en-US">
                    <a:noFill/>
                  </a:rPr>
                  <a:t> </a:t>
                </a:r>
              </a:p>
            </p:txBody>
          </p:sp>
        </mc:Fallback>
      </mc:AlternateContent>
      <p:sp>
        <p:nvSpPr>
          <p:cNvPr id="25" name="圆角矩形 24"/>
          <p:cNvSpPr/>
          <p:nvPr/>
        </p:nvSpPr>
        <p:spPr>
          <a:xfrm>
            <a:off x="899592" y="4011910"/>
            <a:ext cx="2160240" cy="616346"/>
          </a:xfrm>
          <a:prstGeom prst="roundRect">
            <a:avLst/>
          </a:prstGeom>
          <a:noFill/>
          <a:ln>
            <a:solidFill>
              <a:srgbClr val="0065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矩形 25"/>
              <p:cNvSpPr/>
              <p:nvPr/>
            </p:nvSpPr>
            <p:spPr>
              <a:xfrm>
                <a:off x="3347864" y="4532564"/>
                <a:ext cx="1392754"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mtClean="0">
                          <a:solidFill>
                            <a:srgbClr val="FF0000"/>
                          </a:solidFill>
                          <a:latin typeface="Cambria Math" panose="02040503050406030204" pitchFamily="18" charset="0"/>
                        </a:rPr>
                        <m:t>𝒦</m:t>
                      </m:r>
                      <m:r>
                        <a:rPr lang="zh-CN" altLang="en-US" i="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i="0">
                              <a:solidFill>
                                <a:srgbClr val="FF0000"/>
                              </a:solidFill>
                              <a:latin typeface="Cambria Math" panose="02040503050406030204" pitchFamily="18" charset="0"/>
                            </a:rPr>
                            <m:t>1</m:t>
                          </m:r>
                        </m:num>
                        <m:den>
                          <m:r>
                            <a:rPr lang="zh-CN" altLang="en-US" i="0">
                              <a:solidFill>
                                <a:srgbClr val="FF0000"/>
                              </a:solidFill>
                              <a:latin typeface="Cambria Math" panose="02040503050406030204" pitchFamily="18" charset="0"/>
                            </a:rPr>
                            <m:t>2</m:t>
                          </m:r>
                        </m:den>
                      </m:f>
                      <m:r>
                        <m:rPr>
                          <m:sty m:val="p"/>
                        </m:rPr>
                        <a:rPr lang="zh-CN" altLang="en-US" i="0">
                          <a:solidFill>
                            <a:srgbClr val="FF0000"/>
                          </a:solidFill>
                          <a:latin typeface="Cambria Math" panose="02040503050406030204" pitchFamily="18" charset="0"/>
                        </a:rPr>
                        <m:t>v</m:t>
                      </m:r>
                      <m:r>
                        <a:rPr lang="zh-CN" altLang="en-US" i="0">
                          <a:solidFill>
                            <a:srgbClr val="FF0000"/>
                          </a:solidFill>
                          <a:latin typeface="Cambria Math" panose="02040503050406030204" pitchFamily="18" charset="0"/>
                        </a:rPr>
                        <m:t>∙</m:t>
                      </m:r>
                      <m:r>
                        <m:rPr>
                          <m:sty m:val="p"/>
                        </m:rPr>
                        <a:rPr lang="zh-CN" altLang="en-US" i="0">
                          <a:solidFill>
                            <a:srgbClr val="FF0000"/>
                          </a:solidFill>
                          <a:latin typeface="Cambria Math" panose="02040503050406030204" pitchFamily="18" charset="0"/>
                        </a:rPr>
                        <m:t>Iv</m:t>
                      </m:r>
                    </m:oMath>
                  </m:oMathPara>
                </a14:m>
                <a:endParaRPr lang="zh-CN" altLang="en-US" dirty="0">
                  <a:solidFill>
                    <a:srgbClr val="FF0000"/>
                  </a:solidFill>
                </a:endParaRPr>
              </a:p>
            </p:txBody>
          </p:sp>
        </mc:Choice>
        <mc:Fallback xmlns="">
          <p:sp>
            <p:nvSpPr>
              <p:cNvPr id="26" name="矩形 25"/>
              <p:cNvSpPr>
                <a:spLocks noRot="1" noChangeAspect="1" noMove="1" noResize="1" noEditPoints="1" noAdjustHandles="1" noChangeArrowheads="1" noChangeShapeType="1" noTextEdit="1"/>
              </p:cNvSpPr>
              <p:nvPr/>
            </p:nvSpPr>
            <p:spPr>
              <a:xfrm>
                <a:off x="3347864" y="4532564"/>
                <a:ext cx="1392754" cy="610936"/>
              </a:xfrm>
              <a:prstGeom prst="rect">
                <a:avLst/>
              </a:prstGeom>
              <a:blipFill>
                <a:blip r:embed="rId11"/>
                <a:stretch>
                  <a:fillRect/>
                </a:stretch>
              </a:blipFill>
            </p:spPr>
            <p:txBody>
              <a:bodyPr/>
              <a:lstStyle/>
              <a:p>
                <a:r>
                  <a:rPr lang="zh-CN" altLang="en-US">
                    <a:noFill/>
                  </a:rPr>
                  <a:t> </a:t>
                </a:r>
              </a:p>
            </p:txBody>
          </p:sp>
        </mc:Fallback>
      </mc:AlternateContent>
      <p:sp>
        <p:nvSpPr>
          <p:cNvPr id="27" name="圆角矩形 26"/>
          <p:cNvSpPr/>
          <p:nvPr/>
        </p:nvSpPr>
        <p:spPr>
          <a:xfrm>
            <a:off x="3179019" y="4532564"/>
            <a:ext cx="1726991" cy="61093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39641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空间向量表示法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1579278"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空间运动方程</a:t>
            </a:r>
            <a:endParaRPr lang="zh-CN" altLang="en-US" b="1" dirty="0">
              <a:solidFill>
                <a:srgbClr val="002060"/>
              </a:solidFill>
            </a:endParaRPr>
          </a:p>
        </p:txBody>
      </p:sp>
      <p:sp>
        <p:nvSpPr>
          <p:cNvPr id="2" name="矩形 1"/>
          <p:cNvSpPr/>
          <p:nvPr/>
        </p:nvSpPr>
        <p:spPr>
          <a:xfrm>
            <a:off x="971600" y="1248177"/>
            <a:ext cx="6768752" cy="369332"/>
          </a:xfrm>
          <a:prstGeom prst="rect">
            <a:avLst/>
          </a:prstGeom>
        </p:spPr>
        <p:txBody>
          <a:bodyPr wrap="square">
            <a:spAutoFit/>
          </a:bodyPr>
          <a:lstStyle/>
          <a:p>
            <a:r>
              <a:rPr lang="zh-CN" altLang="zh-CN" dirty="0">
                <a:latin typeface="Calibri" panose="020F0502020204030204" pitchFamily="34" charset="0"/>
                <a:cs typeface="Times New Roman" panose="02020603050405020304" pitchFamily="18" charset="0"/>
              </a:rPr>
              <a:t>在空间运动方程中，作用于刚体上的力等于其动量的变化</a:t>
            </a:r>
            <a:r>
              <a:rPr lang="zh-CN" altLang="zh-CN" dirty="0" smtClean="0">
                <a:latin typeface="Calibri" panose="020F0502020204030204" pitchFamily="34" charset="0"/>
                <a:cs typeface="Times New Roman" panose="02020603050405020304" pitchFamily="18" charset="0"/>
              </a:rPr>
              <a:t>率</a:t>
            </a:r>
            <a:r>
              <a:rPr lang="zh-CN" altLang="en-US" dirty="0" smtClean="0">
                <a:latin typeface="Calibri" panose="020F0502020204030204" pitchFamily="34" charset="0"/>
                <a:cs typeface="Times New Roman" panose="02020603050405020304" pitchFamily="18" charset="0"/>
              </a:rPr>
              <a:t>：</a:t>
            </a:r>
            <a:endParaRPr lang="zh-CN" altLang="en-US" dirty="0"/>
          </a:p>
        </p:txBody>
      </p:sp>
      <mc:AlternateContent xmlns:mc="http://schemas.openxmlformats.org/markup-compatibility/2006" xmlns:a14="http://schemas.microsoft.com/office/drawing/2010/main">
        <mc:Choice Requires="a14">
          <p:sp>
            <p:nvSpPr>
              <p:cNvPr id="3" name="矩形 2"/>
              <p:cNvSpPr/>
              <p:nvPr/>
            </p:nvSpPr>
            <p:spPr>
              <a:xfrm>
                <a:off x="1245003" y="1569483"/>
                <a:ext cx="2218941" cy="6182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f</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𝑑</m:t>
                          </m:r>
                        </m:num>
                        <m:den>
                          <m:r>
                            <a:rPr lang="zh-CN" altLang="en-US" i="1">
                              <a:latin typeface="Cambria Math" panose="02040503050406030204" pitchFamily="18" charset="0"/>
                            </a:rPr>
                            <m:t>𝑑𝑡</m:t>
                          </m:r>
                        </m:den>
                      </m:f>
                      <m:d>
                        <m:dPr>
                          <m:ctrlPr>
                            <a:rPr lang="zh-CN" altLang="en-US" i="1">
                              <a:latin typeface="Cambria Math" panose="02040503050406030204" pitchFamily="18" charset="0"/>
                            </a:rPr>
                          </m:ctrlPr>
                        </m:dPr>
                        <m:e>
                          <m:r>
                            <m:rPr>
                              <m:sty m:val="p"/>
                            </m:rPr>
                            <a:rPr lang="zh-CN" altLang="en-US" i="0">
                              <a:latin typeface="Cambria Math" panose="02040503050406030204" pitchFamily="18" charset="0"/>
                            </a:rPr>
                            <m:t>Iv</m:t>
                          </m:r>
                        </m:e>
                      </m:d>
                      <m:r>
                        <a:rPr lang="zh-CN" altLang="en-US" i="0">
                          <a:latin typeface="Cambria Math" panose="02040503050406030204" pitchFamily="18" charset="0"/>
                        </a:rPr>
                        <m:t>=</m:t>
                      </m:r>
                      <m:r>
                        <m:rPr>
                          <m:sty m:val="p"/>
                        </m:rPr>
                        <a:rPr lang="zh-CN" altLang="en-US" i="0">
                          <a:latin typeface="Cambria Math" panose="02040503050406030204" pitchFamily="18" charset="0"/>
                        </a:rPr>
                        <m:t>Ia</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m:rPr>
                              <m:sty m:val="p"/>
                            </m:rPr>
                            <a:rPr lang="zh-CN" altLang="en-US" i="0">
                              <a:latin typeface="Cambria Math" panose="02040503050406030204" pitchFamily="18" charset="0"/>
                            </a:rPr>
                            <m:t>I</m:t>
                          </m:r>
                        </m:e>
                      </m:acc>
                      <m:r>
                        <m:rPr>
                          <m:sty m:val="p"/>
                        </m:rPr>
                        <a:rPr lang="zh-CN" altLang="en-US" i="0">
                          <a:latin typeface="Cambria Math" panose="02040503050406030204" pitchFamily="18" charset="0"/>
                        </a:rPr>
                        <m:t>v</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245003" y="1569483"/>
                <a:ext cx="2218941" cy="61824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389356" y="1717953"/>
                <a:ext cx="164981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f</m:t>
                      </m:r>
                      <m:r>
                        <a:rPr lang="zh-CN" altLang="en-US" i="0">
                          <a:latin typeface="Cambria Math" panose="02040503050406030204" pitchFamily="18" charset="0"/>
                        </a:rPr>
                        <m:t>=</m:t>
                      </m:r>
                      <m:r>
                        <m:rPr>
                          <m:sty m:val="p"/>
                        </m:rPr>
                        <a:rPr lang="zh-CN" altLang="en-US" i="0">
                          <a:latin typeface="Cambria Math" panose="02040503050406030204" pitchFamily="18" charset="0"/>
                        </a:rPr>
                        <m:t>Ia</m:t>
                      </m:r>
                      <m:r>
                        <a:rPr lang="zh-CN" altLang="en-US" i="0">
                          <a:latin typeface="Cambria Math" panose="02040503050406030204" pitchFamily="18" charset="0"/>
                        </a:rPr>
                        <m:t>+</m:t>
                      </m:r>
                      <m:r>
                        <m:rPr>
                          <m:sty m:val="p"/>
                        </m:rPr>
                        <a:rPr lang="zh-CN" altLang="en-US" i="0">
                          <a:latin typeface="Cambria Math" panose="02040503050406030204" pitchFamily="18" charset="0"/>
                        </a:rPr>
                        <m:t>v</m:t>
                      </m:r>
                      <m:r>
                        <a:rPr lang="zh-CN" altLang="en-US" i="0">
                          <a:latin typeface="Cambria Math" panose="02040503050406030204" pitchFamily="18" charset="0"/>
                        </a:rPr>
                        <m:t>×</m:t>
                      </m:r>
                      <m:r>
                        <m:rPr>
                          <m:sty m:val="p"/>
                        </m:rPr>
                        <a:rPr lang="zh-CN" altLang="en-US" i="0">
                          <a:latin typeface="Cambria Math" panose="02040503050406030204" pitchFamily="18" charset="0"/>
                        </a:rPr>
                        <m:t>Iv</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4389356" y="1717953"/>
                <a:ext cx="1649811"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08520" y="2789753"/>
                <a:ext cx="9252520" cy="1137363"/>
              </a:xfrm>
              <a:prstGeom prst="rect">
                <a:avLst/>
              </a:prstGeom>
            </p:spPr>
            <p:txBody>
              <a:bodyPr wrap="square">
                <a:spAutoFit/>
              </a:bodyPr>
              <a:lstStyle/>
              <a:p>
                <a:pPr indent="266700">
                  <a:spcBef>
                    <a:spcPts val="600"/>
                  </a:spcBef>
                  <a:spcAft>
                    <a:spcPts val="600"/>
                  </a:spcAft>
                </a:pPr>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Pr>
                      <m:e>
                        <m:bar>
                          <m:bar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barPr>
                          <m:e>
                            <m:r>
                              <m:rPr>
                                <m:sty m:val="p"/>
                              </m:rPr>
                              <a:rPr lang="en-US" altLang="zh-CN" sz="1400">
                                <a:latin typeface="Cambria Math" panose="02040503050406030204" pitchFamily="18" charset="0"/>
                                <a:cs typeface="宋体" panose="02010600030101010101" pitchFamily="2" charset="-122"/>
                              </a:rPr>
                              <m:t>f</m:t>
                            </m:r>
                          </m:e>
                        </m:bar>
                      </m:e>
                      <m:sub>
                        <m:r>
                          <a:rPr lang="en-US" altLang="zh-CN" sz="1400" i="1">
                            <a:latin typeface="Cambria Math" panose="02040503050406030204" pitchFamily="18" charset="0"/>
                            <a:cs typeface="宋体" panose="02010600030101010101" pitchFamily="2" charset="-122"/>
                          </a:rPr>
                          <m:t>𝑐</m:t>
                        </m:r>
                      </m:sub>
                    </m:sSub>
                    <m:r>
                      <a:rPr lang="en-US" altLang="zh-CN" sz="1400" i="1">
                        <a:latin typeface="Cambria Math" panose="02040503050406030204" pitchFamily="18" charset="0"/>
                        <a:cs typeface="宋体" panose="02010600030101010101" pitchFamily="2" charset="-122"/>
                      </a:rPr>
                      <m:t>=</m:t>
                    </m:r>
                    <m:d>
                      <m:d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sSubPr>
                                <m:e>
                                  <m:bar>
                                    <m:bar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barPr>
                                    <m:e>
                                      <m:r>
                                        <m:rPr>
                                          <m:sty m:val="p"/>
                                        </m:rPr>
                                        <a:rPr lang="en-US" altLang="zh-CN" sz="1400">
                                          <a:latin typeface="Cambria Math" panose="02040503050406030204" pitchFamily="18" charset="0"/>
                                          <a:cs typeface="宋体" panose="02010600030101010101" pitchFamily="2" charset="-122"/>
                                        </a:rPr>
                                        <m:t>n</m:t>
                                      </m:r>
                                    </m:e>
                                  </m:bar>
                                </m:e>
                                <m:sub>
                                  <m:r>
                                    <a:rPr lang="en-US" altLang="zh-CN" sz="1400" i="1">
                                      <a:latin typeface="Cambria Math" panose="02040503050406030204" pitchFamily="18" charset="0"/>
                                      <a:cs typeface="宋体" panose="02010600030101010101" pitchFamily="2" charset="-122"/>
                                    </a:rPr>
                                    <m:t>𝑐</m:t>
                                  </m:r>
                                </m:sub>
                              </m:sSub>
                            </m:e>
                          </m:mr>
                          <m:mr>
                            <m:e>
                              <m:r>
                                <m:rPr>
                                  <m:sty m:val="p"/>
                                </m:rPr>
                                <a:rPr lang="en-US" altLang="zh-CN" sz="1400">
                                  <a:latin typeface="Cambria Math" panose="02040503050406030204" pitchFamily="18" charset="0"/>
                                  <a:cs typeface="宋体" panose="02010600030101010101" pitchFamily="2" charset="-122"/>
                                </a:rPr>
                                <m:t>f</m:t>
                              </m:r>
                            </m:e>
                          </m:mr>
                        </m:m>
                      </m:e>
                    </m:d>
                    <m:r>
                      <a:rPr lang="en-US" altLang="zh-CN" sz="1400">
                        <a:latin typeface="Cambria Math" panose="02040503050406030204" pitchFamily="18" charset="0"/>
                        <a:cs typeface="宋体" panose="02010600030101010101" pitchFamily="2" charset="-122"/>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e>
                            <m:e>
                              <m:r>
                                <a:rPr lang="en-US" altLang="zh-CN" sz="1400" i="1">
                                  <a:latin typeface="Cambria Math" panose="02040503050406030204" pitchFamily="18" charset="0"/>
                                  <a:cs typeface="MV Boli" panose="02000500030200090000" pitchFamily="2" charset="0"/>
                                </a:rPr>
                                <m:t>0</m:t>
                              </m:r>
                            </m:e>
                          </m:mr>
                          <m:mr>
                            <m:e>
                              <m:r>
                                <a:rPr lang="en-US" altLang="zh-CN" sz="1400" i="1">
                                  <a:latin typeface="Cambria Math" panose="02040503050406030204" pitchFamily="18" charset="0"/>
                                  <a:cs typeface="MV Boli" panose="02000500030200090000" pitchFamily="2" charset="0"/>
                                </a:rPr>
                                <m:t>0</m:t>
                              </m:r>
                            </m:e>
                            <m:e>
                              <m:r>
                                <a:rPr lang="en-US" altLang="zh-CN" sz="1400" i="1">
                                  <a:latin typeface="Cambria Math" panose="02040503050406030204" pitchFamily="18" charset="0"/>
                                  <a:cs typeface="MV Boli" panose="02000500030200090000" pitchFamily="2" charset="0"/>
                                </a:rPr>
                                <m:t>𝑚𝐼</m:t>
                              </m:r>
                            </m:e>
                          </m:mr>
                        </m:m>
                      </m:e>
                    </m:d>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e>
                              </m:acc>
                            </m:e>
                          </m:mr>
                          <m:mr>
                            <m:e>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c</m:t>
                                      </m:r>
                                    </m:e>
                                  </m:bar>
                                </m:e>
                              </m:acc>
                              <m:r>
                                <a:rPr lang="en-US" altLang="zh-CN" sz="1400" i="1">
                                  <a:latin typeface="Cambria Math" panose="02040503050406030204" pitchFamily="18" charset="0"/>
                                  <a:cs typeface="MV Boli" panose="02000500030200090000" pitchFamily="2" charset="0"/>
                                </a:rPr>
                                <m:t>−</m:t>
                              </m:r>
                              <m:r>
                                <m:rPr>
                                  <m:sty m:val="p"/>
                                </m:rPr>
                                <a:rPr lang="en-US" altLang="zh-CN" sz="1400">
                                  <a:latin typeface="Cambria Math" panose="02040503050406030204" pitchFamily="18" charset="0"/>
                                  <a:cs typeface="MV Boli" panose="02000500030200090000" pitchFamily="2" charset="0"/>
                                </a:rPr>
                                <m:t>ω</m:t>
                              </m:r>
                              <m:r>
                                <a:rPr lang="en-US" altLang="zh-CN" sz="1400">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e>
                          </m:mr>
                        </m:m>
                      </m:e>
                    </m:d>
                    <m:r>
                      <a:rPr lang="en-US" altLang="zh-CN" sz="1400" i="1">
                        <a:latin typeface="Cambria Math" panose="02040503050406030204" pitchFamily="18" charset="0"/>
                        <a:cs typeface="MV Boli" panose="02000500030200090000" pitchFamily="2" charset="0"/>
                      </a:rPr>
                      <m:t>+</m:t>
                    </m:r>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e>
                            <m:e>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r>
                                <a:rPr lang="en-US" altLang="zh-CN" sz="1400" i="1">
                                  <a:latin typeface="Cambria Math" panose="02040503050406030204" pitchFamily="18" charset="0"/>
                                  <a:cs typeface="MV Boli" panose="02000500030200090000" pitchFamily="2" charset="0"/>
                                </a:rPr>
                                <m:t>×</m:t>
                              </m:r>
                            </m:e>
                          </m:mr>
                          <m:mr>
                            <m:e>
                              <m:r>
                                <a:rPr lang="en-US" altLang="zh-CN" sz="1400" i="1">
                                  <a:latin typeface="Cambria Math" panose="02040503050406030204" pitchFamily="18" charset="0"/>
                                  <a:cs typeface="MV Boli" panose="02000500030200090000" pitchFamily="2" charset="0"/>
                                </a:rPr>
                                <m:t>0</m:t>
                              </m:r>
                            </m:e>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e>
                          </m:mr>
                        </m:m>
                      </m:e>
                    </m:d>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2"/>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e>
                            <m:e>
                              <m:r>
                                <a:rPr lang="en-US" altLang="zh-CN" sz="1400" i="1">
                                  <a:latin typeface="Cambria Math" panose="02040503050406030204" pitchFamily="18" charset="0"/>
                                  <a:cs typeface="MV Boli" panose="02000500030200090000" pitchFamily="2" charset="0"/>
                                </a:rPr>
                                <m:t>0</m:t>
                              </m:r>
                            </m:e>
                          </m:mr>
                          <m:mr>
                            <m:e>
                              <m:r>
                                <a:rPr lang="en-US" altLang="zh-CN" sz="1400" i="1">
                                  <a:latin typeface="Cambria Math" panose="02040503050406030204" pitchFamily="18" charset="0"/>
                                  <a:cs typeface="MV Boli" panose="02000500030200090000" pitchFamily="2" charset="0"/>
                                </a:rPr>
                                <m:t>0</m:t>
                              </m:r>
                            </m:e>
                            <m:e>
                              <m:r>
                                <a:rPr lang="en-US" altLang="zh-CN" sz="1400" i="1">
                                  <a:latin typeface="Cambria Math" panose="02040503050406030204" pitchFamily="18" charset="0"/>
                                  <a:cs typeface="MV Boli" panose="02000500030200090000" pitchFamily="2" charset="0"/>
                                </a:rPr>
                                <m:t>𝑚𝐼</m:t>
                              </m:r>
                            </m:e>
                          </m:mr>
                        </m:m>
                      </m:e>
                    </m:d>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m>
                          <m:mPr>
                            <m:mcs>
                              <m:mc>
                                <m:mcPr>
                                  <m:count m:val="1"/>
                                  <m:mcJc m:val="center"/>
                                </m:mcPr>
                              </m:mc>
                            </m:mcs>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mPr>
                          <m:m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e>
                          </m:mr>
                          <m:mr>
                            <m:e>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e>
                          </m:mr>
                        </m:m>
                      </m:e>
                    </m:d>
                  </m:oMath>
                </a14:m>
                <a:r>
                  <a:rPr lang="en-US" altLang="zh-CN" sz="1400" dirty="0">
                    <a:latin typeface="宋体" panose="02010600030101010101" pitchFamily="2" charset="-122"/>
                    <a:cs typeface="宋体" panose="02010600030101010101" pitchFamily="2" charset="-122"/>
                  </a:rPr>
                  <a:t> </a:t>
                </a:r>
                <a14:m>
                  <m:oMath xmlns:m="http://schemas.openxmlformats.org/officeDocument/2006/math">
                    <m:r>
                      <a:rPr lang="en-US" altLang="zh-CN" sz="1400" i="1">
                        <a:latin typeface="Cambria Math" panose="02040503050406030204" pitchFamily="18" charset="0"/>
                        <a:cs typeface="宋体" panose="02010600030101010101" pitchFamily="2" charset="-122"/>
                      </a:rPr>
                      <m:t>=</m:t>
                    </m:r>
                    <m:d>
                      <m:d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e>
                              </m:acc>
                            </m:e>
                          </m:mr>
                          <m:mr>
                            <m:e>
                              <m:r>
                                <a:rPr lang="en-US" altLang="zh-CN" sz="1400" i="1">
                                  <a:latin typeface="Cambria Math" panose="02040503050406030204" pitchFamily="18" charset="0"/>
                                  <a:cs typeface="宋体" panose="02010600030101010101" pitchFamily="2" charset="-122"/>
                                </a:rPr>
                                <m:t>𝑚</m:t>
                              </m:r>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c</m:t>
                                      </m:r>
                                    </m:e>
                                  </m:bar>
                                </m:e>
                              </m:acc>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𝑚</m:t>
                              </m:r>
                              <m:r>
                                <m:rPr>
                                  <m:sty m:val="p"/>
                                </m:rPr>
                                <a:rPr lang="en-US" altLang="zh-CN" sz="1400">
                                  <a:latin typeface="Cambria Math" panose="02040503050406030204" pitchFamily="18" charset="0"/>
                                  <a:cs typeface="MV Boli" panose="02000500030200090000" pitchFamily="2" charset="0"/>
                                </a:rPr>
                                <m:t>ω</m:t>
                              </m:r>
                              <m:r>
                                <a:rPr lang="en-US" altLang="zh-CN" sz="1400">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e>
                          </m:mr>
                        </m:m>
                      </m:e>
                    </m:d>
                    <m:r>
                      <a:rPr lang="en-US" altLang="zh-CN" sz="1400">
                        <a:latin typeface="Cambria Math" panose="02040503050406030204" pitchFamily="18" charset="0"/>
                        <a:cs typeface="宋体" panose="02010600030101010101" pitchFamily="2" charset="-122"/>
                      </a:rPr>
                      <m:t>+</m:t>
                    </m:r>
                    <m:d>
                      <m:dPr>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mPr>
                          <m:m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𝑚</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e>
                          </m:mr>
                          <m:mr>
                            <m:e>
                              <m:r>
                                <a:rPr lang="en-US" altLang="zh-CN" sz="1400" i="1">
                                  <a:latin typeface="Cambria Math" panose="02040503050406030204" pitchFamily="18" charset="0"/>
                                  <a:cs typeface="宋体" panose="02010600030101010101" pitchFamily="2" charset="-122"/>
                                </a:rPr>
                                <m:t>𝑚</m:t>
                              </m:r>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barPr>
                                    <m:e>
                                      <m:r>
                                        <a:rPr lang="en-US" altLang="zh-CN" sz="1400" i="1">
                                          <a:latin typeface="Cambria Math" panose="02040503050406030204" pitchFamily="18" charset="0"/>
                                          <a:cs typeface="MV Boli" panose="02000500030200090000" pitchFamily="2" charset="0"/>
                                        </a:rPr>
                                        <m:t>𝑣</m:t>
                                      </m:r>
                                    </m:e>
                                  </m:bar>
                                </m:e>
                                <m:sub>
                                  <m:r>
                                    <a:rPr lang="en-US" altLang="zh-CN" sz="1400" i="1">
                                      <a:latin typeface="Cambria Math" panose="02040503050406030204" pitchFamily="18" charset="0"/>
                                      <a:cs typeface="MV Boli" panose="02000500030200090000" pitchFamily="2" charset="0"/>
                                    </a:rPr>
                                    <m:t>𝑐</m:t>
                                  </m:r>
                                </m:sub>
                              </m:sSub>
                            </m:e>
                          </m:mr>
                        </m:m>
                      </m:e>
                    </m:d>
                  </m:oMath>
                </a14:m>
                <a:r>
                  <a:rPr lang="en-US" altLang="zh-CN" sz="1400" dirty="0">
                    <a:latin typeface="宋体" panose="02010600030101010101" pitchFamily="2" charset="-122"/>
                    <a:cs typeface="宋体" panose="02010600030101010101" pitchFamily="2" charset="-122"/>
                  </a:rPr>
                  <a:t> </a:t>
                </a:r>
                <a:endParaRPr lang="zh-CN" altLang="zh-CN" sz="1400" dirty="0">
                  <a:latin typeface="宋体" panose="02010600030101010101" pitchFamily="2" charset="-122"/>
                  <a:cs typeface="宋体" panose="02010600030101010101" pitchFamily="2" charset="-122"/>
                </a:endParaRPr>
              </a:p>
              <a:p>
                <a:pPr algn="ctr"/>
                <a14:m>
                  <m:oMath xmlns:m="http://schemas.openxmlformats.org/officeDocument/2006/math">
                    <m:r>
                      <a:rPr lang="en-US" altLang="zh-CN" sz="1400" i="1">
                        <a:latin typeface="Cambria Math" panose="02040503050406030204" pitchFamily="18" charset="0"/>
                        <a:cs typeface="Times New Roman" panose="02020603050405020304" pitchFamily="18" charset="0"/>
                      </a:rPr>
                      <m:t>=</m:t>
                    </m:r>
                    <m:d>
                      <m:dPr>
                        <m:ctrlPr>
                          <a:rPr lang="zh-CN" altLang="zh-CN" sz="14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1400" i="1">
                                <a:effectLst/>
                                <a:latin typeface="Cambria Math" panose="02040503050406030204" pitchFamily="18" charset="0"/>
                                <a:ea typeface="Cambria Math" panose="02040503050406030204" pitchFamily="18" charset="0"/>
                              </a:rPr>
                            </m:ctrlPr>
                          </m:mPr>
                          <m:mr>
                            <m:e>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e>
                              </m:acc>
                              <m:r>
                                <a:rPr lang="en-US" altLang="zh-CN" sz="1400" i="1">
                                  <a:latin typeface="Cambria Math" panose="02040503050406030204" pitchFamily="18" charset="0"/>
                                  <a:cs typeface="MV Boli" panose="02000500030200090000" pitchFamily="2" charset="0"/>
                                </a:rPr>
                                <m:t>+</m:t>
                              </m:r>
                              <m:bar>
                                <m:bar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r>
                                <a:rPr lang="en-US" altLang="zh-CN" sz="1400" i="1">
                                  <a:latin typeface="Cambria Math" panose="02040503050406030204" pitchFamily="18" charset="0"/>
                                  <a:cs typeface="MV Boli" panose="02000500030200090000" pitchFamily="2" charset="0"/>
                                </a:rPr>
                                <m:t>×</m:t>
                              </m:r>
                              <m:sSub>
                                <m:sSub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𝐼</m:t>
                                  </m:r>
                                </m:e>
                                <m:sub>
                                  <m:r>
                                    <a:rPr lang="en-US" altLang="zh-CN" sz="1400" i="1">
                                      <a:latin typeface="Cambria Math" panose="02040503050406030204" pitchFamily="18" charset="0"/>
                                      <a:cs typeface="MV Boli" panose="02000500030200090000" pitchFamily="2" charset="0"/>
                                    </a:rPr>
                                    <m:t>𝑐𝑚</m:t>
                                  </m:r>
                                </m:sub>
                              </m:sSub>
                              <m:bar>
                                <m:bar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ω</m:t>
                                  </m:r>
                                </m:e>
                              </m:bar>
                            </m:e>
                          </m:mr>
                          <m:mr>
                            <m:e>
                              <m:r>
                                <a:rPr lang="en-US" altLang="zh-CN" sz="1400" i="1">
                                  <a:latin typeface="Cambria Math" panose="02040503050406030204" pitchFamily="18" charset="0"/>
                                  <a:cs typeface="Times New Roman" panose="02020603050405020304" pitchFamily="18" charset="0"/>
                                </a:rPr>
                                <m:t>𝑚</m:t>
                              </m:r>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bar>
                                    <m:bar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sz="1400">
                                          <a:latin typeface="Cambria Math" panose="02040503050406030204" pitchFamily="18" charset="0"/>
                                          <a:cs typeface="MV Boli" panose="02000500030200090000" pitchFamily="2" charset="0"/>
                                        </a:rPr>
                                        <m:t>c</m:t>
                                      </m:r>
                                    </m:e>
                                  </m:bar>
                                </m:e>
                              </m:acc>
                            </m:e>
                          </m:mr>
                        </m:m>
                      </m:e>
                    </m:d>
                  </m:oMath>
                </a14:m>
                <a:r>
                  <a:rPr lang="en-US" altLang="zh-CN" sz="1400" dirty="0">
                    <a:latin typeface="Calibri" panose="020F0502020204030204" pitchFamily="34" charset="0"/>
                    <a:cs typeface="Times New Roman" panose="02020603050405020304" pitchFamily="18" charset="0"/>
                  </a:rPr>
                  <a:t> </a:t>
                </a:r>
                <a:endParaRPr lang="zh-CN" altLang="en-US" sz="1400" dirty="0"/>
              </a:p>
            </p:txBody>
          </p:sp>
        </mc:Choice>
        <mc:Fallback xmlns="">
          <p:sp>
            <p:nvSpPr>
              <p:cNvPr id="6" name="矩形 5"/>
              <p:cNvSpPr>
                <a:spLocks noRot="1" noChangeAspect="1" noMove="1" noResize="1" noEditPoints="1" noAdjustHandles="1" noChangeArrowheads="1" noChangeShapeType="1" noTextEdit="1"/>
              </p:cNvSpPr>
              <p:nvPr/>
            </p:nvSpPr>
            <p:spPr>
              <a:xfrm>
                <a:off x="-108520" y="2789753"/>
                <a:ext cx="9252520" cy="1137363"/>
              </a:xfrm>
              <a:prstGeom prst="rect">
                <a:avLst/>
              </a:prstGeom>
              <a:blipFill>
                <a:blip r:embed="rId5"/>
                <a:stretch>
                  <a:fillRect/>
                </a:stretch>
              </a:blipFill>
            </p:spPr>
            <p:txBody>
              <a:bodyPr/>
              <a:lstStyle/>
              <a:p>
                <a:r>
                  <a:rPr lang="zh-CN" altLang="en-US">
                    <a:noFill/>
                  </a:rPr>
                  <a:t> </a:t>
                </a:r>
              </a:p>
            </p:txBody>
          </p:sp>
        </mc:Fallback>
      </mc:AlternateContent>
      <p:sp>
        <p:nvSpPr>
          <p:cNvPr id="7" name="右箭头 6"/>
          <p:cNvSpPr/>
          <p:nvPr/>
        </p:nvSpPr>
        <p:spPr>
          <a:xfrm>
            <a:off x="3635896" y="1779662"/>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2077322" y="2317601"/>
                <a:ext cx="4402615" cy="380553"/>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用相对质心</a:t>
                </a:r>
                <a:r>
                  <a:rPr lang="en-US" altLang="zh-CN" dirty="0">
                    <a:latin typeface="Calibri" panose="020F0502020204030204" pitchFamily="34" charset="0"/>
                    <a:cs typeface="Times New Roman" panose="02020603050405020304" pitchFamily="18" charset="0"/>
                  </a:rPr>
                  <a:t>C</a:t>
                </a:r>
                <a:r>
                  <a:rPr lang="zh-CN" altLang="zh-CN" dirty="0">
                    <a:latin typeface="Calibri" panose="020F0502020204030204" pitchFamily="34" charset="0"/>
                    <a:cs typeface="Times New Roman" panose="02020603050405020304" pitchFamily="18" charset="0"/>
                  </a:rPr>
                  <a:t>的坐标系来表达空间力向量</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bar>
                          <m:barPr>
                            <m:ctrlPr>
                              <a:rPr lang="zh-CN" altLang="zh-CN" i="1">
                                <a:effectLst/>
                                <a:latin typeface="Cambria Math" panose="02040503050406030204" pitchFamily="18" charset="0"/>
                                <a:ea typeface="Cambria Math" panose="02040503050406030204" pitchFamily="18" charset="0"/>
                              </a:rPr>
                            </m:ctrlPr>
                          </m:barPr>
                          <m:e>
                            <m:r>
                              <m:rPr>
                                <m:sty m:val="p"/>
                              </m:rPr>
                              <a:rPr lang="en-US" altLang="zh-CN">
                                <a:latin typeface="Cambria Math" panose="02040503050406030204" pitchFamily="18" charset="0"/>
                                <a:cs typeface="Times New Roman" panose="02020603050405020304" pitchFamily="18" charset="0"/>
                              </a:rPr>
                              <m:t>f</m:t>
                            </m:r>
                          </m:e>
                        </m:bar>
                      </m:e>
                      <m:sub>
                        <m:r>
                          <a:rPr lang="en-US" altLang="zh-CN" i="1">
                            <a:latin typeface="Cambria Math" panose="02040503050406030204" pitchFamily="18" charset="0"/>
                            <a:cs typeface="Times New Roman" panose="02020603050405020304" pitchFamily="18" charset="0"/>
                          </a:rPr>
                          <m:t>𝑐</m:t>
                        </m:r>
                      </m:sub>
                    </m:sSub>
                  </m:oMath>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2077322" y="2317601"/>
                <a:ext cx="4402615" cy="380553"/>
              </a:xfrm>
              <a:prstGeom prst="rect">
                <a:avLst/>
              </a:prstGeom>
              <a:blipFill>
                <a:blip r:embed="rId6"/>
                <a:stretch>
                  <a:fillRect l="-1247" t="-12698" b="-22222"/>
                </a:stretch>
              </a:blipFill>
            </p:spPr>
            <p:txBody>
              <a:bodyPr/>
              <a:lstStyle/>
              <a:p>
                <a:r>
                  <a:rPr lang="zh-CN" altLang="en-US">
                    <a:noFill/>
                  </a:rPr>
                  <a:t> </a:t>
                </a:r>
              </a:p>
            </p:txBody>
          </p:sp>
        </mc:Fallback>
      </mc:AlternateContent>
      <p:sp>
        <p:nvSpPr>
          <p:cNvPr id="9" name="圆角矩形 8"/>
          <p:cNvSpPr/>
          <p:nvPr/>
        </p:nvSpPr>
        <p:spPr>
          <a:xfrm>
            <a:off x="35496" y="2695779"/>
            <a:ext cx="9036496" cy="13881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矩形 9"/>
              <p:cNvSpPr/>
              <p:nvPr/>
            </p:nvSpPr>
            <p:spPr>
              <a:xfrm>
                <a:off x="2354473" y="4447204"/>
                <a:ext cx="908389" cy="3823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f</m:t>
                      </m:r>
                      <m:r>
                        <a:rPr lang="en-US" altLang="zh-CN">
                          <a:latin typeface="Cambria Math" panose="02040503050406030204" pitchFamily="18" charset="0"/>
                        </a:rPr>
                        <m:t>=</m:t>
                      </m:r>
                      <m:r>
                        <a:rPr lang="en-US" altLang="zh-CN" i="1">
                          <a:latin typeface="Cambria Math" panose="02040503050406030204" pitchFamily="18" charset="0"/>
                        </a:rPr>
                        <m:t>𝑚</m:t>
                      </m:r>
                      <m:acc>
                        <m:accPr>
                          <m:chr m:val="̈"/>
                          <m:ctrlPr>
                            <a:rPr lang="zh-CN" altLang="zh-CN" i="1">
                              <a:latin typeface="Cambria Math" panose="02040503050406030204" pitchFamily="18" charset="0"/>
                            </a:rPr>
                          </m:ctrlPr>
                        </m:accPr>
                        <m:e>
                          <m:bar>
                            <m:barPr>
                              <m:ctrlPr>
                                <a:rPr lang="zh-CN" altLang="zh-CN" i="1">
                                  <a:latin typeface="Cambria Math" panose="02040503050406030204" pitchFamily="18" charset="0"/>
                                </a:rPr>
                              </m:ctrlPr>
                            </m:barPr>
                            <m:e>
                              <m:r>
                                <m:rPr>
                                  <m:sty m:val="p"/>
                                </m:rPr>
                                <a:rPr lang="en-US" altLang="zh-CN">
                                  <a:latin typeface="Cambria Math" panose="02040503050406030204" pitchFamily="18" charset="0"/>
                                </a:rPr>
                                <m:t>c</m:t>
                              </m:r>
                            </m:e>
                          </m:bar>
                        </m:e>
                      </m:acc>
                    </m:oMath>
                  </m:oMathPara>
                </a14:m>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2354473" y="4447204"/>
                <a:ext cx="908389" cy="382349"/>
              </a:xfrm>
              <a:prstGeom prst="rect">
                <a:avLst/>
              </a:prstGeom>
              <a:blipFill>
                <a:blip r:embed="rId7"/>
                <a:stretch>
                  <a:fillRect r="-228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355976" y="4460026"/>
                <a:ext cx="2488052" cy="3824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bar>
                            <m:barPr>
                              <m:ctrlPr>
                                <a:rPr lang="zh-CN" altLang="zh-CN" i="1">
                                  <a:latin typeface="Cambria Math" panose="02040503050406030204" pitchFamily="18" charset="0"/>
                                </a:rPr>
                              </m:ctrlPr>
                            </m:barPr>
                            <m:e>
                              <m:r>
                                <m:rPr>
                                  <m:sty m:val="p"/>
                                </m:rPr>
                                <a:rPr lang="en-US" altLang="zh-CN">
                                  <a:latin typeface="Cambria Math" panose="02040503050406030204" pitchFamily="18" charset="0"/>
                                </a:rPr>
                                <m:t>n</m:t>
                              </m:r>
                            </m:e>
                          </m:bar>
                        </m:e>
                        <m:sub>
                          <m:r>
                            <a:rPr lang="en-US" altLang="zh-CN" i="1">
                              <a:latin typeface="Cambria Math" panose="02040503050406030204" pitchFamily="18" charset="0"/>
                            </a:rPr>
                            <m:t>𝑐</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𝑐𝑚</m:t>
                          </m:r>
                        </m:sub>
                      </m:sSub>
                      <m:acc>
                        <m:accPr>
                          <m:chr m:val="̇"/>
                          <m:ctrlPr>
                            <a:rPr lang="zh-CN" altLang="zh-CN" i="1">
                              <a:latin typeface="Cambria Math" panose="02040503050406030204" pitchFamily="18" charset="0"/>
                            </a:rPr>
                          </m:ctrlPr>
                        </m:accPr>
                        <m:e>
                          <m:bar>
                            <m:barPr>
                              <m:ctrlPr>
                                <a:rPr lang="zh-CN" altLang="zh-CN" i="1">
                                  <a:latin typeface="Cambria Math" panose="02040503050406030204" pitchFamily="18" charset="0"/>
                                </a:rPr>
                              </m:ctrlPr>
                            </m:barPr>
                            <m:e>
                              <m:r>
                                <m:rPr>
                                  <m:sty m:val="p"/>
                                </m:rPr>
                                <a:rPr lang="en-US" altLang="zh-CN">
                                  <a:latin typeface="Cambria Math" panose="02040503050406030204" pitchFamily="18" charset="0"/>
                                </a:rPr>
                                <m:t>ω</m:t>
                              </m:r>
                            </m:e>
                          </m:bar>
                        </m:e>
                      </m:acc>
                      <m:r>
                        <a:rPr lang="en-US" altLang="zh-CN" i="1">
                          <a:latin typeface="Cambria Math" panose="02040503050406030204" pitchFamily="18" charset="0"/>
                        </a:rPr>
                        <m:t>+</m:t>
                      </m:r>
                      <m:bar>
                        <m:barPr>
                          <m:ctrlPr>
                            <a:rPr lang="zh-CN" altLang="zh-CN" i="1">
                              <a:latin typeface="Cambria Math" panose="02040503050406030204" pitchFamily="18" charset="0"/>
                            </a:rPr>
                          </m:ctrlPr>
                        </m:barPr>
                        <m:e>
                          <m:r>
                            <m:rPr>
                              <m:sty m:val="p"/>
                            </m:rPr>
                            <a:rPr lang="en-US" altLang="zh-CN">
                              <a:latin typeface="Cambria Math" panose="02040503050406030204" pitchFamily="18" charset="0"/>
                            </a:rPr>
                            <m:t>ω</m:t>
                          </m:r>
                        </m:e>
                      </m:ba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𝑐𝑚</m:t>
                          </m:r>
                        </m:sub>
                      </m:sSub>
                      <m:bar>
                        <m:barPr>
                          <m:ctrlPr>
                            <a:rPr lang="zh-CN" altLang="zh-CN" i="1">
                              <a:latin typeface="Cambria Math" panose="02040503050406030204" pitchFamily="18" charset="0"/>
                            </a:rPr>
                          </m:ctrlPr>
                        </m:barPr>
                        <m:e>
                          <m:r>
                            <m:rPr>
                              <m:sty m:val="p"/>
                            </m:rPr>
                            <a:rPr lang="en-US" altLang="zh-CN">
                              <a:latin typeface="Cambria Math" panose="02040503050406030204" pitchFamily="18" charset="0"/>
                            </a:rPr>
                            <m:t>ω</m:t>
                          </m:r>
                        </m:e>
                      </m:bar>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4355976" y="4460026"/>
                <a:ext cx="2488052" cy="382412"/>
              </a:xfrm>
              <a:prstGeom prst="rect">
                <a:avLst/>
              </a:prstGeom>
              <a:blipFill>
                <a:blip r:embed="rId8"/>
                <a:stretch>
                  <a:fillRect/>
                </a:stretch>
              </a:blipFill>
            </p:spPr>
            <p:txBody>
              <a:bodyPr/>
              <a:lstStyle/>
              <a:p>
                <a:r>
                  <a:rPr lang="zh-CN" altLang="en-US">
                    <a:noFill/>
                  </a:rPr>
                  <a:t> </a:t>
                </a:r>
              </a:p>
            </p:txBody>
          </p:sp>
        </mc:Fallback>
      </mc:AlternateContent>
      <p:sp>
        <p:nvSpPr>
          <p:cNvPr id="12" name="圆角矩形 11"/>
          <p:cNvSpPr/>
          <p:nvPr/>
        </p:nvSpPr>
        <p:spPr>
          <a:xfrm>
            <a:off x="2195736" y="4447204"/>
            <a:ext cx="1268208" cy="39523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4278629" y="4460026"/>
            <a:ext cx="2565399" cy="3824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56937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p:nvPr/>
        </p:nvPicPr>
        <p:blipFill>
          <a:blip r:embed="rId3"/>
          <a:stretch>
            <a:fillRect/>
          </a:stretch>
        </p:blipFill>
        <p:spPr>
          <a:xfrm>
            <a:off x="7695131" y="219365"/>
            <a:ext cx="1104314" cy="1848539"/>
          </a:xfrm>
          <a:prstGeom prst="rect">
            <a:avLst/>
          </a:prstGeom>
        </p:spPr>
      </p:pic>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19471" y="2040247"/>
            <a:ext cx="4945017" cy="2862322"/>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在第</a:t>
            </a:r>
            <a:r>
              <a:rPr lang="en-US" altLang="zh-CN" sz="1200" dirty="0">
                <a:latin typeface="Arial" panose="020B0604020202020204" pitchFamily="34" charset="0"/>
                <a:ea typeface="微软雅黑" panose="020B0503020204020204" charset="-122"/>
                <a:sym typeface="+mn-ea"/>
              </a:rPr>
              <a:t>2</a:t>
            </a:r>
            <a:r>
              <a:rPr lang="zh-CN" altLang="en-US" sz="1200" dirty="0">
                <a:latin typeface="Arial" panose="020B0604020202020204" pitchFamily="34" charset="0"/>
                <a:ea typeface="微软雅黑" panose="020B0503020204020204" charset="-122"/>
                <a:sym typeface="+mn-ea"/>
              </a:rPr>
              <a:t>章中，我们将机器人简化成刚体树机器人模型</a:t>
            </a:r>
            <a:r>
              <a:rPr lang="en-US" altLang="zh-CN" sz="1200" dirty="0">
                <a:latin typeface="Arial" panose="020B0604020202020204" pitchFamily="34" charset="0"/>
                <a:ea typeface="微软雅黑" panose="020B0503020204020204" charset="-122"/>
                <a:sym typeface="+mn-ea"/>
              </a:rPr>
              <a:t>(Rigid Body Tree Robot Model)</a:t>
            </a:r>
            <a:r>
              <a:rPr lang="zh-CN" altLang="en-US" sz="1200" dirty="0">
                <a:latin typeface="Arial" panose="020B0604020202020204" pitchFamily="34" charset="0"/>
                <a:ea typeface="微软雅黑" panose="020B0503020204020204" charset="-122"/>
                <a:sym typeface="+mn-ea"/>
              </a:rPr>
              <a:t>。刚体树由通过关节</a:t>
            </a:r>
            <a:r>
              <a:rPr lang="en-US" altLang="zh-CN" sz="1200" dirty="0">
                <a:latin typeface="Arial" panose="020B0604020202020204" pitchFamily="34" charset="0"/>
                <a:ea typeface="微软雅黑" panose="020B0503020204020204" charset="-122"/>
                <a:sym typeface="+mn-ea"/>
              </a:rPr>
              <a:t>(Joint)</a:t>
            </a:r>
            <a:r>
              <a:rPr lang="zh-CN" altLang="en-US" sz="1200" dirty="0">
                <a:latin typeface="Arial" panose="020B0604020202020204" pitchFamily="34" charset="0"/>
                <a:ea typeface="微软雅黑" panose="020B0503020204020204" charset="-122"/>
                <a:sym typeface="+mn-ea"/>
              </a:rPr>
              <a:t>连接的刚体</a:t>
            </a:r>
            <a:r>
              <a:rPr lang="en-US" altLang="zh-CN" sz="1200" dirty="0">
                <a:latin typeface="Arial" panose="020B0604020202020204" pitchFamily="34" charset="0"/>
                <a:ea typeface="微软雅黑" panose="020B0503020204020204" charset="-122"/>
                <a:sym typeface="+mn-ea"/>
              </a:rPr>
              <a:t>(Rigid Body)</a:t>
            </a:r>
            <a:r>
              <a:rPr lang="zh-CN" altLang="en-US" sz="1200" dirty="0">
                <a:latin typeface="Arial" panose="020B0604020202020204" pitchFamily="34" charset="0"/>
                <a:ea typeface="微软雅黑" panose="020B0503020204020204" charset="-122"/>
                <a:sym typeface="+mn-ea"/>
              </a:rPr>
              <a:t>组成，每个刚体连接一个关节，该关节定义了该刚体如何相对于其父节点在树中的运动（旋转或平移）。而机器人的动力学分析，同样可以采用这样的刚体树机器人模型进行分析。</a:t>
            </a:r>
          </a:p>
          <a:p>
            <a:pPr>
              <a:lnSpc>
                <a:spcPct val="150000"/>
              </a:lnSpc>
            </a:pPr>
            <a:r>
              <a:rPr lang="zh-CN" altLang="en-US" sz="1200" dirty="0">
                <a:latin typeface="Arial" panose="020B0604020202020204" pitchFamily="34" charset="0"/>
                <a:ea typeface="微软雅黑" panose="020B0503020204020204" charset="-122"/>
                <a:sym typeface="+mn-ea"/>
              </a:rPr>
              <a:t>基于空间向量表示法的机器人刚体树动力学模型由四部分组成：连接图、连杆和关节几何参数、连杆惯性参数，以及一组关节模型。对于这种模型，还可以加上各种产生力的元件，例如弹簧、阻尼器、关节摩擦、执行器、驱动器等。这些元件中有些属于柔性元件，其动力学问题也会很复杂。本章仅讨论简单刚体树动力学基本模型。</a:t>
            </a:r>
            <a:endParaRPr lang="en-US" altLang="zh-CN" sz="1200" i="1" dirty="0" smtClean="0"/>
          </a:p>
        </p:txBody>
      </p:sp>
      <p:sp>
        <p:nvSpPr>
          <p:cNvPr id="7" name="文本框 6"/>
          <p:cNvSpPr txBox="1"/>
          <p:nvPr/>
        </p:nvSpPr>
        <p:spPr>
          <a:xfrm>
            <a:off x="4019472" y="1209250"/>
            <a:ext cx="3675660" cy="830997"/>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基于空间向量表示法的刚体动力学模型</a:t>
            </a: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06</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951709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Rigid Body Dynamic Model based on 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基于空间向量表示法的刚体动力学模型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741456"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机器人刚体树动力学模型</a:t>
            </a:r>
            <a:endParaRPr lang="zh-CN" altLang="en-US" b="1" dirty="0">
              <a:solidFill>
                <a:srgbClr val="002060"/>
              </a:solidFill>
            </a:endParaRPr>
          </a:p>
        </p:txBody>
      </p:sp>
      <p:pic>
        <p:nvPicPr>
          <p:cNvPr id="8" name="图片 7"/>
          <p:cNvPicPr/>
          <p:nvPr/>
        </p:nvPicPr>
        <p:blipFill>
          <a:blip r:embed="rId3"/>
          <a:stretch>
            <a:fillRect/>
          </a:stretch>
        </p:blipFill>
        <p:spPr>
          <a:xfrm>
            <a:off x="5220072" y="1133627"/>
            <a:ext cx="2457450" cy="3505835"/>
          </a:xfrm>
          <a:prstGeom prst="rect">
            <a:avLst/>
          </a:prstGeom>
        </p:spPr>
      </p:pic>
      <p:sp>
        <p:nvSpPr>
          <p:cNvPr id="2" name="矩形 1"/>
          <p:cNvSpPr/>
          <p:nvPr/>
        </p:nvSpPr>
        <p:spPr>
          <a:xfrm>
            <a:off x="1403648" y="2232642"/>
            <a:ext cx="2632498" cy="1754326"/>
          </a:xfrm>
          <a:prstGeom prst="rect">
            <a:avLst/>
          </a:prstGeom>
        </p:spPr>
        <p:txBody>
          <a:bodyPr wrap="square">
            <a:spAutoFit/>
          </a:bodyPr>
          <a:lstStyle/>
          <a:p>
            <a:r>
              <a:rPr lang="zh-CN" altLang="en-US" dirty="0"/>
              <a:t>基于空间向量表示法的机器人刚体树动力学模型由四部分组成：</a:t>
            </a:r>
            <a:r>
              <a:rPr lang="zh-CN" altLang="en-US" b="1" dirty="0"/>
              <a:t>连接图</a:t>
            </a:r>
            <a:r>
              <a:rPr lang="zh-CN" altLang="en-US" dirty="0"/>
              <a:t>、</a:t>
            </a:r>
            <a:r>
              <a:rPr lang="zh-CN" altLang="en-US" b="1" dirty="0"/>
              <a:t>连杆</a:t>
            </a:r>
            <a:r>
              <a:rPr lang="zh-CN" altLang="en-US" dirty="0"/>
              <a:t>和</a:t>
            </a:r>
            <a:r>
              <a:rPr lang="zh-CN" altLang="en-US" b="1" dirty="0"/>
              <a:t>关节几何参数</a:t>
            </a:r>
            <a:r>
              <a:rPr lang="zh-CN" altLang="en-US" dirty="0"/>
              <a:t>、</a:t>
            </a:r>
            <a:r>
              <a:rPr lang="zh-CN" altLang="en-US" b="1" dirty="0"/>
              <a:t>连杆惯性参数</a:t>
            </a:r>
            <a:r>
              <a:rPr lang="zh-CN" altLang="en-US" dirty="0"/>
              <a:t>，以及一组</a:t>
            </a:r>
            <a:r>
              <a:rPr lang="zh-CN" altLang="en-US" b="1" dirty="0"/>
              <a:t>关节</a:t>
            </a:r>
            <a:r>
              <a:rPr lang="zh-CN" altLang="en-US" b="1" dirty="0" smtClean="0"/>
              <a:t>模型</a:t>
            </a:r>
            <a:endParaRPr lang="zh-CN" altLang="en-US" b="1" dirty="0"/>
          </a:p>
        </p:txBody>
      </p:sp>
      <p:sp>
        <p:nvSpPr>
          <p:cNvPr id="3" name="矩形 2"/>
          <p:cNvSpPr/>
          <p:nvPr/>
        </p:nvSpPr>
        <p:spPr>
          <a:xfrm>
            <a:off x="533165" y="1449215"/>
            <a:ext cx="3960315" cy="369332"/>
          </a:xfrm>
          <a:prstGeom prst="rect">
            <a:avLst/>
          </a:prstGeom>
        </p:spPr>
        <p:txBody>
          <a:bodyPr wrap="none">
            <a:spAutoFit/>
          </a:bodyPr>
          <a:lstStyle/>
          <a:p>
            <a:r>
              <a:rPr lang="en-US" altLang="zh-CN" dirty="0">
                <a:latin typeface="Calibri" panose="020F0502020204030204" pitchFamily="34" charset="0"/>
                <a:cs typeface="Times New Roman" panose="02020603050405020304" pitchFamily="18" charset="0"/>
              </a:rPr>
              <a:t>Roy </a:t>
            </a:r>
            <a:r>
              <a:rPr lang="en-US" altLang="zh-CN" dirty="0" smtClean="0">
                <a:latin typeface="Calibri" panose="020F0502020204030204" pitchFamily="34" charset="0"/>
                <a:cs typeface="Times New Roman" panose="02020603050405020304" pitchFamily="18" charset="0"/>
              </a:rPr>
              <a:t>Featherstone</a:t>
            </a:r>
            <a:r>
              <a:rPr lang="en-US" altLang="zh-CN" dirty="0">
                <a:latin typeface="Calibri" panose="020F0502020204030204" pitchFamily="34" charset="0"/>
                <a:cs typeface="Times New Roman" panose="02020603050405020304" pitchFamily="18" charset="0"/>
              </a:rPr>
              <a:t>:</a:t>
            </a:r>
            <a:r>
              <a:rPr lang="zh-CN" altLang="zh-CN" dirty="0" smtClean="0">
                <a:latin typeface="Calibri" panose="020F0502020204030204" pitchFamily="34" charset="0"/>
                <a:cs typeface="Times New Roman" panose="02020603050405020304" pitchFamily="18" charset="0"/>
              </a:rPr>
              <a:t>《刚体动力学算法》</a:t>
            </a:r>
            <a:endParaRPr lang="zh-CN" altLang="en-US" dirty="0"/>
          </a:p>
        </p:txBody>
      </p:sp>
      <p:sp>
        <p:nvSpPr>
          <p:cNvPr id="6" name="矩形 5"/>
          <p:cNvSpPr/>
          <p:nvPr/>
        </p:nvSpPr>
        <p:spPr>
          <a:xfrm>
            <a:off x="5184532" y="4713506"/>
            <a:ext cx="2492990"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人形机器人连接图实例</a:t>
            </a:r>
            <a:endParaRPr lang="zh-CN" altLang="en-US" dirty="0"/>
          </a:p>
        </p:txBody>
      </p:sp>
    </p:spTree>
    <p:extLst>
      <p:ext uri="{BB962C8B-B14F-4D97-AF65-F5344CB8AC3E}">
        <p14:creationId xmlns:p14="http://schemas.microsoft.com/office/powerpoint/2010/main" val="38123703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Rigid Body Dynamic Model based on 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基于空间向量表示法的刚体动力学模型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741456"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机器人刚体树动力学模型</a:t>
            </a:r>
            <a:endParaRPr lang="zh-CN" altLang="en-US" b="1" dirty="0">
              <a:solidFill>
                <a:srgbClr val="002060"/>
              </a:solidFill>
            </a:endParaRPr>
          </a:p>
        </p:txBody>
      </p:sp>
      <p:sp>
        <p:nvSpPr>
          <p:cNvPr id="3" name="矩形 2"/>
          <p:cNvSpPr/>
          <p:nvPr/>
        </p:nvSpPr>
        <p:spPr>
          <a:xfrm>
            <a:off x="533165" y="1449215"/>
            <a:ext cx="3960315" cy="369332"/>
          </a:xfrm>
          <a:prstGeom prst="rect">
            <a:avLst/>
          </a:prstGeom>
        </p:spPr>
        <p:txBody>
          <a:bodyPr wrap="none">
            <a:spAutoFit/>
          </a:bodyPr>
          <a:lstStyle/>
          <a:p>
            <a:r>
              <a:rPr lang="en-US" altLang="zh-CN" dirty="0">
                <a:latin typeface="Calibri" panose="020F0502020204030204" pitchFamily="34" charset="0"/>
                <a:cs typeface="Times New Roman" panose="02020603050405020304" pitchFamily="18" charset="0"/>
              </a:rPr>
              <a:t>Roy </a:t>
            </a:r>
            <a:r>
              <a:rPr lang="en-US" altLang="zh-CN" dirty="0" smtClean="0">
                <a:latin typeface="Calibri" panose="020F0502020204030204" pitchFamily="34" charset="0"/>
                <a:cs typeface="Times New Roman" panose="02020603050405020304" pitchFamily="18" charset="0"/>
              </a:rPr>
              <a:t>Featherstone</a:t>
            </a:r>
            <a:r>
              <a:rPr lang="en-US" altLang="zh-CN" dirty="0">
                <a:latin typeface="Calibri" panose="020F0502020204030204" pitchFamily="34" charset="0"/>
                <a:cs typeface="Times New Roman" panose="02020603050405020304" pitchFamily="18" charset="0"/>
              </a:rPr>
              <a:t>:</a:t>
            </a:r>
            <a:r>
              <a:rPr lang="zh-CN" altLang="zh-CN" dirty="0" smtClean="0">
                <a:latin typeface="Calibri" panose="020F0502020204030204" pitchFamily="34" charset="0"/>
                <a:cs typeface="Times New Roman" panose="02020603050405020304" pitchFamily="18" charset="0"/>
              </a:rPr>
              <a:t>《刚体动力学算法》</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2606789" y="2208179"/>
                <a:ext cx="3223062" cy="4415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𝑖</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𝜆</m:t>
                                      </m:r>
                                    </m:e>
                                    <m:sub>
                                      <m:r>
                                        <a:rPr lang="zh-CN" altLang="en-US" i="1">
                                          <a:latin typeface="Cambria Math" panose="02040503050406030204" pitchFamily="18" charset="0"/>
                                        </a:rPr>
                                        <m:t>𝑖</m:t>
                                      </m:r>
                                    </m:sub>
                                  </m:sSub>
                                </m:sub>
                              </m:sSub>
                            </m:e>
                          </m:sPre>
                          <m:r>
                            <a:rPr lang="zh-CN" altLang="en-US" i="0">
                              <a:latin typeface="Cambria Math" panose="02040503050406030204" pitchFamily="18" charset="0"/>
                            </a:rPr>
                            <m:t>=</m:t>
                          </m:r>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𝑖</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𝑖</m:t>
                                      </m:r>
                                    </m:sub>
                                  </m:sSub>
                                </m:sub>
                              </m:sSub>
                            </m:e>
                          </m:sPre>
                          <m:sPre>
                            <m:sPrePr>
                              <m:ctrlPr>
                                <a:rPr lang="zh-CN" altLang="en-US" i="1">
                                  <a:latin typeface="Cambria Math" panose="02040503050406030204" pitchFamily="18" charset="0"/>
                                </a:rPr>
                              </m:ctrlPr>
                            </m:sPrePr>
                            <m:sub/>
                            <m:sup>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𝑖</m:t>
                                  </m:r>
                                </m:sub>
                              </m:sSub>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sSub>
                                    <m:sSubPr>
                                      <m:ctrlPr>
                                        <a:rPr lang="zh-CN" altLang="en-US" i="1">
                                          <a:latin typeface="Cambria Math" panose="02040503050406030204" pitchFamily="18" charset="0"/>
                                        </a:rPr>
                                      </m:ctrlPr>
                                    </m:sSubPr>
                                    <m:e>
                                      <m:r>
                                        <a:rPr lang="zh-CN" altLang="en-US" i="1">
                                          <a:latin typeface="Cambria Math" panose="02040503050406030204" pitchFamily="18" charset="0"/>
                                        </a:rPr>
                                        <m:t>𝜆</m:t>
                                      </m:r>
                                    </m:e>
                                    <m:sub>
                                      <m:r>
                                        <a:rPr lang="zh-CN" altLang="en-US" i="1">
                                          <a:latin typeface="Cambria Math" panose="02040503050406030204" pitchFamily="18" charset="0"/>
                                        </a:rPr>
                                        <m:t>𝑖</m:t>
                                      </m:r>
                                    </m:sub>
                                  </m:sSub>
                                </m:sub>
                              </m:sSub>
                            </m:e>
                          </m:sPre>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r>
                                <a:rPr lang="zh-CN" altLang="en-US" i="1">
                                  <a:latin typeface="Cambria Math" panose="02040503050406030204" pitchFamily="18" charset="0"/>
                                </a:rPr>
                                <m:t>𝐽</m:t>
                              </m:r>
                            </m:sub>
                          </m:sSub>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r>
                                <a:rPr lang="zh-CN" altLang="en-US" i="1">
                                  <a:latin typeface="Cambria Math" panose="02040503050406030204" pitchFamily="18" charset="0"/>
                                </a:rPr>
                                <m:t>𝐿</m:t>
                              </m:r>
                            </m:sub>
                          </m:sSub>
                          <m:r>
                            <a:rPr lang="zh-CN" altLang="en-US" i="0">
                              <a:latin typeface="Cambria Math" panose="02040503050406030204" pitchFamily="18" charset="0"/>
                            </a:rPr>
                            <m:t>(</m:t>
                          </m:r>
                          <m:r>
                            <a:rPr lang="zh-CN" altLang="en-US" i="1">
                              <a:latin typeface="Cambria Math" panose="02040503050406030204" pitchFamily="18" charset="0"/>
                            </a:rPr>
                            <m:t>𝑖</m:t>
                          </m:r>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2606789" y="2208179"/>
                <a:ext cx="3223062" cy="441596"/>
              </a:xfrm>
              <a:prstGeom prst="rect">
                <a:avLst/>
              </a:prstGeom>
              <a:blipFill>
                <a:blip r:embed="rId3"/>
                <a:stretch>
                  <a:fillRect t="-135616" r="-19508" b="-20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992630" y="3160600"/>
                <a:ext cx="4572000" cy="954236"/>
              </a:xfrm>
              <a:prstGeom prst="rect">
                <a:avLst/>
              </a:prstGeom>
            </p:spPr>
            <p:txBody>
              <a:bodyPr>
                <a:spAutoFit/>
              </a:bodyPr>
              <a:lstStyle/>
              <a:p>
                <a:pPr indent="266700">
                  <a:spcBef>
                    <a:spcPts val="600"/>
                  </a:spcBef>
                  <a:spcAft>
                    <a:spcPts val="600"/>
                  </a:spcAft>
                </a:pPr>
                <a:r>
                  <a:rPr lang="zh-CN" altLang="zh-CN" sz="1600" dirty="0">
                    <a:cs typeface="MV Boli" panose="02000500030200090000" pitchFamily="2" charset="0"/>
                  </a:rPr>
                  <a:t>关节和连杆的几何参数使用</a:t>
                </a:r>
                <a:r>
                  <a:rPr lang="en-US" altLang="zh-CN" sz="1600" dirty="0">
                    <a:cs typeface="MV Boli" panose="02000500030200090000" pitchFamily="2" charset="0"/>
                  </a:rPr>
                  <a:t>MDH</a:t>
                </a:r>
                <a:r>
                  <a:rPr lang="zh-CN" altLang="zh-CN" sz="1600" dirty="0">
                    <a:cs typeface="MV Boli" panose="02000500030200090000" pitchFamily="2" charset="0"/>
                  </a:rPr>
                  <a:t>表示法获取，坐标变换矩阵</a:t>
                </a:r>
                <a14:m>
                  <m:oMath xmlns:m="http://schemas.openxmlformats.org/officeDocument/2006/math">
                    <m:sPre>
                      <m:sPrePr>
                        <m:ctrlPr>
                          <a:rPr lang="zh-CN" altLang="zh-CN" sz="1600" i="1">
                            <a:latin typeface="Cambria Math" panose="02040503050406030204" pitchFamily="18" charset="0"/>
                            <a:cs typeface="MV Boli" panose="02000500030200090000" pitchFamily="2" charset="0"/>
                          </a:rPr>
                        </m:ctrlPr>
                      </m:sPrePr>
                      <m:sub/>
                      <m:sup>
                        <m:r>
                          <a:rPr lang="en-US" altLang="zh-CN" sz="1600">
                            <a:latin typeface="Cambria Math" panose="02040503050406030204" pitchFamily="18" charset="0"/>
                            <a:cs typeface="MV Boli" panose="02000500030200090000" pitchFamily="2" charset="0"/>
                          </a:rPr>
                          <m:t>𝑖</m:t>
                        </m:r>
                      </m:sup>
                      <m:e>
                        <m:sSub>
                          <m:sSubPr>
                            <m:ctrlPr>
                              <a:rPr lang="zh-CN" altLang="zh-CN" sz="1600" i="1">
                                <a:latin typeface="Cambria Math" panose="02040503050406030204" pitchFamily="18" charset="0"/>
                                <a:cs typeface="MV Boli" panose="02000500030200090000" pitchFamily="2" charset="0"/>
                              </a:rPr>
                            </m:ctrlPr>
                          </m:sSubPr>
                          <m:e>
                            <m:r>
                              <a:rPr lang="en-US" altLang="zh-CN" sz="1600">
                                <a:latin typeface="Cambria Math" panose="02040503050406030204" pitchFamily="18" charset="0"/>
                                <a:cs typeface="MV Boli" panose="02000500030200090000" pitchFamily="2" charset="0"/>
                              </a:rPr>
                              <m:t>𝑋</m:t>
                            </m:r>
                          </m:e>
                          <m:sub>
                            <m:sSub>
                              <m:sSubPr>
                                <m:ctrlPr>
                                  <a:rPr lang="zh-CN" altLang="zh-CN" sz="1600" i="1">
                                    <a:latin typeface="Cambria Math" panose="02040503050406030204" pitchFamily="18" charset="0"/>
                                    <a:cs typeface="MV Boli" panose="02000500030200090000" pitchFamily="2" charset="0"/>
                                  </a:rPr>
                                </m:ctrlPr>
                              </m:sSubPr>
                              <m:e>
                                <m:r>
                                  <a:rPr lang="en-US" altLang="zh-CN" sz="1600">
                                    <a:latin typeface="Cambria Math" panose="02040503050406030204" pitchFamily="18" charset="0"/>
                                    <a:cs typeface="MV Boli" panose="02000500030200090000" pitchFamily="2" charset="0"/>
                                  </a:rPr>
                                  <m:t>𝜆</m:t>
                                </m:r>
                              </m:e>
                              <m:sub>
                                <m:r>
                                  <a:rPr lang="en-US" altLang="zh-CN" sz="1600">
                                    <a:latin typeface="Cambria Math" panose="02040503050406030204" pitchFamily="18" charset="0"/>
                                    <a:cs typeface="MV Boli" panose="02000500030200090000" pitchFamily="2" charset="0"/>
                                  </a:rPr>
                                  <m:t>𝑖</m:t>
                                </m:r>
                              </m:sub>
                            </m:sSub>
                          </m:sub>
                        </m:sSub>
                      </m:e>
                    </m:sPre>
                  </m:oMath>
                </a14:m>
                <a:r>
                  <a:rPr lang="zh-CN" altLang="zh-CN" sz="1600" dirty="0">
                    <a:cs typeface="MV Boli" panose="02000500030200090000" pitchFamily="2" charset="0"/>
                  </a:rPr>
                  <a:t>通过公式（</a:t>
                </a:r>
                <a:r>
                  <a:rPr lang="en-US" altLang="zh-CN" sz="1600" dirty="0" smtClean="0">
                    <a:cs typeface="MV Boli" panose="02000500030200090000" pitchFamily="2" charset="0"/>
                  </a:rPr>
                  <a:t>4-51</a:t>
                </a:r>
                <a:r>
                  <a:rPr lang="zh-CN" altLang="zh-CN" sz="1600" dirty="0" smtClean="0">
                    <a:cs typeface="MV Boli" panose="02000500030200090000" pitchFamily="2" charset="0"/>
                  </a:rPr>
                  <a:t>）</a:t>
                </a:r>
                <a:r>
                  <a:rPr lang="zh-CN" altLang="zh-CN" sz="1600" dirty="0">
                    <a:cs typeface="MV Boli" panose="02000500030200090000" pitchFamily="2" charset="0"/>
                  </a:rPr>
                  <a:t>计算。</a:t>
                </a:r>
              </a:p>
              <a:p>
                <a:r>
                  <a:rPr lang="en-US" altLang="zh-CN" sz="1600" dirty="0">
                    <a:cs typeface="MV Boli" panose="02000500030200090000" pitchFamily="2" charset="0"/>
                  </a:rPr>
                  <a:t> </a:t>
                </a:r>
                <a:r>
                  <a:rPr lang="en-US" altLang="zh-CN" sz="1600" dirty="0" smtClean="0">
                    <a:cs typeface="MV Boli" panose="02000500030200090000" pitchFamily="2" charset="0"/>
                  </a:rPr>
                  <a:t>    </a:t>
                </a:r>
                <a:r>
                  <a:rPr lang="zh-CN" altLang="zh-CN" sz="1600" dirty="0" smtClean="0">
                    <a:cs typeface="MV Boli" panose="02000500030200090000" pitchFamily="2" charset="0"/>
                  </a:rPr>
                  <a:t>连杆</a:t>
                </a:r>
                <a:r>
                  <a:rPr lang="zh-CN" altLang="zh-CN" sz="1600" dirty="0">
                    <a:cs typeface="MV Boli" panose="02000500030200090000" pitchFamily="2" charset="0"/>
                  </a:rPr>
                  <a:t>的空间惯量由公式</a:t>
                </a:r>
                <a:r>
                  <a:rPr lang="zh-CN" altLang="zh-CN" sz="1600" dirty="0">
                    <a:latin typeface="Calibri" panose="020F0502020204030204" pitchFamily="34" charset="0"/>
                    <a:cs typeface="Times New Roman" panose="02020603050405020304" pitchFamily="18" charset="0"/>
                  </a:rPr>
                  <a:t>（</a:t>
                </a:r>
                <a:r>
                  <a:rPr lang="en-US" altLang="zh-CN" sz="1600" dirty="0">
                    <a:latin typeface="Calibri" panose="020F0502020204030204" pitchFamily="34" charset="0"/>
                    <a:cs typeface="Times New Roman" panose="02020603050405020304" pitchFamily="18" charset="0"/>
                  </a:rPr>
                  <a:t>4-72</a:t>
                </a:r>
                <a:r>
                  <a:rPr lang="zh-CN" altLang="zh-CN" sz="1600" dirty="0">
                    <a:latin typeface="Calibri" panose="020F0502020204030204" pitchFamily="34" charset="0"/>
                    <a:cs typeface="Times New Roman" panose="02020603050405020304" pitchFamily="18" charset="0"/>
                  </a:rPr>
                  <a:t>）进行计算。</a:t>
                </a:r>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1992630" y="3160600"/>
                <a:ext cx="4572000" cy="954236"/>
              </a:xfrm>
              <a:prstGeom prst="rect">
                <a:avLst/>
              </a:prstGeom>
              <a:blipFill>
                <a:blip r:embed="rId4"/>
                <a:stretch>
                  <a:fillRect l="-800" t="-3185" b="-76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829851" y="3798371"/>
                <a:ext cx="2527680" cy="984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𝑐𝑚</m:t>
                          </m:r>
                        </m:sub>
                      </m:sSub>
                      <m:r>
                        <a:rPr lang="zh-CN" altLang="en-US" i="0">
                          <a:latin typeface="Cambria Math" panose="02040503050406030204" pitchFamily="18" charset="0"/>
                        </a:rPr>
                        <m:t>=</m:t>
                      </m:r>
                      <m:d>
                        <m:dPr>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𝑥𝑧</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𝑦𝑧</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𝑥𝑧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𝑦𝑧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𝐼</m:t>
                                    </m:r>
                                  </m:e>
                                  <m:sub>
                                    <m:r>
                                      <a:rPr lang="zh-CN" altLang="en-US" i="1">
                                        <a:latin typeface="Cambria Math" panose="02040503050406030204" pitchFamily="18" charset="0"/>
                                      </a:rPr>
                                      <m:t>𝑧𝑧</m:t>
                                    </m:r>
                                  </m:sub>
                                </m:sSub>
                              </m:e>
                            </m:mr>
                          </m:m>
                        </m:e>
                      </m:d>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5829851" y="3798371"/>
                <a:ext cx="2527680" cy="984052"/>
              </a:xfrm>
              <a:prstGeom prst="rect">
                <a:avLst/>
              </a:prstGeom>
              <a:blipFill>
                <a:blip r:embed="rId5"/>
                <a:stretch>
                  <a:fillRect/>
                </a:stretch>
              </a:blipFill>
            </p:spPr>
            <p:txBody>
              <a:bodyPr/>
              <a:lstStyle/>
              <a:p>
                <a:r>
                  <a:rPr lang="zh-CN" altLang="en-US">
                    <a:noFill/>
                  </a:rPr>
                  <a:t> </a:t>
                </a:r>
              </a:p>
            </p:txBody>
          </p:sp>
        </mc:Fallback>
      </mc:AlternateContent>
      <p:sp>
        <p:nvSpPr>
          <p:cNvPr id="9" name="矩形 8"/>
          <p:cNvSpPr/>
          <p:nvPr/>
        </p:nvSpPr>
        <p:spPr>
          <a:xfrm>
            <a:off x="3147973" y="1845991"/>
            <a:ext cx="2274982" cy="369332"/>
          </a:xfrm>
          <a:prstGeom prst="rect">
            <a:avLst/>
          </a:prstGeom>
        </p:spPr>
        <p:txBody>
          <a:bodyPr wrap="none">
            <a:spAutoFit/>
          </a:bodyPr>
          <a:lstStyle/>
          <a:p>
            <a:r>
              <a:rPr lang="zh-CN" altLang="en-US" b="1" dirty="0"/>
              <a:t>连杆</a:t>
            </a:r>
            <a:r>
              <a:rPr lang="zh-CN" altLang="en-US" dirty="0"/>
              <a:t>和</a:t>
            </a:r>
            <a:r>
              <a:rPr lang="zh-CN" altLang="en-US" b="1" dirty="0"/>
              <a:t>关节几何参数</a:t>
            </a:r>
            <a:endParaRPr lang="zh-CN" altLang="en-US" dirty="0"/>
          </a:p>
        </p:txBody>
      </p:sp>
    </p:spTree>
    <p:extLst>
      <p:ext uri="{BB962C8B-B14F-4D97-AF65-F5344CB8AC3E}">
        <p14:creationId xmlns:p14="http://schemas.microsoft.com/office/powerpoint/2010/main" val="25338550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Rigid Body Dynamic Model based on 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基于空间向量表示法的刚体动力学模型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2741456"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机器人刚体树动力学模型</a:t>
            </a:r>
            <a:endParaRPr lang="zh-CN" altLang="en-US" b="1" dirty="0">
              <a:solidFill>
                <a:srgbClr val="002060"/>
              </a:solidFill>
            </a:endParaRPr>
          </a:p>
        </p:txBody>
      </p:sp>
      <p:sp>
        <p:nvSpPr>
          <p:cNvPr id="3" name="矩形 2"/>
          <p:cNvSpPr/>
          <p:nvPr/>
        </p:nvSpPr>
        <p:spPr>
          <a:xfrm>
            <a:off x="533165" y="1449215"/>
            <a:ext cx="3960315" cy="369332"/>
          </a:xfrm>
          <a:prstGeom prst="rect">
            <a:avLst/>
          </a:prstGeom>
        </p:spPr>
        <p:txBody>
          <a:bodyPr wrap="none">
            <a:spAutoFit/>
          </a:bodyPr>
          <a:lstStyle/>
          <a:p>
            <a:r>
              <a:rPr lang="en-US" altLang="zh-CN" dirty="0">
                <a:latin typeface="Calibri" panose="020F0502020204030204" pitchFamily="34" charset="0"/>
                <a:cs typeface="Times New Roman" panose="02020603050405020304" pitchFamily="18" charset="0"/>
              </a:rPr>
              <a:t>Roy </a:t>
            </a:r>
            <a:r>
              <a:rPr lang="en-US" altLang="zh-CN" dirty="0" smtClean="0">
                <a:latin typeface="Calibri" panose="020F0502020204030204" pitchFamily="34" charset="0"/>
                <a:cs typeface="Times New Roman" panose="02020603050405020304" pitchFamily="18" charset="0"/>
              </a:rPr>
              <a:t>Featherstone</a:t>
            </a:r>
            <a:r>
              <a:rPr lang="en-US" altLang="zh-CN" dirty="0">
                <a:latin typeface="Calibri" panose="020F0502020204030204" pitchFamily="34" charset="0"/>
                <a:cs typeface="Times New Roman" panose="02020603050405020304" pitchFamily="18" charset="0"/>
              </a:rPr>
              <a:t>:</a:t>
            </a:r>
            <a:r>
              <a:rPr lang="zh-CN" altLang="zh-CN" dirty="0" smtClean="0">
                <a:latin typeface="Calibri" panose="020F0502020204030204" pitchFamily="34" charset="0"/>
                <a:cs typeface="Times New Roman" panose="02020603050405020304" pitchFamily="18" charset="0"/>
              </a:rPr>
              <a:t>《刚体动力学算法》</a:t>
            </a:r>
            <a:endParaRPr lang="zh-CN" altLang="en-US" dirty="0"/>
          </a:p>
        </p:txBody>
      </p:sp>
      <p:sp>
        <p:nvSpPr>
          <p:cNvPr id="2" name="矩形 1"/>
          <p:cNvSpPr/>
          <p:nvPr/>
        </p:nvSpPr>
        <p:spPr>
          <a:xfrm>
            <a:off x="2287989" y="1838847"/>
            <a:ext cx="4570482" cy="369332"/>
          </a:xfrm>
          <a:prstGeom prst="rect">
            <a:avLst/>
          </a:prstGeom>
        </p:spPr>
        <p:txBody>
          <a:bodyPr wrap="none">
            <a:spAutoFit/>
          </a:bodyPr>
          <a:lstStyle/>
          <a:p>
            <a:r>
              <a:rPr lang="zh-CN" altLang="en-US" dirty="0"/>
              <a:t>连杆与关节之间速度、加速度以及力的传递</a:t>
            </a:r>
          </a:p>
        </p:txBody>
      </p:sp>
      <p:pic>
        <p:nvPicPr>
          <p:cNvPr id="14" name="图片 13"/>
          <p:cNvPicPr/>
          <p:nvPr/>
        </p:nvPicPr>
        <p:blipFill>
          <a:blip r:embed="rId3"/>
          <a:stretch>
            <a:fillRect/>
          </a:stretch>
        </p:blipFill>
        <p:spPr>
          <a:xfrm>
            <a:off x="2462323" y="2355726"/>
            <a:ext cx="3828415" cy="1790065"/>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755576" y="4293338"/>
                <a:ext cx="4353691" cy="8014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a:latin typeface="Cambria Math" panose="02040503050406030204" pitchFamily="18" charset="0"/>
                                </a:rPr>
                                <m:t>f</m:t>
                              </m:r>
                            </m:e>
                          </m:ba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I</m:t>
                          </m:r>
                        </m:e>
                        <m:sub>
                          <m:r>
                            <a:rPr lang="zh-CN" altLang="en-US" i="1">
                              <a:latin typeface="Cambria Math" panose="02040503050406030204" pitchFamily="18" charset="0"/>
                            </a:rPr>
                            <m:t>𝑖</m:t>
                          </m:r>
                        </m:sub>
                      </m:sSub>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a</m:t>
                              </m:r>
                            </m:e>
                          </m:ba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1">
                              <a:latin typeface="Cambria Math" panose="02040503050406030204" pitchFamily="18" charset="0"/>
                            </a:rPr>
                            <m:t>𝑖</m:t>
                          </m:r>
                        </m:sub>
                      </m:sSub>
                      <m:r>
                        <a:rPr lang="zh-CN" altLang="en-US" i="0">
                          <a:latin typeface="Cambria Math" panose="02040503050406030204" pitchFamily="18" charset="0"/>
                        </a:rPr>
                        <m:t>×</m:t>
                      </m:r>
                      <m:r>
                        <m:rPr>
                          <m:sty m:val="p"/>
                        </m:rPr>
                        <a:rPr lang="zh-CN" altLang="en-US" i="0">
                          <a:latin typeface="Cambria Math" panose="02040503050406030204" pitchFamily="18" charset="0"/>
                        </a:rPr>
                        <m:t>I</m:t>
                      </m:r>
                      <m:sSub>
                        <m:sSubPr>
                          <m:ctrlPr>
                            <a:rPr lang="zh-CN" altLang="en-US" i="1">
                              <a:latin typeface="Cambria Math" panose="02040503050406030204" pitchFamily="18" charset="0"/>
                            </a:rPr>
                          </m:ctrlPr>
                        </m:sSubPr>
                        <m:e>
                          <m:bar>
                            <m:barPr>
                              <m:ctrlPr>
                                <a:rPr lang="zh-CN" altLang="en-US" i="1">
                                  <a:latin typeface="Cambria Math" panose="02040503050406030204" pitchFamily="18" charset="0"/>
                                </a:rPr>
                              </m:ctrlPr>
                            </m:barPr>
                            <m:e>
                              <m:r>
                                <m:rPr>
                                  <m:sty m:val="p"/>
                                </m:rPr>
                                <a:rPr lang="zh-CN" altLang="en-US" i="0">
                                  <a:latin typeface="Cambria Math" panose="02040503050406030204" pitchFamily="18" charset="0"/>
                                </a:rPr>
                                <m:t>v</m:t>
                              </m:r>
                            </m:e>
                          </m:bar>
                        </m:e>
                        <m:sub>
                          <m:r>
                            <a:rPr lang="zh-CN" altLang="en-US" i="1">
                              <a:latin typeface="Cambria Math" panose="02040503050406030204" pitchFamily="18" charset="0"/>
                            </a:rPr>
                            <m:t>𝑖</m:t>
                          </m:r>
                        </m:sub>
                      </m:sSub>
                      <m:r>
                        <a:rPr lang="zh-CN" altLang="en-US" i="0">
                          <a:latin typeface="Cambria Math" panose="02040503050406030204" pitchFamily="18" charset="0"/>
                        </a:rPr>
                        <m:t>−</m:t>
                      </m:r>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𝑖</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𝑋</m:t>
                              </m:r>
                            </m:e>
                            <m:sub>
                              <m:r>
                                <a:rPr lang="zh-CN" altLang="en-US" i="0">
                                  <a:latin typeface="Cambria Math" panose="02040503050406030204" pitchFamily="18" charset="0"/>
                                </a:rPr>
                                <m:t>0</m:t>
                              </m:r>
                            </m:sub>
                            <m:sup>
                              <m:r>
                                <a:rPr lang="zh-CN" altLang="en-US" i="0">
                                  <a:latin typeface="Cambria Math" panose="02040503050406030204" pitchFamily="18" charset="0"/>
                                </a:rPr>
                                <m:t>−</m:t>
                              </m:r>
                              <m:r>
                                <a:rPr lang="zh-CN" altLang="en-US" i="1">
                                  <a:latin typeface="Cambria Math" panose="02040503050406030204" pitchFamily="18" charset="0"/>
                                </a:rPr>
                                <m:t>𝑇</m:t>
                              </m:r>
                            </m:sup>
                          </m:sSubSup>
                        </m:e>
                      </m:sPre>
                      <m:sSubSup>
                        <m:sSubSupPr>
                          <m:ctrlPr>
                            <a:rPr lang="zh-CN" altLang="en-US" i="1">
                              <a:latin typeface="Cambria Math" panose="02040503050406030204" pitchFamily="18" charset="0"/>
                            </a:rPr>
                          </m:ctrlPr>
                        </m:sSubSup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0</m:t>
                              </m:r>
                            </m:sup>
                            <m:e>
                              <m:r>
                                <m:rPr>
                                  <m:sty m:val="p"/>
                                </m:rPr>
                                <a:rPr lang="zh-CN" altLang="en-US" i="0">
                                  <a:latin typeface="Cambria Math" panose="02040503050406030204" pitchFamily="18" charset="0"/>
                                </a:rPr>
                                <m:t>f</m:t>
                              </m:r>
                            </m:e>
                          </m:sPre>
                        </m:e>
                        <m:sub>
                          <m:r>
                            <a:rPr lang="zh-CN" altLang="en-US" i="1">
                              <a:latin typeface="Cambria Math" panose="02040503050406030204" pitchFamily="18" charset="0"/>
                            </a:rPr>
                            <m:t>𝑖</m:t>
                          </m:r>
                        </m:sub>
                        <m:sup>
                          <m:r>
                            <a:rPr lang="zh-CN" altLang="en-US" i="1">
                              <a:latin typeface="Cambria Math" panose="02040503050406030204" pitchFamily="18" charset="0"/>
                            </a:rPr>
                            <m:t>𝑒𝑥𝑡</m:t>
                          </m:r>
                        </m:sup>
                      </m:sSubSup>
                      <m:r>
                        <a:rPr lang="zh-CN" altLang="en-US" i="0">
                          <a:latin typeface="Cambria Math" panose="02040503050406030204" pitchFamily="18" charset="0"/>
                        </a:rPr>
                        <m:t>+</m:t>
                      </m:r>
                      <m:nary>
                        <m:naryPr>
                          <m:chr m:val="∑"/>
                          <m:limLoc m:val="undOvr"/>
                          <m:supHide m:val="on"/>
                          <m:ctrlPr>
                            <a:rPr lang="zh-CN" altLang="en-US" i="1">
                              <a:latin typeface="Cambria Math" panose="02040503050406030204" pitchFamily="18" charset="0"/>
                            </a:rPr>
                          </m:ctrlPr>
                        </m:naryPr>
                        <m:sub>
                          <m:d>
                            <m:dPr>
                              <m:begChr m:val=""/>
                              <m:ctrlPr>
                                <a:rPr lang="zh-CN" altLang="en-US" i="1">
                                  <a:latin typeface="Cambria Math" panose="02040503050406030204" pitchFamily="18" charset="0"/>
                                </a:rPr>
                              </m:ctrlPr>
                            </m:dPr>
                            <m:e>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1">
                                  <a:latin typeface="Cambria Math" panose="02040503050406030204" pitchFamily="18" charset="0"/>
                                </a:rPr>
                                <m:t>𝑐</m:t>
                              </m:r>
                              <m:r>
                                <a:rPr lang="zh-CN" altLang="en-US" i="0">
                                  <a:latin typeface="Cambria Math" panose="02040503050406030204" pitchFamily="18" charset="0"/>
                                </a:rPr>
                                <m:t>(</m:t>
                              </m:r>
                              <m:r>
                                <a:rPr lang="zh-CN" altLang="en-US" i="1">
                                  <a:latin typeface="Cambria Math" panose="02040503050406030204" pitchFamily="18" charset="0"/>
                                </a:rPr>
                                <m:t>𝑖</m:t>
                              </m:r>
                            </m:e>
                          </m:d>
                        </m:sub>
                        <m:sup/>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f</m:t>
                              </m:r>
                            </m:e>
                            <m:sub>
                              <m:r>
                                <a:rPr lang="zh-CN" altLang="en-US" i="1">
                                  <a:latin typeface="Cambria Math" panose="02040503050406030204" pitchFamily="18" charset="0"/>
                                </a:rPr>
                                <m:t>𝑗</m:t>
                              </m:r>
                            </m:sub>
                          </m:sSub>
                        </m:e>
                      </m:nary>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755576" y="4293338"/>
                <a:ext cx="4353691" cy="80143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6084168" y="4491309"/>
                <a:ext cx="1232197" cy="405496"/>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MV Boli" panose="02000500030200090000" pitchFamily="2" charset="0"/>
                          </a:rPr>
                        </m:ctrlPr>
                      </m:sSubPr>
                      <m:e>
                        <m:r>
                          <a:rPr lang="en-US" altLang="zh-CN" i="1">
                            <a:latin typeface="Cambria Math" panose="02040503050406030204" pitchFamily="18" charset="0"/>
                            <a:cs typeface="MV Boli" panose="02000500030200090000" pitchFamily="2" charset="0"/>
                          </a:rPr>
                          <m:t>𝜏</m:t>
                        </m:r>
                      </m:e>
                      <m:sub>
                        <m:r>
                          <a:rPr lang="en-US" altLang="zh-CN" i="1">
                            <a:latin typeface="Cambria Math" panose="02040503050406030204" pitchFamily="18" charset="0"/>
                            <a:cs typeface="MV Boli" panose="02000500030200090000" pitchFamily="2" charset="0"/>
                          </a:rPr>
                          <m:t>𝑖</m:t>
                        </m:r>
                      </m:sub>
                    </m:sSub>
                    <m:r>
                      <a:rPr lang="en-US" altLang="zh-CN" i="1">
                        <a:latin typeface="Cambria Math" panose="02040503050406030204" pitchFamily="18" charset="0"/>
                        <a:cs typeface="MV Boli" panose="02000500030200090000" pitchFamily="2" charset="0"/>
                      </a:rPr>
                      <m:t>=</m:t>
                    </m:r>
                    <m:sSup>
                      <m:sSup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sSupPr>
                      <m:e>
                        <m:sSub>
                          <m:sSub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i="1">
                                <a:latin typeface="Cambria Math" panose="02040503050406030204" pitchFamily="18" charset="0"/>
                                <a:cs typeface="MV Boli" panose="02000500030200090000" pitchFamily="2" charset="0"/>
                              </a:rPr>
                              <m:t>𝑆</m:t>
                            </m:r>
                          </m:e>
                          <m:sub>
                            <m:r>
                              <a:rPr lang="en-US" altLang="zh-CN" i="1">
                                <a:latin typeface="Cambria Math" panose="02040503050406030204" pitchFamily="18" charset="0"/>
                                <a:cs typeface="MV Boli" panose="02000500030200090000" pitchFamily="2" charset="0"/>
                              </a:rPr>
                              <m:t>𝑖</m:t>
                            </m:r>
                          </m:sub>
                        </m:sSub>
                      </m:e>
                      <m:sup>
                        <m:r>
                          <a:rPr lang="en-US" altLang="zh-CN" i="1">
                            <a:latin typeface="Cambria Math" panose="02040503050406030204" pitchFamily="18" charset="0"/>
                            <a:cs typeface="MV Boli" panose="02000500030200090000" pitchFamily="2" charset="0"/>
                          </a:rPr>
                          <m:t>𝑇</m:t>
                        </m:r>
                      </m:sup>
                    </m:sSup>
                    <m:sSub>
                      <m:sSub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sSubPr>
                      <m:e>
                        <m:bar>
                          <m:bar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barPr>
                          <m:e>
                            <m:r>
                              <m:rPr>
                                <m:sty m:val="p"/>
                              </m:rPr>
                              <a:rPr lang="en-US" altLang="zh-CN">
                                <a:latin typeface="Cambria Math" panose="02040503050406030204" pitchFamily="18" charset="0"/>
                                <a:cs typeface="MV Boli" panose="02000500030200090000" pitchFamily="2" charset="0"/>
                              </a:rPr>
                              <m:t>f</m:t>
                            </m:r>
                          </m:e>
                        </m:bar>
                      </m:e>
                      <m:sub>
                        <m:r>
                          <a:rPr lang="en-US" altLang="zh-CN" i="1">
                            <a:latin typeface="Cambria Math" panose="02040503050406030204" pitchFamily="18" charset="0"/>
                            <a:cs typeface="MV Boli" panose="02000500030200090000" pitchFamily="2" charset="0"/>
                          </a:rPr>
                          <m:t>𝑖</m:t>
                        </m:r>
                      </m:sub>
                    </m:sSub>
                  </m:oMath>
                </a14:m>
                <a:r>
                  <a:rPr lang="en-US" altLang="zh-CN" dirty="0">
                    <a:latin typeface="宋体" panose="02010600030101010101" pitchFamily="2" charset="-122"/>
                    <a:cs typeface="MV Boli" panose="02000500030200090000" pitchFamily="2" charset="0"/>
                  </a:rPr>
                  <a:t> </a:t>
                </a:r>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6084168" y="4491309"/>
                <a:ext cx="1232197" cy="40549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624228" y="3778854"/>
                <a:ext cx="1576394" cy="276999"/>
              </a:xfrm>
              <a:prstGeom prst="rect">
                <a:avLst/>
              </a:prstGeom>
            </p:spPr>
            <p:txBody>
              <a:bodyPr wrap="none">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latin typeface="Cambria Math" panose="02040503050406030204" pitchFamily="18" charset="0"/>
                            <a:cs typeface="MV Boli" panose="02000500030200090000" pitchFamily="2" charset="0"/>
                          </a:rPr>
                          <m:t>𝑆</m:t>
                        </m:r>
                      </m:e>
                      <m:sub>
                        <m:r>
                          <a:rPr lang="en-US" altLang="zh-CN" sz="1200" i="1">
                            <a:latin typeface="Cambria Math" panose="02040503050406030204" pitchFamily="18" charset="0"/>
                            <a:cs typeface="MV Boli" panose="02000500030200090000" pitchFamily="2" charset="0"/>
                          </a:rPr>
                          <m:t>𝑖</m:t>
                        </m:r>
                      </m:sub>
                    </m:sSub>
                  </m:oMath>
                </a14:m>
                <a:r>
                  <a:rPr lang="zh-CN" altLang="zh-CN" sz="1200" dirty="0">
                    <a:cs typeface="MV Boli" panose="02000500030200090000" pitchFamily="2" charset="0"/>
                  </a:rPr>
                  <a:t>为关节</a:t>
                </a:r>
                <a:r>
                  <a:rPr lang="en-US" altLang="zh-CN" sz="1200" dirty="0" err="1">
                    <a:cs typeface="MV Boli" panose="02000500030200090000" pitchFamily="2" charset="0"/>
                  </a:rPr>
                  <a:t>i</a:t>
                </a:r>
                <a:r>
                  <a:rPr lang="zh-CN" altLang="zh-CN" sz="1200" dirty="0">
                    <a:cs typeface="MV Boli" panose="02000500030200090000" pitchFamily="2" charset="0"/>
                  </a:rPr>
                  <a:t>的运动矩阵</a:t>
                </a:r>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6624228" y="3778854"/>
                <a:ext cx="1576394" cy="276999"/>
              </a:xfrm>
              <a:prstGeom prst="rect">
                <a:avLst/>
              </a:prstGeom>
              <a:blipFill>
                <a:blip r:embed="rId6"/>
                <a:stretch>
                  <a:fillRect t="-4444" b="-20000"/>
                </a:stretch>
              </a:blipFill>
            </p:spPr>
            <p:txBody>
              <a:bodyPr/>
              <a:lstStyle/>
              <a:p>
                <a:r>
                  <a:rPr lang="zh-CN" altLang="en-US">
                    <a:noFill/>
                  </a:rPr>
                  <a:t> </a:t>
                </a:r>
              </a:p>
            </p:txBody>
          </p:sp>
        </mc:Fallback>
      </mc:AlternateContent>
      <p:sp>
        <p:nvSpPr>
          <p:cNvPr id="11" name="圆角矩形 10"/>
          <p:cNvSpPr/>
          <p:nvPr/>
        </p:nvSpPr>
        <p:spPr>
          <a:xfrm>
            <a:off x="755576" y="4293339"/>
            <a:ext cx="4464496" cy="8014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5580112" y="4293338"/>
            <a:ext cx="2088232" cy="8014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3830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724831"/>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利用空间向量法将递归牛顿</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欧拉逆动力学推广到多刚体递归牛顿</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欧拉逆动力学一般算法：根据连杆之间通过关节进行的传递，可以将该算法分为两个步骤去进行递归求解：第一步进行二阶正运动学的正向传递计算，计算连杆的空间运动方程；第二步通过力向量公式反向传递，计算关节力和力矩。</a:t>
            </a:r>
            <a:endParaRPr lang="en-US" altLang="zh-CN" sz="1200" i="1" dirty="0" smtClean="0"/>
          </a:p>
        </p:txBody>
      </p:sp>
      <p:sp>
        <p:nvSpPr>
          <p:cNvPr id="7" name="文本框 6"/>
          <p:cNvSpPr txBox="1"/>
          <p:nvPr/>
        </p:nvSpPr>
        <p:spPr>
          <a:xfrm>
            <a:off x="4319270" y="1707654"/>
            <a:ext cx="4285178" cy="830997"/>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基于空间向量表示法的递归牛顿</a:t>
            </a:r>
            <a:r>
              <a:rPr lang="en-US" altLang="zh-CN" sz="2400" b="1" dirty="0">
                <a:latin typeface="Arial" panose="020B0604020202020204" pitchFamily="34" charset="0"/>
                <a:ea typeface="微软雅黑" panose="020B0503020204020204" charset="-122"/>
                <a:sym typeface="+mn-ea"/>
              </a:rPr>
              <a:t>-</a:t>
            </a:r>
            <a:r>
              <a:rPr lang="zh-CN" altLang="en-US" sz="2400" b="1" dirty="0">
                <a:latin typeface="Arial" panose="020B0604020202020204" pitchFamily="34" charset="0"/>
                <a:ea typeface="微软雅黑" panose="020B0503020204020204" charset="-122"/>
                <a:sym typeface="+mn-ea"/>
              </a:rPr>
              <a:t>欧拉逆动力学</a:t>
            </a: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07</a:t>
            </a:r>
            <a:endParaRPr lang="en-US" altLang="zh-CN" sz="6600" b="1" dirty="0">
              <a:solidFill>
                <a:schemeClr val="bg1"/>
              </a:solidFill>
              <a:latin typeface="微软雅黑" panose="020B0503020204020204" charset="-122"/>
              <a:ea typeface="微软雅黑" panose="020B0503020204020204" charset="-122"/>
              <a:sym typeface="+mn-ea"/>
            </a:endParaRPr>
          </a:p>
        </p:txBody>
      </p:sp>
      <p:sp>
        <p:nvSpPr>
          <p:cNvPr id="8" name="矩形 7"/>
          <p:cNvSpPr/>
          <p:nvPr/>
        </p:nvSpPr>
        <p:spPr>
          <a:xfrm>
            <a:off x="1907704" y="4674731"/>
            <a:ext cx="6120680" cy="276999"/>
          </a:xfrm>
          <a:prstGeom prst="rect">
            <a:avLst/>
          </a:prstGeom>
        </p:spPr>
        <p:txBody>
          <a:bodyPr wrap="square">
            <a:spAutoFit/>
          </a:bodyPr>
          <a:lstStyle/>
          <a:p>
            <a:r>
              <a:rPr lang="zh-CN" altLang="en-US" sz="1200" dirty="0"/>
              <a:t>https://github.com/mhuasong/Basics-of-Robotics-Theory-and-Technology/tree/main/ch4</a:t>
            </a:r>
          </a:p>
        </p:txBody>
      </p:sp>
    </p:spTree>
    <p:extLst>
      <p:ext uri="{BB962C8B-B14F-4D97-AF65-F5344CB8AC3E}">
        <p14:creationId xmlns:p14="http://schemas.microsoft.com/office/powerpoint/2010/main" val="39103950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719455"/>
            <a:chOff x="-372" y="345"/>
            <a:chExt cx="8116" cy="113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1115"/>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基于空间向量表示法的递归牛顿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欧拉逆动力学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2923601" y="2283718"/>
                <a:ext cx="32366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r>
                            <a:rPr lang="zh-CN" altLang="en-US" i="1">
                              <a:latin typeface="Cambria Math" panose="02040503050406030204" pitchFamily="18" charset="0"/>
                            </a:rPr>
                            <m:t>𝜏</m:t>
                          </m:r>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𝑓</m:t>
                              </m:r>
                            </m:e>
                            <m:sup>
                              <m:r>
                                <a:rPr lang="zh-CN" altLang="en-US" i="1">
                                  <a:latin typeface="Cambria Math" panose="02040503050406030204" pitchFamily="18" charset="0"/>
                                </a:rPr>
                                <m:t>𝑒𝑥𝑡</m:t>
                              </m:r>
                            </m:sup>
                          </m:sSup>
                        </m:e>
                      </m:d>
                      <m:r>
                        <a:rPr lang="zh-CN" altLang="en-US" i="0">
                          <a:latin typeface="Cambria Math" panose="02040503050406030204" pitchFamily="18" charset="0"/>
                        </a:rPr>
                        <m:t>=</m:t>
                      </m:r>
                      <m:r>
                        <a:rPr lang="zh-CN" altLang="en-US" i="1">
                          <a:latin typeface="Cambria Math" panose="02040503050406030204" pitchFamily="18" charset="0"/>
                        </a:rPr>
                        <m:t>𝐼𝐷𝐹</m:t>
                      </m:r>
                      <m:d>
                        <m:dPr>
                          <m:ctrlPr>
                            <a:rPr lang="zh-CN" altLang="en-US" i="1">
                              <a:latin typeface="Cambria Math" panose="02040503050406030204" pitchFamily="18" charset="0"/>
                            </a:rPr>
                          </m:ctrlPr>
                        </m:dPr>
                        <m:e>
                          <m:r>
                            <a:rPr lang="zh-CN" altLang="en-US" i="1">
                              <a:latin typeface="Cambria Math" panose="02040503050406030204" pitchFamily="18" charset="0"/>
                            </a:rPr>
                            <m:t>𝑚𝑜𝑑𝑒𝑙</m:t>
                          </m:r>
                          <m:r>
                            <a:rPr lang="zh-CN" altLang="en-US" i="0">
                              <a:latin typeface="Cambria Math" panose="02040503050406030204" pitchFamily="18" charset="0"/>
                            </a:rPr>
                            <m:t>,</m:t>
                          </m:r>
                          <m:r>
                            <a:rPr lang="zh-CN" altLang="en-US" i="1">
                              <a:latin typeface="Cambria Math" panose="02040503050406030204" pitchFamily="18" charset="0"/>
                            </a:rPr>
                            <m:t>𝑞</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𝑞</m:t>
                              </m:r>
                            </m:e>
                          </m:acc>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𝑞</m:t>
                              </m:r>
                            </m:e>
                          </m:acc>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2923601" y="2283718"/>
                <a:ext cx="3236655" cy="369332"/>
              </a:xfrm>
              <a:prstGeom prst="rect">
                <a:avLst/>
              </a:prstGeom>
              <a:blipFill>
                <a:blip r:embed="rId3"/>
                <a:stretch>
                  <a:fillRect r="-2637"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818796" y="3038062"/>
                <a:ext cx="344626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r>
                            <a:rPr lang="zh-CN" altLang="en-US" i="1">
                              <a:latin typeface="Cambria Math" panose="02040503050406030204" pitchFamily="18" charset="0"/>
                            </a:rPr>
                            <m:t>𝜏</m:t>
                          </m:r>
                        </m:e>
                      </m:d>
                      <m:r>
                        <a:rPr lang="zh-CN" altLang="en-US" i="0">
                          <a:latin typeface="Cambria Math" panose="02040503050406030204" pitchFamily="18" charset="0"/>
                        </a:rPr>
                        <m:t>=</m:t>
                      </m:r>
                      <m:r>
                        <a:rPr lang="zh-CN" altLang="en-US" i="1">
                          <a:latin typeface="Cambria Math" panose="02040503050406030204" pitchFamily="18" charset="0"/>
                        </a:rPr>
                        <m:t>𝑅𝑁𝐸𝐴</m:t>
                      </m:r>
                      <m:d>
                        <m:dPr>
                          <m:ctrlPr>
                            <a:rPr lang="zh-CN" altLang="en-US" i="1">
                              <a:latin typeface="Cambria Math" panose="02040503050406030204" pitchFamily="18" charset="0"/>
                            </a:rPr>
                          </m:ctrlPr>
                        </m:dPr>
                        <m:e>
                          <m:r>
                            <a:rPr lang="zh-CN" altLang="en-US" i="1">
                              <a:latin typeface="Cambria Math" panose="02040503050406030204" pitchFamily="18" charset="0"/>
                            </a:rPr>
                            <m:t>𝑚𝑜𝑑𝑒𝑙</m:t>
                          </m:r>
                          <m:r>
                            <a:rPr lang="zh-CN" altLang="en-US" i="0">
                              <a:latin typeface="Cambria Math" panose="02040503050406030204" pitchFamily="18" charset="0"/>
                            </a:rPr>
                            <m:t>,</m:t>
                          </m:r>
                          <m:r>
                            <a:rPr lang="zh-CN" altLang="en-US" i="1">
                              <a:latin typeface="Cambria Math" panose="02040503050406030204" pitchFamily="18" charset="0"/>
                            </a:rPr>
                            <m:t>𝑞</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𝑞</m:t>
                              </m:r>
                            </m:e>
                          </m:acc>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𝑞</m:t>
                              </m:r>
                            </m:e>
                          </m:acc>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𝑓</m:t>
                              </m:r>
                            </m:e>
                            <m:sup>
                              <m:r>
                                <a:rPr lang="zh-CN" altLang="en-US" i="1">
                                  <a:latin typeface="Cambria Math" panose="02040503050406030204" pitchFamily="18" charset="0"/>
                                </a:rPr>
                                <m:t>𝑒𝑥𝑡</m:t>
                              </m:r>
                            </m:sup>
                          </m:sSup>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818796" y="3038062"/>
                <a:ext cx="3446263" cy="369332"/>
              </a:xfrm>
              <a:prstGeom prst="rect">
                <a:avLst/>
              </a:prstGeom>
              <a:blipFill>
                <a:blip r:embed="rId4"/>
                <a:stretch>
                  <a:fillRect b="-13115"/>
                </a:stretch>
              </a:blipFill>
            </p:spPr>
            <p:txBody>
              <a:bodyPr/>
              <a:lstStyle/>
              <a:p>
                <a:r>
                  <a:rPr lang="zh-CN" altLang="en-US">
                    <a:noFill/>
                  </a:rPr>
                  <a:t> </a:t>
                </a:r>
              </a:p>
            </p:txBody>
          </p:sp>
        </mc:Fallback>
      </mc:AlternateContent>
      <p:sp>
        <p:nvSpPr>
          <p:cNvPr id="4" name="下箭头 3"/>
          <p:cNvSpPr/>
          <p:nvPr/>
        </p:nvSpPr>
        <p:spPr>
          <a:xfrm>
            <a:off x="4211960" y="2653050"/>
            <a:ext cx="216024" cy="3130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43087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719455"/>
            <a:chOff x="-372" y="345"/>
            <a:chExt cx="8116" cy="113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1115"/>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基于空间向量表示法的递归牛顿</a:t>
              </a:r>
              <a:r>
                <a:rPr lang="en-US" altLang="zh-CN" sz="2000" b="1" dirty="0">
                  <a:latin typeface="Arial" panose="020B0604020202020204" pitchFamily="34" charset="0"/>
                  <a:ea typeface="微软雅黑" panose="020B0503020204020204" charset="-122"/>
                  <a:sym typeface="+mn-ea"/>
                </a:rPr>
                <a:t>-</a:t>
              </a:r>
              <a:r>
                <a:rPr lang="zh-CN" altLang="en-US" sz="2000" b="1" dirty="0">
                  <a:latin typeface="Arial" panose="020B0604020202020204" pitchFamily="34" charset="0"/>
                  <a:ea typeface="微软雅黑" panose="020B0503020204020204" charset="-122"/>
                  <a:sym typeface="+mn-ea"/>
                </a:rPr>
                <a:t>欧拉逆动力学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843558"/>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427984" y="1177769"/>
            <a:ext cx="4108817" cy="369332"/>
          </a:xfrm>
          <a:prstGeom prst="rect">
            <a:avLst/>
          </a:prstGeom>
        </p:spPr>
        <p:txBody>
          <a:bodyPr wrap="none">
            <a:spAutoFit/>
          </a:bodyPr>
          <a:lstStyle/>
          <a:p>
            <a:r>
              <a:rPr lang="zh-CN" altLang="zh-CN" dirty="0">
                <a:cs typeface="MV Boli" panose="02000500030200090000" pitchFamily="2" charset="0"/>
              </a:rPr>
              <a:t>空间向量法递归牛顿欧拉逆动力学算法</a:t>
            </a:r>
            <a:endParaRPr lang="zh-CN" altLang="en-US" dirty="0"/>
          </a:p>
        </p:txBody>
      </p:sp>
      <p:sp>
        <p:nvSpPr>
          <p:cNvPr id="2" name="矩形 1"/>
          <p:cNvSpPr/>
          <p:nvPr/>
        </p:nvSpPr>
        <p:spPr>
          <a:xfrm>
            <a:off x="4600183" y="2211710"/>
            <a:ext cx="4572000" cy="923330"/>
          </a:xfrm>
          <a:prstGeom prst="rect">
            <a:avLst/>
          </a:prstGeom>
        </p:spPr>
        <p:txBody>
          <a:bodyPr>
            <a:spAutoFit/>
          </a:bodyPr>
          <a:lstStyle/>
          <a:p>
            <a:r>
              <a:rPr lang="zh-CN" altLang="en-US" dirty="0"/>
              <a:t>https://github.com/mhuasong/Basics-of-Robotics-Theory-and-Technology/tree/main/ch4</a:t>
            </a: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079065719"/>
                  </p:ext>
                </p:extLst>
              </p:nvPr>
            </p:nvGraphicFramePr>
            <p:xfrm>
              <a:off x="269875" y="993360"/>
              <a:ext cx="3986997" cy="4036568"/>
            </p:xfrm>
            <a:graphic>
              <a:graphicData uri="http://schemas.openxmlformats.org/drawingml/2006/table">
                <a:tbl>
                  <a:tblPr>
                    <a:tableStyleId>{5C22544A-7EE6-4342-B048-85BDC9FD1C3A}</a:tableStyleId>
                  </a:tblPr>
                  <a:tblGrid>
                    <a:gridCol w="3986997">
                      <a:extLst>
                        <a:ext uri="{9D8B030D-6E8A-4147-A177-3AD203B41FA5}">
                          <a16:colId xmlns:a16="http://schemas.microsoft.com/office/drawing/2014/main" val="4136290284"/>
                        </a:ext>
                      </a:extLst>
                    </a:gridCol>
                  </a:tblGrid>
                  <a:tr h="3262312">
                    <a:tc>
                      <a:txBody>
                        <a:bodyPr/>
                        <a:lstStyle/>
                        <a:p>
                          <a:pPr algn="l">
                            <a:spcAft>
                              <a:spcPts val="0"/>
                            </a:spcAft>
                          </a:pPr>
                          <a:r>
                            <a:rPr lang="en-US" sz="1100" kern="0" dirty="0">
                              <a:effectLst/>
                            </a:rPr>
                            <a:t>inputs: </a:t>
                          </a:r>
                          <a14:m>
                            <m:oMath xmlns:m="http://schemas.openxmlformats.org/officeDocument/2006/math">
                              <m:sSub>
                                <m:sSubPr>
                                  <m:ctrlPr>
                                    <a:rPr lang="zh-CN" sz="1100" i="1" kern="0">
                                      <a:effectLst/>
                                      <a:latin typeface="Cambria Math" panose="02040503050406030204" pitchFamily="18" charset="0"/>
                                    </a:rPr>
                                  </m:ctrlPr>
                                </m:sSubPr>
                                <m:e>
                                  <m:r>
                                    <a:rPr lang="en-US" sz="1100" kern="100">
                                      <a:effectLst/>
                                      <a:latin typeface="Cambria Math" panose="02040503050406030204" pitchFamily="18" charset="0"/>
                                    </a:rPr>
                                    <m:t>𝑞</m:t>
                                  </m:r>
                                </m:e>
                                <m:sub>
                                  <m:r>
                                    <a:rPr lang="en-US" sz="1100" kern="100">
                                      <a:effectLst/>
                                      <a:latin typeface="Cambria Math" panose="02040503050406030204" pitchFamily="18" charset="0"/>
                                    </a:rPr>
                                    <m:t>𝑖</m:t>
                                  </m:r>
                                </m:sub>
                              </m:sSub>
                            </m:oMath>
                          </a14:m>
                          <a:r>
                            <a:rPr lang="en-US" sz="1100" kern="0" dirty="0">
                              <a:effectLst/>
                            </a:rPr>
                            <a:t>,</a:t>
                          </a:r>
                          <a14:m>
                            <m:oMath xmlns:m="http://schemas.openxmlformats.org/officeDocument/2006/math">
                              <m:sSub>
                                <m:sSubPr>
                                  <m:ctrlPr>
                                    <a:rPr lang="zh-CN" sz="1100" i="1" kern="0">
                                      <a:effectLst/>
                                      <a:latin typeface="Cambria Math" panose="02040503050406030204" pitchFamily="18" charset="0"/>
                                    </a:rPr>
                                  </m:ctrlPr>
                                </m:sSubPr>
                                <m:e>
                                  <m:acc>
                                    <m:accPr>
                                      <m:chr m:val="̇"/>
                                      <m:ctrlPr>
                                        <a:rPr lang="zh-CN" sz="1100" i="1" kern="0">
                                          <a:effectLst/>
                                          <a:latin typeface="Cambria Math" panose="02040503050406030204" pitchFamily="18" charset="0"/>
                                        </a:rPr>
                                      </m:ctrlPr>
                                    </m:accPr>
                                    <m:e>
                                      <m:r>
                                        <a:rPr lang="en-US" sz="1100" kern="100">
                                          <a:effectLst/>
                                          <a:latin typeface="Cambria Math" panose="02040503050406030204" pitchFamily="18" charset="0"/>
                                        </a:rPr>
                                        <m:t>𝑞</m:t>
                                      </m:r>
                                    </m:e>
                                  </m:acc>
                                </m:e>
                                <m:sub>
                                  <m:r>
                                    <a:rPr lang="en-US" sz="1100" kern="100">
                                      <a:effectLst/>
                                      <a:latin typeface="Cambria Math" panose="02040503050406030204" pitchFamily="18" charset="0"/>
                                    </a:rPr>
                                    <m:t>𝑖</m:t>
                                  </m:r>
                                </m:sub>
                              </m:sSub>
                            </m:oMath>
                          </a14:m>
                          <a:r>
                            <a:rPr lang="en-US" sz="1100" kern="0" dirty="0">
                              <a:effectLst/>
                            </a:rPr>
                            <a:t>,</a:t>
                          </a:r>
                          <a14:m>
                            <m:oMath xmlns:m="http://schemas.openxmlformats.org/officeDocument/2006/math">
                              <m:r>
                                <a:rPr lang="en-US" sz="1100" kern="0">
                                  <a:effectLst/>
                                  <a:latin typeface="Cambria Math" panose="02040503050406030204" pitchFamily="18" charset="0"/>
                                </a:rPr>
                                <m:t> </m:t>
                              </m:r>
                              <m:sSub>
                                <m:sSubPr>
                                  <m:ctrlPr>
                                    <a:rPr lang="zh-CN" sz="1100" i="1" kern="0">
                                      <a:effectLst/>
                                      <a:latin typeface="Cambria Math" panose="02040503050406030204" pitchFamily="18" charset="0"/>
                                    </a:rPr>
                                  </m:ctrlPr>
                                </m:sSubPr>
                                <m:e>
                                  <m:acc>
                                    <m:accPr>
                                      <m:chr m:val="̈"/>
                                      <m:ctrlPr>
                                        <a:rPr lang="zh-CN" sz="1100" i="1" kern="0">
                                          <a:effectLst/>
                                          <a:latin typeface="Cambria Math" panose="02040503050406030204" pitchFamily="18" charset="0"/>
                                        </a:rPr>
                                      </m:ctrlPr>
                                    </m:accPr>
                                    <m:e>
                                      <m:r>
                                        <a:rPr lang="en-US" sz="1100" kern="100">
                                          <a:effectLst/>
                                          <a:latin typeface="Cambria Math" panose="02040503050406030204" pitchFamily="18" charset="0"/>
                                        </a:rPr>
                                        <m:t>𝑞</m:t>
                                      </m:r>
                                    </m:e>
                                  </m:acc>
                                </m:e>
                                <m:sub>
                                  <m:r>
                                    <a:rPr lang="en-US" sz="1100" kern="100">
                                      <a:effectLst/>
                                      <a:latin typeface="Cambria Math" panose="02040503050406030204" pitchFamily="18" charset="0"/>
                                    </a:rPr>
                                    <m:t>𝑖</m:t>
                                  </m:r>
                                </m:sub>
                              </m:sSub>
                            </m:oMath>
                          </a14:m>
                          <a:r>
                            <a:rPr lang="en-US" sz="1100" kern="0" dirty="0">
                              <a:effectLst/>
                            </a:rPr>
                            <a:t>,model,</a:t>
                          </a:r>
                          <a14:m>
                            <m:oMath xmlns:m="http://schemas.openxmlformats.org/officeDocument/2006/math">
                              <m:sSubSup>
                                <m:sSubSupPr>
                                  <m:ctrlPr>
                                    <a:rPr lang="zh-CN" sz="1100" i="1" kern="100">
                                      <a:effectLst/>
                                      <a:latin typeface="Cambria Math" panose="02040503050406030204" pitchFamily="18" charset="0"/>
                                    </a:rPr>
                                  </m:ctrlPr>
                                </m:sSubSupPr>
                                <m:e>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0</m:t>
                                      </m:r>
                                    </m:sup>
                                    <m:e>
                                      <m:r>
                                        <a:rPr lang="en-US" sz="1100" kern="100">
                                          <a:effectLst/>
                                          <a:latin typeface="Cambria Math" panose="02040503050406030204" pitchFamily="18" charset="0"/>
                                        </a:rPr>
                                        <m:t>𝒻</m:t>
                                      </m:r>
                                    </m:e>
                                  </m:sPre>
                                </m:e>
                                <m:sub>
                                  <m:r>
                                    <a:rPr lang="en-US" sz="1100" kern="100">
                                      <a:effectLst/>
                                      <a:latin typeface="Cambria Math" panose="02040503050406030204" pitchFamily="18" charset="0"/>
                                    </a:rPr>
                                    <m:t>𝑖</m:t>
                                  </m:r>
                                </m:sub>
                                <m:sup>
                                  <m:r>
                                    <a:rPr lang="en-US" sz="1100" kern="100">
                                      <a:effectLst/>
                                      <a:latin typeface="Cambria Math" panose="02040503050406030204" pitchFamily="18" charset="0"/>
                                    </a:rPr>
                                    <m:t>𝑒𝑥𝑡</m:t>
                                  </m:r>
                                </m:sup>
                              </m:sSubSup>
                            </m:oMath>
                          </a14:m>
                          <a:endParaRPr lang="zh-CN" sz="1100" kern="100" dirty="0">
                            <a:effectLst/>
                          </a:endParaRPr>
                        </a:p>
                        <a:p>
                          <a:pPr algn="l">
                            <a:spcAft>
                              <a:spcPts val="0"/>
                            </a:spcAft>
                          </a:pPr>
                          <a:r>
                            <a:rPr lang="en-US" sz="1100" kern="0" dirty="0">
                              <a:effectLst/>
                            </a:rPr>
                            <a:t>output: τ</a:t>
                          </a:r>
                          <a:endParaRPr lang="zh-CN" sz="1100" kern="100" dirty="0">
                            <a:effectLst/>
                          </a:endParaRPr>
                        </a:p>
                        <a:p>
                          <a:pPr algn="l">
                            <a:spcAft>
                              <a:spcPts val="0"/>
                            </a:spcAft>
                          </a:pPr>
                          <a:r>
                            <a:rPr lang="en-US" sz="1100" kern="0" dirty="0">
                              <a:effectLst/>
                            </a:rPr>
                            <a:t>model data: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𝑁</m:t>
                                  </m:r>
                                </m:e>
                                <m:sub>
                                  <m:r>
                                    <a:rPr lang="en-US" sz="1100" kern="100">
                                      <a:effectLst/>
                                      <a:latin typeface="Cambria Math" panose="02040503050406030204" pitchFamily="18" charset="0"/>
                                    </a:rPr>
                                    <m:t>𝐵</m:t>
                                  </m:r>
                                </m:sub>
                              </m:sSub>
                            </m:oMath>
                          </a14:m>
                          <a:r>
                            <a:rPr lang="en-US" sz="1100" kern="0" dirty="0">
                              <a:effectLst/>
                            </a:rPr>
                            <a:t>,</a:t>
                          </a:r>
                          <a:r>
                            <a:rPr lang="en-US" sz="1100" kern="0" dirty="0" err="1">
                              <a:effectLst/>
                            </a:rPr>
                            <a:t>jtype</a:t>
                          </a:r>
                          <a:r>
                            <a:rPr lang="en-US" sz="1100" kern="0" dirty="0">
                              <a:effectLst/>
                            </a:rPr>
                            <a:t>(</a:t>
                          </a:r>
                          <a:r>
                            <a:rPr lang="en-US" sz="1100" kern="0" dirty="0" err="1">
                              <a:effectLst/>
                            </a:rPr>
                            <a:t>i</a:t>
                          </a:r>
                          <a:r>
                            <a:rPr lang="en-US" sz="1100" kern="0" dirty="0">
                              <a:effectLst/>
                            </a:rPr>
                            <a:t>),𝛌(</a:t>
                          </a:r>
                          <a:r>
                            <a:rPr lang="en-US" sz="1100" kern="0" dirty="0" err="1">
                              <a:effectLst/>
                            </a:rPr>
                            <a:t>i</a:t>
                          </a:r>
                          <a:r>
                            <a:rPr lang="en-US" sz="1100" kern="0" dirty="0">
                              <a:effectLst/>
                            </a:rPr>
                            <a:t>),</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𝐿</m:t>
                                  </m:r>
                                </m:sub>
                              </m:sSub>
                              <m:r>
                                <a:rPr lang="en-US" sz="1100" kern="100">
                                  <a:effectLst/>
                                  <a:latin typeface="Cambria Math" panose="02040503050406030204" pitchFamily="18" charset="0"/>
                                </a:rPr>
                                <m:t>(</m:t>
                              </m:r>
                              <m:r>
                                <a:rPr lang="en-US" sz="1100" kern="100">
                                  <a:effectLst/>
                                  <a:latin typeface="Cambria Math" panose="02040503050406030204" pitchFamily="18" charset="0"/>
                                </a:rPr>
                                <m:t>𝑖</m:t>
                              </m:r>
                              <m:r>
                                <a:rPr lang="en-US" sz="1100" kern="100">
                                  <a:effectLst/>
                                  <a:latin typeface="Cambria Math" panose="02040503050406030204" pitchFamily="18" charset="0"/>
                                </a:rPr>
                                <m:t>)</m:t>
                              </m:r>
                            </m:oMath>
                          </a14:m>
                          <a:r>
                            <a:rPr lang="en-US" sz="1100" kern="0" dirty="0">
                              <a:effectLst/>
                            </a:rPr>
                            <a:t>,</a:t>
                          </a:r>
                          <a14:m>
                            <m:oMath xmlns:m="http://schemas.openxmlformats.org/officeDocument/2006/math">
                              <m:r>
                                <a:rPr lang="en-US" sz="1100" kern="100">
                                  <a:effectLst/>
                                  <a:latin typeface="Cambria Math" panose="02040503050406030204" pitchFamily="18" charset="0"/>
                                </a:rPr>
                                <m:t> </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ℐ</m:t>
                                  </m:r>
                                </m:e>
                                <m:sub>
                                  <m:r>
                                    <a:rPr lang="en-US" sz="1100" kern="100">
                                      <a:effectLst/>
                                      <a:latin typeface="Cambria Math" panose="02040503050406030204" pitchFamily="18" charset="0"/>
                                    </a:rPr>
                                    <m:t>𝑖</m:t>
                                  </m:r>
                                </m:sub>
                              </m:sSub>
                            </m:oMath>
                          </a14:m>
                          <a:endParaRPr lang="zh-CN" sz="1100" kern="100" dirty="0">
                            <a:effectLst/>
                          </a:endParaRPr>
                        </a:p>
                        <a:p>
                          <a:pPr algn="l">
                            <a:spcAft>
                              <a:spcPts val="0"/>
                            </a:spcAft>
                          </a:pPr>
                          <a14:m>
                            <m:oMath xmlns:m="http://schemas.openxmlformats.org/officeDocument/2006/math">
                              <m:sSub>
                                <m:sSubPr>
                                  <m:ctrlPr>
                                    <a:rPr lang="zh-CN" sz="1100" i="1" kern="100">
                                      <a:effectLst/>
                                      <a:latin typeface="Cambria Math" panose="02040503050406030204" pitchFamily="18" charset="0"/>
                                    </a:rPr>
                                  </m:ctrlPr>
                                </m:sSubPr>
                                <m:e>
                                  <m:r>
                                    <m:rPr>
                                      <m:sty m:val="p"/>
                                    </m:rPr>
                                    <a:rPr lang="en-US" sz="1100" kern="100">
                                      <a:effectLst/>
                                      <a:latin typeface="Cambria Math" panose="02040503050406030204" pitchFamily="18" charset="0"/>
                                    </a:rPr>
                                    <m:t>v</m:t>
                                  </m:r>
                                </m:e>
                                <m:sub>
                                  <m:r>
                                    <a:rPr lang="en-US" sz="1100" kern="100">
                                      <a:effectLst/>
                                      <a:latin typeface="Cambria Math" panose="02040503050406030204" pitchFamily="18" charset="0"/>
                                    </a:rPr>
                                    <m:t>0</m:t>
                                  </m:r>
                                </m:sub>
                              </m:sSub>
                            </m:oMath>
                          </a14:m>
                          <a:r>
                            <a:rPr lang="en-US" sz="1100" kern="0" dirty="0">
                              <a:effectLst/>
                            </a:rPr>
                            <a:t> = 0</a:t>
                          </a:r>
                          <a:endParaRPr lang="zh-CN" sz="1100" kern="100" dirty="0">
                            <a:effectLst/>
                          </a:endParaRPr>
                        </a:p>
                        <a:p>
                          <a:pPr algn="l">
                            <a:spcAft>
                              <a:spcPts val="0"/>
                            </a:spcAft>
                          </a:pP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𝒜</m:t>
                                  </m:r>
                                </m:e>
                                <m:sub>
                                  <m:r>
                                    <a:rPr lang="en-US" sz="1100" kern="100">
                                      <a:effectLst/>
                                      <a:latin typeface="Cambria Math" panose="02040503050406030204" pitchFamily="18" charset="0"/>
                                    </a:rPr>
                                    <m:t>0</m:t>
                                  </m:r>
                                </m:sub>
                              </m:sSub>
                            </m:oMath>
                          </a14:m>
                          <a:r>
                            <a:rPr lang="en-US" sz="1100" kern="0" dirty="0">
                              <a:effectLst/>
                            </a:rPr>
                            <a:t> = -</a:t>
                          </a:r>
                          <a:r>
                            <a:rPr lang="en-US" sz="1100" kern="10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𝒜</m:t>
                                  </m:r>
                                </m:e>
                                <m:sub>
                                  <m:r>
                                    <a:rPr lang="en-US" sz="1100" kern="100">
                                      <a:effectLst/>
                                      <a:latin typeface="Cambria Math" panose="02040503050406030204" pitchFamily="18" charset="0"/>
                                    </a:rPr>
                                    <m:t>𝑔</m:t>
                                  </m:r>
                                </m:sub>
                              </m:sSub>
                            </m:oMath>
                          </a14:m>
                          <a:endParaRPr lang="zh-CN" sz="1100" kern="100" dirty="0">
                            <a:effectLst/>
                          </a:endParaRPr>
                        </a:p>
                        <a:p>
                          <a:pPr algn="l">
                            <a:spcAft>
                              <a:spcPts val="0"/>
                            </a:spcAft>
                          </a:pPr>
                          <a:r>
                            <a:rPr lang="en-US" sz="1100" kern="0" dirty="0">
                              <a:effectLst/>
                            </a:rPr>
                            <a:t>for </a:t>
                          </a:r>
                          <a:r>
                            <a:rPr lang="en-US" sz="1100" kern="0" dirty="0" err="1">
                              <a:effectLst/>
                            </a:rPr>
                            <a:t>i</a:t>
                          </a:r>
                          <a:r>
                            <a:rPr lang="en-US" sz="1100" kern="0" dirty="0">
                              <a:effectLst/>
                            </a:rPr>
                            <a:t>=1 to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𝑁</m:t>
                                  </m:r>
                                </m:e>
                                <m:sub>
                                  <m:r>
                                    <a:rPr lang="en-US" sz="1100" kern="100">
                                      <a:effectLst/>
                                      <a:latin typeface="Cambria Math" panose="02040503050406030204" pitchFamily="18" charset="0"/>
                                    </a:rPr>
                                    <m:t>𝐵</m:t>
                                  </m:r>
                                </m:sub>
                              </m:sSub>
                            </m:oMath>
                          </a14:m>
                          <a:r>
                            <a:rPr lang="en-US" sz="1100" kern="0" dirty="0">
                              <a:effectLst/>
                            </a:rPr>
                            <a:t> do</a:t>
                          </a:r>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𝐽</m:t>
                                  </m:r>
                                </m:sub>
                              </m:sSub>
                              <m:r>
                                <a:rPr lang="en-US" sz="1100" kern="100">
                                  <a:effectLst/>
                                  <a:latin typeface="Cambria Math" panose="02040503050406030204" pitchFamily="18" charset="0"/>
                                </a:rPr>
                                <m:t>(</m:t>
                              </m:r>
                              <m:r>
                                <a:rPr lang="en-US" sz="1100" kern="100">
                                  <a:effectLst/>
                                  <a:latin typeface="Cambria Math" panose="02040503050406030204" pitchFamily="18" charset="0"/>
                                </a:rPr>
                                <m:t>𝑖</m:t>
                              </m:r>
                              <m:r>
                                <a:rPr lang="en-US" sz="1100" kern="100">
                                  <a:effectLst/>
                                  <a:latin typeface="Cambria Math" panose="02040503050406030204" pitchFamily="18" charset="0"/>
                                </a:rPr>
                                <m:t>)</m:t>
                              </m:r>
                            </m:oMath>
                          </a14:m>
                          <a:r>
                            <a:rPr lang="en-US" sz="1100" kern="0" dirty="0">
                              <a:effectLst/>
                            </a:rPr>
                            <a:t> = </a:t>
                          </a:r>
                          <a:r>
                            <a:rPr lang="en-US" sz="1100" kern="0" dirty="0" err="1">
                              <a:effectLst/>
                            </a:rPr>
                            <a:t>xjcalc</a:t>
                          </a:r>
                          <a:r>
                            <a:rPr lang="en-US" sz="1100" kern="0" dirty="0">
                              <a:effectLst/>
                            </a:rPr>
                            <a:t>(</a:t>
                          </a:r>
                          <a:r>
                            <a:rPr lang="en-US" sz="1100" kern="0" dirty="0" err="1">
                              <a:effectLst/>
                            </a:rPr>
                            <a:t>jtype</a:t>
                          </a:r>
                          <a:r>
                            <a:rPr lang="en-US" sz="1100" kern="0" dirty="0">
                              <a:effectLst/>
                            </a:rPr>
                            <a:t>(</a:t>
                          </a:r>
                          <a:r>
                            <a:rPr lang="en-US" sz="1100" kern="0" dirty="0" err="1">
                              <a:effectLst/>
                            </a:rPr>
                            <a:t>i</a:t>
                          </a:r>
                          <a:r>
                            <a:rPr lang="en-US" sz="1100" kern="0" dirty="0">
                              <a:effectLst/>
                            </a:rPr>
                            <a:t>),</a:t>
                          </a:r>
                          <a14:m>
                            <m:oMath xmlns:m="http://schemas.openxmlformats.org/officeDocument/2006/math">
                              <m:r>
                                <a:rPr lang="en-US" sz="1100" kern="0">
                                  <a:effectLst/>
                                  <a:latin typeface="Cambria Math" panose="02040503050406030204" pitchFamily="18" charset="0"/>
                                </a:rPr>
                                <m:t> </m:t>
                              </m:r>
                              <m:sSub>
                                <m:sSubPr>
                                  <m:ctrlPr>
                                    <a:rPr lang="zh-CN" sz="1100" i="1" kern="0">
                                      <a:effectLst/>
                                      <a:latin typeface="Cambria Math" panose="02040503050406030204" pitchFamily="18" charset="0"/>
                                    </a:rPr>
                                  </m:ctrlPr>
                                </m:sSubPr>
                                <m:e>
                                  <m:r>
                                    <a:rPr lang="en-US" sz="1100" kern="100">
                                      <a:effectLst/>
                                      <a:latin typeface="Cambria Math" panose="02040503050406030204" pitchFamily="18" charset="0"/>
                                    </a:rPr>
                                    <m:t>𝑞</m:t>
                                  </m:r>
                                </m:e>
                                <m:sub>
                                  <m:r>
                                    <a:rPr lang="en-US" sz="1100" kern="100">
                                      <a:effectLst/>
                                      <a:latin typeface="Cambria Math" panose="02040503050406030204" pitchFamily="18" charset="0"/>
                                    </a:rPr>
                                    <m:t>𝑖</m:t>
                                  </m:r>
                                </m:sub>
                              </m:sSub>
                            </m:oMath>
                          </a14:m>
                          <a:r>
                            <a:rPr lang="en-US" sz="1100" kern="0" dirty="0">
                              <a:effectLst/>
                            </a:rPr>
                            <a:t>)</a:t>
                          </a:r>
                          <a:endParaRPr lang="zh-CN" sz="1100" kern="100" dirty="0">
                            <a:effectLst/>
                          </a:endParaRPr>
                        </a:p>
                        <a:p>
                          <a:pPr algn="l">
                            <a:spcAft>
                              <a:spcPts val="0"/>
                            </a:spcAft>
                          </a:pPr>
                          <a:r>
                            <a:rPr lang="en-US" sz="1100" kern="0" dirty="0">
                              <a:effectLst/>
                            </a:rPr>
                            <a:t>    </a:t>
                          </a:r>
                          <a14:m>
                            <m:oMath xmlns:m="http://schemas.openxmlformats.org/officeDocument/2006/math">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e>
                              </m:sPre>
                              <m:r>
                                <a:rPr lang="en-US" sz="1100" kern="100">
                                  <a:effectLst/>
                                  <a:latin typeface="Cambria Math" panose="02040503050406030204" pitchFamily="18" charset="0"/>
                                </a:rPr>
                                <m:t> =</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 </m:t>
                                  </m:r>
                                  <m:r>
                                    <a:rPr lang="en-US" sz="1100" kern="100">
                                      <a:effectLst/>
                                      <a:latin typeface="Cambria Math" panose="02040503050406030204" pitchFamily="18" charset="0"/>
                                    </a:rPr>
                                    <m:t>𝑋</m:t>
                                  </m:r>
                                </m:e>
                                <m:sub>
                                  <m:r>
                                    <a:rPr lang="en-US" sz="1100" kern="100">
                                      <a:effectLst/>
                                      <a:latin typeface="Cambria Math" panose="02040503050406030204" pitchFamily="18" charset="0"/>
                                    </a:rPr>
                                    <m:t>𝐽</m:t>
                                  </m:r>
                                </m:sub>
                              </m:sSub>
                              <m:r>
                                <a:rPr lang="en-US" sz="1100" kern="100">
                                  <a:effectLst/>
                                  <a:latin typeface="Cambria Math" panose="02040503050406030204" pitchFamily="18" charset="0"/>
                                </a:rPr>
                                <m:t>(</m:t>
                              </m:r>
                              <m:r>
                                <a:rPr lang="en-US" sz="1100" kern="100">
                                  <a:effectLst/>
                                  <a:latin typeface="Cambria Math" panose="02040503050406030204" pitchFamily="18" charset="0"/>
                                </a:rPr>
                                <m:t>𝑖</m:t>
                              </m:r>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𝐿</m:t>
                                  </m:r>
                                </m:sub>
                              </m:sSub>
                              <m:r>
                                <a:rPr lang="en-US" sz="1100" kern="100">
                                  <a:effectLst/>
                                  <a:latin typeface="Cambria Math" panose="02040503050406030204" pitchFamily="18" charset="0"/>
                                </a:rPr>
                                <m:t>(</m:t>
                              </m:r>
                              <m:r>
                                <a:rPr lang="en-US" sz="1100" kern="100">
                                  <a:effectLst/>
                                  <a:latin typeface="Cambria Math" panose="02040503050406030204" pitchFamily="18" charset="0"/>
                                </a:rPr>
                                <m:t>𝑖</m:t>
                              </m:r>
                              <m:r>
                                <a:rPr lang="en-US" sz="1100" kern="100">
                                  <a:effectLst/>
                                  <a:latin typeface="Cambria Math" panose="02040503050406030204" pitchFamily="18" charset="0"/>
                                </a:rPr>
                                <m:t>)</m:t>
                              </m:r>
                            </m:oMath>
                          </a14:m>
                          <a:endParaRPr lang="zh-CN" sz="1100" kern="100" dirty="0">
                            <a:effectLst/>
                          </a:endParaRPr>
                        </a:p>
                        <a:p>
                          <a:pPr algn="l">
                            <a:spcAft>
                              <a:spcPts val="0"/>
                            </a:spcAft>
                          </a:pPr>
                          <a:r>
                            <a:rPr lang="en-US" sz="1100" kern="0" dirty="0">
                              <a:effectLst/>
                            </a:rPr>
                            <a:t>    if 𝛌 (</a:t>
                          </a:r>
                          <a:r>
                            <a:rPr lang="en-US" sz="1100" kern="0" dirty="0" err="1">
                              <a:effectLst/>
                            </a:rPr>
                            <a:t>i</a:t>
                          </a:r>
                          <a:r>
                            <a:rPr lang="en-US" sz="1100" kern="0" dirty="0">
                              <a:effectLst/>
                            </a:rPr>
                            <a:t>)</a:t>
                          </a:r>
                          <a14:m>
                            <m:oMath xmlns:m="http://schemas.openxmlformats.org/officeDocument/2006/math">
                              <m:r>
                                <a:rPr lang="en-US" sz="1100" kern="0">
                                  <a:effectLst/>
                                  <a:latin typeface="Cambria Math" panose="02040503050406030204" pitchFamily="18" charset="0"/>
                                </a:rPr>
                                <m:t>≠</m:t>
                              </m:r>
                            </m:oMath>
                          </a14:m>
                          <a:r>
                            <a:rPr lang="en-US" sz="1100" kern="0" dirty="0">
                              <a:effectLst/>
                            </a:rPr>
                            <a:t> 0 then</a:t>
                          </a:r>
                          <a:endParaRPr lang="zh-CN" sz="1100" kern="100" dirty="0">
                            <a:effectLst/>
                          </a:endParaRPr>
                        </a:p>
                        <a:p>
                          <a:pPr algn="l">
                            <a:spcAft>
                              <a:spcPts val="0"/>
                            </a:spcAft>
                          </a:pPr>
                          <a:r>
                            <a:rPr lang="en-US" sz="1100" kern="0" dirty="0">
                              <a:effectLst/>
                            </a:rPr>
                            <a:t>        </a:t>
                          </a:r>
                          <a14:m>
                            <m:oMath xmlns:m="http://schemas.openxmlformats.org/officeDocument/2006/math">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0</m:t>
                                      </m:r>
                                    </m:sub>
                                  </m:sSub>
                                </m:e>
                              </m:sPre>
                              <m:r>
                                <a:rPr lang="en-US" sz="1100" kern="100">
                                  <a:effectLst/>
                                  <a:latin typeface="Cambria Math" panose="02040503050406030204" pitchFamily="18" charset="0"/>
                                </a:rPr>
                                <m:t>=</m:t>
                              </m:r>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e>
                              </m:sPre>
                              <m:sPre>
                                <m:sPrePr>
                                  <m:ctrlPr>
                                    <a:rPr lang="zh-CN" sz="1100" i="1" kern="100">
                                      <a:effectLst/>
                                      <a:latin typeface="Cambria Math" panose="02040503050406030204" pitchFamily="18" charset="0"/>
                                    </a:rPr>
                                  </m:ctrlPr>
                                </m:sPrePr>
                                <m:sub/>
                                <m:sup>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0</m:t>
                                      </m:r>
                                    </m:sub>
                                  </m:sSub>
                                </m:e>
                              </m:sPre>
                            </m:oMath>
                          </a14:m>
                          <a:endParaRPr lang="zh-CN" sz="1100" kern="100" dirty="0">
                            <a:effectLst/>
                          </a:endParaRPr>
                        </a:p>
                        <a:p>
                          <a:pPr algn="l">
                            <a:spcAft>
                              <a:spcPts val="0"/>
                            </a:spcAft>
                          </a:pPr>
                          <a:r>
                            <a:rPr lang="en-US" sz="1100" kern="0" dirty="0">
                              <a:effectLst/>
                            </a:rPr>
                            <a:t>    end</a:t>
                          </a:r>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𝑆</m:t>
                                  </m:r>
                                </m:e>
                                <m:sub>
                                  <m:r>
                                    <a:rPr lang="en-US" sz="1100" kern="100">
                                      <a:effectLst/>
                                      <a:latin typeface="Cambria Math" panose="02040503050406030204" pitchFamily="18" charset="0"/>
                                    </a:rPr>
                                    <m:t>𝑖</m:t>
                                  </m:r>
                                </m:sub>
                              </m:sSub>
                            </m:oMath>
                          </a14:m>
                          <a:r>
                            <a:rPr lang="en-US" sz="1100" kern="0" dirty="0">
                              <a:effectLst/>
                            </a:rPr>
                            <a:t> = </a:t>
                          </a:r>
                          <a:r>
                            <a:rPr lang="en-US" sz="1100" kern="0" dirty="0" err="1">
                              <a:effectLst/>
                            </a:rPr>
                            <a:t>pcalc</a:t>
                          </a:r>
                          <a:r>
                            <a:rPr lang="en-US" sz="1100" kern="0" dirty="0">
                              <a:effectLst/>
                            </a:rPr>
                            <a:t>(</a:t>
                          </a:r>
                          <a:r>
                            <a:rPr lang="en-US" sz="1100" kern="0" dirty="0" err="1">
                              <a:effectLst/>
                            </a:rPr>
                            <a:t>jtype</a:t>
                          </a:r>
                          <a:r>
                            <a:rPr lang="en-US" sz="1100" kern="0" dirty="0">
                              <a:effectLst/>
                            </a:rPr>
                            <a:t>(</a:t>
                          </a:r>
                          <a:r>
                            <a:rPr lang="en-US" sz="1100" kern="0" dirty="0" err="1">
                              <a:effectLst/>
                            </a:rPr>
                            <a:t>i</a:t>
                          </a:r>
                          <a:r>
                            <a:rPr lang="en-US" sz="1100" kern="0" dirty="0">
                              <a:effectLst/>
                            </a:rPr>
                            <a:t>),qi)</a:t>
                          </a:r>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𝓋</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e>
                              </m:sPre>
                              <m:sSub>
                                <m:sSubPr>
                                  <m:ctrlPr>
                                    <a:rPr lang="zh-CN" sz="1100" i="1" kern="100">
                                      <a:effectLst/>
                                      <a:latin typeface="Cambria Math" panose="02040503050406030204" pitchFamily="18" charset="0"/>
                                    </a:rPr>
                                  </m:ctrlPr>
                                </m:sSubPr>
                                <m:e>
                                  <m:r>
                                    <m:rPr>
                                      <m:sty m:val="p"/>
                                    </m:rPr>
                                    <a:rPr lang="en-US" sz="1100" kern="100">
                                      <a:effectLst/>
                                      <a:latin typeface="Cambria Math" panose="02040503050406030204" pitchFamily="18" charset="0"/>
                                    </a:rPr>
                                    <m:t>v</m:t>
                                  </m:r>
                                </m:e>
                                <m:sub>
                                  <m:r>
                                    <a:rPr lang="en-US" sz="1100" kern="100">
                                      <a:effectLst/>
                                      <a:latin typeface="Cambria Math" panose="02040503050406030204" pitchFamily="18" charset="0"/>
                                    </a:rPr>
                                    <m:t>𝓋</m:t>
                                  </m:r>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𝑆</m:t>
                                  </m:r>
                                </m:e>
                                <m:sub>
                                  <m:r>
                                    <a:rPr lang="en-US" sz="1100" kern="100">
                                      <a:effectLst/>
                                      <a:latin typeface="Cambria Math" panose="02040503050406030204" pitchFamily="18" charset="0"/>
                                    </a:rPr>
                                    <m:t>𝑖</m:t>
                                  </m:r>
                                </m:sub>
                              </m:sSub>
                              <m:sSub>
                                <m:sSubPr>
                                  <m:ctrlPr>
                                    <a:rPr lang="zh-CN" sz="1100" i="1" kern="100">
                                      <a:effectLst/>
                                      <a:latin typeface="Cambria Math" panose="02040503050406030204" pitchFamily="18" charset="0"/>
                                    </a:rPr>
                                  </m:ctrlPr>
                                </m:sSubPr>
                                <m:e>
                                  <m:acc>
                                    <m:accPr>
                                      <m:chr m:val="̇"/>
                                      <m:ctrlPr>
                                        <a:rPr lang="zh-CN" sz="1100" i="1" kern="100">
                                          <a:effectLst/>
                                          <a:latin typeface="Cambria Math" panose="02040503050406030204" pitchFamily="18" charset="0"/>
                                        </a:rPr>
                                      </m:ctrlPr>
                                    </m:accPr>
                                    <m:e>
                                      <m:r>
                                        <a:rPr lang="en-US" sz="1100" kern="100">
                                          <a:effectLst/>
                                          <a:latin typeface="Cambria Math" panose="02040503050406030204" pitchFamily="18" charset="0"/>
                                        </a:rPr>
                                        <m:t>𝑞</m:t>
                                      </m:r>
                                    </m:e>
                                  </m:acc>
                                </m:e>
                                <m:sub>
                                  <m:r>
                                    <a:rPr lang="en-US" sz="1100" kern="100">
                                      <a:effectLst/>
                                      <a:latin typeface="Cambria Math" panose="02040503050406030204" pitchFamily="18" charset="0"/>
                                    </a:rPr>
                                    <m:t>𝑖</m:t>
                                  </m:r>
                                </m:sub>
                              </m:sSub>
                            </m:oMath>
                          </a14:m>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𝒜</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e>
                              </m:sPr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𝒜</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𝑆</m:t>
                                  </m:r>
                                </m:e>
                                <m:sub>
                                  <m:r>
                                    <a:rPr lang="en-US" sz="1100" kern="100">
                                      <a:effectLst/>
                                      <a:latin typeface="Cambria Math" panose="02040503050406030204" pitchFamily="18" charset="0"/>
                                    </a:rPr>
                                    <m:t>𝑖</m:t>
                                  </m:r>
                                </m:sub>
                              </m:sSub>
                              <m:sSub>
                                <m:sSubPr>
                                  <m:ctrlPr>
                                    <a:rPr lang="zh-CN" sz="1100" i="1" kern="100">
                                      <a:effectLst/>
                                      <a:latin typeface="Cambria Math" panose="02040503050406030204" pitchFamily="18" charset="0"/>
                                    </a:rPr>
                                  </m:ctrlPr>
                                </m:sSubPr>
                                <m:e>
                                  <m:acc>
                                    <m:accPr>
                                      <m:chr m:val="̈"/>
                                      <m:ctrlPr>
                                        <a:rPr lang="zh-CN" sz="1100" i="1" kern="100">
                                          <a:effectLst/>
                                          <a:latin typeface="Cambria Math" panose="02040503050406030204" pitchFamily="18" charset="0"/>
                                        </a:rPr>
                                      </m:ctrlPr>
                                    </m:accPr>
                                    <m:e>
                                      <m:r>
                                        <a:rPr lang="en-US" sz="1100" kern="100">
                                          <a:effectLst/>
                                          <a:latin typeface="Cambria Math" panose="02040503050406030204" pitchFamily="18" charset="0"/>
                                        </a:rPr>
                                        <m:t>𝑞</m:t>
                                      </m:r>
                                    </m:e>
                                  </m:acc>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𝓋</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𝑆</m:t>
                                  </m:r>
                                </m:e>
                                <m:sub>
                                  <m:r>
                                    <a:rPr lang="en-US" sz="1100" kern="100">
                                      <a:effectLst/>
                                      <a:latin typeface="Cambria Math" panose="02040503050406030204" pitchFamily="18" charset="0"/>
                                    </a:rPr>
                                    <m:t>𝑖</m:t>
                                  </m:r>
                                </m:sub>
                              </m:sSub>
                              <m:sSub>
                                <m:sSubPr>
                                  <m:ctrlPr>
                                    <a:rPr lang="zh-CN" sz="1100" i="1" kern="100">
                                      <a:effectLst/>
                                      <a:latin typeface="Cambria Math" panose="02040503050406030204" pitchFamily="18" charset="0"/>
                                    </a:rPr>
                                  </m:ctrlPr>
                                </m:sSubPr>
                                <m:e>
                                  <m:acc>
                                    <m:accPr>
                                      <m:chr m:val="̇"/>
                                      <m:ctrlPr>
                                        <a:rPr lang="zh-CN" sz="1100" i="1" kern="100">
                                          <a:effectLst/>
                                          <a:latin typeface="Cambria Math" panose="02040503050406030204" pitchFamily="18" charset="0"/>
                                        </a:rPr>
                                      </m:ctrlPr>
                                    </m:accPr>
                                    <m:e>
                                      <m:r>
                                        <a:rPr lang="en-US" sz="1100" kern="100">
                                          <a:effectLst/>
                                          <a:latin typeface="Cambria Math" panose="02040503050406030204" pitchFamily="18" charset="0"/>
                                        </a:rPr>
                                        <m:t>𝑞</m:t>
                                      </m:r>
                                    </m:e>
                                  </m:acc>
                                </m:e>
                                <m:sub>
                                  <m:r>
                                    <a:rPr lang="en-US" sz="1100" kern="100">
                                      <a:effectLst/>
                                      <a:latin typeface="Cambria Math" panose="02040503050406030204" pitchFamily="18" charset="0"/>
                                    </a:rPr>
                                    <m:t>𝑖</m:t>
                                  </m:r>
                                </m:sub>
                              </m:sSub>
                            </m:oMath>
                          </a14:m>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𝒻</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ℐ</m:t>
                                  </m:r>
                                </m:e>
                                <m:sub>
                                  <m:r>
                                    <a:rPr lang="en-US" sz="1100" kern="100">
                                      <a:effectLst/>
                                      <a:latin typeface="Cambria Math" panose="02040503050406030204" pitchFamily="18" charset="0"/>
                                    </a:rPr>
                                    <m:t>𝑖</m:t>
                                  </m:r>
                                </m:sub>
                              </m:s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𝒜</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𝓋</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r>
                                <a:rPr lang="en-US" sz="1100" kern="100">
                                  <a:effectLst/>
                                  <a:latin typeface="Cambria Math" panose="02040503050406030204" pitchFamily="18" charset="0"/>
                                </a:rPr>
                                <m:t>ℐ</m:t>
                              </m:r>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𝓋</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Sup>
                                    <m:sSubSupPr>
                                      <m:ctrlPr>
                                        <a:rPr lang="zh-CN" sz="1100" i="1" kern="0">
                                          <a:effectLst/>
                                          <a:latin typeface="Cambria Math" panose="02040503050406030204" pitchFamily="18" charset="0"/>
                                        </a:rPr>
                                      </m:ctrlPr>
                                    </m:sSubSupPr>
                                    <m:e>
                                      <m:r>
                                        <a:rPr lang="en-US" sz="1100" kern="100">
                                          <a:effectLst/>
                                          <a:latin typeface="Cambria Math" panose="02040503050406030204" pitchFamily="18" charset="0"/>
                                        </a:rPr>
                                        <m:t>𝑋</m:t>
                                      </m:r>
                                    </m:e>
                                    <m:sub>
                                      <m:r>
                                        <a:rPr lang="en-US" sz="1100" kern="100">
                                          <a:effectLst/>
                                          <a:latin typeface="Cambria Math" panose="02040503050406030204" pitchFamily="18" charset="0"/>
                                        </a:rPr>
                                        <m:t>0</m:t>
                                      </m:r>
                                    </m:sub>
                                    <m:sup>
                                      <m:r>
                                        <a:rPr lang="en-US" sz="1100" kern="100">
                                          <a:effectLst/>
                                          <a:latin typeface="Cambria Math" panose="02040503050406030204" pitchFamily="18" charset="0"/>
                                        </a:rPr>
                                        <m:t>−</m:t>
                                      </m:r>
                                      <m:r>
                                        <a:rPr lang="en-US" sz="1100" kern="100">
                                          <a:effectLst/>
                                          <a:latin typeface="Cambria Math" panose="02040503050406030204" pitchFamily="18" charset="0"/>
                                        </a:rPr>
                                        <m:t>𝑇</m:t>
                                      </m:r>
                                    </m:sup>
                                  </m:sSubSup>
                                </m:e>
                              </m:sPre>
                              <m:sSubSup>
                                <m:sSubSupPr>
                                  <m:ctrlPr>
                                    <a:rPr lang="zh-CN" sz="1100" i="1" kern="100">
                                      <a:effectLst/>
                                      <a:latin typeface="Cambria Math" panose="02040503050406030204" pitchFamily="18" charset="0"/>
                                    </a:rPr>
                                  </m:ctrlPr>
                                </m:sSubSupPr>
                                <m:e>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0</m:t>
                                      </m:r>
                                    </m:sup>
                                    <m:e>
                                      <m:r>
                                        <a:rPr lang="en-US" sz="1100" kern="100">
                                          <a:effectLst/>
                                          <a:latin typeface="Cambria Math" panose="02040503050406030204" pitchFamily="18" charset="0"/>
                                        </a:rPr>
                                        <m:t>𝒻</m:t>
                                      </m:r>
                                    </m:e>
                                  </m:sPre>
                                </m:e>
                                <m:sub>
                                  <m:r>
                                    <a:rPr lang="en-US" sz="1100" kern="100">
                                      <a:effectLst/>
                                      <a:latin typeface="Cambria Math" panose="02040503050406030204" pitchFamily="18" charset="0"/>
                                    </a:rPr>
                                    <m:t>𝑖</m:t>
                                  </m:r>
                                </m:sub>
                                <m:sup>
                                  <m:r>
                                    <a:rPr lang="en-US" sz="1100" kern="100">
                                      <a:effectLst/>
                                      <a:latin typeface="Cambria Math" panose="02040503050406030204" pitchFamily="18" charset="0"/>
                                    </a:rPr>
                                    <m:t>𝑒𝑥𝑡</m:t>
                                  </m:r>
                                </m:sup>
                              </m:sSubSup>
                            </m:oMath>
                          </a14:m>
                          <a:endParaRPr lang="zh-CN" sz="1100" kern="100" dirty="0">
                            <a:effectLst/>
                          </a:endParaRPr>
                        </a:p>
                        <a:p>
                          <a:pPr algn="l">
                            <a:spcAft>
                              <a:spcPts val="0"/>
                            </a:spcAft>
                          </a:pPr>
                          <a:r>
                            <a:rPr lang="en-US" sz="1100" kern="0" dirty="0">
                              <a:effectLst/>
                            </a:rPr>
                            <a:t>end</a:t>
                          </a:r>
                          <a:endParaRPr lang="zh-CN" sz="1100" kern="100" dirty="0">
                            <a:effectLst/>
                          </a:endParaRPr>
                        </a:p>
                        <a:p>
                          <a:pPr algn="l">
                            <a:spcAft>
                              <a:spcPts val="0"/>
                            </a:spcAft>
                          </a:pPr>
                          <a:r>
                            <a:rPr lang="en-US" sz="1100" kern="0" dirty="0">
                              <a:effectLst/>
                            </a:rPr>
                            <a:t>for </a:t>
                          </a:r>
                          <a:r>
                            <a:rPr lang="en-US" sz="1100" kern="0" dirty="0" err="1">
                              <a:effectLst/>
                            </a:rPr>
                            <a:t>i</a:t>
                          </a:r>
                          <a:r>
                            <a:rPr lang="en-US" sz="1100" kern="0" dirty="0">
                              <a:effectLst/>
                            </a:rPr>
                            <a:t> =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𝑁</m:t>
                                  </m:r>
                                </m:e>
                                <m:sub>
                                  <m:r>
                                    <a:rPr lang="en-US" sz="1100" kern="100">
                                      <a:effectLst/>
                                      <a:latin typeface="Cambria Math" panose="02040503050406030204" pitchFamily="18" charset="0"/>
                                    </a:rPr>
                                    <m:t>𝐵</m:t>
                                  </m:r>
                                </m:sub>
                              </m:sSub>
                            </m:oMath>
                          </a14:m>
                          <a:r>
                            <a:rPr lang="en-US" sz="1100" kern="0" dirty="0">
                              <a:effectLst/>
                            </a:rPr>
                            <a:t> to 1 do</a:t>
                          </a:r>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𝜏</m:t>
                                  </m:r>
                                </m:e>
                                <m:sub>
                                  <m:r>
                                    <a:rPr lang="en-US" sz="1100" kern="100">
                                      <a:effectLst/>
                                      <a:latin typeface="Cambria Math" panose="02040503050406030204" pitchFamily="18" charset="0"/>
                                    </a:rPr>
                                    <m:t>𝑖</m:t>
                                  </m:r>
                                </m:sub>
                              </m:sSub>
                              <m:r>
                                <a:rPr lang="en-US" sz="1100" kern="100">
                                  <a:effectLst/>
                                  <a:latin typeface="Cambria Math" panose="02040503050406030204" pitchFamily="18" charset="0"/>
                                </a:rPr>
                                <m:t>=</m:t>
                              </m:r>
                              <m:sSup>
                                <m:sSupPr>
                                  <m:ctrlPr>
                                    <a:rPr lang="zh-CN" sz="1100" i="1" kern="100">
                                      <a:effectLst/>
                                      <a:latin typeface="Cambria Math" panose="02040503050406030204" pitchFamily="18" charset="0"/>
                                    </a:rPr>
                                  </m:ctrlPr>
                                </m:sSupPr>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𝑆</m:t>
                                      </m:r>
                                    </m:e>
                                    <m:sub>
                                      <m:r>
                                        <a:rPr lang="en-US" sz="1100" kern="100">
                                          <a:effectLst/>
                                          <a:latin typeface="Cambria Math" panose="02040503050406030204" pitchFamily="18" charset="0"/>
                                        </a:rPr>
                                        <m:t>𝑖</m:t>
                                      </m:r>
                                    </m:sub>
                                  </m:sSub>
                                </m:e>
                                <m:sup>
                                  <m:r>
                                    <a:rPr lang="en-US" sz="1100" kern="100">
                                      <a:effectLst/>
                                      <a:latin typeface="Cambria Math" panose="02040503050406030204" pitchFamily="18" charset="0"/>
                                    </a:rPr>
                                    <m:t>𝑇</m:t>
                                  </m:r>
                                </m:sup>
                              </m:sSup>
                              <m:sSub>
                                <m:sSubPr>
                                  <m:ctrlPr>
                                    <a:rPr lang="zh-CN" sz="1100" i="1" kern="100">
                                      <a:effectLst/>
                                      <a:latin typeface="Cambria Math" panose="02040503050406030204" pitchFamily="18" charset="0"/>
                                    </a:rPr>
                                  </m:ctrlPr>
                                </m:sSubPr>
                                <m:e>
                                  <m:bar>
                                    <m:barPr>
                                      <m:ctrlPr>
                                        <a:rPr lang="zh-CN" sz="1100" i="1" kern="100">
                                          <a:effectLst/>
                                          <a:latin typeface="Cambria Math" panose="02040503050406030204" pitchFamily="18" charset="0"/>
                                        </a:rPr>
                                      </m:ctrlPr>
                                    </m:barPr>
                                    <m:e>
                                      <m:r>
                                        <a:rPr lang="en-US" sz="1100" kern="100">
                                          <a:effectLst/>
                                          <a:latin typeface="Cambria Math" panose="02040503050406030204" pitchFamily="18" charset="0"/>
                                        </a:rPr>
                                        <m:t>𝒻</m:t>
                                      </m:r>
                                    </m:e>
                                  </m:bar>
                                </m:e>
                                <m:sub>
                                  <m:r>
                                    <a:rPr lang="en-US" sz="1100" kern="100">
                                      <a:effectLst/>
                                      <a:latin typeface="Cambria Math" panose="02040503050406030204" pitchFamily="18" charset="0"/>
                                    </a:rPr>
                                    <m:t>𝑖</m:t>
                                  </m:r>
                                </m:sub>
                              </m:sSub>
                            </m:oMath>
                          </a14:m>
                          <a:endParaRPr lang="zh-CN" sz="1100" kern="100" dirty="0">
                            <a:effectLst/>
                          </a:endParaRPr>
                        </a:p>
                        <a:p>
                          <a:pPr algn="l">
                            <a:spcAft>
                              <a:spcPts val="0"/>
                            </a:spcAft>
                          </a:pPr>
                          <a:r>
                            <a:rPr lang="en-US" sz="1100" kern="0" dirty="0">
                              <a:effectLst/>
                            </a:rPr>
                            <a:t>    if 𝛌 (</a:t>
                          </a:r>
                          <a:r>
                            <a:rPr lang="en-US" sz="1100" kern="0" dirty="0" err="1">
                              <a:effectLst/>
                            </a:rPr>
                            <a:t>i</a:t>
                          </a:r>
                          <a:r>
                            <a:rPr lang="en-US" sz="1100" kern="0" dirty="0">
                              <a:effectLst/>
                            </a:rPr>
                            <a:t>) </a:t>
                          </a:r>
                          <a14:m>
                            <m:oMath xmlns:m="http://schemas.openxmlformats.org/officeDocument/2006/math">
                              <m:r>
                                <a:rPr lang="en-US" sz="1100" kern="0">
                                  <a:effectLst/>
                                  <a:latin typeface="Cambria Math" panose="02040503050406030204" pitchFamily="18" charset="0"/>
                                </a:rPr>
                                <m:t>≠</m:t>
                              </m:r>
                            </m:oMath>
                          </a14:m>
                          <a:r>
                            <a:rPr lang="en-US" sz="1100" kern="0" dirty="0">
                              <a:effectLst/>
                            </a:rPr>
                            <a:t> 0 then</a:t>
                          </a:r>
                          <a:endParaRPr lang="zh-CN" sz="1100" kern="100" dirty="0">
                            <a:effectLst/>
                          </a:endParaRPr>
                        </a:p>
                        <a:p>
                          <a:pPr algn="l">
                            <a:spcAft>
                              <a:spcPts val="0"/>
                            </a:spcAft>
                          </a:pPr>
                          <a:r>
                            <a:rPr lang="en-US" sz="1100" kern="0" dirty="0">
                              <a:effectLst/>
                            </a:rPr>
                            <a:t>        </a:t>
                          </a:r>
                          <a14:m>
                            <m:oMath xmlns:m="http://schemas.openxmlformats.org/officeDocument/2006/math">
                              <m:sSub>
                                <m:sSubPr>
                                  <m:ctrlPr>
                                    <a:rPr lang="zh-CN" sz="1100" i="1" kern="0">
                                      <a:effectLst/>
                                      <a:latin typeface="Cambria Math" panose="02040503050406030204" pitchFamily="18" charset="0"/>
                                    </a:rPr>
                                  </m:ctrlPr>
                                </m:sSubPr>
                                <m:e>
                                  <m:r>
                                    <a:rPr lang="en-US" sz="1100" kern="0">
                                      <a:effectLst/>
                                      <a:latin typeface="Cambria Math" panose="02040503050406030204" pitchFamily="18" charset="0"/>
                                    </a:rPr>
                                    <m:t>𝒻</m:t>
                                  </m:r>
                                </m:e>
                                <m:sub>
                                  <m:r>
                                    <a:rPr lang="en-US" sz="1100" kern="0">
                                      <a:effectLst/>
                                      <a:latin typeface="Cambria Math" panose="02040503050406030204" pitchFamily="18" charset="0"/>
                                    </a:rPr>
                                    <m:t>𝜆</m:t>
                                  </m:r>
                                  <m:r>
                                    <a:rPr lang="en-US" sz="1100" kern="0">
                                      <a:effectLst/>
                                      <a:latin typeface="Cambria Math" panose="02040503050406030204" pitchFamily="18" charset="0"/>
                                    </a:rPr>
                                    <m:t>(</m:t>
                                  </m:r>
                                  <m:r>
                                    <a:rPr lang="en-US" sz="1100" kern="0">
                                      <a:effectLst/>
                                      <a:latin typeface="Cambria Math" panose="02040503050406030204" pitchFamily="18" charset="0"/>
                                    </a:rPr>
                                    <m:t>𝑖</m:t>
                                  </m:r>
                                  <m:r>
                                    <a:rPr lang="en-US" sz="1100" kern="0">
                                      <a:effectLst/>
                                      <a:latin typeface="Cambria Math" panose="02040503050406030204" pitchFamily="18" charset="0"/>
                                    </a:rPr>
                                    <m:t>)</m:t>
                                  </m:r>
                                </m:sub>
                              </m:sSub>
                              <m:r>
                                <a:rPr lang="en-US" sz="1100" kern="0">
                                  <a:effectLst/>
                                  <a:latin typeface="Cambria Math" panose="02040503050406030204" pitchFamily="18" charset="0"/>
                                </a:rPr>
                                <m:t>=</m:t>
                              </m:r>
                              <m:sSub>
                                <m:sSubPr>
                                  <m:ctrlPr>
                                    <a:rPr lang="zh-CN" sz="1100" i="1" kern="0">
                                      <a:effectLst/>
                                      <a:latin typeface="Cambria Math" panose="02040503050406030204" pitchFamily="18" charset="0"/>
                                    </a:rPr>
                                  </m:ctrlPr>
                                </m:sSubPr>
                                <m:e>
                                  <m:r>
                                    <a:rPr lang="en-US" sz="1100" kern="0">
                                      <a:effectLst/>
                                      <a:latin typeface="Cambria Math" panose="02040503050406030204" pitchFamily="18" charset="0"/>
                                    </a:rPr>
                                    <m:t>𝒻</m:t>
                                  </m:r>
                                </m:e>
                                <m:sub>
                                  <m:r>
                                    <a:rPr lang="en-US" sz="1100" kern="0">
                                      <a:effectLst/>
                                      <a:latin typeface="Cambria Math" panose="02040503050406030204" pitchFamily="18" charset="0"/>
                                    </a:rPr>
                                    <m:t>𝜆</m:t>
                                  </m:r>
                                  <m:r>
                                    <a:rPr lang="en-US" sz="1100" kern="0">
                                      <a:effectLst/>
                                      <a:latin typeface="Cambria Math" panose="02040503050406030204" pitchFamily="18" charset="0"/>
                                    </a:rPr>
                                    <m:t>(</m:t>
                                  </m:r>
                                  <m:r>
                                    <a:rPr lang="en-US" sz="1100" kern="0">
                                      <a:effectLst/>
                                      <a:latin typeface="Cambria Math" panose="02040503050406030204" pitchFamily="18" charset="0"/>
                                    </a:rPr>
                                    <m:t>𝑖</m:t>
                                  </m:r>
                                  <m:r>
                                    <a:rPr lang="en-US" sz="1100" kern="0">
                                      <a:effectLst/>
                                      <a:latin typeface="Cambria Math" panose="02040503050406030204" pitchFamily="18" charset="0"/>
                                    </a:rPr>
                                    <m:t>)</m:t>
                                  </m:r>
                                </m:sub>
                              </m:sSub>
                              <m:r>
                                <a:rPr lang="en-US" sz="1100" kern="0">
                                  <a:effectLst/>
                                  <a:latin typeface="Cambria Math" panose="02040503050406030204" pitchFamily="18" charset="0"/>
                                </a:rPr>
                                <m:t>+</m:t>
                              </m:r>
                              <m:sSup>
                                <m:sSupPr>
                                  <m:ctrlPr>
                                    <a:rPr lang="zh-CN" sz="1100" i="1" kern="100">
                                      <a:effectLst/>
                                      <a:latin typeface="Cambria Math" panose="02040503050406030204" pitchFamily="18" charset="0"/>
                                    </a:rPr>
                                  </m:ctrlPr>
                                </m:sSupPr>
                                <m:e>
                                  <m:sPre>
                                    <m:sPrePr>
                                      <m:ctrlPr>
                                        <a:rPr lang="zh-CN" sz="1100" i="1" kern="100">
                                          <a:effectLst/>
                                          <a:latin typeface="Cambria Math" panose="02040503050406030204" pitchFamily="18" charset="0"/>
                                        </a:rPr>
                                      </m:ctrlPr>
                                    </m:sPrePr>
                                    <m:sub/>
                                    <m:sup>
                                      <m:r>
                                        <a:rPr lang="en-US" sz="1100" kern="100">
                                          <a:effectLst/>
                                          <a:latin typeface="Cambria Math" panose="02040503050406030204" pitchFamily="18" charset="0"/>
                                        </a:rPr>
                                        <m:t>𝑖</m:t>
                                      </m:r>
                                    </m:sup>
                                    <m:e>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𝑋</m:t>
                                          </m:r>
                                        </m:e>
                                        <m:sub>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𝜆</m:t>
                                              </m:r>
                                            </m:e>
                                            <m:sub>
                                              <m:r>
                                                <a:rPr lang="en-US" sz="1100" kern="100">
                                                  <a:effectLst/>
                                                  <a:latin typeface="Cambria Math" panose="02040503050406030204" pitchFamily="18" charset="0"/>
                                                </a:rPr>
                                                <m:t>𝑖</m:t>
                                              </m:r>
                                            </m:sub>
                                          </m:sSub>
                                        </m:sub>
                                      </m:sSub>
                                    </m:e>
                                  </m:sPre>
                                </m:e>
                                <m:sup>
                                  <m:r>
                                    <a:rPr lang="en-US" sz="1100" kern="100">
                                      <a:effectLst/>
                                      <a:latin typeface="Cambria Math" panose="02040503050406030204" pitchFamily="18" charset="0"/>
                                    </a:rPr>
                                    <m:t>𝑇</m:t>
                                  </m:r>
                                </m:sup>
                              </m:sSup>
                              <m:sSub>
                                <m:sSubPr>
                                  <m:ctrlPr>
                                    <a:rPr lang="zh-CN" sz="1100" i="1" kern="100">
                                      <a:effectLst/>
                                      <a:latin typeface="Cambria Math" panose="02040503050406030204" pitchFamily="18" charset="0"/>
                                    </a:rPr>
                                  </m:ctrlPr>
                                </m:sSubPr>
                                <m:e>
                                  <m:r>
                                    <a:rPr lang="en-US" sz="1100" kern="100">
                                      <a:effectLst/>
                                      <a:latin typeface="Cambria Math" panose="02040503050406030204" pitchFamily="18" charset="0"/>
                                    </a:rPr>
                                    <m:t>𝒻</m:t>
                                  </m:r>
                                </m:e>
                                <m:sub>
                                  <m:r>
                                    <a:rPr lang="en-US" sz="1100" kern="100">
                                      <a:effectLst/>
                                      <a:latin typeface="Cambria Math" panose="02040503050406030204" pitchFamily="18" charset="0"/>
                                    </a:rPr>
                                    <m:t>𝑖</m:t>
                                  </m:r>
                                </m:sub>
                              </m:sSub>
                            </m:oMath>
                          </a14:m>
                          <a:endParaRPr lang="zh-CN" sz="1100" kern="100" dirty="0">
                            <a:effectLst/>
                          </a:endParaRPr>
                        </a:p>
                        <a:p>
                          <a:pPr algn="l">
                            <a:spcAft>
                              <a:spcPts val="0"/>
                            </a:spcAft>
                          </a:pPr>
                          <a:r>
                            <a:rPr lang="en-US" sz="1100" kern="0" dirty="0">
                              <a:effectLst/>
                            </a:rPr>
                            <a:t>    end</a:t>
                          </a:r>
                          <a:endParaRPr lang="zh-CN" sz="1100" kern="100" dirty="0">
                            <a:effectLst/>
                          </a:endParaRPr>
                        </a:p>
                        <a:p>
                          <a:pPr algn="l">
                            <a:spcAft>
                              <a:spcPts val="0"/>
                            </a:spcAft>
                          </a:pPr>
                          <a:r>
                            <a:rPr lang="en-US" sz="1100" kern="0" dirty="0">
                              <a:effectLst/>
                            </a:rPr>
                            <a:t>end</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8825" marR="58825" marT="0" marB="0"/>
                    </a:tc>
                    <a:extLst>
                      <a:ext uri="{0D108BD9-81ED-4DB2-BD59-A6C34878D82A}">
                        <a16:rowId xmlns:a16="http://schemas.microsoft.com/office/drawing/2014/main" val="543445009"/>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079065719"/>
                  </p:ext>
                </p:extLst>
              </p:nvPr>
            </p:nvGraphicFramePr>
            <p:xfrm>
              <a:off x="269875" y="993360"/>
              <a:ext cx="3986997" cy="4026662"/>
            </p:xfrm>
            <a:graphic>
              <a:graphicData uri="http://schemas.openxmlformats.org/drawingml/2006/table">
                <a:tbl>
                  <a:tblPr>
                    <a:tableStyleId>{5C22544A-7EE6-4342-B048-85BDC9FD1C3A}</a:tableStyleId>
                  </a:tblPr>
                  <a:tblGrid>
                    <a:gridCol w="3986997">
                      <a:extLst>
                        <a:ext uri="{9D8B030D-6E8A-4147-A177-3AD203B41FA5}">
                          <a16:colId xmlns:a16="http://schemas.microsoft.com/office/drawing/2014/main" val="4136290284"/>
                        </a:ext>
                      </a:extLst>
                    </a:gridCol>
                  </a:tblGrid>
                  <a:tr h="4026662">
                    <a:tc>
                      <a:txBody>
                        <a:bodyPr/>
                        <a:lstStyle/>
                        <a:p>
                          <a:endParaRPr lang="zh-CN"/>
                        </a:p>
                      </a:txBody>
                      <a:tcPr marL="58825" marR="58825" marT="0" marB="0">
                        <a:blipFill>
                          <a:blip r:embed="rId3"/>
                          <a:stretch>
                            <a:fillRect l="-153" t="-604" r="-305" b="-1964"/>
                          </a:stretch>
                        </a:blipFill>
                      </a:tcPr>
                    </a:tc>
                    <a:extLst>
                      <a:ext uri="{0D108BD9-81ED-4DB2-BD59-A6C34878D82A}">
                        <a16:rowId xmlns:a16="http://schemas.microsoft.com/office/drawing/2014/main" val="543445009"/>
                      </a:ext>
                    </a:extLst>
                  </a:tr>
                </a:tbl>
              </a:graphicData>
            </a:graphic>
          </p:graphicFrame>
        </mc:Fallback>
      </mc:AlternateContent>
    </p:spTree>
    <p:extLst>
      <p:ext uri="{BB962C8B-B14F-4D97-AF65-F5344CB8AC3E}">
        <p14:creationId xmlns:p14="http://schemas.microsoft.com/office/powerpoint/2010/main" val="38283581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3933838" y="1588681"/>
            <a:ext cx="4697406" cy="3000821"/>
          </a:xfrm>
          <a:prstGeom prst="rect">
            <a:avLst/>
          </a:prstGeom>
        </p:spPr>
        <p:txBody>
          <a:bodyPr wrap="square">
            <a:spAutoFit/>
          </a:bodyPr>
          <a:lstStyle/>
          <a:p>
            <a:pPr>
              <a:lnSpc>
                <a:spcPct val="150000"/>
              </a:lnSpc>
            </a:pPr>
            <a:r>
              <a:rPr lang="en-US" altLang="zh-CN" b="1" dirty="0">
                <a:solidFill>
                  <a:schemeClr val="tx2"/>
                </a:solidFill>
              </a:rPr>
              <a:t>ABA: Articulated-Body Algorithm</a:t>
            </a:r>
            <a:endParaRPr lang="en-US" altLang="zh-CN" sz="1200" b="1" dirty="0" smtClean="0">
              <a:solidFill>
                <a:schemeClr val="tx2"/>
              </a:solidFill>
              <a:latin typeface="Arial" panose="020B0604020202020204" pitchFamily="34" charset="0"/>
              <a:ea typeface="微软雅黑" panose="020B0503020204020204" charset="-122"/>
              <a:sym typeface="+mn-ea"/>
            </a:endParaRPr>
          </a:p>
          <a:p>
            <a:pPr>
              <a:lnSpc>
                <a:spcPct val="150000"/>
              </a:lnSpc>
            </a:pPr>
            <a:r>
              <a:rPr lang="en-US" altLang="zh-CN" sz="1200" dirty="0" smtClean="0">
                <a:latin typeface="Arial" panose="020B0604020202020204" pitchFamily="34" charset="0"/>
                <a:ea typeface="微软雅黑" panose="020B0503020204020204" charset="-122"/>
                <a:sym typeface="+mn-ea"/>
              </a:rPr>
              <a:t>ABA</a:t>
            </a:r>
            <a:r>
              <a:rPr lang="zh-CN" altLang="en-US" sz="1200" dirty="0">
                <a:latin typeface="Arial" panose="020B0604020202020204" pitchFamily="34" charset="0"/>
                <a:ea typeface="微软雅黑" panose="020B0503020204020204" charset="-122"/>
                <a:sym typeface="+mn-ea"/>
              </a:rPr>
              <a:t>算法中的空间向量采用了连杆坐标系，算法前面</a:t>
            </a:r>
            <a:r>
              <a:rPr lang="en-US" altLang="zh-CN" sz="1200" dirty="0">
                <a:latin typeface="Arial" panose="020B0604020202020204" pitchFamily="34" charset="0"/>
                <a:ea typeface="微软雅黑" panose="020B0503020204020204" charset="-122"/>
                <a:sym typeface="+mn-ea"/>
              </a:rPr>
              <a:t>2</a:t>
            </a:r>
            <a:r>
              <a:rPr lang="zh-CN" altLang="en-US" sz="1200" dirty="0">
                <a:latin typeface="Arial" panose="020B0604020202020204" pitchFamily="34" charset="0"/>
                <a:ea typeface="微软雅黑" panose="020B0503020204020204" charset="-122"/>
                <a:sym typeface="+mn-ea"/>
              </a:rPr>
              <a:t>个循环，按照</a:t>
            </a:r>
            <a:r>
              <a:rPr lang="en-US" altLang="zh-CN" sz="1200" dirty="0">
                <a:latin typeface="Arial" panose="020B0604020202020204" pitchFamily="34" charset="0"/>
                <a:ea typeface="微软雅黑" panose="020B0503020204020204" charset="-122"/>
                <a:sym typeface="+mn-ea"/>
              </a:rPr>
              <a:t>RNEA</a:t>
            </a:r>
            <a:r>
              <a:rPr lang="zh-CN" altLang="en-US" sz="1200" dirty="0">
                <a:latin typeface="Arial" panose="020B0604020202020204" pitchFamily="34" charset="0"/>
                <a:ea typeface="微软雅黑" panose="020B0503020204020204" charset="-122"/>
                <a:sym typeface="+mn-ea"/>
              </a:rPr>
              <a:t>算法进行运动树的迭代，第一遍从基座（或虚拟底座）向运动树末端迭代，计算连杆速度和速度积</a:t>
            </a:r>
            <a:r>
              <a:rPr lang="zh-CN" altLang="en-US" sz="1200" dirty="0" smtClean="0">
                <a:latin typeface="Arial" panose="020B0604020202020204" pitchFamily="34" charset="0"/>
                <a:ea typeface="微软雅黑" panose="020B0503020204020204" charset="-122"/>
                <a:sym typeface="+mn-ea"/>
              </a:rPr>
              <a:t>项；</a:t>
            </a:r>
            <a:r>
              <a:rPr lang="zh-CN" altLang="en-US" sz="1200" dirty="0">
                <a:latin typeface="Arial" panose="020B0604020202020204" pitchFamily="34" charset="0"/>
                <a:ea typeface="微软雅黑" panose="020B0503020204020204" charset="-122"/>
                <a:sym typeface="+mn-ea"/>
              </a:rPr>
              <a:t>第二遍从末端反向向底座迭代，计算关节体惯量和每根连杆的偏置力；第三遍从底座向末端迭代，得到连杆和关节加速度。</a:t>
            </a:r>
          </a:p>
          <a:p>
            <a:pPr>
              <a:lnSpc>
                <a:spcPct val="150000"/>
              </a:lnSpc>
            </a:pPr>
            <a:r>
              <a:rPr lang="zh-CN" altLang="en-US" sz="1200" dirty="0">
                <a:latin typeface="Arial" panose="020B0604020202020204" pitchFamily="34" charset="0"/>
                <a:ea typeface="微软雅黑" panose="020B0503020204020204" charset="-122"/>
                <a:sym typeface="+mn-ea"/>
              </a:rPr>
              <a:t>相比于拉格朗日动力学方法求解正动力学，</a:t>
            </a:r>
            <a:r>
              <a:rPr lang="en-US" altLang="zh-CN" sz="1200" dirty="0">
                <a:latin typeface="Arial" panose="020B0604020202020204" pitchFamily="34" charset="0"/>
                <a:ea typeface="微软雅黑" panose="020B0503020204020204" charset="-122"/>
                <a:sym typeface="+mn-ea"/>
              </a:rPr>
              <a:t>ABA</a:t>
            </a:r>
            <a:r>
              <a:rPr lang="zh-CN" altLang="en-US" sz="1200" dirty="0">
                <a:latin typeface="Arial" panose="020B0604020202020204" pitchFamily="34" charset="0"/>
                <a:ea typeface="微软雅黑" panose="020B0503020204020204" charset="-122"/>
                <a:sym typeface="+mn-ea"/>
              </a:rPr>
              <a:t>正运动学算法更便于建模以及计算，不仅适用于串联工业机械臂，也适用于人形、并联等复杂机构类型的机器人。求解出机器人关节的加速度，便可以用数值积分进行机器人运动的模拟。</a:t>
            </a:r>
          </a:p>
        </p:txBody>
      </p:sp>
      <p:sp>
        <p:nvSpPr>
          <p:cNvPr id="7" name="文本框 6"/>
          <p:cNvSpPr txBox="1"/>
          <p:nvPr/>
        </p:nvSpPr>
        <p:spPr>
          <a:xfrm>
            <a:off x="4139952" y="1150433"/>
            <a:ext cx="4285178" cy="461665"/>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基于关节体算法的正动力学</a:t>
            </a: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08</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545303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基于关节体算法</a:t>
              </a:r>
              <a:r>
                <a:rPr lang="en-US" altLang="zh-CN" sz="2000" b="1" dirty="0">
                  <a:latin typeface="Arial" panose="020B0604020202020204" pitchFamily="34" charset="0"/>
                  <a:ea typeface="微软雅黑" panose="020B0503020204020204" charset="-122"/>
                  <a:sym typeface="+mn-ea"/>
                </a:rPr>
                <a:t>(ABA)</a:t>
              </a:r>
              <a:r>
                <a:rPr lang="zh-CN" altLang="en-US" sz="2000" b="1" dirty="0">
                  <a:latin typeface="Arial" panose="020B0604020202020204" pitchFamily="34" charset="0"/>
                  <a:ea typeface="微软雅黑" panose="020B0503020204020204" charset="-122"/>
                  <a:sym typeface="+mn-ea"/>
                </a:rPr>
                <a:t>的正动力学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0" name="图片 9"/>
          <p:cNvPicPr/>
          <p:nvPr/>
        </p:nvPicPr>
        <p:blipFill>
          <a:blip r:embed="rId3"/>
          <a:stretch>
            <a:fillRect/>
          </a:stretch>
        </p:blipFill>
        <p:spPr>
          <a:xfrm>
            <a:off x="2339752" y="1779662"/>
            <a:ext cx="3827363" cy="2335634"/>
          </a:xfrm>
          <a:prstGeom prst="rect">
            <a:avLst/>
          </a:prstGeom>
        </p:spPr>
      </p:pic>
      <p:sp>
        <p:nvSpPr>
          <p:cNvPr id="5" name="矩形 4"/>
          <p:cNvSpPr/>
          <p:nvPr/>
        </p:nvSpPr>
        <p:spPr>
          <a:xfrm>
            <a:off x="3563888" y="1289433"/>
            <a:ext cx="1622560" cy="369332"/>
          </a:xfrm>
          <a:prstGeom prst="rect">
            <a:avLst/>
          </a:prstGeom>
        </p:spPr>
        <p:txBody>
          <a:bodyPr wrap="none">
            <a:spAutoFit/>
          </a:bodyPr>
          <a:lstStyle/>
          <a:p>
            <a:r>
              <a:rPr lang="zh-CN" altLang="zh-CN" dirty="0">
                <a:cs typeface="MV Boli" panose="02000500030200090000" pitchFamily="2" charset="0"/>
              </a:rPr>
              <a:t>关节</a:t>
            </a:r>
            <a:r>
              <a:rPr lang="zh-CN" altLang="zh-CN" dirty="0">
                <a:latin typeface="Calibri" panose="020F0502020204030204" pitchFamily="34" charset="0"/>
                <a:cs typeface="Times New Roman" panose="02020603050405020304" pitchFamily="18" charset="0"/>
              </a:rPr>
              <a:t>体</a:t>
            </a:r>
            <a:r>
              <a:rPr lang="en-US" altLang="zh-CN" dirty="0" err="1">
                <a:latin typeface="Calibri" panose="020F0502020204030204" pitchFamily="34" charset="0"/>
                <a:cs typeface="Times New Roman" panose="02020603050405020304" pitchFamily="18" charset="0"/>
              </a:rPr>
              <a:t>i</a:t>
            </a:r>
            <a:r>
              <a:rPr lang="zh-CN" altLang="zh-CN" dirty="0">
                <a:latin typeface="Calibri" panose="020F0502020204030204" pitchFamily="34" charset="0"/>
                <a:cs typeface="Times New Roman" panose="02020603050405020304" pitchFamily="18" charset="0"/>
              </a:rPr>
              <a:t>的定义</a:t>
            </a:r>
            <a:endParaRPr lang="zh-CN" altLang="en-US" dirty="0"/>
          </a:p>
        </p:txBody>
      </p:sp>
    </p:spTree>
    <p:extLst>
      <p:ext uri="{BB962C8B-B14F-4D97-AF65-F5344CB8AC3E}">
        <p14:creationId xmlns:p14="http://schemas.microsoft.com/office/powerpoint/2010/main" val="8366749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基于关节体算法</a:t>
              </a:r>
              <a:r>
                <a:rPr lang="en-US" altLang="zh-CN" sz="2000" b="1" dirty="0">
                  <a:latin typeface="Arial" panose="020B0604020202020204" pitchFamily="34" charset="0"/>
                  <a:ea typeface="微软雅黑" panose="020B0503020204020204" charset="-122"/>
                  <a:sym typeface="+mn-ea"/>
                </a:rPr>
                <a:t>(ABA)</a:t>
              </a:r>
              <a:r>
                <a:rPr lang="zh-CN" altLang="en-US" sz="2000" b="1" dirty="0">
                  <a:latin typeface="Arial" panose="020B0604020202020204" pitchFamily="34" charset="0"/>
                  <a:ea typeface="微软雅黑" panose="020B0503020204020204" charset="-122"/>
                  <a:sym typeface="+mn-ea"/>
                </a:rPr>
                <a:t>的正动力学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644215315"/>
                  </p:ext>
                </p:extLst>
              </p:nvPr>
            </p:nvGraphicFramePr>
            <p:xfrm>
              <a:off x="1475656" y="1246907"/>
              <a:ext cx="2514226" cy="3629914"/>
            </p:xfrm>
            <a:graphic>
              <a:graphicData uri="http://schemas.openxmlformats.org/drawingml/2006/table">
                <a:tbl>
                  <a:tblPr>
                    <a:tableStyleId>{5C22544A-7EE6-4342-B048-85BDC9FD1C3A}</a:tableStyleId>
                  </a:tblPr>
                  <a:tblGrid>
                    <a:gridCol w="2514226">
                      <a:extLst>
                        <a:ext uri="{9D8B030D-6E8A-4147-A177-3AD203B41FA5}">
                          <a16:colId xmlns:a16="http://schemas.microsoft.com/office/drawing/2014/main" val="2829878423"/>
                        </a:ext>
                      </a:extLst>
                    </a:gridCol>
                  </a:tblGrid>
                  <a:tr h="3262312">
                    <a:tc>
                      <a:txBody>
                        <a:bodyPr/>
                        <a:lstStyle/>
                        <a:p>
                          <a:pPr algn="l">
                            <a:spcAft>
                              <a:spcPts val="0"/>
                            </a:spcAft>
                          </a:pPr>
                          <a:r>
                            <a:rPr lang="en-US" sz="500" kern="0" dirty="0">
                              <a:effectLst/>
                            </a:rPr>
                            <a:t>inputs: </a:t>
                          </a:r>
                          <a14:m>
                            <m:oMath xmlns:m="http://schemas.openxmlformats.org/officeDocument/2006/math">
                              <m:sSub>
                                <m:sSubPr>
                                  <m:ctrlPr>
                                    <a:rPr lang="zh-CN" sz="600" i="1" kern="0">
                                      <a:effectLst/>
                                      <a:latin typeface="Cambria Math" panose="02040503050406030204" pitchFamily="18" charset="0"/>
                                    </a:rPr>
                                  </m:ctrlPr>
                                </m:sSubPr>
                                <m:e>
                                  <m:r>
                                    <a:rPr lang="en-US" sz="600" kern="100">
                                      <a:effectLst/>
                                      <a:latin typeface="Cambria Math" panose="02040503050406030204" pitchFamily="18" charset="0"/>
                                    </a:rPr>
                                    <m:t>𝑞</m:t>
                                  </m:r>
                                </m:e>
                                <m:sub>
                                  <m:r>
                                    <a:rPr lang="en-US" sz="600" kern="100">
                                      <a:effectLst/>
                                      <a:latin typeface="Cambria Math" panose="02040503050406030204" pitchFamily="18" charset="0"/>
                                    </a:rPr>
                                    <m:t>𝑖</m:t>
                                  </m:r>
                                </m:sub>
                              </m:sSub>
                            </m:oMath>
                          </a14:m>
                          <a:r>
                            <a:rPr lang="en-US" sz="500" kern="0" dirty="0">
                              <a:effectLst/>
                            </a:rPr>
                            <a:t>,</a:t>
                          </a:r>
                          <a14:m>
                            <m:oMath xmlns:m="http://schemas.openxmlformats.org/officeDocument/2006/math">
                              <m:sSub>
                                <m:sSubPr>
                                  <m:ctrlPr>
                                    <a:rPr lang="zh-CN" sz="600" i="1" kern="0">
                                      <a:effectLst/>
                                      <a:latin typeface="Cambria Math" panose="02040503050406030204" pitchFamily="18" charset="0"/>
                                    </a:rPr>
                                  </m:ctrlPr>
                                </m:sSubPr>
                                <m:e>
                                  <m:acc>
                                    <m:accPr>
                                      <m:chr m:val="̇"/>
                                      <m:ctrlPr>
                                        <a:rPr lang="zh-CN" sz="600" i="1" kern="0">
                                          <a:effectLst/>
                                          <a:latin typeface="Cambria Math" panose="02040503050406030204" pitchFamily="18" charset="0"/>
                                        </a:rPr>
                                      </m:ctrlPr>
                                    </m:accPr>
                                    <m:e>
                                      <m:r>
                                        <a:rPr lang="en-US" sz="600" kern="100">
                                          <a:effectLst/>
                                          <a:latin typeface="Cambria Math" panose="02040503050406030204" pitchFamily="18" charset="0"/>
                                        </a:rPr>
                                        <m:t>𝑞</m:t>
                                      </m:r>
                                    </m:e>
                                  </m:acc>
                                </m:e>
                                <m:sub>
                                  <m:r>
                                    <a:rPr lang="en-US" sz="600" kern="100">
                                      <a:effectLst/>
                                      <a:latin typeface="Cambria Math" panose="02040503050406030204" pitchFamily="18" charset="0"/>
                                    </a:rPr>
                                    <m:t>𝑖</m:t>
                                  </m:r>
                                </m:sub>
                              </m:sSub>
                            </m:oMath>
                          </a14:m>
                          <a:r>
                            <a:rPr lang="en-US" sz="500" kern="0" dirty="0">
                              <a:effectLst/>
                            </a:rPr>
                            <a:t>,</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𝜏</m:t>
                                  </m:r>
                                </m:e>
                                <m:sub>
                                  <m:r>
                                    <a:rPr lang="en-US" sz="600" kern="100">
                                      <a:effectLst/>
                                      <a:latin typeface="Cambria Math" panose="02040503050406030204" pitchFamily="18" charset="0"/>
                                    </a:rPr>
                                    <m:t>𝑖</m:t>
                                  </m:r>
                                </m:sub>
                              </m:sSub>
                            </m:oMath>
                          </a14:m>
                          <a:r>
                            <a:rPr lang="en-US" sz="500" kern="0" dirty="0">
                              <a:effectLst/>
                            </a:rPr>
                            <a:t>,model,</a:t>
                          </a:r>
                          <a14:m>
                            <m:oMath xmlns:m="http://schemas.openxmlformats.org/officeDocument/2006/math">
                              <m:sSubSup>
                                <m:sSubSupPr>
                                  <m:ctrlPr>
                                    <a:rPr lang="zh-CN" sz="600" i="1" kern="100">
                                      <a:effectLst/>
                                      <a:latin typeface="Cambria Math" panose="02040503050406030204" pitchFamily="18" charset="0"/>
                                    </a:rPr>
                                  </m:ctrlPr>
                                </m:sSubSupPr>
                                <m:e>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0</m:t>
                                      </m:r>
                                    </m:sup>
                                    <m:e>
                                      <m:r>
                                        <m:rPr>
                                          <m:sty m:val="p"/>
                                        </m:rPr>
                                        <a:rPr lang="en-US" sz="600" kern="100">
                                          <a:effectLst/>
                                          <a:latin typeface="Cambria Math" panose="02040503050406030204" pitchFamily="18" charset="0"/>
                                        </a:rPr>
                                        <m:t>f</m:t>
                                      </m:r>
                                    </m:e>
                                  </m:sPre>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𝑒𝑥𝑡</m:t>
                                  </m:r>
                                </m:sup>
                              </m:sSubSup>
                            </m:oMath>
                          </a14:m>
                          <a:endParaRPr lang="zh-CN" sz="600" kern="100" dirty="0">
                            <a:effectLst/>
                          </a:endParaRPr>
                        </a:p>
                        <a:p>
                          <a:pPr algn="l">
                            <a:spcAft>
                              <a:spcPts val="0"/>
                            </a:spcAft>
                          </a:pPr>
                          <a:r>
                            <a:rPr lang="en-US" sz="500" kern="0" dirty="0">
                              <a:effectLst/>
                            </a:rPr>
                            <a:t>output: </a:t>
                          </a:r>
                          <a14:m>
                            <m:oMath xmlns:m="http://schemas.openxmlformats.org/officeDocument/2006/math">
                              <m:sSub>
                                <m:sSubPr>
                                  <m:ctrlPr>
                                    <a:rPr lang="zh-CN" sz="600" i="1" kern="100">
                                      <a:effectLst/>
                                      <a:latin typeface="Cambria Math" panose="02040503050406030204" pitchFamily="18" charset="0"/>
                                    </a:rPr>
                                  </m:ctrlPr>
                                </m:sSubPr>
                                <m:e>
                                  <m:acc>
                                    <m:accPr>
                                      <m:chr m:val="̈"/>
                                      <m:ctrlPr>
                                        <a:rPr lang="zh-CN" sz="600" i="1" kern="100">
                                          <a:effectLst/>
                                          <a:latin typeface="Cambria Math" panose="02040503050406030204" pitchFamily="18" charset="0"/>
                                        </a:rPr>
                                      </m:ctrlPr>
                                    </m:accPr>
                                    <m:e>
                                      <m:r>
                                        <a:rPr lang="en-US" sz="600" kern="100">
                                          <a:effectLst/>
                                          <a:latin typeface="Cambria Math" panose="02040503050406030204" pitchFamily="18" charset="0"/>
                                        </a:rPr>
                                        <m:t>𝑞</m:t>
                                      </m:r>
                                    </m:e>
                                  </m:acc>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r>
                            <a:rPr lang="en-US" sz="500" kern="0" dirty="0">
                              <a:effectLst/>
                            </a:rPr>
                            <a:t>model data: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𝑁</m:t>
                                  </m:r>
                                </m:e>
                                <m:sub>
                                  <m:r>
                                    <a:rPr lang="en-US" sz="600" kern="100">
                                      <a:effectLst/>
                                      <a:latin typeface="Cambria Math" panose="02040503050406030204" pitchFamily="18" charset="0"/>
                                    </a:rPr>
                                    <m:t>𝐵</m:t>
                                  </m:r>
                                </m:sub>
                              </m:sSub>
                            </m:oMath>
                          </a14:m>
                          <a:r>
                            <a:rPr lang="en-US" sz="500" kern="0" dirty="0">
                              <a:effectLst/>
                            </a:rPr>
                            <a:t>,</a:t>
                          </a:r>
                          <a:r>
                            <a:rPr lang="en-US" sz="500" kern="0" dirty="0" err="1">
                              <a:effectLst/>
                            </a:rPr>
                            <a:t>jtype</a:t>
                          </a:r>
                          <a:r>
                            <a:rPr lang="en-US" sz="500" kern="0" dirty="0">
                              <a:effectLst/>
                            </a:rPr>
                            <a:t>(</a:t>
                          </a:r>
                          <a:r>
                            <a:rPr lang="en-US" sz="500" kern="0" dirty="0" err="1">
                              <a:effectLst/>
                            </a:rPr>
                            <a:t>i</a:t>
                          </a:r>
                          <a:r>
                            <a:rPr lang="en-US" sz="500" kern="0" dirty="0">
                              <a:effectLst/>
                            </a:rPr>
                            <a:t>),𝛌(</a:t>
                          </a:r>
                          <a:r>
                            <a:rPr lang="en-US" sz="500" kern="0" dirty="0" err="1">
                              <a:effectLst/>
                            </a:rPr>
                            <a:t>i</a:t>
                          </a:r>
                          <a:r>
                            <a:rPr lang="en-US" sz="500" kern="0" dirty="0">
                              <a:effectLst/>
                            </a:rPr>
                            <a:t>),</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𝐿</m:t>
                                  </m:r>
                                </m:sub>
                              </m:sSub>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oMath>
                          </a14:m>
                          <a:r>
                            <a:rPr lang="en-US" sz="500" kern="0" dirty="0">
                              <a:effectLst/>
                            </a:rPr>
                            <a:t>,</a:t>
                          </a:r>
                          <a14:m>
                            <m:oMath xmlns:m="http://schemas.openxmlformats.org/officeDocument/2006/math">
                              <m:r>
                                <a:rPr lang="en-US" sz="600" kern="100">
                                  <a:effectLst/>
                                  <a:latin typeface="Cambria Math" panose="02040503050406030204" pitchFamily="18" charset="0"/>
                                </a:rPr>
                                <m:t> </m:t>
                              </m:r>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I</m:t>
                                  </m:r>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14:m>
                            <m:oMath xmlns:m="http://schemas.openxmlformats.org/officeDocument/2006/math">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r>
                                    <a:rPr lang="en-US" sz="600" kern="100">
                                      <a:effectLst/>
                                      <a:latin typeface="Cambria Math" panose="02040503050406030204" pitchFamily="18" charset="0"/>
                                    </a:rPr>
                                    <m:t>0</m:t>
                                  </m:r>
                                </m:sub>
                              </m:sSub>
                            </m:oMath>
                          </a14:m>
                          <a:r>
                            <a:rPr lang="en-US" sz="500" kern="0" dirty="0">
                              <a:effectLst/>
                            </a:rPr>
                            <a:t> = 0</a:t>
                          </a:r>
                          <a:endParaRPr lang="zh-CN" sz="600" kern="100" dirty="0">
                            <a:effectLst/>
                          </a:endParaRPr>
                        </a:p>
                        <a:p>
                          <a:pPr algn="l">
                            <a:spcAft>
                              <a:spcPts val="0"/>
                            </a:spcAft>
                          </a:pPr>
                          <a14:m>
                            <m:oMath xmlns:m="http://schemas.openxmlformats.org/officeDocument/2006/math">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a</m:t>
                                  </m:r>
                                </m:e>
                                <m:sub>
                                  <m:r>
                                    <a:rPr lang="en-US" sz="600" kern="100">
                                      <a:effectLst/>
                                      <a:latin typeface="Cambria Math" panose="02040503050406030204" pitchFamily="18" charset="0"/>
                                    </a:rPr>
                                    <m:t>0</m:t>
                                  </m:r>
                                </m:sub>
                              </m:sSub>
                            </m:oMath>
                          </a14:m>
                          <a:r>
                            <a:rPr lang="en-US" sz="500" kern="0" dirty="0">
                              <a:effectLst/>
                            </a:rPr>
                            <a:t> = -ag</a:t>
                          </a:r>
                          <a:endParaRPr lang="zh-CN" sz="600" kern="100" dirty="0">
                            <a:effectLst/>
                          </a:endParaRPr>
                        </a:p>
                        <a:p>
                          <a:pPr algn="l">
                            <a:spcAft>
                              <a:spcPts val="0"/>
                            </a:spcAft>
                          </a:pPr>
                          <a:r>
                            <a:rPr lang="en-US" sz="500" kern="0" dirty="0">
                              <a:effectLst/>
                            </a:rPr>
                            <a:t>for </a:t>
                          </a:r>
                          <a:r>
                            <a:rPr lang="en-US" sz="500" kern="0" dirty="0" err="1">
                              <a:effectLst/>
                            </a:rPr>
                            <a:t>i</a:t>
                          </a:r>
                          <a:r>
                            <a:rPr lang="en-US" sz="500" kern="0" dirty="0">
                              <a:effectLst/>
                            </a:rPr>
                            <a:t>=1 to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𝑁</m:t>
                                  </m:r>
                                </m:e>
                                <m:sub>
                                  <m:r>
                                    <a:rPr lang="en-US" sz="600" kern="100">
                                      <a:effectLst/>
                                      <a:latin typeface="Cambria Math" panose="02040503050406030204" pitchFamily="18" charset="0"/>
                                    </a:rPr>
                                    <m:t>𝐵</m:t>
                                  </m:r>
                                </m:sub>
                              </m:sSub>
                            </m:oMath>
                          </a14:m>
                          <a:r>
                            <a:rPr lang="en-US" sz="500" kern="0" dirty="0">
                              <a:effectLst/>
                            </a:rPr>
                            <a:t> do</a:t>
                          </a:r>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𝐽</m:t>
                                  </m:r>
                                </m:sub>
                              </m:sSub>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oMath>
                          </a14:m>
                          <a:r>
                            <a:rPr lang="en-US" sz="500" kern="0" dirty="0">
                              <a:effectLst/>
                            </a:rPr>
                            <a:t> = </a:t>
                          </a:r>
                          <a:r>
                            <a:rPr lang="en-US" sz="500" kern="0" dirty="0" err="1">
                              <a:effectLst/>
                            </a:rPr>
                            <a:t>xjcalc</a:t>
                          </a:r>
                          <a:r>
                            <a:rPr lang="en-US" sz="500" kern="0" dirty="0">
                              <a:effectLst/>
                            </a:rPr>
                            <a:t>(</a:t>
                          </a:r>
                          <a:r>
                            <a:rPr lang="en-US" sz="500" kern="0" dirty="0" err="1">
                              <a:effectLst/>
                            </a:rPr>
                            <a:t>jtype</a:t>
                          </a:r>
                          <a:r>
                            <a:rPr lang="en-US" sz="500" kern="0" dirty="0">
                              <a:effectLst/>
                            </a:rPr>
                            <a:t>(</a:t>
                          </a:r>
                          <a:r>
                            <a:rPr lang="en-US" sz="500" kern="0" dirty="0" err="1">
                              <a:effectLst/>
                            </a:rPr>
                            <a:t>i</a:t>
                          </a:r>
                          <a:r>
                            <a:rPr lang="en-US" sz="500" kern="0" dirty="0">
                              <a:effectLst/>
                            </a:rPr>
                            <a:t>),</a:t>
                          </a:r>
                          <a14:m>
                            <m:oMath xmlns:m="http://schemas.openxmlformats.org/officeDocument/2006/math">
                              <m:r>
                                <a:rPr lang="en-US" sz="600" kern="0">
                                  <a:effectLst/>
                                  <a:latin typeface="Cambria Math" panose="02040503050406030204" pitchFamily="18" charset="0"/>
                                </a:rPr>
                                <m:t> </m:t>
                              </m:r>
                              <m:sSub>
                                <m:sSubPr>
                                  <m:ctrlPr>
                                    <a:rPr lang="zh-CN" sz="600" i="1" kern="0">
                                      <a:effectLst/>
                                      <a:latin typeface="Cambria Math" panose="02040503050406030204" pitchFamily="18" charset="0"/>
                                    </a:rPr>
                                  </m:ctrlPr>
                                </m:sSubPr>
                                <m:e>
                                  <m:r>
                                    <a:rPr lang="en-US" sz="600" kern="100">
                                      <a:effectLst/>
                                      <a:latin typeface="Cambria Math" panose="02040503050406030204" pitchFamily="18" charset="0"/>
                                    </a:rPr>
                                    <m:t>𝑞</m:t>
                                  </m:r>
                                </m:e>
                                <m:sub>
                                  <m:r>
                                    <a:rPr lang="en-US" sz="600" kern="100">
                                      <a:effectLst/>
                                      <a:latin typeface="Cambria Math" panose="02040503050406030204" pitchFamily="18" charset="0"/>
                                    </a:rPr>
                                    <m:t>𝑖</m:t>
                                  </m:r>
                                </m:sub>
                              </m:sSub>
                            </m:oMath>
                          </a14:m>
                          <a:r>
                            <a:rPr lang="en-US" sz="500" kern="0" dirty="0">
                              <a:effectLst/>
                            </a:rPr>
                            <a:t>)</a:t>
                          </a:r>
                          <a:endParaRPr lang="zh-CN" sz="600" kern="100" dirty="0">
                            <a:effectLst/>
                          </a:endParaRPr>
                        </a:p>
                        <a:p>
                          <a:pPr algn="l">
                            <a:spcAft>
                              <a:spcPts val="0"/>
                            </a:spcAft>
                          </a:pPr>
                          <a:r>
                            <a:rPr lang="en-US" sz="500" kern="0" dirty="0">
                              <a:effectLst/>
                            </a:rPr>
                            <a:t>    </a:t>
                          </a:r>
                          <a14:m>
                            <m:oMath xmlns:m="http://schemas.openxmlformats.org/officeDocument/2006/math">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𝜆</m:t>
                                          </m:r>
                                        </m:e>
                                        <m:sub>
                                          <m:r>
                                            <a:rPr lang="en-US" sz="600" kern="100">
                                              <a:effectLst/>
                                              <a:latin typeface="Cambria Math" panose="02040503050406030204" pitchFamily="18" charset="0"/>
                                            </a:rPr>
                                            <m:t>𝑖</m:t>
                                          </m:r>
                                        </m:sub>
                                      </m:sSub>
                                    </m:sub>
                                  </m:sSub>
                                </m:e>
                              </m:sPre>
                              <m:r>
                                <a:rPr lang="en-US" sz="600" kern="100">
                                  <a:effectLst/>
                                  <a:latin typeface="Cambria Math" panose="02040503050406030204" pitchFamily="18" charset="0"/>
                                </a:rPr>
                                <m:t> =</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 </m:t>
                                  </m:r>
                                  <m:r>
                                    <a:rPr lang="en-US" sz="600" kern="100">
                                      <a:effectLst/>
                                      <a:latin typeface="Cambria Math" panose="02040503050406030204" pitchFamily="18" charset="0"/>
                                    </a:rPr>
                                    <m:t>𝑋</m:t>
                                  </m:r>
                                </m:e>
                                <m:sub>
                                  <m:r>
                                    <a:rPr lang="en-US" sz="600" kern="100">
                                      <a:effectLst/>
                                      <a:latin typeface="Cambria Math" panose="02040503050406030204" pitchFamily="18" charset="0"/>
                                    </a:rPr>
                                    <m:t>𝐽</m:t>
                                  </m:r>
                                </m:sub>
                              </m:sSub>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𝐿</m:t>
                                  </m:r>
                                </m:sub>
                              </m:sSub>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oMath>
                          </a14:m>
                          <a:endParaRPr lang="zh-CN" sz="600" kern="100" dirty="0">
                            <a:effectLst/>
                          </a:endParaRPr>
                        </a:p>
                        <a:p>
                          <a:pPr algn="l">
                            <a:spcAft>
                              <a:spcPts val="0"/>
                            </a:spcAft>
                          </a:pPr>
                          <a:r>
                            <a:rPr lang="en-US" sz="500" kern="0" dirty="0">
                              <a:effectLst/>
                            </a:rPr>
                            <a:t>    if 𝛌 (</a:t>
                          </a:r>
                          <a:r>
                            <a:rPr lang="en-US" sz="500" kern="0" dirty="0" err="1">
                              <a:effectLst/>
                            </a:rPr>
                            <a:t>i</a:t>
                          </a:r>
                          <a:r>
                            <a:rPr lang="en-US" sz="500" kern="0" dirty="0">
                              <a:effectLst/>
                            </a:rPr>
                            <a:t>)</a:t>
                          </a:r>
                          <a14:m>
                            <m:oMath xmlns:m="http://schemas.openxmlformats.org/officeDocument/2006/math">
                              <m:r>
                                <a:rPr lang="en-US" sz="500" kern="0">
                                  <a:effectLst/>
                                  <a:latin typeface="Cambria Math" panose="02040503050406030204" pitchFamily="18" charset="0"/>
                                </a:rPr>
                                <m:t>≠</m:t>
                              </m:r>
                            </m:oMath>
                          </a14:m>
                          <a:r>
                            <a:rPr lang="en-US" sz="500" kern="0" dirty="0">
                              <a:effectLst/>
                            </a:rPr>
                            <a:t> 0 then</a:t>
                          </a:r>
                          <a:endParaRPr lang="zh-CN" sz="600" kern="100" dirty="0">
                            <a:effectLst/>
                          </a:endParaRPr>
                        </a:p>
                        <a:p>
                          <a:pPr algn="l">
                            <a:spcAft>
                              <a:spcPts val="0"/>
                            </a:spcAft>
                          </a:pPr>
                          <a:r>
                            <a:rPr lang="en-US" sz="500" kern="0" dirty="0">
                              <a:effectLst/>
                            </a:rPr>
                            <a:t>        </a:t>
                          </a:r>
                          <a14:m>
                            <m:oMath xmlns:m="http://schemas.openxmlformats.org/officeDocument/2006/math">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0</m:t>
                                      </m:r>
                                    </m:sub>
                                  </m:sSub>
                                </m:e>
                              </m:sPre>
                              <m:r>
                                <a:rPr lang="en-US" sz="600" kern="100">
                                  <a:effectLst/>
                                  <a:latin typeface="Cambria Math" panose="02040503050406030204" pitchFamily="18" charset="0"/>
                                </a:rPr>
                                <m:t>=</m:t>
                              </m:r>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𝜆</m:t>
                                          </m:r>
                                        </m:e>
                                        <m:sub>
                                          <m:r>
                                            <a:rPr lang="en-US" sz="600" kern="100">
                                              <a:effectLst/>
                                              <a:latin typeface="Cambria Math" panose="02040503050406030204" pitchFamily="18" charset="0"/>
                                            </a:rPr>
                                            <m:t>𝑖</m:t>
                                          </m:r>
                                        </m:sub>
                                      </m:sSub>
                                    </m:sub>
                                  </m:sSub>
                                </m:e>
                              </m:sPre>
                              <m:sPre>
                                <m:sPrePr>
                                  <m:ctrlPr>
                                    <a:rPr lang="zh-CN" sz="600" i="1" kern="100">
                                      <a:effectLst/>
                                      <a:latin typeface="Cambria Math" panose="02040503050406030204" pitchFamily="18" charset="0"/>
                                    </a:rPr>
                                  </m:ctrlPr>
                                </m:sPrePr>
                                <m:sub/>
                                <m:sup>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𝜆</m:t>
                                      </m:r>
                                    </m:e>
                                    <m:sub>
                                      <m:r>
                                        <a:rPr lang="en-US" sz="600" kern="100">
                                          <a:effectLst/>
                                          <a:latin typeface="Cambria Math" panose="02040503050406030204" pitchFamily="18" charset="0"/>
                                        </a:rPr>
                                        <m:t>𝑖</m:t>
                                      </m:r>
                                    </m:sub>
                                  </m:sSub>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0</m:t>
                                      </m:r>
                                    </m:sub>
                                  </m:sSub>
                                </m:e>
                              </m:sPre>
                            </m:oMath>
                          </a14:m>
                          <a:endParaRPr lang="zh-CN" sz="600" kern="100" dirty="0">
                            <a:effectLst/>
                          </a:endParaRPr>
                        </a:p>
                        <a:p>
                          <a:pPr algn="l">
                            <a:spcAft>
                              <a:spcPts val="0"/>
                            </a:spcAft>
                          </a:pPr>
                          <a:r>
                            <a:rPr lang="en-US" sz="500" kern="0" dirty="0">
                              <a:effectLst/>
                            </a:rPr>
                            <a:t>    end</a:t>
                          </a:r>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oMath>
                          </a14:m>
                          <a:r>
                            <a:rPr lang="en-US" sz="500" kern="0" dirty="0">
                              <a:effectLst/>
                            </a:rPr>
                            <a:t> = </a:t>
                          </a:r>
                          <a:r>
                            <a:rPr lang="en-US" sz="500" kern="0" dirty="0" err="1">
                              <a:effectLst/>
                            </a:rPr>
                            <a:t>pcalc</a:t>
                          </a:r>
                          <a:r>
                            <a:rPr lang="en-US" sz="500" kern="0" dirty="0">
                              <a:effectLst/>
                            </a:rPr>
                            <a:t>(</a:t>
                          </a:r>
                          <a:r>
                            <a:rPr lang="en-US" sz="500" kern="0" dirty="0" err="1">
                              <a:effectLst/>
                            </a:rPr>
                            <a:t>jtype</a:t>
                          </a:r>
                          <a:r>
                            <a:rPr lang="en-US" sz="500" kern="0" dirty="0">
                              <a:effectLst/>
                            </a:rPr>
                            <a:t>(</a:t>
                          </a:r>
                          <a:r>
                            <a:rPr lang="en-US" sz="500" kern="0" dirty="0" err="1">
                              <a:effectLst/>
                            </a:rPr>
                            <a:t>i</a:t>
                          </a:r>
                          <a:r>
                            <a:rPr lang="en-US" sz="500" kern="0" dirty="0">
                              <a:effectLst/>
                            </a:rPr>
                            <a:t>),qi)</a:t>
                          </a:r>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𝜆</m:t>
                                          </m:r>
                                        </m:e>
                                        <m:sub>
                                          <m:r>
                                            <a:rPr lang="en-US" sz="600" kern="100">
                                              <a:effectLst/>
                                              <a:latin typeface="Cambria Math" panose="02040503050406030204" pitchFamily="18" charset="0"/>
                                            </a:rPr>
                                            <m:t>𝑖</m:t>
                                          </m:r>
                                        </m:sub>
                                      </m:sSub>
                                    </m:sub>
                                  </m:sSub>
                                </m:e>
                              </m:sPre>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𝜆</m:t>
                                      </m:r>
                                    </m:e>
                                    <m:sub>
                                      <m:r>
                                        <a:rPr lang="en-US" sz="600" kern="100">
                                          <a:effectLst/>
                                          <a:latin typeface="Cambria Math" panose="02040503050406030204" pitchFamily="18" charset="0"/>
                                        </a:rPr>
                                        <m:t>𝑖</m:t>
                                      </m:r>
                                    </m:sub>
                                  </m:sSub>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acc>
                                    <m:accPr>
                                      <m:chr m:val="̇"/>
                                      <m:ctrlPr>
                                        <a:rPr lang="zh-CN" sz="600" i="1" kern="100">
                                          <a:effectLst/>
                                          <a:latin typeface="Cambria Math" panose="02040503050406030204" pitchFamily="18" charset="0"/>
                                        </a:rPr>
                                      </m:ctrlPr>
                                    </m:accPr>
                                    <m:e>
                                      <m:r>
                                        <a:rPr lang="en-US" sz="600" kern="100">
                                          <a:effectLst/>
                                          <a:latin typeface="Cambria Math" panose="02040503050406030204" pitchFamily="18" charset="0"/>
                                        </a:rPr>
                                        <m:t>𝑞</m:t>
                                      </m:r>
                                    </m:e>
                                  </m:acc>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0">
                                      <a:effectLst/>
                                      <a:latin typeface="Cambria Math" panose="02040503050406030204" pitchFamily="18" charset="0"/>
                                    </a:rPr>
                                  </m:ctrlPr>
                                </m:sSubPr>
                                <m:e>
                                  <m:r>
                                    <a:rPr lang="en-US" sz="600" kern="100">
                                      <a:effectLst/>
                                      <a:latin typeface="Cambria Math" panose="02040503050406030204" pitchFamily="18" charset="0"/>
                                    </a:rPr>
                                    <m:t>𝜉</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acc>
                                    <m:accPr>
                                      <m:chr m:val="̇"/>
                                      <m:ctrlPr>
                                        <a:rPr lang="zh-CN" sz="600" i="1" kern="100">
                                          <a:effectLst/>
                                          <a:latin typeface="Cambria Math" panose="02040503050406030204" pitchFamily="18" charset="0"/>
                                        </a:rPr>
                                      </m:ctrlPr>
                                    </m:accPr>
                                    <m:e>
                                      <m:r>
                                        <a:rPr lang="en-US" sz="600" kern="100">
                                          <a:effectLst/>
                                          <a:latin typeface="Cambria Math" panose="02040503050406030204" pitchFamily="18" charset="0"/>
                                        </a:rPr>
                                        <m:t>𝑞</m:t>
                                      </m:r>
                                    </m:e>
                                  </m:acc>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r>
                            <a:rPr lang="en-US" sz="500" kern="0" dirty="0">
                              <a:effectLst/>
                            </a:rPr>
                            <a:t>    </a:t>
                          </a:r>
                          <a14:m>
                            <m:oMath xmlns:m="http://schemas.openxmlformats.org/officeDocument/2006/math">
                              <m:sSubSup>
                                <m:sSubSupPr>
                                  <m:ctrlPr>
                                    <a:rPr lang="zh-CN" sz="600" i="1" kern="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b>
                                <m:sSubPr>
                                  <m:ctrlPr>
                                    <a:rPr lang="zh-CN" sz="600" i="1" kern="0">
                                      <a:effectLst/>
                                      <a:latin typeface="Cambria Math" panose="02040503050406030204" pitchFamily="18" charset="0"/>
                                    </a:rPr>
                                  </m:ctrlPr>
                                </m:sSub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0">
                                      <a:effectLst/>
                                      <a:latin typeface="Cambria Math" panose="02040503050406030204" pitchFamily="18" charset="0"/>
                                    </a:rPr>
                                  </m:ctrlPr>
                                </m:sSubPr>
                                <m:e>
                                  <m:r>
                                    <m:rPr>
                                      <m:sty m:val="p"/>
                                    </m:rPr>
                                    <a:rPr lang="en-US" sz="600" kern="100">
                                      <a:effectLst/>
                                      <a:latin typeface="Cambria Math" panose="02040503050406030204" pitchFamily="18" charset="0"/>
                                    </a:rPr>
                                    <m:t>p</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0">
                                      <a:effectLst/>
                                      <a:latin typeface="Cambria Math" panose="02040503050406030204" pitchFamily="18" charset="0"/>
                                    </a:rPr>
                                  </m:ctrlPr>
                                </m:sSubPr>
                                <m:e>
                                  <m:r>
                                    <m:rPr>
                                      <m:sty m:val="p"/>
                                    </m:rPr>
                                    <a:rPr lang="en-US" sz="600" kern="100">
                                      <a:effectLst/>
                                      <a:latin typeface="Cambria Math" panose="02040503050406030204" pitchFamily="18" charset="0"/>
                                    </a:rPr>
                                    <m:t>I</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r>
                                    <m:rPr>
                                      <m:sty m:val="p"/>
                                    </m:rPr>
                                    <a:rPr lang="en-US" sz="600" kern="100">
                                      <a:effectLst/>
                                      <a:latin typeface="Cambria Math" panose="02040503050406030204" pitchFamily="18" charset="0"/>
                                    </a:rPr>
                                    <m:t>v</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𝑋</m:t>
                                      </m:r>
                                    </m:e>
                                    <m:sub>
                                      <m:r>
                                        <a:rPr lang="en-US" sz="600" kern="100">
                                          <a:effectLst/>
                                          <a:latin typeface="Cambria Math" panose="02040503050406030204" pitchFamily="18" charset="0"/>
                                        </a:rPr>
                                        <m:t>0</m:t>
                                      </m:r>
                                    </m:sub>
                                    <m:sup>
                                      <m:r>
                                        <a:rPr lang="en-US" sz="600" kern="100">
                                          <a:effectLst/>
                                          <a:latin typeface="Cambria Math" panose="02040503050406030204" pitchFamily="18" charset="0"/>
                                        </a:rPr>
                                        <m:t>−</m:t>
                                      </m:r>
                                      <m:r>
                                        <a:rPr lang="en-US" sz="600" kern="100">
                                          <a:effectLst/>
                                          <a:latin typeface="Cambria Math" panose="02040503050406030204" pitchFamily="18" charset="0"/>
                                        </a:rPr>
                                        <m:t>𝑇</m:t>
                                      </m:r>
                                    </m:sup>
                                  </m:sSubSup>
                                </m:e>
                              </m:sPre>
                              <m:sSubSup>
                                <m:sSubSupPr>
                                  <m:ctrlPr>
                                    <a:rPr lang="zh-CN" sz="600" i="1" kern="100">
                                      <a:effectLst/>
                                      <a:latin typeface="Cambria Math" panose="02040503050406030204" pitchFamily="18" charset="0"/>
                                    </a:rPr>
                                  </m:ctrlPr>
                                </m:sSubSupPr>
                                <m:e>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0</m:t>
                                      </m:r>
                                    </m:sup>
                                    <m:e>
                                      <m:r>
                                        <m:rPr>
                                          <m:sty m:val="p"/>
                                        </m:rPr>
                                        <a:rPr lang="en-US" sz="600" kern="100">
                                          <a:effectLst/>
                                          <a:latin typeface="Cambria Math" panose="02040503050406030204" pitchFamily="18" charset="0"/>
                                        </a:rPr>
                                        <m:t>f</m:t>
                                      </m:r>
                                    </m:e>
                                  </m:sPre>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𝑒𝑥𝑡</m:t>
                                  </m:r>
                                </m:sup>
                              </m:sSubSup>
                            </m:oMath>
                          </a14:m>
                          <a:endParaRPr lang="zh-CN" sz="600" kern="100" dirty="0">
                            <a:effectLst/>
                          </a:endParaRPr>
                        </a:p>
                        <a:p>
                          <a:pPr algn="l">
                            <a:spcAft>
                              <a:spcPts val="0"/>
                            </a:spcAft>
                          </a:pPr>
                          <a:r>
                            <a:rPr lang="en-US" sz="500" kern="0" dirty="0">
                              <a:effectLst/>
                            </a:rPr>
                            <a:t>end</a:t>
                          </a:r>
                          <a:endParaRPr lang="zh-CN" sz="600" kern="100" dirty="0">
                            <a:effectLst/>
                          </a:endParaRPr>
                        </a:p>
                        <a:p>
                          <a:pPr algn="l">
                            <a:spcAft>
                              <a:spcPts val="0"/>
                            </a:spcAft>
                          </a:pPr>
                          <a:r>
                            <a:rPr lang="en-US" sz="500" kern="0" dirty="0">
                              <a:effectLst/>
                            </a:rPr>
                            <a:t>for </a:t>
                          </a:r>
                          <a:r>
                            <a:rPr lang="en-US" sz="500" kern="0" dirty="0" err="1">
                              <a:effectLst/>
                            </a:rPr>
                            <a:t>i</a:t>
                          </a:r>
                          <a:r>
                            <a:rPr lang="en-US" sz="500" kern="0" dirty="0">
                              <a:effectLst/>
                            </a:rPr>
                            <a:t> =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𝑁</m:t>
                                  </m:r>
                                </m:e>
                                <m:sub>
                                  <m:r>
                                    <a:rPr lang="en-US" sz="600" kern="100">
                                      <a:effectLst/>
                                      <a:latin typeface="Cambria Math" panose="02040503050406030204" pitchFamily="18" charset="0"/>
                                    </a:rPr>
                                    <m:t>𝐵</m:t>
                                  </m:r>
                                </m:sub>
                              </m:sSub>
                            </m:oMath>
                          </a14:m>
                          <a:r>
                            <a:rPr lang="en-US" sz="500" kern="0" dirty="0">
                              <a:effectLst/>
                            </a:rPr>
                            <a:t> to 1 do</a:t>
                          </a:r>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0">
                                      <a:effectLst/>
                                      <a:latin typeface="Cambria Math" panose="02040503050406030204" pitchFamily="18" charset="0"/>
                                    </a:rPr>
                                  </m:ctrlPr>
                                </m:sSub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Sup>
                                <m:sSubSupPr>
                                  <m:ctrlPr>
                                    <a:rPr lang="zh-CN" sz="600" i="1" kern="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oMath>
                          </a14:m>
                          <a:endParaRPr lang="zh-CN" sz="600" kern="100" dirty="0">
                            <a:effectLst/>
                          </a:endParaRPr>
                        </a:p>
                        <a:p>
                          <a:pPr algn="l">
                            <a:spcAft>
                              <a:spcPts val="0"/>
                            </a:spcAft>
                          </a:pPr>
                          <a:r>
                            <a:rPr lang="en-US" sz="600" kern="100" dirty="0">
                              <a:effectLst/>
                            </a:rPr>
                            <a:t>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𝐷</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p>
                                <m:sSupPr>
                                  <m:ctrlPr>
                                    <a:rPr lang="zh-CN" sz="600" i="1" kern="100">
                                      <a:effectLst/>
                                      <a:latin typeface="Cambria Math" panose="02040503050406030204" pitchFamily="18" charset="0"/>
                                    </a:rPr>
                                  </m:ctrlPr>
                                </m:sSupPr>
                                <m:e>
                                  <m:r>
                                    <a:rPr lang="en-US" sz="600" kern="100">
                                      <a:effectLst/>
                                      <a:latin typeface="Cambria Math" panose="02040503050406030204" pitchFamily="18" charset="0"/>
                                    </a:rPr>
                                    <m:t>(</m:t>
                                  </m:r>
                                  <m:sSup>
                                    <m:sSupPr>
                                      <m:ctrlPr>
                                        <a:rPr lang="zh-CN" sz="600" i="1" kern="100">
                                          <a:effectLst/>
                                          <a:latin typeface="Cambria Math" panose="02040503050406030204" pitchFamily="18" charset="0"/>
                                        </a:rPr>
                                      </m:ctrlPr>
                                    </m:sSupPr>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e>
                                    <m:sup>
                                      <m:r>
                                        <a:rPr lang="en-US" sz="600" kern="100">
                                          <a:effectLst/>
                                          <a:latin typeface="Cambria Math" panose="02040503050406030204" pitchFamily="18" charset="0"/>
                                        </a:rPr>
                                        <m:t>𝑇</m:t>
                                      </m:r>
                                    </m:sup>
                                  </m:sSup>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e>
                                <m:sup>
                                  <m:r>
                                    <a:rPr lang="en-US" sz="600" kern="100">
                                      <a:effectLst/>
                                      <a:latin typeface="Cambria Math" panose="02040503050406030204" pitchFamily="18" charset="0"/>
                                    </a:rPr>
                                    <m:t>−1</m:t>
                                  </m:r>
                                </m:sup>
                              </m:sSup>
                            </m:oMath>
                          </a14:m>
                          <a:endParaRPr lang="zh-CN" sz="600" kern="100" dirty="0">
                            <a:effectLst/>
                          </a:endParaRPr>
                        </a:p>
                        <a:p>
                          <a:pPr algn="l">
                            <a:spcAft>
                              <a:spcPts val="0"/>
                            </a:spcAft>
                          </a:pPr>
                          <a:r>
                            <a:rPr lang="en-US" sz="500" kern="0" dirty="0">
                              <a:effectLst/>
                            </a:rPr>
                            <a:t>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𝑢</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𝜏</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𝑇</m:t>
                                  </m:r>
                                </m:sup>
                              </m:sSubSup>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𝜉</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p>
                                <m:sSupPr>
                                  <m:ctrlPr>
                                    <a:rPr lang="zh-CN" sz="600" i="1" kern="100">
                                      <a:effectLst/>
                                      <a:latin typeface="Cambria Math" panose="02040503050406030204" pitchFamily="18" charset="0"/>
                                    </a:rPr>
                                  </m:ctrlPr>
                                </m:sSupPr>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e>
                                <m:sup>
                                  <m:r>
                                    <a:rPr lang="en-US" sz="600" kern="100">
                                      <a:effectLst/>
                                      <a:latin typeface="Cambria Math" panose="02040503050406030204" pitchFamily="18" charset="0"/>
                                    </a:rPr>
                                    <m:t>𝑇</m:t>
                                  </m:r>
                                </m:sup>
                              </m:sSup>
                              <m:sSubSup>
                                <m:sSubSupPr>
                                  <m:ctrlPr>
                                    <a:rPr lang="zh-CN" sz="600" i="1" kern="100">
                                      <a:effectLst/>
                                      <a:latin typeface="Cambria Math" panose="02040503050406030204" pitchFamily="18" charset="0"/>
                                    </a:rPr>
                                  </m:ctrlPr>
                                </m:sSubSupPr>
                                <m:e>
                                  <m:r>
                                    <m:rPr>
                                      <m:sty m:val="p"/>
                                    </m:rPr>
                                    <a:rPr lang="en-US" sz="600" kern="100">
                                      <a:effectLst/>
                                      <a:latin typeface="Cambria Math" panose="02040503050406030204" pitchFamily="18" charset="0"/>
                                    </a:rPr>
                                    <m:t>p</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oMath>
                          </a14:m>
                          <a:endParaRPr lang="zh-CN" sz="600" kern="100" dirty="0">
                            <a:effectLst/>
                          </a:endParaRPr>
                        </a:p>
                        <a:p>
                          <a:pPr algn="l">
                            <a:spcAft>
                              <a:spcPts val="0"/>
                            </a:spcAft>
                          </a:pPr>
                          <a:r>
                            <a:rPr lang="en-US" sz="500" kern="0" dirty="0">
                              <a:effectLst/>
                            </a:rPr>
                            <a:t>    if 𝛌 (</a:t>
                          </a:r>
                          <a:r>
                            <a:rPr lang="en-US" sz="500" kern="0" dirty="0" err="1">
                              <a:effectLst/>
                            </a:rPr>
                            <a:t>i</a:t>
                          </a:r>
                          <a:r>
                            <a:rPr lang="en-US" sz="500" kern="0" dirty="0">
                              <a:effectLst/>
                            </a:rPr>
                            <a:t>) </a:t>
                          </a:r>
                          <a14:m>
                            <m:oMath xmlns:m="http://schemas.openxmlformats.org/officeDocument/2006/math">
                              <m:r>
                                <a:rPr lang="en-US" sz="500" kern="0">
                                  <a:effectLst/>
                                  <a:latin typeface="Cambria Math" panose="02040503050406030204" pitchFamily="18" charset="0"/>
                                </a:rPr>
                                <m:t>≠</m:t>
                              </m:r>
                            </m:oMath>
                          </a14:m>
                          <a:r>
                            <a:rPr lang="en-US" sz="500" kern="0" dirty="0">
                              <a:effectLst/>
                            </a:rPr>
                            <a:t> 0 then</a:t>
                          </a:r>
                          <a:endParaRPr lang="zh-CN" sz="600" kern="100" dirty="0">
                            <a:effectLst/>
                          </a:endParaRPr>
                        </a:p>
                        <a:p>
                          <a:pPr algn="l">
                            <a:spcAft>
                              <a:spcPts val="0"/>
                            </a:spcAft>
                          </a:pPr>
                          <a:r>
                            <a:rPr lang="en-US" sz="500" kern="0" dirty="0">
                              <a:effectLst/>
                            </a:rPr>
                            <a:t>        </a:t>
                          </a:r>
                          <a14:m>
                            <m:oMath xmlns:m="http://schemas.openxmlformats.org/officeDocument/2006/math">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p>
                                <m:sSupPr>
                                  <m:ctrlPr>
                                    <a:rPr lang="zh-CN" sz="600" i="1" kern="100">
                                      <a:effectLst/>
                                      <a:latin typeface="Cambria Math" panose="02040503050406030204" pitchFamily="18" charset="0"/>
                                    </a:rPr>
                                  </m:ctrlPr>
                                </m:sSupPr>
                                <m:e>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Sub>
                                    </m:e>
                                  </m:sPre>
                                </m:e>
                                <m:sup>
                                  <m:r>
                                    <a:rPr lang="en-US" sz="600" kern="100">
                                      <a:effectLst/>
                                      <a:latin typeface="Cambria Math" panose="02040503050406030204" pitchFamily="18" charset="0"/>
                                    </a:rPr>
                                    <m:t>𝑇</m:t>
                                  </m:r>
                                </m:sup>
                              </m:sSup>
                              <m:d>
                                <m:dPr>
                                  <m:ctrlPr>
                                    <a:rPr lang="zh-CN" sz="600" i="1" kern="100">
                                      <a:effectLst/>
                                      <a:latin typeface="Cambria Math" panose="02040503050406030204" pitchFamily="18" charset="0"/>
                                    </a:rPr>
                                  </m:ctrlPr>
                                </m:dPr>
                                <m:e>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𝐷</m:t>
                                      </m:r>
                                    </m:e>
                                    <m:sub>
                                      <m:r>
                                        <a:rPr lang="en-US" sz="600" kern="100">
                                          <a:effectLst/>
                                          <a:latin typeface="Cambria Math" panose="02040503050406030204" pitchFamily="18" charset="0"/>
                                        </a:rPr>
                                        <m:t>𝑖</m:t>
                                      </m:r>
                                    </m:sub>
                                  </m:sSub>
                                  <m:sSup>
                                    <m:sSupPr>
                                      <m:ctrlPr>
                                        <a:rPr lang="zh-CN" sz="600" i="1" kern="100">
                                          <a:effectLst/>
                                          <a:latin typeface="Cambria Math" panose="02040503050406030204" pitchFamily="18" charset="0"/>
                                        </a:rPr>
                                      </m:ctrlPr>
                                    </m:sSupPr>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Sub>
                                    </m:e>
                                    <m:sup>
                                      <m:r>
                                        <a:rPr lang="en-US" sz="600" kern="100">
                                          <a:effectLst/>
                                          <a:latin typeface="Cambria Math" panose="02040503050406030204" pitchFamily="18" charset="0"/>
                                        </a:rPr>
                                        <m:t>𝑇</m:t>
                                      </m:r>
                                    </m:sup>
                                  </m:sSup>
                                </m:e>
                              </m:d>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Sub>
                                </m:e>
                              </m:sPre>
                            </m:oMath>
                          </a14:m>
                          <a:endParaRPr lang="zh-CN" sz="600" kern="100" dirty="0">
                            <a:effectLst/>
                          </a:endParaRPr>
                        </a:p>
                        <a:p>
                          <a:pPr algn="l">
                            <a:spcAft>
                              <a:spcPts val="0"/>
                            </a:spcAft>
                          </a:pPr>
                          <a:r>
                            <a:rPr lang="en-US" sz="600" kern="100" dirty="0">
                              <a:effectLst/>
                            </a:rPr>
                            <a:t>        </a:t>
                          </a:r>
                          <a14:m>
                            <m:oMath xmlns:m="http://schemas.openxmlformats.org/officeDocument/2006/math">
                              <m:sSubSup>
                                <m:sSubSupPr>
                                  <m:ctrlPr>
                                    <a:rPr lang="zh-CN" sz="600" i="1" kern="100">
                                      <a:effectLst/>
                                      <a:latin typeface="Cambria Math" panose="02040503050406030204" pitchFamily="18" charset="0"/>
                                    </a:rPr>
                                  </m:ctrlPr>
                                </m:sSubSupPr>
                                <m:e>
                                  <m:r>
                                    <m:rPr>
                                      <m:sty m:val="p"/>
                                    </m:rPr>
                                    <a:rPr lang="en-US" sz="600" kern="100">
                                      <a:effectLst/>
                                      <a:latin typeface="Cambria Math" panose="02040503050406030204" pitchFamily="18" charset="0"/>
                                    </a:rPr>
                                    <m:t>p</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bSup>
                                <m:sSubSupPr>
                                  <m:ctrlPr>
                                    <a:rPr lang="zh-CN" sz="600" i="1" kern="100">
                                      <a:effectLst/>
                                      <a:latin typeface="Cambria Math" panose="02040503050406030204" pitchFamily="18" charset="0"/>
                                    </a:rPr>
                                  </m:ctrlPr>
                                </m:sSubSupPr>
                                <m:e>
                                  <m:r>
                                    <m:rPr>
                                      <m:sty m:val="p"/>
                                    </m:rPr>
                                    <a:rPr lang="en-US" sz="600" kern="100">
                                      <a:effectLst/>
                                      <a:latin typeface="Cambria Math" panose="02040503050406030204" pitchFamily="18" charset="0"/>
                                    </a:rPr>
                                    <m:t>p</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p>
                                <m:sSupPr>
                                  <m:ctrlPr>
                                    <a:rPr lang="zh-CN" sz="600" i="1" kern="100">
                                      <a:effectLst/>
                                      <a:latin typeface="Cambria Math" panose="02040503050406030204" pitchFamily="18" charset="0"/>
                                    </a:rPr>
                                  </m:ctrlPr>
                                </m:sSupPr>
                                <m:e>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Sub>
                                    </m:e>
                                  </m:sPre>
                                </m:e>
                                <m:sup>
                                  <m:r>
                                    <a:rPr lang="en-US" sz="600" kern="100">
                                      <a:effectLst/>
                                      <a:latin typeface="Cambria Math" panose="02040503050406030204" pitchFamily="18" charset="0"/>
                                    </a:rPr>
                                    <m:t>𝑇</m:t>
                                  </m:r>
                                </m:sup>
                              </m:sSup>
                              <m:d>
                                <m:dPr>
                                  <m:ctrlPr>
                                    <a:rPr lang="zh-CN" sz="600" i="1" kern="100">
                                      <a:effectLst/>
                                      <a:latin typeface="Cambria Math" panose="02040503050406030204" pitchFamily="18" charset="0"/>
                                    </a:rPr>
                                  </m:ctrlPr>
                                </m:dPr>
                                <m:e>
                                  <m:sSubSup>
                                    <m:sSubSupPr>
                                      <m:ctrlPr>
                                        <a:rPr lang="zh-CN" sz="600" i="1" kern="100">
                                          <a:effectLst/>
                                          <a:latin typeface="Cambria Math" panose="02040503050406030204" pitchFamily="18" charset="0"/>
                                        </a:rPr>
                                      </m:ctrlPr>
                                    </m:sSubSupPr>
                                    <m:e>
                                      <m:r>
                                        <m:rPr>
                                          <m:sty m:val="p"/>
                                        </m:rPr>
                                        <a:rPr lang="en-US" sz="600" kern="100">
                                          <a:effectLst/>
                                          <a:latin typeface="Cambria Math" panose="02040503050406030204" pitchFamily="18" charset="0"/>
                                        </a:rPr>
                                        <m:t>p</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r>
                                    <a:rPr lang="en-US" sz="600" kern="100">
                                      <a:effectLst/>
                                      <a:latin typeface="Cambria Math" panose="02040503050406030204" pitchFamily="18" charset="0"/>
                                    </a:rPr>
                                    <m:t>+</m:t>
                                  </m:r>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𝐼</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𝐴</m:t>
                                      </m:r>
                                    </m:sup>
                                  </m:sSubSup>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𝜉</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𝐷</m:t>
                                      </m:r>
                                    </m:e>
                                    <m:sub>
                                      <m:r>
                                        <a:rPr lang="en-US" sz="600" kern="100">
                                          <a:effectLst/>
                                          <a:latin typeface="Cambria Math" panose="02040503050406030204" pitchFamily="18" charset="0"/>
                                        </a:rPr>
                                        <m:t>𝑖</m:t>
                                      </m:r>
                                    </m:sub>
                                  </m:sSub>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𝑢</m:t>
                                      </m:r>
                                    </m:e>
                                    <m:sub>
                                      <m:r>
                                        <a:rPr lang="en-US" sz="600" kern="100">
                                          <a:effectLst/>
                                          <a:latin typeface="Cambria Math" panose="02040503050406030204" pitchFamily="18" charset="0"/>
                                        </a:rPr>
                                        <m:t>𝑖</m:t>
                                      </m:r>
                                    </m:sub>
                                  </m:sSub>
                                </m:e>
                              </m:d>
                            </m:oMath>
                          </a14:m>
                          <a:endParaRPr lang="zh-CN" sz="600" kern="100" dirty="0">
                            <a:effectLst/>
                          </a:endParaRPr>
                        </a:p>
                        <a:p>
                          <a:pPr algn="l">
                            <a:spcAft>
                              <a:spcPts val="0"/>
                            </a:spcAft>
                          </a:pPr>
                          <a:r>
                            <a:rPr lang="en-US" sz="500" kern="0" dirty="0">
                              <a:effectLst/>
                            </a:rPr>
                            <a:t>    end</a:t>
                          </a:r>
                          <a:endParaRPr lang="zh-CN" sz="600" kern="100" dirty="0">
                            <a:effectLst/>
                          </a:endParaRPr>
                        </a:p>
                        <a:p>
                          <a:pPr algn="l">
                            <a:spcAft>
                              <a:spcPts val="0"/>
                            </a:spcAft>
                          </a:pPr>
                          <a:r>
                            <a:rPr lang="en-US" sz="500" kern="0" dirty="0">
                              <a:effectLst/>
                            </a:rPr>
                            <a:t>end</a:t>
                          </a:r>
                          <a:endParaRPr lang="zh-CN" sz="600" kern="100" dirty="0">
                            <a:effectLst/>
                          </a:endParaRPr>
                        </a:p>
                        <a:p>
                          <a:pPr>
                            <a:spcBef>
                              <a:spcPts val="600"/>
                            </a:spcBef>
                            <a:spcAft>
                              <a:spcPts val="600"/>
                            </a:spcAft>
                          </a:pPr>
                          <a:r>
                            <a:rPr lang="en-US" sz="500" kern="100" dirty="0">
                              <a:effectLst/>
                            </a:rPr>
                            <a:t>for </a:t>
                          </a:r>
                          <a:r>
                            <a:rPr lang="en-US" sz="500" kern="100" dirty="0" err="1">
                              <a:effectLst/>
                            </a:rPr>
                            <a:t>i</a:t>
                          </a:r>
                          <a:r>
                            <a:rPr lang="en-US" sz="500" kern="100" dirty="0">
                              <a:effectLst/>
                            </a:rPr>
                            <a:t> = 1 to </a:t>
                          </a:r>
                          <a14:m>
                            <m:oMath xmlns:m="http://schemas.openxmlformats.org/officeDocument/2006/math">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𝑁</m:t>
                                  </m:r>
                                </m:e>
                                <m:sub>
                                  <m:r>
                                    <a:rPr lang="en-US" sz="600" kern="100">
                                      <a:effectLst/>
                                      <a:latin typeface="Cambria Math" panose="02040503050406030204" pitchFamily="18" charset="0"/>
                                    </a:rPr>
                                    <m:t>𝐵</m:t>
                                  </m:r>
                                </m:sub>
                              </m:sSub>
                            </m:oMath>
                          </a14:m>
                          <a:r>
                            <a:rPr lang="en-US" sz="500" kern="100" dirty="0">
                              <a:effectLst/>
                            </a:rPr>
                            <a:t> do</a:t>
                          </a:r>
                          <a:endParaRPr lang="zh-CN" sz="600" kern="100" dirty="0">
                            <a:effectLst/>
                          </a:endParaRPr>
                        </a:p>
                        <a:p>
                          <a:pPr>
                            <a:spcBef>
                              <a:spcPts val="600"/>
                            </a:spcBef>
                            <a:spcAft>
                              <a:spcPts val="600"/>
                            </a:spcAft>
                          </a:pPr>
                          <a:r>
                            <a:rPr lang="en-US" sz="500" kern="100" dirty="0">
                              <a:effectLst/>
                            </a:rPr>
                            <a:t>    </a:t>
                          </a:r>
                          <a14:m>
                            <m:oMath xmlns:m="http://schemas.openxmlformats.org/officeDocument/2006/math">
                              <m:sSub>
                                <m:sSubPr>
                                  <m:ctrlPr>
                                    <a:rPr lang="zh-CN" sz="500" i="1" kern="100">
                                      <a:effectLst/>
                                      <a:latin typeface="Cambria Math" panose="02040503050406030204" pitchFamily="18" charset="0"/>
                                    </a:rPr>
                                  </m:ctrlPr>
                                </m:sSubPr>
                                <m:e>
                                  <m:r>
                                    <m:rPr>
                                      <m:sty m:val="p"/>
                                    </m:rPr>
                                    <a:rPr lang="en-US" sz="500" kern="100">
                                      <a:effectLst/>
                                      <a:latin typeface="Cambria Math" panose="02040503050406030204" pitchFamily="18" charset="0"/>
                                    </a:rPr>
                                    <m:t>a</m:t>
                                  </m:r>
                                </m:e>
                                <m:sub>
                                  <m:r>
                                    <a:rPr lang="en-US" sz="500" kern="100">
                                      <a:effectLst/>
                                      <a:latin typeface="Cambria Math" panose="02040503050406030204" pitchFamily="18" charset="0"/>
                                    </a:rPr>
                                    <m:t>𝑖</m:t>
                                  </m:r>
                                </m:sub>
                              </m:sSub>
                              <m:r>
                                <a:rPr lang="en-US" sz="500" kern="100">
                                  <a:effectLst/>
                                  <a:latin typeface="Cambria Math" panose="02040503050406030204" pitchFamily="18" charset="0"/>
                                </a:rPr>
                                <m:t>=</m:t>
                              </m:r>
                              <m:sPre>
                                <m:sPrePr>
                                  <m:ctrlPr>
                                    <a:rPr lang="zh-CN" sz="600" i="1" kern="100">
                                      <a:effectLst/>
                                      <a:latin typeface="Cambria Math" panose="02040503050406030204" pitchFamily="18" charset="0"/>
                                    </a:rPr>
                                  </m:ctrlPr>
                                </m:sPrePr>
                                <m:sub/>
                                <m:sup>
                                  <m:r>
                                    <a:rPr lang="en-US" sz="600" kern="100">
                                      <a:effectLst/>
                                      <a:latin typeface="Cambria Math" panose="02040503050406030204" pitchFamily="18" charset="0"/>
                                    </a:rPr>
                                    <m:t>𝑖</m:t>
                                  </m:r>
                                </m:sup>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𝑋</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600" kern="100">
                                          <a:effectLst/>
                                          <a:latin typeface="Cambria Math" panose="02040503050406030204" pitchFamily="18" charset="0"/>
                                        </a:rPr>
                                        <m:t>𝑖</m:t>
                                      </m:r>
                                      <m:r>
                                        <a:rPr lang="en-US" sz="600" kern="100">
                                          <a:effectLst/>
                                          <a:latin typeface="Cambria Math" panose="02040503050406030204" pitchFamily="18" charset="0"/>
                                        </a:rPr>
                                        <m:t>)</m:t>
                                      </m:r>
                                    </m:sub>
                                  </m:sSub>
                                </m:e>
                              </m:sPre>
                              <m:sSub>
                                <m:sSubPr>
                                  <m:ctrlPr>
                                    <a:rPr lang="zh-CN" sz="500" i="1" kern="100">
                                      <a:effectLst/>
                                      <a:latin typeface="Cambria Math" panose="02040503050406030204" pitchFamily="18" charset="0"/>
                                    </a:rPr>
                                  </m:ctrlPr>
                                </m:sSubPr>
                                <m:e>
                                  <m:r>
                                    <m:rPr>
                                      <m:sty m:val="p"/>
                                    </m:rPr>
                                    <a:rPr lang="en-US" sz="500" kern="100">
                                      <a:effectLst/>
                                      <a:latin typeface="Cambria Math" panose="02040503050406030204" pitchFamily="18" charset="0"/>
                                    </a:rPr>
                                    <m:t>a</m:t>
                                  </m:r>
                                </m:e>
                                <m:sub>
                                  <m:r>
                                    <a:rPr lang="en-US" sz="600" kern="100">
                                      <a:effectLst/>
                                      <a:latin typeface="Cambria Math" panose="02040503050406030204" pitchFamily="18" charset="0"/>
                                    </a:rPr>
                                    <m:t>𝜆</m:t>
                                  </m:r>
                                  <m:r>
                                    <a:rPr lang="en-US" sz="600" kern="100">
                                      <a:effectLst/>
                                      <a:latin typeface="Cambria Math" panose="02040503050406030204" pitchFamily="18" charset="0"/>
                                    </a:rPr>
                                    <m:t>(</m:t>
                                  </m:r>
                                  <m:r>
                                    <a:rPr lang="en-US" sz="500" kern="100">
                                      <a:effectLst/>
                                      <a:latin typeface="Cambria Math" panose="02040503050406030204" pitchFamily="18" charset="0"/>
                                    </a:rPr>
                                    <m:t>𝑖</m:t>
                                  </m:r>
                                  <m:r>
                                    <a:rPr lang="en-US" sz="500" kern="100">
                                      <a:effectLst/>
                                      <a:latin typeface="Cambria Math" panose="02040503050406030204" pitchFamily="18" charset="0"/>
                                    </a:rPr>
                                    <m:t>)</m:t>
                                  </m:r>
                                </m:sub>
                              </m:sSub>
                            </m:oMath>
                          </a14:m>
                          <a:endParaRPr lang="zh-CN" sz="600" kern="100" dirty="0">
                            <a:effectLst/>
                          </a:endParaRPr>
                        </a:p>
                        <a:p>
                          <a:pPr>
                            <a:spcBef>
                              <a:spcPts val="600"/>
                            </a:spcBef>
                            <a:spcAft>
                              <a:spcPts val="600"/>
                            </a:spcAft>
                          </a:pPr>
                          <a:r>
                            <a:rPr lang="en-US" sz="500" kern="100" dirty="0">
                              <a:effectLst/>
                            </a:rPr>
                            <a:t>    </a:t>
                          </a:r>
                          <a14:m>
                            <m:oMath xmlns:m="http://schemas.openxmlformats.org/officeDocument/2006/math">
                              <m:sSub>
                                <m:sSubPr>
                                  <m:ctrlPr>
                                    <a:rPr lang="zh-CN" sz="500" i="1" kern="100">
                                      <a:effectLst/>
                                      <a:latin typeface="Cambria Math" panose="02040503050406030204" pitchFamily="18" charset="0"/>
                                    </a:rPr>
                                  </m:ctrlPr>
                                </m:sSubPr>
                                <m:e>
                                  <m:acc>
                                    <m:accPr>
                                      <m:chr m:val="̈"/>
                                      <m:ctrlPr>
                                        <a:rPr lang="zh-CN" sz="500" i="1" kern="100">
                                          <a:effectLst/>
                                          <a:latin typeface="Cambria Math" panose="02040503050406030204" pitchFamily="18" charset="0"/>
                                        </a:rPr>
                                      </m:ctrlPr>
                                    </m:accPr>
                                    <m:e>
                                      <m:r>
                                        <a:rPr lang="en-US" sz="500" kern="100">
                                          <a:effectLst/>
                                          <a:latin typeface="Cambria Math" panose="02040503050406030204" pitchFamily="18" charset="0"/>
                                        </a:rPr>
                                        <m:t>𝑞</m:t>
                                      </m:r>
                                    </m:e>
                                  </m:acc>
                                </m:e>
                                <m:sub>
                                  <m:r>
                                    <a:rPr lang="en-US" sz="500" kern="100">
                                      <a:effectLst/>
                                      <a:latin typeface="Cambria Math" panose="02040503050406030204" pitchFamily="18" charset="0"/>
                                    </a:rPr>
                                    <m:t>𝑖</m:t>
                                  </m:r>
                                </m:sub>
                              </m:sSub>
                              <m:r>
                                <a:rPr lang="en-US" sz="5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𝐷</m:t>
                                  </m:r>
                                </m:e>
                                <m:sub>
                                  <m:r>
                                    <a:rPr lang="en-US" sz="600" kern="100">
                                      <a:effectLst/>
                                      <a:latin typeface="Cambria Math" panose="02040503050406030204" pitchFamily="18" charset="0"/>
                                    </a:rPr>
                                    <m:t>𝑖</m:t>
                                  </m:r>
                                </m:sub>
                              </m:sSub>
                              <m:d>
                                <m:dPr>
                                  <m:ctrlPr>
                                    <a:rPr lang="zh-CN" sz="600" i="1" kern="100">
                                      <a:effectLst/>
                                      <a:latin typeface="Cambria Math" panose="02040503050406030204" pitchFamily="18" charset="0"/>
                                    </a:rPr>
                                  </m:ctrlPr>
                                </m:dPr>
                                <m:e>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𝑢</m:t>
                                      </m:r>
                                    </m:e>
                                    <m:sub>
                                      <m:r>
                                        <a:rPr lang="en-US" sz="600" kern="100">
                                          <a:effectLst/>
                                          <a:latin typeface="Cambria Math" panose="02040503050406030204" pitchFamily="18" charset="0"/>
                                        </a:rPr>
                                        <m:t>𝑖</m:t>
                                      </m:r>
                                    </m:sub>
                                  </m:sSub>
                                  <m:r>
                                    <a:rPr lang="en-US" sz="600" kern="100">
                                      <a:effectLst/>
                                      <a:latin typeface="Cambria Math" panose="02040503050406030204" pitchFamily="18" charset="0"/>
                                    </a:rPr>
                                    <m:t>−</m:t>
                                  </m:r>
                                  <m:sSubSup>
                                    <m:sSubSupPr>
                                      <m:ctrlPr>
                                        <a:rPr lang="zh-CN" sz="600" i="1" kern="100">
                                          <a:effectLst/>
                                          <a:latin typeface="Cambria Math" panose="02040503050406030204" pitchFamily="18" charset="0"/>
                                        </a:rPr>
                                      </m:ctrlPr>
                                    </m:sSubSupPr>
                                    <m:e>
                                      <m:r>
                                        <a:rPr lang="en-US" sz="600" kern="100">
                                          <a:effectLst/>
                                          <a:latin typeface="Cambria Math" panose="02040503050406030204" pitchFamily="18" charset="0"/>
                                        </a:rPr>
                                        <m:t>𝑈</m:t>
                                      </m:r>
                                    </m:e>
                                    <m:sub>
                                      <m:r>
                                        <a:rPr lang="en-US" sz="600" kern="100">
                                          <a:effectLst/>
                                          <a:latin typeface="Cambria Math" panose="02040503050406030204" pitchFamily="18" charset="0"/>
                                        </a:rPr>
                                        <m:t>𝑖</m:t>
                                      </m:r>
                                    </m:sub>
                                    <m:sup>
                                      <m:r>
                                        <a:rPr lang="en-US" sz="600" kern="100">
                                          <a:effectLst/>
                                          <a:latin typeface="Cambria Math" panose="02040503050406030204" pitchFamily="18" charset="0"/>
                                        </a:rPr>
                                        <m:t>𝑇</m:t>
                                      </m:r>
                                    </m:sup>
                                  </m:sSubSup>
                                  <m:sSub>
                                    <m:sSubPr>
                                      <m:ctrlPr>
                                        <a:rPr lang="zh-CN" sz="500" i="1" kern="100">
                                          <a:effectLst/>
                                          <a:latin typeface="Cambria Math" panose="02040503050406030204" pitchFamily="18" charset="0"/>
                                        </a:rPr>
                                      </m:ctrlPr>
                                    </m:sSubPr>
                                    <m:e>
                                      <m:r>
                                        <m:rPr>
                                          <m:sty m:val="p"/>
                                        </m:rPr>
                                        <a:rPr lang="en-US" sz="500" kern="100">
                                          <a:effectLst/>
                                          <a:latin typeface="Cambria Math" panose="02040503050406030204" pitchFamily="18" charset="0"/>
                                        </a:rPr>
                                        <m:t>a</m:t>
                                      </m:r>
                                    </m:e>
                                    <m:sub>
                                      <m:r>
                                        <a:rPr lang="en-US" sz="500" kern="100">
                                          <a:effectLst/>
                                          <a:latin typeface="Cambria Math" panose="02040503050406030204" pitchFamily="18" charset="0"/>
                                        </a:rPr>
                                        <m:t>𝑖</m:t>
                                      </m:r>
                                    </m:sub>
                                  </m:sSub>
                                </m:e>
                              </m:d>
                            </m:oMath>
                          </a14:m>
                          <a:endParaRPr lang="zh-CN" sz="600" kern="100" dirty="0">
                            <a:effectLst/>
                          </a:endParaRPr>
                        </a:p>
                        <a:p>
                          <a:pPr>
                            <a:spcBef>
                              <a:spcPts val="600"/>
                            </a:spcBef>
                            <a:spcAft>
                              <a:spcPts val="600"/>
                            </a:spcAft>
                          </a:pPr>
                          <a:r>
                            <a:rPr lang="en-US" sz="500" kern="100" dirty="0">
                              <a:effectLst/>
                            </a:rPr>
                            <a:t>    </a:t>
                          </a:r>
                          <a14:m>
                            <m:oMath xmlns:m="http://schemas.openxmlformats.org/officeDocument/2006/math">
                              <m:sSub>
                                <m:sSubPr>
                                  <m:ctrlPr>
                                    <a:rPr lang="zh-CN" sz="500" i="1" kern="100">
                                      <a:effectLst/>
                                      <a:latin typeface="Cambria Math" panose="02040503050406030204" pitchFamily="18" charset="0"/>
                                    </a:rPr>
                                  </m:ctrlPr>
                                </m:sSubPr>
                                <m:e>
                                  <m:r>
                                    <m:rPr>
                                      <m:sty m:val="p"/>
                                    </m:rPr>
                                    <a:rPr lang="en-US" sz="500" kern="100">
                                      <a:effectLst/>
                                      <a:latin typeface="Cambria Math" panose="02040503050406030204" pitchFamily="18" charset="0"/>
                                    </a:rPr>
                                    <m:t>a</m:t>
                                  </m:r>
                                </m:e>
                                <m:sub>
                                  <m:r>
                                    <a:rPr lang="en-US" sz="500" kern="100">
                                      <a:effectLst/>
                                      <a:latin typeface="Cambria Math" panose="02040503050406030204" pitchFamily="18" charset="0"/>
                                    </a:rPr>
                                    <m:t>𝑖</m:t>
                                  </m:r>
                                </m:sub>
                              </m:sSub>
                              <m:r>
                                <a:rPr lang="en-US" sz="500" kern="100">
                                  <a:effectLst/>
                                  <a:latin typeface="Cambria Math" panose="02040503050406030204" pitchFamily="18" charset="0"/>
                                </a:rPr>
                                <m:t>=</m:t>
                              </m:r>
                              <m:sSub>
                                <m:sSubPr>
                                  <m:ctrlPr>
                                    <a:rPr lang="zh-CN" sz="500" i="1" kern="100">
                                      <a:effectLst/>
                                      <a:latin typeface="Cambria Math" panose="02040503050406030204" pitchFamily="18" charset="0"/>
                                    </a:rPr>
                                  </m:ctrlPr>
                                </m:sSubPr>
                                <m:e>
                                  <m:r>
                                    <m:rPr>
                                      <m:sty m:val="p"/>
                                    </m:rPr>
                                    <a:rPr lang="en-US" sz="500" kern="100">
                                      <a:effectLst/>
                                      <a:latin typeface="Cambria Math" panose="02040503050406030204" pitchFamily="18" charset="0"/>
                                    </a:rPr>
                                    <m:t>a</m:t>
                                  </m:r>
                                </m:e>
                                <m:sub>
                                  <m:r>
                                    <a:rPr lang="en-US" sz="500" kern="100">
                                      <a:effectLst/>
                                      <a:latin typeface="Cambria Math" panose="02040503050406030204" pitchFamily="18" charset="0"/>
                                    </a:rPr>
                                    <m:t>𝑖</m:t>
                                  </m:r>
                                </m:sub>
                              </m:sSub>
                              <m:r>
                                <a:rPr lang="en-US" sz="5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𝑆</m:t>
                                  </m:r>
                                </m:e>
                                <m:sub>
                                  <m:r>
                                    <a:rPr lang="en-US" sz="600" kern="100">
                                      <a:effectLst/>
                                      <a:latin typeface="Cambria Math" panose="02040503050406030204" pitchFamily="18" charset="0"/>
                                    </a:rPr>
                                    <m:t>𝑖</m:t>
                                  </m:r>
                                </m:sub>
                              </m:sSub>
                              <m:sSub>
                                <m:sSubPr>
                                  <m:ctrlPr>
                                    <a:rPr lang="zh-CN" sz="500" i="1" kern="100">
                                      <a:effectLst/>
                                      <a:latin typeface="Cambria Math" panose="02040503050406030204" pitchFamily="18" charset="0"/>
                                    </a:rPr>
                                  </m:ctrlPr>
                                </m:sSubPr>
                                <m:e>
                                  <m:acc>
                                    <m:accPr>
                                      <m:chr m:val="̈"/>
                                      <m:ctrlPr>
                                        <a:rPr lang="zh-CN" sz="500" i="1" kern="100">
                                          <a:effectLst/>
                                          <a:latin typeface="Cambria Math" panose="02040503050406030204" pitchFamily="18" charset="0"/>
                                        </a:rPr>
                                      </m:ctrlPr>
                                    </m:accPr>
                                    <m:e>
                                      <m:r>
                                        <a:rPr lang="en-US" sz="500" kern="100">
                                          <a:effectLst/>
                                          <a:latin typeface="Cambria Math" panose="02040503050406030204" pitchFamily="18" charset="0"/>
                                        </a:rPr>
                                        <m:t>𝑞</m:t>
                                      </m:r>
                                    </m:e>
                                  </m:acc>
                                </m:e>
                                <m:sub>
                                  <m:r>
                                    <a:rPr lang="en-US" sz="500" kern="100">
                                      <a:effectLst/>
                                      <a:latin typeface="Cambria Math" panose="02040503050406030204" pitchFamily="18" charset="0"/>
                                    </a:rPr>
                                    <m:t>𝑖</m:t>
                                  </m:r>
                                </m:sub>
                              </m:sSub>
                              <m:r>
                                <a:rPr lang="en-US" sz="500" kern="100">
                                  <a:effectLst/>
                                  <a:latin typeface="Cambria Math" panose="02040503050406030204" pitchFamily="18" charset="0"/>
                                </a:rPr>
                                <m:t>+</m:t>
                              </m:r>
                              <m:sSub>
                                <m:sSubPr>
                                  <m:ctrlPr>
                                    <a:rPr lang="zh-CN" sz="600" i="1" kern="100">
                                      <a:effectLst/>
                                      <a:latin typeface="Cambria Math" panose="02040503050406030204" pitchFamily="18" charset="0"/>
                                    </a:rPr>
                                  </m:ctrlPr>
                                </m:sSubPr>
                                <m:e>
                                  <m:r>
                                    <a:rPr lang="en-US" sz="600" kern="100">
                                      <a:effectLst/>
                                      <a:latin typeface="Cambria Math" panose="02040503050406030204" pitchFamily="18" charset="0"/>
                                    </a:rPr>
                                    <m:t>𝜉</m:t>
                                  </m:r>
                                </m:e>
                                <m:sub>
                                  <m:r>
                                    <a:rPr lang="en-US" sz="600" kern="100">
                                      <a:effectLst/>
                                      <a:latin typeface="Cambria Math" panose="02040503050406030204" pitchFamily="18" charset="0"/>
                                    </a:rPr>
                                    <m:t>𝑖</m:t>
                                  </m:r>
                                </m:sub>
                              </m:sSub>
                            </m:oMath>
                          </a14:m>
                          <a:endParaRPr lang="zh-CN" sz="600" kern="100" dirty="0">
                            <a:effectLst/>
                          </a:endParaRPr>
                        </a:p>
                        <a:p>
                          <a:pPr>
                            <a:spcBef>
                              <a:spcPts val="600"/>
                            </a:spcBef>
                            <a:spcAft>
                              <a:spcPts val="600"/>
                            </a:spcAft>
                          </a:pPr>
                          <a:r>
                            <a:rPr lang="en-US" sz="500" kern="100" dirty="0">
                              <a:effectLst/>
                            </a:rPr>
                            <a:t>end</a:t>
                          </a:r>
                          <a:endParaRPr lang="zh-CN" sz="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37095" marR="37095" marT="0" marB="0"/>
                    </a:tc>
                    <a:extLst>
                      <a:ext uri="{0D108BD9-81ED-4DB2-BD59-A6C34878D82A}">
                        <a16:rowId xmlns:a16="http://schemas.microsoft.com/office/drawing/2014/main" val="2483806416"/>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644215315"/>
                  </p:ext>
                </p:extLst>
              </p:nvPr>
            </p:nvGraphicFramePr>
            <p:xfrm>
              <a:off x="1475656" y="1246907"/>
              <a:ext cx="2514226" cy="3629914"/>
            </p:xfrm>
            <a:graphic>
              <a:graphicData uri="http://schemas.openxmlformats.org/drawingml/2006/table">
                <a:tbl>
                  <a:tblPr>
                    <a:tableStyleId>{5C22544A-7EE6-4342-B048-85BDC9FD1C3A}</a:tableStyleId>
                  </a:tblPr>
                  <a:tblGrid>
                    <a:gridCol w="2514226">
                      <a:extLst>
                        <a:ext uri="{9D8B030D-6E8A-4147-A177-3AD203B41FA5}">
                          <a16:colId xmlns:a16="http://schemas.microsoft.com/office/drawing/2014/main" val="2829878423"/>
                        </a:ext>
                      </a:extLst>
                    </a:gridCol>
                  </a:tblGrid>
                  <a:tr h="3629914">
                    <a:tc>
                      <a:txBody>
                        <a:bodyPr/>
                        <a:lstStyle/>
                        <a:p>
                          <a:endParaRPr lang="zh-CN"/>
                        </a:p>
                      </a:txBody>
                      <a:tcPr marL="37095" marR="37095" marT="0" marB="0">
                        <a:blipFill>
                          <a:blip r:embed="rId3"/>
                          <a:stretch>
                            <a:fillRect l="-242" t="-168" r="-484" b="-1005"/>
                          </a:stretch>
                        </a:blipFill>
                      </a:tcPr>
                    </a:tc>
                    <a:extLst>
                      <a:ext uri="{0D108BD9-81ED-4DB2-BD59-A6C34878D82A}">
                        <a16:rowId xmlns:a16="http://schemas.microsoft.com/office/drawing/2014/main" val="2483806416"/>
                      </a:ext>
                    </a:extLst>
                  </a:tr>
                </a:tbl>
              </a:graphicData>
            </a:graphic>
          </p:graphicFrame>
        </mc:Fallback>
      </mc:AlternateContent>
      <p:sp>
        <p:nvSpPr>
          <p:cNvPr id="3" name="矩形 2"/>
          <p:cNvSpPr/>
          <p:nvPr/>
        </p:nvSpPr>
        <p:spPr>
          <a:xfrm>
            <a:off x="4860032" y="2427734"/>
            <a:ext cx="3096344" cy="1600438"/>
          </a:xfrm>
          <a:prstGeom prst="rect">
            <a:avLst/>
          </a:prstGeom>
        </p:spPr>
        <p:txBody>
          <a:bodyPr wrap="square">
            <a:spAutoFit/>
          </a:bodyPr>
          <a:lstStyle/>
          <a:p>
            <a:r>
              <a:rPr lang="zh-CN" altLang="zh-CN" sz="1400" dirty="0">
                <a:cs typeface="MV Boli" panose="02000500030200090000" pitchFamily="2" charset="0"/>
              </a:rPr>
              <a:t>相比于拉格朗日动力学方法求解正动力学，</a:t>
            </a:r>
            <a:r>
              <a:rPr lang="en-US" altLang="zh-CN" sz="1400" dirty="0">
                <a:cs typeface="MV Boli" panose="02000500030200090000" pitchFamily="2" charset="0"/>
              </a:rPr>
              <a:t>ABA</a:t>
            </a:r>
            <a:r>
              <a:rPr lang="zh-CN" altLang="zh-CN" sz="1400" dirty="0">
                <a:cs typeface="MV Boli" panose="02000500030200090000" pitchFamily="2" charset="0"/>
              </a:rPr>
              <a:t>正运动学算法更便于建模以及计算，不仅适用于串联工业机械臂，也适用于人形、并联等复杂机构类型的机器人。求解出机器人关节的加速度，便可以用数值积分进行机器人运动的模拟。</a:t>
            </a:r>
            <a:endParaRPr lang="zh-CN" altLang="en-US" sz="1400" dirty="0"/>
          </a:p>
        </p:txBody>
      </p:sp>
      <p:sp>
        <p:nvSpPr>
          <p:cNvPr id="4" name="矩形 3"/>
          <p:cNvSpPr/>
          <p:nvPr/>
        </p:nvSpPr>
        <p:spPr>
          <a:xfrm>
            <a:off x="3577759" y="599247"/>
            <a:ext cx="1915909" cy="369332"/>
          </a:xfrm>
          <a:prstGeom prst="rect">
            <a:avLst/>
          </a:prstGeom>
        </p:spPr>
        <p:txBody>
          <a:bodyPr wrap="none">
            <a:spAutoFit/>
          </a:bodyPr>
          <a:lstStyle/>
          <a:p>
            <a:r>
              <a:rPr lang="en-US" altLang="zh-CN" dirty="0">
                <a:latin typeface="宋体" panose="02010600030101010101" pitchFamily="2" charset="-122"/>
                <a:cs typeface="MV Boli" panose="02000500030200090000" pitchFamily="2" charset="0"/>
              </a:rPr>
              <a:t>ABA</a:t>
            </a:r>
            <a:r>
              <a:rPr lang="zh-CN" altLang="zh-CN" dirty="0">
                <a:cs typeface="MV Boli" panose="02000500030200090000" pitchFamily="2" charset="0"/>
              </a:rPr>
              <a:t>正动力学算法</a:t>
            </a:r>
            <a:endParaRPr lang="zh-CN" altLang="en-US" dirty="0"/>
          </a:p>
        </p:txBody>
      </p:sp>
      <p:sp>
        <p:nvSpPr>
          <p:cNvPr id="5" name="矩形 4"/>
          <p:cNvSpPr/>
          <p:nvPr/>
        </p:nvSpPr>
        <p:spPr>
          <a:xfrm>
            <a:off x="4241984" y="1357796"/>
            <a:ext cx="4572000" cy="923330"/>
          </a:xfrm>
          <a:prstGeom prst="rect">
            <a:avLst/>
          </a:prstGeom>
        </p:spPr>
        <p:txBody>
          <a:bodyPr>
            <a:spAutoFit/>
          </a:bodyPr>
          <a:lstStyle/>
          <a:p>
            <a:r>
              <a:rPr lang="zh-CN" altLang="en-US" dirty="0"/>
              <a:t>https://github.com/mhuasong/Basics-of-Robotics-Theory-and-Technology/tree/main/ch4</a:t>
            </a:r>
          </a:p>
        </p:txBody>
      </p:sp>
    </p:spTree>
    <p:extLst>
      <p:ext uri="{BB962C8B-B14F-4D97-AF65-F5344CB8AC3E}">
        <p14:creationId xmlns:p14="http://schemas.microsoft.com/office/powerpoint/2010/main" val="16967345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3838267" y="1531232"/>
                <a:ext cx="5141221" cy="3577646"/>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上一节介绍了一种正动力学的解析解：</a:t>
                </a:r>
                <a:r>
                  <a:rPr lang="en-US" altLang="zh-CN" sz="1200" dirty="0">
                    <a:latin typeface="Arial" panose="020B0604020202020204" pitchFamily="34" charset="0"/>
                    <a:ea typeface="微软雅黑" panose="020B0503020204020204" charset="-122"/>
                    <a:sym typeface="+mn-ea"/>
                  </a:rPr>
                  <a:t>ABA</a:t>
                </a:r>
                <a:r>
                  <a:rPr lang="zh-CN" altLang="en-US" sz="1200" dirty="0">
                    <a:latin typeface="Arial" panose="020B0604020202020204" pitchFamily="34" charset="0"/>
                    <a:ea typeface="微软雅黑" panose="020B0503020204020204" charset="-122"/>
                    <a:sym typeface="+mn-ea"/>
                  </a:rPr>
                  <a:t>算法，本节讨论是否可以对机器人正动力学直接进行求解。</a:t>
                </a:r>
              </a:p>
              <a:p>
                <a:pPr>
                  <a:lnSpc>
                    <a:spcPct val="150000"/>
                  </a:lnSpc>
                </a:pPr>
                <a:r>
                  <a:rPr lang="zh-CN" altLang="en-US" sz="1200" dirty="0">
                    <a:latin typeface="Arial" panose="020B0604020202020204" pitchFamily="34" charset="0"/>
                    <a:ea typeface="微软雅黑" panose="020B0503020204020204" charset="-122"/>
                    <a:sym typeface="+mn-ea"/>
                  </a:rPr>
                  <a:t>通过前面逆动力学的推导，我们已经知道正动力学可以写成：</a:t>
                </a:r>
              </a:p>
              <a:p>
                <a:pPr>
                  <a:lnSpc>
                    <a:spcPct val="150000"/>
                  </a:lnSpc>
                </a:pPr>
                <a14:m>
                  <m:oMathPara xmlns:m="http://schemas.openxmlformats.org/officeDocument/2006/math">
                    <m:oMathParaPr>
                      <m:jc m:val="centerGroup"/>
                    </m:oMathParaPr>
                    <m:oMath xmlns:m="http://schemas.openxmlformats.org/officeDocument/2006/math">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r>
                        <a:rPr lang="en-US" altLang="zh-CN" sz="1200" i="1">
                          <a:latin typeface="Cambria Math" panose="02040503050406030204" pitchFamily="18" charset="0"/>
                        </a:rPr>
                        <m:t>=</m:t>
                      </m:r>
                      <m:sSup>
                        <m:sSupPr>
                          <m:ctrlPr>
                            <a:rPr lang="zh-CN" altLang="zh-CN" sz="1200" i="1">
                              <a:latin typeface="Cambria Math" panose="02040503050406030204" pitchFamily="18" charset="0"/>
                            </a:rPr>
                          </m:ctrlPr>
                        </m:sSupPr>
                        <m:e>
                          <m:r>
                            <a:rPr lang="en-US" altLang="zh-CN" sz="1200" i="1">
                              <a:latin typeface="Cambria Math" panose="02040503050406030204" pitchFamily="18" charset="0"/>
                            </a:rPr>
                            <m:t>𝑀</m:t>
                          </m:r>
                        </m:e>
                        <m:sup>
                          <m:r>
                            <a:rPr lang="en-US" altLang="zh-CN" sz="1200" i="1">
                              <a:latin typeface="Cambria Math" panose="02040503050406030204" pitchFamily="18" charset="0"/>
                            </a:rPr>
                            <m:t>−1</m:t>
                          </m:r>
                        </m:sup>
                      </m:sSup>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e>
                      </m:d>
                      <m:d>
                        <m:dPr>
                          <m:ctrlPr>
                            <a:rPr lang="zh-CN" altLang="zh-CN" sz="1200" i="1">
                              <a:latin typeface="Cambria Math" panose="02040503050406030204" pitchFamily="18" charset="0"/>
                            </a:rPr>
                          </m:ctrlPr>
                        </m:dPr>
                        <m:e>
                          <m:r>
                            <a:rPr lang="en-US" altLang="zh-CN" sz="1200" i="1">
                              <a:latin typeface="Cambria Math" panose="02040503050406030204" pitchFamily="18" charset="0"/>
                            </a:rPr>
                            <m:t>𝜏</m:t>
                          </m:r>
                          <m:r>
                            <a:rPr lang="en-US" altLang="zh-CN" sz="1200" i="1">
                              <a:latin typeface="Cambria Math" panose="02040503050406030204" pitchFamily="18" charset="0"/>
                            </a:rPr>
                            <m:t>−</m:t>
                          </m:r>
                          <m:r>
                            <a:rPr lang="en-US" altLang="zh-CN" sz="1200" i="1">
                              <a:latin typeface="Cambria Math" panose="02040503050406030204" pitchFamily="18" charset="0"/>
                            </a:rPr>
                            <m:t>h</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r>
                                <a:rPr lang="en-US" altLang="zh-CN" sz="1200" i="1">
                                  <a:latin typeface="Cambria Math" panose="02040503050406030204" pitchFamily="18" charset="0"/>
                                </a:rPr>
                                <m:t>,</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e>
                          </m:d>
                          <m:r>
                            <a:rPr lang="en-US" altLang="zh-CN" sz="1200" i="1">
                              <a:latin typeface="Cambria Math" panose="02040503050406030204" pitchFamily="18" charset="0"/>
                            </a:rPr>
                            <m:t>−</m:t>
                          </m:r>
                          <m:sSup>
                            <m:sSupPr>
                              <m:ctrlPr>
                                <a:rPr lang="zh-CN" altLang="zh-CN" sz="1200" i="1">
                                  <a:latin typeface="Cambria Math" panose="02040503050406030204" pitchFamily="18" charset="0"/>
                                </a:rPr>
                              </m:ctrlPr>
                            </m:sSupPr>
                            <m:e>
                              <m:r>
                                <a:rPr lang="en-US" altLang="zh-CN" sz="1200" i="1">
                                  <a:latin typeface="Cambria Math" panose="02040503050406030204" pitchFamily="18" charset="0"/>
                                </a:rPr>
                                <m:t>𝐽</m:t>
                              </m:r>
                            </m:e>
                            <m:sup>
                              <m:r>
                                <a:rPr lang="en-US" altLang="zh-CN" sz="1200" i="1">
                                  <a:latin typeface="Cambria Math" panose="02040503050406030204" pitchFamily="18" charset="0"/>
                                </a:rPr>
                                <m:t>𝑇</m:t>
                              </m:r>
                            </m:sup>
                          </m:sSup>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e>
                          </m:d>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ℱ</m:t>
                              </m:r>
                            </m:e>
                            <m:sub>
                              <m:r>
                                <a:rPr lang="en-US" altLang="zh-CN" sz="1200" i="1">
                                  <a:latin typeface="Cambria Math" panose="02040503050406030204" pitchFamily="18" charset="0"/>
                                </a:rPr>
                                <m:t>𝑡𝑖𝑝</m:t>
                              </m:r>
                            </m:sub>
                          </m:sSub>
                        </m:e>
                      </m:d>
                    </m:oMath>
                  </m:oMathPara>
                </a14:m>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latin typeface="Arial" panose="020B0604020202020204" pitchFamily="34" charset="0"/>
                    <a:ea typeface="微软雅黑" panose="020B0503020204020204" charset="-122"/>
                    <a:sym typeface="+mn-ea"/>
                  </a:rPr>
                  <a:t>正</a:t>
                </a:r>
                <a:r>
                  <a:rPr lang="zh-CN" altLang="en-US" sz="1200" dirty="0">
                    <a:latin typeface="Arial" panose="020B0604020202020204" pitchFamily="34" charset="0"/>
                    <a:ea typeface="微软雅黑" panose="020B0503020204020204" charset="-122"/>
                    <a:sym typeface="+mn-ea"/>
                  </a:rPr>
                  <a:t>动力学问题为：已知</a:t>
                </a:r>
                <a:r>
                  <a:rPr lang="en-US" altLang="zh-CN" sz="1200" dirty="0">
                    <a:latin typeface="Arial" panose="020B0604020202020204" pitchFamily="34" charset="0"/>
                    <a:ea typeface="微软雅黑" panose="020B0503020204020204" charset="-122"/>
                    <a:sym typeface="+mn-ea"/>
                  </a:rPr>
                  <a:t>θ</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θ ̇</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τ</a:t>
                </a:r>
                <a:r>
                  <a:rPr lang="zh-CN" altLang="en-US" sz="1200" dirty="0">
                    <a:latin typeface="Arial" panose="020B0604020202020204" pitchFamily="34" charset="0"/>
                    <a:ea typeface="微软雅黑" panose="020B0503020204020204" charset="-122"/>
                    <a:sym typeface="+mn-ea"/>
                  </a:rPr>
                  <a:t>、</a:t>
                </a:r>
                <a:r>
                  <a:rPr lang="en-US" altLang="zh-CN" sz="1200" dirty="0" err="1">
                    <a:latin typeface="Arial" panose="020B0604020202020204" pitchFamily="34" charset="0"/>
                    <a:ea typeface="微软雅黑" panose="020B0503020204020204" charset="-122"/>
                    <a:sym typeface="+mn-ea"/>
                  </a:rPr>
                  <a:t>F_tip</a:t>
                </a:r>
                <a:r>
                  <a:rPr lang="zh-CN" altLang="en-US" sz="1200" dirty="0">
                    <a:latin typeface="Arial" panose="020B0604020202020204" pitchFamily="34" charset="0"/>
                    <a:ea typeface="微软雅黑" panose="020B0503020204020204" charset="-122"/>
                    <a:sym typeface="+mn-ea"/>
                  </a:rPr>
                  <a:t>，需要求解加速度</a:t>
                </a:r>
                <a14:m>
                  <m:oMath xmlns:m="http://schemas.openxmlformats.org/officeDocument/2006/math">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oMath>
                </a14:m>
                <a:r>
                  <a:rPr lang="zh-CN" altLang="en-US" sz="1200" dirty="0">
                    <a:latin typeface="Arial" panose="020B0604020202020204" pitchFamily="34" charset="0"/>
                    <a:ea typeface="微软雅黑" panose="020B0503020204020204" charset="-122"/>
                    <a:sym typeface="+mn-ea"/>
                  </a:rPr>
                  <a:t>。在第三章中已经介绍了雅可比矩阵的计算方法，</a:t>
                </a:r>
                <a:r>
                  <a:rPr lang="en-US" altLang="zh-CN" sz="1200" dirty="0">
                    <a:latin typeface="Arial" panose="020B0604020202020204" pitchFamily="34" charset="0"/>
                    <a:ea typeface="微软雅黑" panose="020B0503020204020204" charset="-122"/>
                    <a:sym typeface="+mn-ea"/>
                  </a:rPr>
                  <a:t>J(θ)</a:t>
                </a:r>
                <a:r>
                  <a:rPr lang="zh-CN" altLang="en-US" sz="1200" dirty="0">
                    <a:latin typeface="Arial" panose="020B0604020202020204" pitchFamily="34" charset="0"/>
                    <a:ea typeface="微软雅黑" panose="020B0503020204020204" charset="-122"/>
                    <a:sym typeface="+mn-ea"/>
                  </a:rPr>
                  <a:t>相对来说比较容易求出，而</a:t>
                </a:r>
                <a:r>
                  <a:rPr lang="zh-CN" altLang="en-US" sz="1200" dirty="0" smtClean="0">
                    <a:latin typeface="Arial" panose="020B0604020202020204" pitchFamily="34" charset="0"/>
                    <a:ea typeface="微软雅黑" panose="020B0503020204020204" charset="-122"/>
                    <a:sym typeface="+mn-ea"/>
                  </a:rPr>
                  <a:t>公式中</a:t>
                </a:r>
                <a:r>
                  <a:rPr lang="zh-CN" altLang="en-US" sz="1200" dirty="0">
                    <a:latin typeface="Arial" panose="020B0604020202020204" pitchFamily="34" charset="0"/>
                    <a:ea typeface="微软雅黑" panose="020B0503020204020204" charset="-122"/>
                    <a:sym typeface="+mn-ea"/>
                  </a:rPr>
                  <a:t>的</a:t>
                </a:r>
                <a:r>
                  <a:rPr lang="en-US" altLang="zh-CN" sz="1200" dirty="0">
                    <a:latin typeface="Arial" panose="020B0604020202020204" pitchFamily="34" charset="0"/>
                    <a:ea typeface="微软雅黑" panose="020B0503020204020204" charset="-122"/>
                    <a:sym typeface="+mn-ea"/>
                  </a:rPr>
                  <a:t>M(θ)</a:t>
                </a:r>
                <a:r>
                  <a:rPr lang="zh-CN" altLang="en-US" sz="1200" dirty="0">
                    <a:latin typeface="Arial" panose="020B0604020202020204" pitchFamily="34" charset="0"/>
                    <a:ea typeface="微软雅黑" panose="020B0503020204020204" charset="-122"/>
                    <a:sym typeface="+mn-ea"/>
                  </a:rPr>
                  <a:t>以及 </a:t>
                </a:r>
                <a14:m>
                  <m:oMath xmlns:m="http://schemas.openxmlformats.org/officeDocument/2006/math">
                    <m:r>
                      <a:rPr lang="en-US" altLang="zh-CN" sz="1200" i="1">
                        <a:latin typeface="Cambria Math" panose="02040503050406030204" pitchFamily="18" charset="0"/>
                      </a:rPr>
                      <m:t>h</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r>
                          <a:rPr lang="en-US" altLang="zh-CN" sz="1200" i="1">
                            <a:latin typeface="Cambria Math" panose="02040503050406030204" pitchFamily="18" charset="0"/>
                          </a:rPr>
                          <m:t>,</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e>
                    </m:d>
                  </m:oMath>
                </a14:m>
                <a:r>
                  <a:rPr lang="zh-CN" altLang="en-US" sz="1200" dirty="0">
                    <a:latin typeface="Arial" panose="020B0604020202020204" pitchFamily="34" charset="0"/>
                    <a:ea typeface="微软雅黑" panose="020B0503020204020204" charset="-122"/>
                    <a:sym typeface="+mn-ea"/>
                  </a:rPr>
                  <a:t>的</a:t>
                </a:r>
                <a:r>
                  <a:rPr lang="zh-CN" altLang="en-US" sz="1200" dirty="0" smtClean="0">
                    <a:latin typeface="Arial" panose="020B0604020202020204" pitchFamily="34" charset="0"/>
                    <a:ea typeface="微软雅黑" panose="020B0503020204020204" charset="-122"/>
                    <a:sym typeface="+mn-ea"/>
                  </a:rPr>
                  <a:t>求解，虽然也介绍了组合形式的一次性求取方式，但还是相对比较困难</a:t>
                </a:r>
                <a:r>
                  <a:rPr lang="zh-CN" altLang="en-US" sz="1200" dirty="0">
                    <a:latin typeface="Arial" panose="020B0604020202020204" pitchFamily="34" charset="0"/>
                    <a:ea typeface="微软雅黑" panose="020B0503020204020204" charset="-122"/>
                    <a:sym typeface="+mn-ea"/>
                  </a:rPr>
                  <a:t>一些</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a:latin typeface="Arial" panose="020B0604020202020204" pitchFamily="34" charset="0"/>
                    <a:ea typeface="微软雅黑" panose="020B0503020204020204" charset="-122"/>
                    <a:sym typeface="+mn-ea"/>
                  </a:rPr>
                  <a:t>本</a:t>
                </a:r>
                <a:r>
                  <a:rPr lang="zh-CN" altLang="en-US" sz="1200" dirty="0" smtClean="0">
                    <a:latin typeface="Arial" panose="020B0604020202020204" pitchFamily="34" charset="0"/>
                    <a:ea typeface="微软雅黑" panose="020B0503020204020204" charset="-122"/>
                    <a:sym typeface="+mn-ea"/>
                  </a:rPr>
                  <a:t>节介绍</a:t>
                </a:r>
                <a14:m>
                  <m:oMath xmlns:m="http://schemas.openxmlformats.org/officeDocument/2006/math">
                    <m:r>
                      <a:rPr lang="en-US" altLang="zh-CN" sz="1200" i="1">
                        <a:latin typeface="Cambria Math" panose="02040503050406030204" pitchFamily="18" charset="0"/>
                      </a:rPr>
                      <m:t>h</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r>
                          <a:rPr lang="en-US" altLang="zh-CN" sz="1200" i="1">
                            <a:latin typeface="Cambria Math" panose="02040503050406030204" pitchFamily="18" charset="0"/>
                          </a:rPr>
                          <m:t>,</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e>
                    </m:d>
                  </m:oMath>
                </a14:m>
                <a:r>
                  <a:rPr lang="zh-CN" altLang="en-US" sz="1200" dirty="0" smtClean="0">
                    <a:latin typeface="Arial" panose="020B0604020202020204" pitchFamily="34" charset="0"/>
                    <a:ea typeface="微软雅黑" panose="020B0503020204020204" charset="-122"/>
                    <a:sym typeface="+mn-ea"/>
                  </a:rPr>
                  <a:t>和</a:t>
                </a:r>
                <a:r>
                  <a:rPr lang="en-US" altLang="zh-CN" sz="1200" dirty="0" smtClean="0">
                    <a:latin typeface="Arial" panose="020B0604020202020204" pitchFamily="34" charset="0"/>
                    <a:ea typeface="微软雅黑" panose="020B0503020204020204" charset="-122"/>
                    <a:sym typeface="+mn-ea"/>
                  </a:rPr>
                  <a:t>M(θ)</a:t>
                </a:r>
                <a:r>
                  <a:rPr lang="zh-CN" altLang="en-US" sz="1200" dirty="0" smtClean="0">
                    <a:latin typeface="Arial" panose="020B0604020202020204" pitchFamily="34" charset="0"/>
                    <a:ea typeface="微软雅黑" panose="020B0503020204020204" charset="-122"/>
                    <a:sym typeface="+mn-ea"/>
                  </a:rPr>
                  <a:t>的另一种求法：</a:t>
                </a:r>
                <a:endParaRPr lang="en-US" altLang="zh-CN" sz="1200" dirty="0">
                  <a:latin typeface="Arial" panose="020B0604020202020204" pitchFamily="34" charset="0"/>
                  <a:ea typeface="微软雅黑" panose="020B0503020204020204" charset="-122"/>
                  <a:sym typeface="+mn-ea"/>
                </a:endParaRPr>
              </a:p>
              <a:p>
                <a:pPr marL="228600" indent="-228600">
                  <a:lnSpc>
                    <a:spcPct val="150000"/>
                  </a:lnSpc>
                  <a:buAutoNum type="arabicParenR"/>
                </a:pPr>
                <a:r>
                  <a:rPr lang="zh-CN" altLang="zh-CN" sz="1200" dirty="0" smtClean="0"/>
                  <a:t>根据</a:t>
                </a:r>
                <a:r>
                  <a:rPr lang="zh-CN" altLang="zh-CN" sz="1200" dirty="0"/>
                  <a:t>前面介绍的基于旋量法的递归牛顿</a:t>
                </a:r>
                <a:r>
                  <a:rPr lang="en-US" altLang="zh-CN" sz="1200" dirty="0"/>
                  <a:t>-</a:t>
                </a:r>
                <a:r>
                  <a:rPr lang="zh-CN" altLang="zh-CN" sz="1200" dirty="0"/>
                  <a:t>欧拉方程或基于空间向量法的递归牛顿</a:t>
                </a:r>
                <a:r>
                  <a:rPr lang="en-US" altLang="zh-CN" sz="1200" dirty="0"/>
                  <a:t>-</a:t>
                </a:r>
                <a:r>
                  <a:rPr lang="zh-CN" altLang="zh-CN" sz="1200" dirty="0"/>
                  <a:t>欧拉算法均可计算出</a:t>
                </a:r>
                <a14:m>
                  <m:oMath xmlns:m="http://schemas.openxmlformats.org/officeDocument/2006/math">
                    <m:r>
                      <a:rPr lang="en-US" altLang="zh-CN" sz="1200" i="1">
                        <a:latin typeface="Cambria Math" panose="02040503050406030204" pitchFamily="18" charset="0"/>
                      </a:rPr>
                      <m:t>h</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r>
                          <a:rPr lang="en-US" altLang="zh-CN" sz="1200" i="1">
                            <a:latin typeface="Cambria Math" panose="02040503050406030204" pitchFamily="18" charset="0"/>
                          </a:rPr>
                          <m:t>, </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e>
                    </m:d>
                  </m:oMath>
                </a14:m>
                <a:r>
                  <a:rPr lang="zh-CN" altLang="zh-CN" sz="1200" dirty="0"/>
                  <a:t>项</a:t>
                </a:r>
                <a:r>
                  <a:rPr lang="zh-CN" altLang="zh-CN" sz="1200" dirty="0" smtClean="0"/>
                  <a:t>。</a:t>
                </a:r>
                <a:endParaRPr lang="en-US" altLang="zh-CN" sz="1200" dirty="0" smtClean="0"/>
              </a:p>
              <a:p>
                <a:pPr marL="228600" indent="-228600">
                  <a:lnSpc>
                    <a:spcPct val="150000"/>
                  </a:lnSpc>
                  <a:buAutoNum type="arabicParenR"/>
                </a:pPr>
                <a:r>
                  <a:rPr lang="zh-CN" altLang="zh-CN" sz="1200" dirty="0"/>
                  <a:t>用逆动力学算法求解调用</a:t>
                </a:r>
                <a14:m>
                  <m:oMath xmlns:m="http://schemas.openxmlformats.org/officeDocument/2006/math">
                    <m:r>
                      <a:rPr lang="en-US" altLang="zh-CN" sz="1200" i="1">
                        <a:latin typeface="Cambria Math" panose="02040503050406030204" pitchFamily="18" charset="0"/>
                      </a:rPr>
                      <m:t>𝑛</m:t>
                    </m:r>
                  </m:oMath>
                </a14:m>
                <a:r>
                  <a:rPr lang="zh-CN" altLang="zh-CN" sz="1200" dirty="0" smtClean="0"/>
                  <a:t>次</a:t>
                </a:r>
                <a:r>
                  <a:rPr lang="zh-CN" altLang="en-US" sz="1200" dirty="0" smtClean="0"/>
                  <a:t>，得到</a:t>
                </a:r>
                <a14:m>
                  <m:oMath xmlns:m="http://schemas.openxmlformats.org/officeDocument/2006/math">
                    <m:r>
                      <a:rPr lang="en-US" altLang="zh-CN" sz="1200" i="1">
                        <a:latin typeface="Cambria Math" panose="02040503050406030204" pitchFamily="18" charset="0"/>
                      </a:rPr>
                      <m:t>𝑛</m:t>
                    </m:r>
                    <m:r>
                      <a:rPr lang="en-US" altLang="zh-CN" sz="1200">
                        <a:latin typeface="Cambria Math" panose="02040503050406030204" pitchFamily="18" charset="0"/>
                      </a:rPr>
                      <m:t>×</m:t>
                    </m:r>
                    <m:r>
                      <a:rPr lang="en-US" altLang="zh-CN" sz="1200" i="1">
                        <a:latin typeface="Cambria Math" panose="02040503050406030204" pitchFamily="18" charset="0"/>
                      </a:rPr>
                      <m:t>𝑛</m:t>
                    </m:r>
                  </m:oMath>
                </a14:m>
                <a:r>
                  <a:rPr lang="zh-CN" altLang="zh-CN" sz="1200" dirty="0"/>
                  <a:t>矩阵</a:t>
                </a:r>
                <a14:m>
                  <m:oMath xmlns:m="http://schemas.openxmlformats.org/officeDocument/2006/math">
                    <m:r>
                      <a:rPr lang="en-US" altLang="zh-CN" sz="1200" i="1">
                        <a:latin typeface="Cambria Math" panose="02040503050406030204" pitchFamily="18" charset="0"/>
                      </a:rPr>
                      <m:t>𝑀</m:t>
                    </m:r>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e>
                    </m:d>
                  </m:oMath>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3838267" y="1531232"/>
                <a:ext cx="5141221" cy="3577646"/>
              </a:xfrm>
              <a:prstGeom prst="rect">
                <a:avLst/>
              </a:prstGeom>
              <a:blipFill>
                <a:blip r:embed="rId3"/>
                <a:stretch>
                  <a:fillRect l="-119"/>
                </a:stretch>
              </a:blipFill>
            </p:spPr>
            <p:txBody>
              <a:bodyPr/>
              <a:lstStyle/>
              <a:p>
                <a:r>
                  <a:rPr lang="zh-CN" altLang="en-US">
                    <a:noFill/>
                  </a:rPr>
                  <a:t> </a:t>
                </a:r>
              </a:p>
            </p:txBody>
          </p:sp>
        </mc:Fallback>
      </mc:AlternateContent>
      <p:sp>
        <p:nvSpPr>
          <p:cNvPr id="7" name="文本框 6"/>
          <p:cNvSpPr txBox="1"/>
          <p:nvPr/>
        </p:nvSpPr>
        <p:spPr>
          <a:xfrm>
            <a:off x="3984729" y="728136"/>
            <a:ext cx="4728993" cy="830997"/>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利用逆动力学求解开链机器人正动力学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09</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078041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利用逆动力学求解开链机器人正动力学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矩形 4"/>
              <p:cNvSpPr/>
              <p:nvPr/>
            </p:nvSpPr>
            <p:spPr>
              <a:xfrm>
                <a:off x="2339752" y="1222990"/>
                <a:ext cx="4248021" cy="410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𝜏</m:t>
                      </m:r>
                      <m:r>
                        <a:rPr lang="zh-CN" altLang="en-US" i="0">
                          <a:latin typeface="Cambria Math" panose="02040503050406030204" pitchFamily="18" charset="0"/>
                        </a:rPr>
                        <m:t>=</m:t>
                      </m:r>
                      <m:r>
                        <a:rPr lang="zh-CN" altLang="en-US" i="1">
                          <a:latin typeface="Cambria Math" panose="02040503050406030204" pitchFamily="18" charset="0"/>
                        </a:rPr>
                        <m:t>𝑀</m:t>
                      </m:r>
                      <m:d>
                        <m:dPr>
                          <m:ctrlPr>
                            <a:rPr lang="zh-CN" altLang="en-US" i="1">
                              <a:latin typeface="Cambria Math" panose="02040503050406030204" pitchFamily="18" charset="0"/>
                            </a:rPr>
                          </m:ctrlPr>
                        </m:dPr>
                        <m:e>
                          <m:r>
                            <a:rPr lang="zh-CN" altLang="en-US" i="1">
                              <a:latin typeface="Cambria Math" panose="02040503050406030204" pitchFamily="18" charset="0"/>
                            </a:rPr>
                            <m:t>𝜃</m:t>
                          </m:r>
                        </m:e>
                      </m:d>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r>
                        <a:rPr lang="zh-CN" altLang="en-US" i="1">
                          <a:latin typeface="Cambria Math" panose="02040503050406030204" pitchFamily="18" charset="0"/>
                        </a:rPr>
                        <m:t>𝑐</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 </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i="0">
                          <a:latin typeface="Cambria Math" panose="02040503050406030204" pitchFamily="18" charset="0"/>
                        </a:rPr>
                        <m:t>+</m:t>
                      </m:r>
                      <m:r>
                        <a:rPr lang="zh-CN" altLang="en-US" b="1" i="1">
                          <a:latin typeface="Cambria Math" panose="02040503050406030204" pitchFamily="18" charset="0"/>
                        </a:rPr>
                        <m:t>𝒈</m:t>
                      </m:r>
                      <m:d>
                        <m:dPr>
                          <m:ctrlPr>
                            <a:rPr lang="zh-CN" altLang="en-US" b="1" i="1">
                              <a:latin typeface="Cambria Math" panose="02040503050406030204" pitchFamily="18" charset="0"/>
                            </a:rPr>
                          </m:ctrlPr>
                        </m:dPr>
                        <m:e>
                          <m:r>
                            <a:rPr lang="zh-CN" altLang="en-US" b="0" i="1">
                              <a:latin typeface="Cambria Math" panose="02040503050406030204" pitchFamily="18" charset="0"/>
                            </a:rPr>
                            <m:t>𝜃</m:t>
                          </m:r>
                        </m:e>
                      </m:d>
                      <m:r>
                        <a:rPr lang="zh-CN" altLang="en-US" b="0" i="0">
                          <a:latin typeface="Cambria Math" panose="02040503050406030204" pitchFamily="18" charset="0"/>
                        </a:rPr>
                        <m:t>+</m:t>
                      </m:r>
                      <m:sSup>
                        <m:sSupPr>
                          <m:ctrlPr>
                            <a:rPr lang="zh-CN" altLang="en-US" b="0" i="1">
                              <a:latin typeface="Cambria Math" panose="02040503050406030204" pitchFamily="18" charset="0"/>
                            </a:rPr>
                          </m:ctrlPr>
                        </m:sSupPr>
                        <m:e>
                          <m:r>
                            <a:rPr lang="zh-CN" altLang="en-US" b="0" i="1">
                              <a:latin typeface="Cambria Math" panose="02040503050406030204" pitchFamily="18" charset="0"/>
                            </a:rPr>
                            <m:t>𝐽</m:t>
                          </m:r>
                        </m:e>
                        <m:sup>
                          <m:r>
                            <a:rPr lang="zh-CN" altLang="en-US" b="0" i="1">
                              <a:latin typeface="Cambria Math" panose="02040503050406030204" pitchFamily="18" charset="0"/>
                            </a:rPr>
                            <m:t>𝑇</m:t>
                          </m:r>
                        </m:sup>
                      </m:sSup>
                      <m:d>
                        <m:dPr>
                          <m:ctrlPr>
                            <a:rPr lang="zh-CN" altLang="en-US" b="0" i="1">
                              <a:latin typeface="Cambria Math" panose="02040503050406030204" pitchFamily="18" charset="0"/>
                            </a:rPr>
                          </m:ctrlPr>
                        </m:dPr>
                        <m:e>
                          <m:r>
                            <a:rPr lang="zh-CN" altLang="en-US" b="0" i="1">
                              <a:latin typeface="Cambria Math" panose="02040503050406030204" pitchFamily="18" charset="0"/>
                            </a:rPr>
                            <m:t>𝜃</m:t>
                          </m:r>
                        </m:e>
                      </m:d>
                      <m:sSub>
                        <m:sSubPr>
                          <m:ctrlPr>
                            <a:rPr lang="zh-CN" altLang="en-US" b="0" i="1">
                              <a:latin typeface="Cambria Math" panose="02040503050406030204" pitchFamily="18" charset="0"/>
                            </a:rPr>
                          </m:ctrlPr>
                        </m:sSubPr>
                        <m:e>
                          <m:r>
                            <a:rPr lang="zh-CN" altLang="en-US" b="0" i="0">
                              <a:latin typeface="Cambria Math" panose="02040503050406030204" pitchFamily="18" charset="0"/>
                            </a:rPr>
                            <m:t>ℱ</m:t>
                          </m:r>
                        </m:e>
                        <m:sub>
                          <m:r>
                            <a:rPr lang="zh-CN" altLang="en-US" b="0" i="1">
                              <a:latin typeface="Cambria Math" panose="02040503050406030204" pitchFamily="18" charset="0"/>
                            </a:rPr>
                            <m:t>𝑡𝑖𝑝</m:t>
                          </m:r>
                        </m:sub>
                      </m:sSub>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2339752" y="1222990"/>
                <a:ext cx="4248021" cy="410497"/>
              </a:xfrm>
              <a:prstGeom prst="rect">
                <a:avLst/>
              </a:prstGeom>
              <a:blipFill>
                <a:blip r:embed="rId3"/>
                <a:stretch>
                  <a:fillRect b="-7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788051" y="1995686"/>
                <a:ext cx="3507755" cy="410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𝜏</m:t>
                      </m:r>
                      <m:r>
                        <a:rPr lang="zh-CN" altLang="en-US" i="0">
                          <a:latin typeface="Cambria Math" panose="02040503050406030204" pitchFamily="18" charset="0"/>
                        </a:rPr>
                        <m:t>=</m:t>
                      </m:r>
                      <m:r>
                        <a:rPr lang="zh-CN" altLang="en-US" i="1">
                          <a:latin typeface="Cambria Math" panose="02040503050406030204" pitchFamily="18" charset="0"/>
                        </a:rPr>
                        <m:t>𝑀</m:t>
                      </m:r>
                      <m:d>
                        <m:dPr>
                          <m:ctrlPr>
                            <a:rPr lang="zh-CN" altLang="en-US" i="1">
                              <a:latin typeface="Cambria Math" panose="02040503050406030204" pitchFamily="18" charset="0"/>
                            </a:rPr>
                          </m:ctrlPr>
                        </m:dPr>
                        <m:e>
                          <m:r>
                            <a:rPr lang="zh-CN" altLang="en-US" i="1">
                              <a:latin typeface="Cambria Math" panose="02040503050406030204" pitchFamily="18" charset="0"/>
                            </a:rPr>
                            <m:t>𝜃</m:t>
                          </m:r>
                        </m:e>
                      </m:d>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r>
                        <a:rPr lang="zh-CN" altLang="en-US" i="1">
                          <a:latin typeface="Cambria Math" panose="02040503050406030204" pitchFamily="18" charset="0"/>
                        </a:rPr>
                        <m:t>h</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 </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𝐽</m:t>
                          </m:r>
                        </m:e>
                        <m:sup>
                          <m:r>
                            <a:rPr lang="zh-CN" altLang="en-US" i="1">
                              <a:latin typeface="Cambria Math" panose="02040503050406030204" pitchFamily="18" charset="0"/>
                            </a:rPr>
                            <m:t>𝑇</m:t>
                          </m:r>
                        </m:sup>
                      </m:sSup>
                      <m:d>
                        <m:dPr>
                          <m:ctrlPr>
                            <a:rPr lang="zh-CN" altLang="en-US" i="1">
                              <a:latin typeface="Cambria Math" panose="02040503050406030204" pitchFamily="18" charset="0"/>
                            </a:rPr>
                          </m:ctrlPr>
                        </m:dPr>
                        <m:e>
                          <m:r>
                            <a:rPr lang="zh-CN" altLang="en-US" i="1">
                              <a:latin typeface="Cambria Math" panose="02040503050406030204" pitchFamily="18" charset="0"/>
                            </a:rPr>
                            <m:t>𝜃</m:t>
                          </m:r>
                        </m:e>
                      </m:d>
                      <m:sSub>
                        <m:sSubPr>
                          <m:ctrlPr>
                            <a:rPr lang="zh-CN" altLang="en-US" i="1">
                              <a:latin typeface="Cambria Math" panose="02040503050406030204" pitchFamily="18" charset="0"/>
                            </a:rPr>
                          </m:ctrlPr>
                        </m:sSubPr>
                        <m:e>
                          <m:r>
                            <a:rPr lang="zh-CN" altLang="en-US" i="0">
                              <a:latin typeface="Cambria Math" panose="02040503050406030204" pitchFamily="18" charset="0"/>
                            </a:rPr>
                            <m:t>ℱ</m:t>
                          </m:r>
                        </m:e>
                        <m:sub>
                          <m:r>
                            <a:rPr lang="zh-CN" altLang="en-US" i="1">
                              <a:latin typeface="Cambria Math" panose="02040503050406030204" pitchFamily="18" charset="0"/>
                            </a:rPr>
                            <m:t>𝑡𝑖𝑝</m:t>
                          </m:r>
                        </m:sub>
                      </m:sSub>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2788051" y="1995686"/>
                <a:ext cx="3507755" cy="410497"/>
              </a:xfrm>
              <a:prstGeom prst="rect">
                <a:avLst/>
              </a:prstGeom>
              <a:blipFill>
                <a:blip r:embed="rId4"/>
                <a:stretch>
                  <a:fillRect b="-7353"/>
                </a:stretch>
              </a:blipFill>
            </p:spPr>
            <p:txBody>
              <a:bodyPr/>
              <a:lstStyle/>
              <a:p>
                <a:r>
                  <a:rPr lang="zh-CN" altLang="en-US">
                    <a:noFill/>
                  </a:rPr>
                  <a:t> </a:t>
                </a:r>
              </a:p>
            </p:txBody>
          </p:sp>
        </mc:Fallback>
      </mc:AlternateContent>
      <p:sp>
        <p:nvSpPr>
          <p:cNvPr id="7" name="下箭头 6"/>
          <p:cNvSpPr/>
          <p:nvPr/>
        </p:nvSpPr>
        <p:spPr>
          <a:xfrm>
            <a:off x="4355750" y="1645340"/>
            <a:ext cx="216024" cy="362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2827126" y="2859782"/>
                <a:ext cx="3057247" cy="410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𝜏</m:t>
                          </m:r>
                          <m:r>
                            <a:rPr lang="zh-CN" altLang="en-US" i="0">
                              <a:latin typeface="Cambria Math" panose="02040503050406030204" pitchFamily="18" charset="0"/>
                            </a:rPr>
                            <m:t>=</m:t>
                          </m:r>
                          <m:r>
                            <m:rPr>
                              <m:sty m:val="p"/>
                            </m:rPr>
                            <a:rPr lang="zh-CN" altLang="en-US" i="0">
                              <a:latin typeface="Cambria Math" panose="02040503050406030204" pitchFamily="18" charset="0"/>
                            </a:rPr>
                            <m:t>InverseDyn</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0">
                                  <a:latin typeface="Cambria Math" panose="02040503050406030204" pitchFamily="18" charset="0"/>
                                </a:rPr>
                                <m:t>ℱ</m:t>
                              </m:r>
                            </m:e>
                            <m:sub>
                              <m:r>
                                <a:rPr lang="zh-CN" altLang="en-US" i="1">
                                  <a:latin typeface="Cambria Math" panose="02040503050406030204" pitchFamily="18" charset="0"/>
                                </a:rPr>
                                <m:t>𝑡𝑖𝑝</m:t>
                              </m:r>
                            </m:sub>
                          </m:sSub>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2827126" y="2859782"/>
                <a:ext cx="3057247" cy="410497"/>
              </a:xfrm>
              <a:prstGeom prst="rect">
                <a:avLst/>
              </a:prstGeom>
              <a:blipFill>
                <a:blip r:embed="rId5"/>
                <a:stretch>
                  <a:fillRect t="-153731" r="-20559" b="-2283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533758" y="3528504"/>
                <a:ext cx="4350615" cy="390748"/>
              </a:xfrm>
              <a:prstGeom prst="rect">
                <a:avLst/>
              </a:prstGeom>
            </p:spPr>
            <p:txBody>
              <a:bodyPr wrap="none">
                <a:spAutoFit/>
              </a:bodyPr>
              <a:lstStyle/>
              <a:p>
                <a:r>
                  <a:rPr lang="zh-CN" altLang="zh-CN" dirty="0">
                    <a:cs typeface="MV Boli" panose="02000500030200090000" pitchFamily="2" charset="0"/>
                  </a:rPr>
                  <a:t>令外部力旋量</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ℱ</m:t>
                        </m:r>
                      </m:e>
                      <m:sub>
                        <m:r>
                          <a:rPr lang="en-US" altLang="zh-CN" i="1">
                            <a:latin typeface="Cambria Math" panose="02040503050406030204" pitchFamily="18" charset="0"/>
                            <a:cs typeface="Times New Roman" panose="02020603050405020304" pitchFamily="18" charset="0"/>
                          </a:rPr>
                          <m:t>𝑡𝑖𝑝</m:t>
                        </m:r>
                      </m:sub>
                    </m:sSub>
                    <m:r>
                      <a:rPr lang="en-US" altLang="zh-CN" i="1">
                        <a:latin typeface="Cambria Math" panose="02040503050406030204" pitchFamily="18" charset="0"/>
                        <a:cs typeface="Times New Roman" panose="02020603050405020304" pitchFamily="18" charset="0"/>
                      </a:rPr>
                      <m:t>=0</m:t>
                    </m:r>
                  </m:oMath>
                </a14:m>
                <a:r>
                  <a:rPr lang="zh-CN" altLang="zh-CN" dirty="0">
                    <a:cs typeface="MV Boli" panose="02000500030200090000" pitchFamily="2" charset="0"/>
                  </a:rPr>
                  <a:t>，且</a:t>
                </a:r>
                <a14:m>
                  <m:oMath xmlns:m="http://schemas.openxmlformats.org/officeDocument/2006/math">
                    <m:acc>
                      <m:accPr>
                        <m:chr m:val="̈"/>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i="1">
                            <a:latin typeface="Cambria Math" panose="02040503050406030204" pitchFamily="18" charset="0"/>
                            <a:cs typeface="MV Boli" panose="02000500030200090000" pitchFamily="2" charset="0"/>
                          </a:rPr>
                          <m:t>𝜃</m:t>
                        </m:r>
                      </m:e>
                    </m:acc>
                    <m:r>
                      <a:rPr lang="en-US" altLang="zh-CN" i="1">
                        <a:latin typeface="Cambria Math" panose="02040503050406030204" pitchFamily="18" charset="0"/>
                        <a:cs typeface="MV Boli" panose="02000500030200090000" pitchFamily="2" charset="0"/>
                      </a:rPr>
                      <m:t>=0</m:t>
                    </m:r>
                  </m:oMath>
                </a14:m>
                <a:r>
                  <a:rPr lang="zh-CN" altLang="zh-CN" dirty="0">
                    <a:cs typeface="MV Boli" panose="02000500030200090000" pitchFamily="2" charset="0"/>
                  </a:rPr>
                  <a:t>，那么：</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533758" y="3528504"/>
                <a:ext cx="4350615" cy="390748"/>
              </a:xfrm>
              <a:prstGeom prst="rect">
                <a:avLst/>
              </a:prstGeom>
              <a:blipFill>
                <a:blip r:embed="rId6"/>
                <a:stretch>
                  <a:fillRect l="-1262" t="-14063" r="-701" b="-14063"/>
                </a:stretch>
              </a:blipFill>
            </p:spPr>
            <p:txBody>
              <a:bodyPr/>
              <a:lstStyle/>
              <a:p>
                <a:r>
                  <a:rPr lang="zh-CN" altLang="en-US">
                    <a:noFill/>
                  </a:rPr>
                  <a:t> </a:t>
                </a:r>
              </a:p>
            </p:txBody>
          </p:sp>
        </mc:Fallback>
      </mc:AlternateContent>
      <p:sp>
        <p:nvSpPr>
          <p:cNvPr id="10" name="下箭头 9"/>
          <p:cNvSpPr/>
          <p:nvPr/>
        </p:nvSpPr>
        <p:spPr>
          <a:xfrm>
            <a:off x="4355749" y="2499742"/>
            <a:ext cx="288259" cy="2880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矩形 10"/>
              <p:cNvSpPr/>
              <p:nvPr/>
            </p:nvSpPr>
            <p:spPr>
              <a:xfrm>
                <a:off x="5882034" y="3514269"/>
                <a:ext cx="1411477" cy="404983"/>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MV Boli" panose="02000500030200090000" pitchFamily="2" charset="0"/>
                      </a:rPr>
                      <m:t>𝜏</m:t>
                    </m:r>
                    <m:r>
                      <a:rPr lang="en-US" altLang="zh-CN">
                        <a:latin typeface="Cambria Math" panose="02040503050406030204" pitchFamily="18" charset="0"/>
                        <a:cs typeface="MV Boli" panose="02000500030200090000" pitchFamily="2" charset="0"/>
                      </a:rPr>
                      <m:t>=</m:t>
                    </m:r>
                    <m:r>
                      <a:rPr lang="en-US" altLang="zh-CN" i="1">
                        <a:latin typeface="Cambria Math" panose="02040503050406030204" pitchFamily="18" charset="0"/>
                        <a:cs typeface="MV Boli" panose="02000500030200090000" pitchFamily="2" charset="0"/>
                      </a:rPr>
                      <m:t>h</m:t>
                    </m:r>
                    <m:d>
                      <m:dPr>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i="1">
                            <a:latin typeface="Cambria Math" panose="02040503050406030204" pitchFamily="18" charset="0"/>
                            <a:cs typeface="MV Boli" panose="02000500030200090000" pitchFamily="2" charset="0"/>
                          </a:rPr>
                          <m:t>𝜃</m:t>
                        </m:r>
                        <m:r>
                          <a:rPr lang="en-US" altLang="zh-CN" i="1">
                            <a:latin typeface="Cambria Math" panose="02040503050406030204" pitchFamily="18" charset="0"/>
                            <a:cs typeface="MV Boli" panose="02000500030200090000" pitchFamily="2" charset="0"/>
                          </a:rPr>
                          <m:t>, </m:t>
                        </m:r>
                        <m:acc>
                          <m:accPr>
                            <m:chr m:val="̇"/>
                            <m:ctrlPr>
                              <a:rPr lang="zh-CN" altLang="zh-CN"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i="1">
                                <a:latin typeface="Cambria Math" panose="02040503050406030204" pitchFamily="18" charset="0"/>
                                <a:cs typeface="MV Boli" panose="02000500030200090000" pitchFamily="2" charset="0"/>
                              </a:rPr>
                              <m:t>𝜃</m:t>
                            </m:r>
                          </m:e>
                        </m:acc>
                      </m:e>
                    </m:d>
                  </m:oMath>
                </a14:m>
                <a:r>
                  <a:rPr lang="en-US" altLang="zh-CN" dirty="0">
                    <a:latin typeface="宋体" panose="02010600030101010101" pitchFamily="2" charset="-122"/>
                    <a:cs typeface="MV Boli" panose="02000500030200090000" pitchFamily="2" charset="0"/>
                  </a:rPr>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5882034" y="3514269"/>
                <a:ext cx="1411477" cy="40498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767611" y="4302328"/>
                <a:ext cx="3327065"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h</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 </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i="0">
                              <a:latin typeface="Cambria Math" panose="02040503050406030204" pitchFamily="18" charset="0"/>
                            </a:rPr>
                            <m:t>=</m:t>
                          </m:r>
                          <m:r>
                            <m:rPr>
                              <m:sty m:val="p"/>
                            </m:rPr>
                            <a:rPr lang="zh-CN" altLang="en-US" i="0">
                              <a:latin typeface="Cambria Math" panose="02040503050406030204" pitchFamily="18" charset="0"/>
                            </a:rPr>
                            <m:t>InverseDyn</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,0,0</m:t>
                          </m:r>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2767611" y="4302328"/>
                <a:ext cx="3327065" cy="404983"/>
              </a:xfrm>
              <a:prstGeom prst="rect">
                <a:avLst/>
              </a:prstGeom>
              <a:blipFill>
                <a:blip r:embed="rId8"/>
                <a:stretch>
                  <a:fillRect t="-156061" r="-18681" b="-233333"/>
                </a:stretch>
              </a:blipFill>
            </p:spPr>
            <p:txBody>
              <a:bodyPr/>
              <a:lstStyle/>
              <a:p>
                <a:r>
                  <a:rPr lang="zh-CN" altLang="en-US">
                    <a:noFill/>
                  </a:rPr>
                  <a:t> </a:t>
                </a:r>
              </a:p>
            </p:txBody>
          </p:sp>
        </mc:Fallback>
      </mc:AlternateContent>
      <p:sp>
        <p:nvSpPr>
          <p:cNvPr id="13" name="下箭头 12"/>
          <p:cNvSpPr/>
          <p:nvPr/>
        </p:nvSpPr>
        <p:spPr>
          <a:xfrm>
            <a:off x="4211960" y="4043190"/>
            <a:ext cx="329968" cy="328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892702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6547842"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Spatial Vector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利用逆动力学求解开链机器人正动力学</a:t>
              </a: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3139974" y="1313350"/>
                <a:ext cx="2803909"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h</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i="0">
                          <a:latin typeface="Cambria Math" panose="02040503050406030204" pitchFamily="18" charset="0"/>
                        </a:rPr>
                        <m:t>=</m:t>
                      </m:r>
                      <m:r>
                        <a:rPr lang="zh-CN" altLang="en-US" i="1">
                          <a:latin typeface="Cambria Math" panose="02040503050406030204" pitchFamily="18" charset="0"/>
                        </a:rPr>
                        <m:t>𝑐</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 </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r>
                        <a:rPr lang="zh-CN" altLang="en-US" i="1">
                          <a:latin typeface="Cambria Math" panose="02040503050406030204" pitchFamily="18" charset="0"/>
                        </a:rPr>
                        <m:t>𝑔</m:t>
                      </m:r>
                      <m:d>
                        <m:dPr>
                          <m:ctrlPr>
                            <a:rPr lang="zh-CN" altLang="en-US" i="1">
                              <a:latin typeface="Cambria Math" panose="02040503050406030204" pitchFamily="18" charset="0"/>
                            </a:rPr>
                          </m:ctrlPr>
                        </m:dPr>
                        <m:e>
                          <m:r>
                            <a:rPr lang="zh-CN" altLang="en-US" i="1">
                              <a:latin typeface="Cambria Math" panose="02040503050406030204" pitchFamily="18" charset="0"/>
                            </a:rPr>
                            <m:t>𝜃</m:t>
                          </m:r>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3139974" y="1313350"/>
                <a:ext cx="2803909" cy="404983"/>
              </a:xfrm>
              <a:prstGeom prst="rect">
                <a:avLst/>
              </a:prstGeom>
              <a:blipFill>
                <a:blip r:embed="rId3"/>
                <a:stretch>
                  <a:fillRect b="-29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255928" y="1851670"/>
                <a:ext cx="4572000" cy="993221"/>
              </a:xfrm>
              <a:prstGeom prst="rect">
                <a:avLst/>
              </a:prstGeom>
            </p:spPr>
            <p:txBody>
              <a:bodyPr>
                <a:spAutoFit/>
              </a:bodyPr>
              <a:lstStyle/>
              <a:p>
                <a:r>
                  <a:rPr lang="zh-CN" altLang="zh-CN" dirty="0">
                    <a:cs typeface="MV Boli" panose="02000500030200090000" pitchFamily="2" charset="0"/>
                  </a:rPr>
                  <a:t>如果忽略外部力，令</a:t>
                </a:r>
                <a14:m>
                  <m:oMath xmlns:m="http://schemas.openxmlformats.org/officeDocument/2006/math">
                    <m:r>
                      <a:rPr lang="en-US" altLang="zh-CN" i="1">
                        <a:latin typeface="Cambria Math" panose="02040503050406030204" pitchFamily="18" charset="0"/>
                        <a:cs typeface="MV Boli" panose="02000500030200090000" pitchFamily="2" charset="0"/>
                      </a:rPr>
                      <m:t>𝑔</m:t>
                    </m:r>
                    <m:r>
                      <a:rPr lang="en-US" altLang="zh-CN" i="1">
                        <a:latin typeface="Cambria Math" panose="02040503050406030204" pitchFamily="18" charset="0"/>
                        <a:cs typeface="MV Boli" panose="02000500030200090000" pitchFamily="2" charset="0"/>
                      </a:rPr>
                      <m:t>=0</m:t>
                    </m:r>
                  </m:oMath>
                </a14:m>
                <a:r>
                  <a:rPr lang="zh-CN" altLang="zh-CN" dirty="0">
                    <a:cs typeface="MV Boli" panose="02000500030200090000" pitchFamily="2" charset="0"/>
                  </a:rPr>
                  <a:t>，</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ℱ</m:t>
                        </m:r>
                      </m:e>
                      <m:sub>
                        <m:r>
                          <a:rPr lang="en-US" altLang="zh-CN" i="1">
                            <a:latin typeface="Cambria Math" panose="02040503050406030204" pitchFamily="18" charset="0"/>
                            <a:cs typeface="Times New Roman" panose="02020603050405020304" pitchFamily="18" charset="0"/>
                          </a:rPr>
                          <m:t>𝑡𝑖𝑝</m:t>
                        </m:r>
                      </m:sub>
                    </m:sSub>
                    <m:r>
                      <a:rPr lang="en-US" altLang="zh-CN" i="1">
                        <a:latin typeface="Cambria Math" panose="02040503050406030204" pitchFamily="18" charset="0"/>
                        <a:cs typeface="Times New Roman" panose="02020603050405020304" pitchFamily="18" charset="0"/>
                      </a:rPr>
                      <m:t>=0</m:t>
                    </m:r>
                  </m:oMath>
                </a14:m>
                <a:r>
                  <a:rPr lang="zh-CN" altLang="zh-CN" dirty="0">
                    <a:cs typeface="MV Boli" panose="02000500030200090000" pitchFamily="2" charset="0"/>
                  </a:rPr>
                  <a:t>，则</a:t>
                </a:r>
                <a14:m>
                  <m:oMath xmlns:m="http://schemas.openxmlformats.org/officeDocument/2006/math">
                    <m:r>
                      <a:rPr lang="en-US" altLang="zh-CN" i="1">
                        <a:latin typeface="Cambria Math" panose="02040503050406030204" pitchFamily="18" charset="0"/>
                        <a:cs typeface="MV Boli" panose="02000500030200090000" pitchFamily="2" charset="0"/>
                      </a:rPr>
                      <m:t>𝑔</m:t>
                    </m:r>
                    <m:d>
                      <m:dPr>
                        <m:ctrlPr>
                          <a:rPr lang="zh-CN" altLang="zh-CN" b="1"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i="1">
                            <a:latin typeface="Cambria Math" panose="02040503050406030204" pitchFamily="18" charset="0"/>
                            <a:cs typeface="MV Boli" panose="02000500030200090000" pitchFamily="2" charset="0"/>
                          </a:rPr>
                          <m:t>𝜃</m:t>
                        </m:r>
                      </m:e>
                    </m:d>
                    <m:r>
                      <a:rPr lang="en-US" altLang="zh-CN" b="1" i="1">
                        <a:latin typeface="Cambria Math" panose="02040503050406030204" pitchFamily="18" charset="0"/>
                        <a:cs typeface="MV Boli" panose="02000500030200090000" pitchFamily="2" charset="0"/>
                      </a:rPr>
                      <m:t>=</m:t>
                    </m:r>
                    <m:r>
                      <a:rPr lang="en-US" altLang="zh-CN" i="1">
                        <a:latin typeface="Cambria Math" panose="02040503050406030204" pitchFamily="18" charset="0"/>
                        <a:cs typeface="MV Boli" panose="02000500030200090000" pitchFamily="2" charset="0"/>
                      </a:rPr>
                      <m:t>0</m:t>
                    </m:r>
                  </m:oMath>
                </a14:m>
                <a:r>
                  <a:rPr lang="zh-CN" altLang="zh-CN" dirty="0">
                    <a:cs typeface="MV Boli" panose="02000500030200090000" pitchFamily="2" charset="0"/>
                  </a:rPr>
                  <a:t>；进一步，选择</a:t>
                </a:r>
                <a14:m>
                  <m:oMath xmlns:m="http://schemas.openxmlformats.org/officeDocument/2006/math">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cs typeface="Times New Roman" panose="02020603050405020304" pitchFamily="18" charset="0"/>
                          </a:rPr>
                          <m:t>𝜃</m:t>
                        </m:r>
                      </m:e>
                    </m:acc>
                    <m:r>
                      <a:rPr lang="en-US" altLang="zh-CN" i="1">
                        <a:latin typeface="Cambria Math" panose="02040503050406030204" pitchFamily="18" charset="0"/>
                        <a:cs typeface="Times New Roman" panose="02020603050405020304" pitchFamily="18" charset="0"/>
                      </a:rPr>
                      <m:t>=0</m:t>
                    </m:r>
                  </m:oMath>
                </a14:m>
                <a:r>
                  <a:rPr lang="zh-CN" altLang="zh-CN" dirty="0">
                    <a:cs typeface="MV Boli" panose="02000500030200090000" pitchFamily="2" charset="0"/>
                  </a:rPr>
                  <a:t>，那么</a:t>
                </a:r>
                <a14:m>
                  <m:oMath xmlns:m="http://schemas.openxmlformats.org/officeDocument/2006/math">
                    <m:r>
                      <a:rPr lang="en-US" altLang="zh-CN" i="1">
                        <a:latin typeface="Cambria Math" panose="02040503050406030204" pitchFamily="18" charset="0"/>
                        <a:cs typeface="Times New Roman" panose="02020603050405020304" pitchFamily="18" charset="0"/>
                      </a:rPr>
                      <m:t>h</m:t>
                    </m:r>
                    <m:d>
                      <m:dPr>
                        <m:ctrlPr>
                          <a:rPr lang="zh-CN" altLang="zh-CN" i="1">
                            <a:effectLst/>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cs typeface="Times New Roman" panose="02020603050405020304" pitchFamily="18" charset="0"/>
                          </a:rPr>
                          <m:t>𝜃</m:t>
                        </m:r>
                        <m:r>
                          <a:rPr lang="en-US" altLang="zh-CN" i="1">
                            <a:latin typeface="Cambria Math" panose="02040503050406030204" pitchFamily="18" charset="0"/>
                            <a:cs typeface="Times New Roman" panose="02020603050405020304" pitchFamily="18" charset="0"/>
                          </a:rPr>
                          <m:t>,</m:t>
                        </m:r>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cs typeface="Times New Roman" panose="02020603050405020304" pitchFamily="18" charset="0"/>
                              </a:rPr>
                              <m:t>𝜃</m:t>
                            </m:r>
                          </m:e>
                        </m:acc>
                      </m:e>
                    </m:d>
                    <m:r>
                      <a:rPr lang="en-US" altLang="zh-CN" i="1">
                        <a:latin typeface="Cambria Math" panose="02040503050406030204" pitchFamily="18" charset="0"/>
                        <a:cs typeface="Times New Roman" panose="02020603050405020304" pitchFamily="18" charset="0"/>
                      </a:rPr>
                      <m:t>=0</m:t>
                    </m:r>
                  </m:oMath>
                </a14:m>
                <a:r>
                  <a:rPr lang="zh-CN" altLang="zh-CN" dirty="0">
                    <a:cs typeface="MV Boli" panose="02000500030200090000" pitchFamily="2" charset="0"/>
                  </a:rPr>
                  <a:t>，此时：</a:t>
                </a:r>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255928" y="1851670"/>
                <a:ext cx="4572000" cy="993221"/>
              </a:xfrm>
              <a:prstGeom prst="rect">
                <a:avLst/>
              </a:prstGeom>
              <a:blipFill>
                <a:blip r:embed="rId4"/>
                <a:stretch>
                  <a:fillRect l="-1067" t="-5521" b="-49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707904" y="2978228"/>
                <a:ext cx="1317219" cy="3821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𝜏</m:t>
                      </m:r>
                      <m:r>
                        <a:rPr lang="zh-CN" altLang="en-US" i="0">
                          <a:latin typeface="Cambria Math" panose="02040503050406030204" pitchFamily="18" charset="0"/>
                        </a:rPr>
                        <m:t>=</m:t>
                      </m:r>
                      <m:r>
                        <a:rPr lang="zh-CN" altLang="en-US" i="1">
                          <a:latin typeface="Cambria Math" panose="02040503050406030204" pitchFamily="18" charset="0"/>
                        </a:rPr>
                        <m:t>𝑀</m:t>
                      </m:r>
                      <m:d>
                        <m:dPr>
                          <m:ctrlPr>
                            <a:rPr lang="zh-CN" altLang="en-US" i="1">
                              <a:latin typeface="Cambria Math" panose="02040503050406030204" pitchFamily="18" charset="0"/>
                            </a:rPr>
                          </m:ctrlPr>
                        </m:dPr>
                        <m:e>
                          <m:r>
                            <a:rPr lang="zh-CN" altLang="en-US" i="1">
                              <a:latin typeface="Cambria Math" panose="02040503050406030204" pitchFamily="18" charset="0"/>
                            </a:rPr>
                            <m:t>𝜃</m:t>
                          </m:r>
                        </m:e>
                      </m:d>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3707904" y="2978228"/>
                <a:ext cx="1317219" cy="382156"/>
              </a:xfrm>
              <a:prstGeom prst="rect">
                <a:avLst/>
              </a:prstGeom>
              <a:blipFill>
                <a:blip r:embed="rId5"/>
                <a:stretch>
                  <a:fillRect r="-15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699792" y="3638665"/>
                <a:ext cx="3463897" cy="4215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𝑀</m:t>
                              </m:r>
                            </m:e>
                            <m:sub>
                              <m:r>
                                <a:rPr lang="zh-CN" altLang="en-US" i="0">
                                  <a:latin typeface="Cambria Math" panose="02040503050406030204" pitchFamily="18" charset="0"/>
                                </a:rPr>
                                <m:t>:,</m:t>
                              </m:r>
                              <m:r>
                                <a:rPr lang="zh-CN" altLang="en-US" i="1">
                                  <a:latin typeface="Cambria Math" panose="02040503050406030204" pitchFamily="18" charset="0"/>
                                </a:rPr>
                                <m:t>𝑗</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𝜃</m:t>
                              </m:r>
                            </m:e>
                          </m:d>
                          <m:r>
                            <a:rPr lang="zh-CN" altLang="en-US" i="0">
                              <a:latin typeface="Cambria Math" panose="02040503050406030204" pitchFamily="18" charset="0"/>
                            </a:rPr>
                            <m:t>=</m:t>
                          </m:r>
                          <m:r>
                            <m:rPr>
                              <m:sty m:val="p"/>
                            </m:rPr>
                            <a:rPr lang="zh-CN" altLang="en-US" i="0">
                              <a:latin typeface="Cambria Math" panose="02040503050406030204" pitchFamily="18" charset="0"/>
                            </a:rPr>
                            <m:t>InverseDyn</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,0,</m:t>
                          </m:r>
                          <m:sSubSup>
                            <m:sSubSupPr>
                              <m:ctrlPr>
                                <a:rPr lang="zh-CN" altLang="en-US" i="1">
                                  <a:latin typeface="Cambria Math" panose="02040503050406030204" pitchFamily="18" charset="0"/>
                                </a:rPr>
                              </m:ctrlPr>
                            </m:sSubSup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sub>
                              <m:r>
                                <a:rPr lang="zh-CN" altLang="en-US" i="1">
                                  <a:latin typeface="Cambria Math" panose="02040503050406030204" pitchFamily="18" charset="0"/>
                                </a:rPr>
                                <m:t>𝑗</m:t>
                              </m:r>
                            </m:sub>
                            <m:sup>
                              <m:r>
                                <a:rPr lang="zh-CN" altLang="en-US" i="0">
                                  <a:latin typeface="Cambria Math" panose="02040503050406030204" pitchFamily="18" charset="0"/>
                                </a:rPr>
                                <m:t>0</m:t>
                              </m:r>
                            </m:sup>
                          </m:sSubSup>
                          <m:r>
                            <a:rPr lang="zh-CN" altLang="en-US" i="0">
                              <a:latin typeface="Cambria Math" panose="02040503050406030204" pitchFamily="18" charset="0"/>
                            </a:rPr>
                            <m:t>,0</m:t>
                          </m:r>
                        </m:e>
                      </m:d>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2699792" y="3638665"/>
                <a:ext cx="3463897" cy="421526"/>
              </a:xfrm>
              <a:prstGeom prst="rect">
                <a:avLst/>
              </a:prstGeom>
              <a:blipFill>
                <a:blip r:embed="rId6"/>
                <a:stretch>
                  <a:fillRect t="-149275" r="-17782" b="-2188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115616" y="4145708"/>
                <a:ext cx="7272808" cy="335476"/>
              </a:xfrm>
              <a:prstGeom prst="rect">
                <a:avLst/>
              </a:prstGeom>
            </p:spPr>
            <p:txBody>
              <a:bodyPr wrap="square">
                <a:spAutoFit/>
              </a:bodyPr>
              <a:lstStyle/>
              <a:p>
                <a:r>
                  <a:rPr lang="zh-CN" altLang="zh-CN" sz="1400" dirty="0">
                    <a:cs typeface="MV Boli" panose="02000500030200090000" pitchFamily="2" charset="0"/>
                  </a:rPr>
                  <a:t>求出</a:t>
                </a:r>
                <a14:m>
                  <m:oMath xmlns:m="http://schemas.openxmlformats.org/officeDocument/2006/math">
                    <m:r>
                      <a:rPr lang="en-US" altLang="zh-CN" sz="1400" i="1">
                        <a:latin typeface="Cambria Math" panose="02040503050406030204" pitchFamily="18" charset="0"/>
                        <a:cs typeface="MV Boli" panose="02000500030200090000" pitchFamily="2" charset="0"/>
                      </a:rPr>
                      <m:t>𝑀</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e>
                    </m:d>
                  </m:oMath>
                </a14:m>
                <a:r>
                  <a:rPr lang="zh-CN" altLang="zh-CN" sz="1400" dirty="0">
                    <a:cs typeface="MV Boli" panose="02000500030200090000" pitchFamily="2" charset="0"/>
                  </a:rPr>
                  <a:t>、</a:t>
                </a:r>
                <a14:m>
                  <m:oMath xmlns:m="http://schemas.openxmlformats.org/officeDocument/2006/math">
                    <m:r>
                      <a:rPr lang="en-US" altLang="zh-CN" sz="1400" i="1">
                        <a:latin typeface="Cambria Math" panose="02040503050406030204" pitchFamily="18" charset="0"/>
                        <a:cs typeface="MV Boli" panose="02000500030200090000" pitchFamily="2" charset="0"/>
                      </a:rPr>
                      <m:t>h</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𝜃</m:t>
                        </m:r>
                        <m:r>
                          <a:rPr lang="en-US" altLang="zh-CN" sz="1400" i="1">
                            <a:latin typeface="Cambria Math" panose="02040503050406030204" pitchFamily="18" charset="0"/>
                            <a:cs typeface="MV Boli" panose="02000500030200090000" pitchFamily="2" charset="0"/>
                          </a:rPr>
                          <m:t>, </m:t>
                        </m:r>
                        <m:acc>
                          <m:accPr>
                            <m:chr m:val="̇"/>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𝜃</m:t>
                            </m:r>
                          </m:e>
                        </m:acc>
                      </m:e>
                    </m:d>
                  </m:oMath>
                </a14:m>
                <a:r>
                  <a:rPr lang="zh-CN" altLang="zh-CN" sz="1400" dirty="0">
                    <a:cs typeface="MV Boli" panose="02000500030200090000" pitchFamily="2" charset="0"/>
                  </a:rPr>
                  <a:t>之后，</a:t>
                </a:r>
                <a:r>
                  <a:rPr lang="zh-CN" altLang="zh-CN" sz="1400" dirty="0">
                    <a:latin typeface="Calibri" panose="020F0502020204030204" pitchFamily="34" charset="0"/>
                    <a:cs typeface="Times New Roman" panose="02020603050405020304" pitchFamily="18" charset="0"/>
                  </a:rPr>
                  <a:t>已知</a:t>
                </a:r>
                <a14:m>
                  <m:oMath xmlns:m="http://schemas.openxmlformats.org/officeDocument/2006/math">
                    <m:r>
                      <a:rPr lang="en-US" altLang="zh-CN" sz="1400" i="1">
                        <a:latin typeface="Cambria Math" panose="02040503050406030204" pitchFamily="18" charset="0"/>
                        <a:cs typeface="Times New Roman" panose="02020603050405020304" pitchFamily="18" charset="0"/>
                      </a:rPr>
                      <m:t>𝜃</m:t>
                    </m:r>
                  </m:oMath>
                </a14:m>
                <a:r>
                  <a:rPr lang="zh-CN" altLang="zh-CN" sz="1400" dirty="0">
                    <a:latin typeface="Calibri" panose="020F0502020204030204" pitchFamily="34" charset="0"/>
                    <a:cs typeface="Times New Roman" panose="02020603050405020304" pitchFamily="18" charset="0"/>
                  </a:rPr>
                  <a:t>、</a:t>
                </a:r>
                <a14:m>
                  <m:oMath xmlns:m="http://schemas.openxmlformats.org/officeDocument/2006/math">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cs typeface="Times New Roman" panose="02020603050405020304" pitchFamily="18" charset="0"/>
                          </a:rPr>
                          <m:t>𝜃</m:t>
                        </m:r>
                      </m:e>
                    </m:acc>
                  </m:oMath>
                </a14:m>
                <a:r>
                  <a:rPr lang="zh-CN" altLang="zh-CN" sz="1400" dirty="0">
                    <a:latin typeface="Calibri" panose="020F0502020204030204" pitchFamily="34" charset="0"/>
                    <a:cs typeface="Times New Roman" panose="02020603050405020304" pitchFamily="18" charset="0"/>
                  </a:rPr>
                  <a:t>、</a:t>
                </a:r>
                <a14:m>
                  <m:oMath xmlns:m="http://schemas.openxmlformats.org/officeDocument/2006/math">
                    <m:r>
                      <a:rPr lang="en-US" altLang="zh-CN" sz="1400" i="1">
                        <a:latin typeface="Cambria Math" panose="02040503050406030204" pitchFamily="18" charset="0"/>
                        <a:cs typeface="Times New Roman" panose="02020603050405020304" pitchFamily="18" charset="0"/>
                      </a:rPr>
                      <m:t>𝜏</m:t>
                    </m:r>
                  </m:oMath>
                </a14:m>
                <a:r>
                  <a:rPr lang="zh-CN" altLang="zh-CN" sz="1400" dirty="0">
                    <a:latin typeface="Calibri" panose="020F0502020204030204" pitchFamily="34" charset="0"/>
                    <a:cs typeface="Times New Roman" panose="02020603050405020304" pitchFamily="18" charset="0"/>
                  </a:rPr>
                  <a:t>、</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oMath>
                </a14:m>
                <a:r>
                  <a:rPr lang="zh-CN" altLang="zh-CN" sz="1400" dirty="0">
                    <a:latin typeface="Calibri" panose="020F0502020204030204" pitchFamily="34" charset="0"/>
                    <a:cs typeface="Times New Roman" panose="02020603050405020304" pitchFamily="18" charset="0"/>
                  </a:rPr>
                  <a:t>，那么就可以直接用公式（</a:t>
                </a:r>
                <a:r>
                  <a:rPr lang="en-US" altLang="zh-CN" sz="1400" dirty="0">
                    <a:latin typeface="Calibri" panose="020F0502020204030204" pitchFamily="34" charset="0"/>
                    <a:cs typeface="Times New Roman" panose="02020603050405020304" pitchFamily="18" charset="0"/>
                  </a:rPr>
                  <a:t>4-96</a:t>
                </a:r>
                <a:r>
                  <a:rPr lang="zh-CN" altLang="zh-CN" sz="1400" dirty="0">
                    <a:latin typeface="Calibri" panose="020F0502020204030204" pitchFamily="34" charset="0"/>
                    <a:cs typeface="Times New Roman" panose="02020603050405020304" pitchFamily="18" charset="0"/>
                  </a:rPr>
                  <a:t>）计算</a:t>
                </a:r>
                <a14:m>
                  <m:oMath xmlns:m="http://schemas.openxmlformats.org/officeDocument/2006/math">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cs typeface="Times New Roman" panose="02020603050405020304" pitchFamily="18" charset="0"/>
                          </a:rPr>
                          <m:t>𝜃</m:t>
                        </m:r>
                      </m:e>
                    </m:acc>
                  </m:oMath>
                </a14:m>
                <a:r>
                  <a:rPr lang="zh-CN" altLang="zh-CN" sz="1400" dirty="0">
                    <a:latin typeface="Calibri" panose="020F0502020204030204" pitchFamily="34" charset="0"/>
                    <a:cs typeface="Times New Roman" panose="02020603050405020304" pitchFamily="18" charset="0"/>
                  </a:rPr>
                  <a:t>。</a:t>
                </a:r>
                <a:endParaRPr lang="zh-CN" altLang="en-US" sz="1400" dirty="0"/>
              </a:p>
            </p:txBody>
          </p:sp>
        </mc:Choice>
        <mc:Fallback xmlns="">
          <p:sp>
            <p:nvSpPr>
              <p:cNvPr id="15" name="矩形 14"/>
              <p:cNvSpPr>
                <a:spLocks noRot="1" noChangeAspect="1" noMove="1" noResize="1" noEditPoints="1" noAdjustHandles="1" noChangeArrowheads="1" noChangeShapeType="1" noTextEdit="1"/>
              </p:cNvSpPr>
              <p:nvPr/>
            </p:nvSpPr>
            <p:spPr>
              <a:xfrm>
                <a:off x="1115616" y="4145708"/>
                <a:ext cx="7272808" cy="335476"/>
              </a:xfrm>
              <a:prstGeom prst="rect">
                <a:avLst/>
              </a:prstGeom>
              <a:blipFill>
                <a:blip r:embed="rId7"/>
                <a:stretch>
                  <a:fillRect l="-251" t="-3636" b="-16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459597" y="4566701"/>
                <a:ext cx="3944285" cy="410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𝑀</m:t>
                          </m:r>
                        </m:e>
                        <m:sup>
                          <m:r>
                            <a:rPr lang="zh-CN" altLang="en-US" i="0">
                              <a:latin typeface="Cambria Math" panose="02040503050406030204" pitchFamily="18" charset="0"/>
                            </a:rPr>
                            <m:t>−1</m:t>
                          </m:r>
                        </m:sup>
                      </m:sSup>
                      <m:d>
                        <m:dPr>
                          <m:ctrlPr>
                            <a:rPr lang="zh-CN" altLang="en-US" i="1">
                              <a:latin typeface="Cambria Math" panose="02040503050406030204" pitchFamily="18" charset="0"/>
                            </a:rPr>
                          </m:ctrlPr>
                        </m:dPr>
                        <m:e>
                          <m:r>
                            <a:rPr lang="zh-CN" altLang="en-US" i="1">
                              <a:latin typeface="Cambria Math" panose="02040503050406030204" pitchFamily="18" charset="0"/>
                            </a:rPr>
                            <m:t>𝜃</m:t>
                          </m:r>
                        </m:e>
                      </m:d>
                      <m:d>
                        <m:dPr>
                          <m:ctrlPr>
                            <a:rPr lang="zh-CN" altLang="en-US" i="1">
                              <a:latin typeface="Cambria Math" panose="02040503050406030204" pitchFamily="18" charset="0"/>
                            </a:rPr>
                          </m:ctrlPr>
                        </m:dPr>
                        <m:e>
                          <m:r>
                            <a:rPr lang="zh-CN" altLang="en-US" i="1">
                              <a:latin typeface="Cambria Math" panose="02040503050406030204" pitchFamily="18" charset="0"/>
                            </a:rPr>
                            <m:t>𝜏</m:t>
                          </m:r>
                          <m:r>
                            <a:rPr lang="zh-CN" altLang="en-US" i="0">
                              <a:latin typeface="Cambria Math" panose="02040503050406030204" pitchFamily="18" charset="0"/>
                            </a:rPr>
                            <m:t>−</m:t>
                          </m:r>
                          <m:r>
                            <a:rPr lang="zh-CN" altLang="en-US" i="1">
                              <a:latin typeface="Cambria Math" panose="02040503050406030204" pitchFamily="18" charset="0"/>
                            </a:rPr>
                            <m:t>h</m:t>
                          </m:r>
                          <m:d>
                            <m:dPr>
                              <m:ctrlPr>
                                <a:rPr lang="zh-CN" altLang="en-US" i="1">
                                  <a:latin typeface="Cambria Math" panose="02040503050406030204" pitchFamily="18" charset="0"/>
                                </a:rPr>
                              </m:ctrlPr>
                            </m:dPr>
                            <m:e>
                              <m:r>
                                <a:rPr lang="zh-CN" altLang="en-US" i="1">
                                  <a:latin typeface="Cambria Math" panose="02040503050406030204" pitchFamily="18" charset="0"/>
                                </a:rPr>
                                <m:t>𝜃</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𝜃</m:t>
                                  </m:r>
                                </m:e>
                              </m:acc>
                            </m:e>
                          </m:d>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𝐽</m:t>
                              </m:r>
                            </m:e>
                            <m:sup>
                              <m:r>
                                <a:rPr lang="zh-CN" altLang="en-US" i="1">
                                  <a:latin typeface="Cambria Math" panose="02040503050406030204" pitchFamily="18" charset="0"/>
                                </a:rPr>
                                <m:t>𝑇</m:t>
                              </m:r>
                            </m:sup>
                          </m:sSup>
                          <m:d>
                            <m:dPr>
                              <m:ctrlPr>
                                <a:rPr lang="zh-CN" altLang="en-US" i="1">
                                  <a:latin typeface="Cambria Math" panose="02040503050406030204" pitchFamily="18" charset="0"/>
                                </a:rPr>
                              </m:ctrlPr>
                            </m:dPr>
                            <m:e>
                              <m:r>
                                <a:rPr lang="zh-CN" altLang="en-US" i="1">
                                  <a:latin typeface="Cambria Math" panose="02040503050406030204" pitchFamily="18" charset="0"/>
                                </a:rPr>
                                <m:t>𝜃</m:t>
                              </m:r>
                            </m:e>
                          </m:d>
                          <m:sSub>
                            <m:sSubPr>
                              <m:ctrlPr>
                                <a:rPr lang="zh-CN" altLang="en-US" i="1">
                                  <a:latin typeface="Cambria Math" panose="02040503050406030204" pitchFamily="18" charset="0"/>
                                </a:rPr>
                              </m:ctrlPr>
                            </m:sSubPr>
                            <m:e>
                              <m:r>
                                <a:rPr lang="zh-CN" altLang="en-US" i="0">
                                  <a:latin typeface="Cambria Math" panose="02040503050406030204" pitchFamily="18" charset="0"/>
                                </a:rPr>
                                <m:t>ℱ</m:t>
                              </m:r>
                            </m:e>
                            <m:sub>
                              <m:r>
                                <a:rPr lang="zh-CN" altLang="en-US" i="1">
                                  <a:latin typeface="Cambria Math" panose="02040503050406030204" pitchFamily="18" charset="0"/>
                                </a:rPr>
                                <m:t>𝑡𝑖𝑝</m:t>
                              </m:r>
                            </m:sub>
                          </m:sSub>
                        </m:e>
                      </m:d>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2459597" y="4566701"/>
                <a:ext cx="3944285" cy="410497"/>
              </a:xfrm>
              <a:prstGeom prst="rect">
                <a:avLst/>
              </a:prstGeom>
              <a:blipFill>
                <a:blip r:embed="rId8"/>
                <a:stretch>
                  <a:fillRect b="-8955"/>
                </a:stretch>
              </a:blipFill>
            </p:spPr>
            <p:txBody>
              <a:bodyPr/>
              <a:lstStyle/>
              <a:p>
                <a:r>
                  <a:rPr lang="zh-CN" altLang="en-US">
                    <a:noFill/>
                  </a:rPr>
                  <a:t> </a:t>
                </a:r>
              </a:p>
            </p:txBody>
          </p:sp>
        </mc:Fallback>
      </mc:AlternateContent>
      <p:sp>
        <p:nvSpPr>
          <p:cNvPr id="17" name="圆角矩形 16"/>
          <p:cNvSpPr/>
          <p:nvPr/>
        </p:nvSpPr>
        <p:spPr>
          <a:xfrm>
            <a:off x="971600" y="4145708"/>
            <a:ext cx="7200800" cy="94632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28950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4241119" y="2174899"/>
                <a:ext cx="3849370" cy="1795043"/>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正运动学的求解，一般用于机器人运动仿真。采用上面描述的方法求得正运动学方程之后，可以将其定义为一个函数</a:t>
                </a:r>
                <a:r>
                  <a:rPr lang="en-US" altLang="zh-CN" sz="1200" dirty="0" err="1">
                    <a:latin typeface="Arial" panose="020B0604020202020204" pitchFamily="34" charset="0"/>
                    <a:ea typeface="微软雅黑" panose="020B0503020204020204" charset="-122"/>
                    <a:sym typeface="+mn-ea"/>
                  </a:rPr>
                  <a:t>ForwardDynamics</a:t>
                </a:r>
                <a:r>
                  <a:rPr lang="zh-CN" altLang="en-US" sz="1200" dirty="0">
                    <a:latin typeface="Arial" panose="020B0604020202020204" pitchFamily="34" charset="0"/>
                    <a:ea typeface="微软雅黑" panose="020B0503020204020204" charset="-122"/>
                    <a:sym typeface="+mn-ea"/>
                  </a:rPr>
                  <a:t>进行求解。</a:t>
                </a:r>
              </a:p>
              <a:p>
                <a:pPr>
                  <a:lnSpc>
                    <a:spcPct val="150000"/>
                  </a:lnSpc>
                </a:pPr>
                <a14:m>
                  <m:oMathPara xmlns:m="http://schemas.openxmlformats.org/officeDocument/2006/math">
                    <m:oMathParaPr>
                      <m:jc m:val="centerGroup"/>
                    </m:oMathParaPr>
                    <m:oMath xmlns:m="http://schemas.openxmlformats.org/officeDocument/2006/math">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r>
                        <a:rPr lang="en-US" altLang="zh-CN" sz="1200" i="1">
                          <a:latin typeface="Cambria Math" panose="02040503050406030204" pitchFamily="18" charset="0"/>
                        </a:rPr>
                        <m:t>=</m:t>
                      </m:r>
                      <m:r>
                        <a:rPr lang="en-US" altLang="zh-CN" sz="1200" i="1">
                          <a:latin typeface="Cambria Math" panose="02040503050406030204" pitchFamily="18" charset="0"/>
                        </a:rPr>
                        <m:t>𝐹𝑜𝑟𝑤𝑎𝑟𝑑𝐷𝑦𝑛𝑎𝑚𝑖𝑐𝑠</m:t>
                      </m:r>
                      <m:r>
                        <a:rPr lang="en-US" altLang="zh-CN" sz="1200" i="1">
                          <a:latin typeface="Cambria Math" panose="02040503050406030204" pitchFamily="18" charset="0"/>
                        </a:rPr>
                        <m:t>(</m:t>
                      </m:r>
                      <m:r>
                        <a:rPr lang="en-US" altLang="zh-CN" sz="1200" i="1">
                          <a:latin typeface="Cambria Math" panose="02040503050406030204" pitchFamily="18" charset="0"/>
                        </a:rPr>
                        <m:t>𝜃</m:t>
                      </m:r>
                      <m:r>
                        <a:rPr lang="en-US" altLang="zh-CN" sz="1200" i="1">
                          <a:latin typeface="Cambria Math" panose="02040503050406030204" pitchFamily="18" charset="0"/>
                        </a:rPr>
                        <m:t>,</m:t>
                      </m:r>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r>
                        <a:rPr lang="en-US" altLang="zh-CN" sz="1200" i="1">
                          <a:latin typeface="Cambria Math" panose="02040503050406030204" pitchFamily="18" charset="0"/>
                        </a:rPr>
                        <m:t>, </m:t>
                      </m:r>
                      <m:r>
                        <a:rPr lang="en-US" altLang="zh-CN" sz="1200" i="1">
                          <a:latin typeface="Cambria Math" panose="02040503050406030204" pitchFamily="18" charset="0"/>
                        </a:rPr>
                        <m:t>𝜏</m:t>
                      </m:r>
                      <m:r>
                        <a:rPr lang="en-US" altLang="zh-CN" sz="1200" i="1">
                          <a:latin typeface="Cambria Math" panose="02040503050406030204" pitchFamily="18" charset="0"/>
                        </a:rPr>
                        <m:t>, </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ℱ</m:t>
                          </m:r>
                        </m:e>
                        <m:sub>
                          <m:r>
                            <a:rPr lang="en-US" altLang="zh-CN" sz="1200" i="1">
                              <a:latin typeface="Cambria Math" panose="02040503050406030204" pitchFamily="18" charset="0"/>
                            </a:rPr>
                            <m:t>𝑡𝑖𝑝</m:t>
                          </m:r>
                        </m:sub>
                      </m:sSub>
                      <m:r>
                        <a:rPr lang="en-US" altLang="zh-CN" sz="1200" i="1">
                          <a:latin typeface="Cambria Math" panose="02040503050406030204" pitchFamily="18" charset="0"/>
                        </a:rPr>
                        <m:t>)</m:t>
                      </m:r>
                    </m:oMath>
                  </m:oMathPara>
                </a14:m>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latin typeface="Arial" panose="020B0604020202020204" pitchFamily="34" charset="0"/>
                    <a:ea typeface="微软雅黑" panose="020B0503020204020204" charset="-122"/>
                    <a:sym typeface="+mn-ea"/>
                  </a:rPr>
                  <a:t>对于</a:t>
                </a:r>
                <a:r>
                  <a:rPr lang="zh-CN" altLang="en-US" sz="1200" dirty="0">
                    <a:latin typeface="Arial" panose="020B0604020202020204" pitchFamily="34" charset="0"/>
                    <a:ea typeface="微软雅黑" panose="020B0503020204020204" charset="-122"/>
                    <a:sym typeface="+mn-ea"/>
                  </a:rPr>
                  <a:t>该方程，可以采用欧拉积分法进行时间离散的数值计算，然后基于该数值计算进行运动仿真。</a:t>
                </a:r>
                <a:endParaRPr lang="en-US" altLang="zh-CN" sz="1200" i="1" dirty="0" smtClean="0"/>
              </a:p>
            </p:txBody>
          </p:sp>
        </mc:Choice>
        <mc:Fallback xmlns="">
          <p:sp>
            <p:nvSpPr>
              <p:cNvPr id="6" name="矩形 5"/>
              <p:cNvSpPr>
                <a:spLocks noRot="1" noChangeAspect="1" noMove="1" noResize="1" noEditPoints="1" noAdjustHandles="1" noChangeArrowheads="1" noChangeShapeType="1" noTextEdit="1"/>
              </p:cNvSpPr>
              <p:nvPr/>
            </p:nvSpPr>
            <p:spPr>
              <a:xfrm>
                <a:off x="4241119" y="2174899"/>
                <a:ext cx="3849370" cy="1795043"/>
              </a:xfrm>
              <a:prstGeom prst="rect">
                <a:avLst/>
              </a:prstGeom>
              <a:blipFill>
                <a:blip r:embed="rId3"/>
                <a:stretch>
                  <a:fillRect l="-158" b="-340"/>
                </a:stretch>
              </a:blipFill>
            </p:spPr>
            <p:txBody>
              <a:bodyPr/>
              <a:lstStyle/>
              <a:p>
                <a:r>
                  <a:rPr lang="zh-CN" altLang="en-US">
                    <a:noFill/>
                  </a:rPr>
                  <a:t> </a:t>
                </a:r>
              </a:p>
            </p:txBody>
          </p:sp>
        </mc:Fallback>
      </mc:AlternateContent>
      <p:sp>
        <p:nvSpPr>
          <p:cNvPr id="7" name="文本框 6"/>
          <p:cNvSpPr txBox="1"/>
          <p:nvPr/>
        </p:nvSpPr>
        <p:spPr>
          <a:xfrm>
            <a:off x="4241119" y="1311938"/>
            <a:ext cx="4285178" cy="830997"/>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采用欧拉积分法进行正运动学数值计算</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10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7189452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Forward Dynamics of Open Chains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采用欧拉积分法进行正运动学数值计算</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3794629"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串联机器人的正</a:t>
            </a:r>
            <a:r>
              <a:rPr lang="zh-CN" altLang="en-US" b="1" dirty="0" smtClean="0">
                <a:solidFill>
                  <a:srgbClr val="002060"/>
                </a:solidFill>
                <a:latin typeface="Calibri" panose="020F0502020204030204" pitchFamily="34" charset="0"/>
                <a:cs typeface="Times New Roman" panose="02020603050405020304" pitchFamily="18" charset="0"/>
              </a:rPr>
              <a:t>动力学迭代法求解</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4" name="矩形 3"/>
              <p:cNvSpPr/>
              <p:nvPr/>
            </p:nvSpPr>
            <p:spPr>
              <a:xfrm>
                <a:off x="2591947" y="1313350"/>
                <a:ext cx="3103349" cy="3397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𝑀</m:t>
                          </m:r>
                        </m:e>
                        <m:sup>
                          <m:r>
                            <a:rPr lang="zh-CN" altLang="en-US" sz="1400" i="0">
                              <a:latin typeface="Cambria Math" panose="02040503050406030204" pitchFamily="18" charset="0"/>
                            </a:rPr>
                            <m:t>−</m:t>
                          </m:r>
                          <m:r>
                            <a:rPr lang="zh-CN" altLang="en-US" sz="1400" i="0">
                              <a:latin typeface="Cambria Math" panose="02040503050406030204" pitchFamily="18" charset="0"/>
                            </a:rPr>
                            <m:t>1</m:t>
                          </m:r>
                        </m:sup>
                      </m:s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d>
                        <m:dPr>
                          <m:ctrlPr>
                            <a:rPr lang="zh-CN" altLang="en-US" sz="1400" i="1">
                              <a:latin typeface="Cambria Math" panose="02040503050406030204" pitchFamily="18" charset="0"/>
                            </a:rPr>
                          </m:ctrlPr>
                        </m:dPr>
                        <m:e>
                          <m:r>
                            <a:rPr lang="zh-CN" altLang="en-US" sz="1400" i="1">
                              <a:latin typeface="Cambria Math" panose="02040503050406030204" pitchFamily="18" charset="0"/>
                            </a:rPr>
                            <m:t>𝜏</m:t>
                          </m:r>
                          <m:r>
                            <a:rPr lang="zh-CN" altLang="en-US" sz="1400" i="0">
                              <a:latin typeface="Cambria Math" panose="02040503050406030204" pitchFamily="18" charset="0"/>
                            </a:rPr>
                            <m:t>−</m:t>
                          </m:r>
                          <m:r>
                            <a:rPr lang="zh-CN" altLang="en-US" sz="1400" i="1">
                              <a:latin typeface="Cambria Math" panose="02040503050406030204" pitchFamily="18" charset="0"/>
                            </a:rPr>
                            <m:t>h</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r>
                                <a:rPr lang="zh-CN" altLang="en-US" sz="1400" i="0">
                                  <a:latin typeface="Cambria Math" panose="02040503050406030204" pitchFamily="18" charset="0"/>
                                </a:rPr>
                                <m:t>,</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e>
                          </m:d>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𝐽</m:t>
                              </m:r>
                            </m:e>
                            <m:sup>
                              <m:r>
                                <a:rPr lang="zh-CN" altLang="en-US" sz="1400" i="1">
                                  <a:latin typeface="Cambria Math" panose="02040503050406030204" pitchFamily="18" charset="0"/>
                                </a:rPr>
                                <m:t>𝑇</m:t>
                              </m:r>
                            </m:sup>
                          </m:sSup>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ℱ</m:t>
                              </m:r>
                            </m:e>
                            <m:sub>
                              <m:r>
                                <a:rPr lang="zh-CN" altLang="en-US" sz="1400" i="1">
                                  <a:latin typeface="Cambria Math" panose="02040503050406030204" pitchFamily="18" charset="0"/>
                                </a:rPr>
                                <m:t>𝑡𝑖𝑝</m:t>
                              </m:r>
                            </m:sub>
                          </m:sSub>
                        </m:e>
                      </m:d>
                    </m:oMath>
                  </m:oMathPara>
                </a14:m>
                <a:endParaRPr lang="zh-CN" altLang="en-US" sz="1400" dirty="0"/>
              </a:p>
            </p:txBody>
          </p:sp>
        </mc:Choice>
        <mc:Fallback xmlns="">
          <p:sp>
            <p:nvSpPr>
              <p:cNvPr id="4" name="矩形 3"/>
              <p:cNvSpPr>
                <a:spLocks noRot="1" noChangeAspect="1" noMove="1" noResize="1" noEditPoints="1" noAdjustHandles="1" noChangeArrowheads="1" noChangeShapeType="1" noTextEdit="1"/>
              </p:cNvSpPr>
              <p:nvPr/>
            </p:nvSpPr>
            <p:spPr>
              <a:xfrm>
                <a:off x="2591947" y="1313350"/>
                <a:ext cx="3103349" cy="339773"/>
              </a:xfrm>
              <a:prstGeom prst="rect">
                <a:avLst/>
              </a:prstGeom>
              <a:blipFill>
                <a:blip r:embed="rId3"/>
                <a:stretch>
                  <a:fillRect b="-1786"/>
                </a:stretch>
              </a:blipFill>
            </p:spPr>
            <p:txBody>
              <a:bodyPr/>
              <a:lstStyle/>
              <a:p>
                <a:r>
                  <a:rPr lang="zh-CN" altLang="en-US">
                    <a:noFill/>
                  </a:rPr>
                  <a:t> </a:t>
                </a:r>
              </a:p>
            </p:txBody>
          </p:sp>
        </mc:Fallback>
      </mc:AlternateContent>
      <p:sp>
        <p:nvSpPr>
          <p:cNvPr id="7" name="矩形 6"/>
          <p:cNvSpPr/>
          <p:nvPr/>
        </p:nvSpPr>
        <p:spPr>
          <a:xfrm>
            <a:off x="1403648" y="1284037"/>
            <a:ext cx="1005403" cy="338554"/>
          </a:xfrm>
          <a:prstGeom prst="rect">
            <a:avLst/>
          </a:prstGeom>
        </p:spPr>
        <p:txBody>
          <a:bodyPr wrap="none">
            <a:spAutoFit/>
          </a:bodyPr>
          <a:lstStyle/>
          <a:p>
            <a:r>
              <a:rPr lang="zh-CN" altLang="zh-CN" sz="1600" b="1" dirty="0">
                <a:solidFill>
                  <a:srgbClr val="002060"/>
                </a:solidFill>
                <a:cs typeface="MV Boli" panose="02000500030200090000" pitchFamily="2" charset="0"/>
              </a:rPr>
              <a:t>正动力学</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1" name="矩形 10"/>
              <p:cNvSpPr/>
              <p:nvPr/>
            </p:nvSpPr>
            <p:spPr>
              <a:xfrm>
                <a:off x="2587942" y="1737003"/>
                <a:ext cx="3045769" cy="3397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m:t>
                          </m:r>
                          <m:r>
                            <a:rPr lang="zh-CN" altLang="en-US" sz="1400" i="1">
                              <a:latin typeface="Cambria Math" panose="02040503050406030204" pitchFamily="18" charset="0"/>
                            </a:rPr>
                            <m:t>𝐹𝑜𝑟𝑤𝑎𝑟𝑑𝐷𝑦𝑛𝑎𝑚𝑖𝑐𝑠</m:t>
                          </m:r>
                          <m:r>
                            <a:rPr lang="zh-CN" altLang="en-US" sz="1400" i="0">
                              <a:latin typeface="Cambria Math" panose="02040503050406030204" pitchFamily="18" charset="0"/>
                            </a:rPr>
                            <m:t>(</m:t>
                          </m:r>
                          <m:r>
                            <a:rPr lang="zh-CN" altLang="en-US" sz="1400" i="1">
                              <a:latin typeface="Cambria Math" panose="02040503050406030204" pitchFamily="18" charset="0"/>
                            </a:rPr>
                            <m:t>𝜃</m:t>
                          </m:r>
                          <m:r>
                            <a:rPr lang="zh-CN" altLang="en-US" sz="1400" i="0">
                              <a:latin typeface="Cambria Math" panose="02040503050406030204" pitchFamily="18" charset="0"/>
                            </a:rPr>
                            <m:t>,</m:t>
                          </m:r>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𝜃</m:t>
                              </m:r>
                            </m:e>
                          </m:acc>
                          <m:r>
                            <a:rPr lang="zh-CN" altLang="en-US" sz="1400" i="0">
                              <a:latin typeface="Cambria Math" panose="02040503050406030204" pitchFamily="18" charset="0"/>
                            </a:rPr>
                            <m:t>, </m:t>
                          </m:r>
                          <m:r>
                            <a:rPr lang="zh-CN" altLang="en-US" sz="1400" i="1">
                              <a:latin typeface="Cambria Math" panose="02040503050406030204" pitchFamily="18" charset="0"/>
                            </a:rPr>
                            <m:t>𝜏</m:t>
                          </m:r>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0">
                                  <a:latin typeface="Cambria Math" panose="02040503050406030204" pitchFamily="18" charset="0"/>
                                </a:rPr>
                                <m:t>ℱ</m:t>
                              </m:r>
                            </m:e>
                            <m:sub>
                              <m:r>
                                <a:rPr lang="zh-CN" altLang="en-US" sz="1400" i="1">
                                  <a:latin typeface="Cambria Math" panose="02040503050406030204" pitchFamily="18" charset="0"/>
                                </a:rPr>
                                <m:t>𝑡𝑖𝑝</m:t>
                              </m:r>
                            </m:sub>
                          </m:sSub>
                        </m:e>
                      </m:d>
                    </m:oMath>
                  </m:oMathPara>
                </a14:m>
                <a:endParaRPr lang="zh-CN"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2587942" y="1737003"/>
                <a:ext cx="3045769" cy="339773"/>
              </a:xfrm>
              <a:prstGeom prst="rect">
                <a:avLst/>
              </a:prstGeom>
              <a:blipFill>
                <a:blip r:embed="rId4"/>
                <a:stretch>
                  <a:fillRect t="-133929" r="-15431" b="-205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483015" y="2187311"/>
                <a:ext cx="5832648" cy="317844"/>
              </a:xfrm>
              <a:prstGeom prst="rect">
                <a:avLst/>
              </a:prstGeom>
            </p:spPr>
            <p:txBody>
              <a:bodyPr wrap="square">
                <a:spAutoFit/>
              </a:bodyPr>
              <a:lstStyle/>
              <a:p>
                <a:r>
                  <a:rPr lang="zh-CN" altLang="zh-CN" sz="1400" dirty="0" smtClean="0">
                    <a:solidFill>
                      <a:srgbClr val="002060"/>
                    </a:solidFill>
                    <a:cs typeface="MV Boli" panose="02000500030200090000" pitchFamily="2" charset="0"/>
                  </a:rPr>
                  <a:t>定义</a:t>
                </a:r>
                <a14:m>
                  <m:oMath xmlns:m="http://schemas.openxmlformats.org/officeDocument/2006/math">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𝑞</m:t>
                        </m:r>
                      </m:e>
                      <m:sub>
                        <m:r>
                          <a:rPr lang="en-US" altLang="zh-CN" sz="1400" i="1">
                            <a:solidFill>
                              <a:srgbClr val="002060"/>
                            </a:solidFill>
                            <a:latin typeface="Cambria Math" panose="02040503050406030204" pitchFamily="18" charset="0"/>
                            <a:cs typeface="MV Boli" panose="02000500030200090000" pitchFamily="2" charset="0"/>
                          </a:rPr>
                          <m:t>1</m:t>
                        </m:r>
                      </m:sub>
                    </m:sSub>
                    <m:r>
                      <a:rPr lang="en-US" altLang="zh-CN" sz="1400" i="1">
                        <a:solidFill>
                          <a:srgbClr val="002060"/>
                        </a:solidFill>
                        <a:latin typeface="Cambria Math" panose="02040503050406030204" pitchFamily="18" charset="0"/>
                        <a:cs typeface="MV Boli" panose="02000500030200090000" pitchFamily="2" charset="0"/>
                      </a:rPr>
                      <m:t>=</m:t>
                    </m:r>
                    <m:r>
                      <a:rPr lang="en-US" altLang="zh-CN" sz="1400" i="1">
                        <a:solidFill>
                          <a:srgbClr val="002060"/>
                        </a:solidFill>
                        <a:latin typeface="Cambria Math" panose="02040503050406030204" pitchFamily="18" charset="0"/>
                        <a:cs typeface="Times New Roman" panose="02020603050405020304" pitchFamily="18" charset="0"/>
                      </a:rPr>
                      <m:t>𝜃</m:t>
                    </m:r>
                    <m:r>
                      <a:rPr lang="en-US" altLang="zh-CN" sz="1400" i="1">
                        <a:solidFill>
                          <a:srgbClr val="002060"/>
                        </a:solidFill>
                        <a:latin typeface="Cambria Math" panose="02040503050406030204" pitchFamily="18" charset="0"/>
                        <a:cs typeface="Times New Roman" panose="02020603050405020304" pitchFamily="18" charset="0"/>
                      </a:rPr>
                      <m:t>, </m:t>
                    </m:r>
                    <m:sSub>
                      <m:sSubPr>
                        <m:ctrlPr>
                          <a:rPr lang="zh-CN" altLang="zh-CN" sz="1400" i="1">
                            <a:solidFill>
                              <a:srgbClr val="002060"/>
                            </a:solidFill>
                            <a:effectLst/>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solidFill>
                              <a:srgbClr val="002060"/>
                            </a:solidFill>
                            <a:latin typeface="Cambria Math" panose="02040503050406030204" pitchFamily="18" charset="0"/>
                            <a:cs typeface="MV Boli" panose="02000500030200090000" pitchFamily="2" charset="0"/>
                          </a:rPr>
                          <m:t>𝑞</m:t>
                        </m:r>
                      </m:e>
                      <m:sub>
                        <m:r>
                          <a:rPr lang="en-US" altLang="zh-CN" sz="1400" i="1">
                            <a:solidFill>
                              <a:srgbClr val="002060"/>
                            </a:solidFill>
                            <a:latin typeface="Cambria Math" panose="02040503050406030204" pitchFamily="18" charset="0"/>
                            <a:cs typeface="MV Boli" panose="02000500030200090000" pitchFamily="2" charset="0"/>
                          </a:rPr>
                          <m:t>2</m:t>
                        </m:r>
                      </m:sub>
                    </m:sSub>
                    <m:r>
                      <a:rPr lang="en-US" altLang="zh-CN" sz="1400" i="1">
                        <a:solidFill>
                          <a:srgbClr val="002060"/>
                        </a:solidFill>
                        <a:latin typeface="Cambria Math" panose="02040503050406030204" pitchFamily="18" charset="0"/>
                        <a:cs typeface="MV Boli" panose="02000500030200090000" pitchFamily="2" charset="0"/>
                      </a:rPr>
                      <m:t>=</m:t>
                    </m:r>
                    <m:acc>
                      <m:accPr>
                        <m:chr m:val="̇"/>
                        <m:ctrlPr>
                          <a:rPr lang="zh-CN" altLang="zh-CN" sz="1400" i="1">
                            <a:solidFill>
                              <a:srgbClr val="002060"/>
                            </a:solidFill>
                            <a:effectLst/>
                            <a:latin typeface="Cambria Math" panose="02040503050406030204" pitchFamily="18" charset="0"/>
                            <a:ea typeface="Cambria Math" panose="02040503050406030204" pitchFamily="18" charset="0"/>
                          </a:rPr>
                        </m:ctrlPr>
                      </m:accPr>
                      <m:e>
                        <m:r>
                          <a:rPr lang="en-US" altLang="zh-CN" sz="1400" i="1">
                            <a:solidFill>
                              <a:srgbClr val="002060"/>
                            </a:solidFill>
                            <a:latin typeface="Cambria Math" panose="02040503050406030204" pitchFamily="18" charset="0"/>
                            <a:cs typeface="Times New Roman" panose="02020603050405020304" pitchFamily="18" charset="0"/>
                          </a:rPr>
                          <m:t>𝜃</m:t>
                        </m:r>
                      </m:e>
                    </m:acc>
                  </m:oMath>
                </a14:m>
                <a:r>
                  <a:rPr lang="zh-CN" altLang="zh-CN" sz="1400" dirty="0">
                    <a:solidFill>
                      <a:srgbClr val="002060"/>
                    </a:solidFill>
                    <a:cs typeface="MV Boli" panose="02000500030200090000" pitchFamily="2" charset="0"/>
                  </a:rPr>
                  <a:t>，</a:t>
                </a:r>
                <a:r>
                  <a:rPr lang="zh-CN" altLang="zh-CN" sz="1400" dirty="0" smtClean="0">
                    <a:solidFill>
                      <a:srgbClr val="002060"/>
                    </a:solidFill>
                    <a:cs typeface="MV Boli" panose="02000500030200090000" pitchFamily="2" charset="0"/>
                  </a:rPr>
                  <a:t>将二</a:t>
                </a:r>
                <a:r>
                  <a:rPr lang="zh-CN" altLang="zh-CN" sz="1400" dirty="0">
                    <a:solidFill>
                      <a:srgbClr val="002060"/>
                    </a:solidFill>
                    <a:cs typeface="MV Boli" panose="02000500030200090000" pitchFamily="2" charset="0"/>
                  </a:rPr>
                  <a:t>阶动力学转换成两个一阶微分方程：</a:t>
                </a:r>
                <a:endParaRPr lang="zh-CN" altLang="en-US" sz="1400" dirty="0">
                  <a:solidFill>
                    <a:srgbClr val="002060"/>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1483015" y="2187311"/>
                <a:ext cx="5832648" cy="317844"/>
              </a:xfrm>
              <a:prstGeom prst="rect">
                <a:avLst/>
              </a:prstGeom>
              <a:blipFill>
                <a:blip r:embed="rId5"/>
                <a:stretch>
                  <a:fillRect l="-313" t="-5769" b="-13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992630" y="2433993"/>
                <a:ext cx="4572000" cy="693716"/>
              </a:xfrm>
              <a:prstGeom prst="rect">
                <a:avLst/>
              </a:prstGeom>
            </p:spPr>
            <p:txBody>
              <a:bodyPr>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𝑞</m:t>
                              </m:r>
                            </m:e>
                          </m:acc>
                        </m:e>
                        <m:sub>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oMath>
                  </m:oMathPara>
                </a14:m>
                <a:endParaRPr lang="zh-CN" altLang="zh-CN" sz="14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𝑞</m:t>
                              </m:r>
                            </m:e>
                          </m:acc>
                        </m:e>
                        <m:sub>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Times New Roman" panose="02020603050405020304" pitchFamily="18" charset="0"/>
                        </a:rPr>
                        <m:t>𝐹𝑜𝑟𝑤𝑎𝑟𝑑𝐷𝑦𝑛𝑎𝑚𝑖𝑐𝑠</m:t>
                      </m:r>
                      <m:r>
                        <a:rPr lang="en-US" altLang="zh-CN" sz="1400" i="1">
                          <a:latin typeface="Cambria Math" panose="02040503050406030204" pitchFamily="18" charset="0"/>
                          <a:cs typeface="Times New Roman" panose="02020603050405020304" pitchFamily="18"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宋体" panose="02010600030101010101" pitchFamily="2" charset="-122"/>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宋体" panose="02010600030101010101" pitchFamily="2" charset="-122"/>
                        </a:rPr>
                        <m:t>, </m:t>
                      </m:r>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宋体" panose="02010600030101010101" pitchFamily="2" charset="-122"/>
                        </a:rPr>
                        <m:t>, </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r>
                        <a:rPr lang="en-US" altLang="zh-CN" sz="1400" i="1">
                          <a:latin typeface="Cambria Math" panose="02040503050406030204" pitchFamily="18" charset="0"/>
                          <a:cs typeface="Times New Roman" panose="02020603050405020304" pitchFamily="18" charset="0"/>
                        </a:rPr>
                        <m:t>)</m:t>
                      </m:r>
                    </m:oMath>
                  </m:oMathPara>
                </a14:m>
                <a:endParaRPr lang="zh-CN" altLang="zh-CN" sz="1400" dirty="0">
                  <a:latin typeface="宋体" panose="02010600030101010101" pitchFamily="2" charset="-122"/>
                  <a:cs typeface="宋体" panose="02010600030101010101" pitchFamily="2" charset="-122"/>
                </a:endParaRPr>
              </a:p>
            </p:txBody>
          </p:sp>
        </mc:Choice>
        <mc:Fallback xmlns="">
          <p:sp>
            <p:nvSpPr>
              <p:cNvPr id="16" name="矩形 15"/>
              <p:cNvSpPr>
                <a:spLocks noRot="1" noChangeAspect="1" noMove="1" noResize="1" noEditPoints="1" noAdjustHandles="1" noChangeArrowheads="1" noChangeShapeType="1" noTextEdit="1"/>
              </p:cNvSpPr>
              <p:nvPr/>
            </p:nvSpPr>
            <p:spPr>
              <a:xfrm>
                <a:off x="1992630" y="2433993"/>
                <a:ext cx="4572000" cy="69371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518200" y="3165743"/>
                <a:ext cx="2882584" cy="307777"/>
              </a:xfrm>
              <a:prstGeom prst="rect">
                <a:avLst/>
              </a:prstGeom>
            </p:spPr>
            <p:txBody>
              <a:bodyPr wrap="none">
                <a:spAutoFit/>
              </a:bodyPr>
              <a:lstStyle/>
              <a:p>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accPr>
                      <m:e>
                        <m:r>
                          <a:rPr lang="en-US" altLang="zh-CN" sz="1400" i="1">
                            <a:latin typeface="Cambria Math" panose="02040503050406030204" pitchFamily="18" charset="0"/>
                            <a:cs typeface="MV Boli" panose="02000500030200090000" pitchFamily="2" charset="0"/>
                          </a:rPr>
                          <m:t>𝑞</m:t>
                        </m:r>
                      </m:e>
                    </m:acc>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𝑓</m:t>
                    </m:r>
                    <m:d>
                      <m:d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𝑞</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𝑞</m:t>
                    </m:r>
                    <m:r>
                      <a:rPr lang="en-US" altLang="zh-CN" sz="1400" i="1">
                        <a:latin typeface="Cambria Math" panose="02040503050406030204" pitchFamily="18" charset="0"/>
                        <a:cs typeface="MV Boli" panose="02000500030200090000" pitchFamily="2" charset="0"/>
                      </a:rPr>
                      <m:t>∈</m:t>
                    </m:r>
                    <m:sSup>
                      <m:sSupPr>
                        <m:ctrlPr>
                          <a:rPr lang="zh-CN" altLang="zh-CN" sz="1400" i="1">
                            <a:effectLst/>
                            <a:latin typeface="Cambria Math" panose="02040503050406030204" pitchFamily="18" charset="0"/>
                            <a:ea typeface="Cambria Math" panose="02040503050406030204" pitchFamily="18" charset="0"/>
                            <a:cs typeface="MV Boli" panose="02000500030200090000" pitchFamily="2" charset="0"/>
                          </a:rPr>
                        </m:ctrlPr>
                      </m:sSupPr>
                      <m:e>
                        <m:r>
                          <a:rPr lang="en-US" altLang="zh-CN" sz="1400" i="1">
                            <a:latin typeface="Cambria Math" panose="02040503050406030204" pitchFamily="18" charset="0"/>
                            <a:cs typeface="MV Boli" panose="02000500030200090000" pitchFamily="2" charset="0"/>
                          </a:rPr>
                          <m:t>ℝ</m:t>
                        </m:r>
                      </m:e>
                      <m:sup>
                        <m:r>
                          <a:rPr lang="en-US" altLang="zh-CN" sz="1400" i="1">
                            <a:latin typeface="Cambria Math" panose="02040503050406030204" pitchFamily="18" charset="0"/>
                            <a:cs typeface="MV Boli" panose="02000500030200090000" pitchFamily="2" charset="0"/>
                          </a:rPr>
                          <m:t>𝑛</m:t>
                        </m:r>
                      </m:sup>
                    </m:sSup>
                  </m:oMath>
                </a14:m>
                <a:r>
                  <a:rPr lang="zh-CN" altLang="zh-CN" sz="1400" dirty="0">
                    <a:cs typeface="MV Boli" panose="02000500030200090000" pitchFamily="2" charset="0"/>
                  </a:rPr>
                  <a:t>的一阶微分方程</a:t>
                </a:r>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1518200" y="3165743"/>
                <a:ext cx="2882584" cy="307777"/>
              </a:xfrm>
              <a:prstGeom prst="rect">
                <a:avLst/>
              </a:prstGeom>
              <a:blipFill>
                <a:blip r:embed="rId7"/>
                <a:stretch>
                  <a:fillRect t="-5882" b="-15686"/>
                </a:stretch>
              </a:blipFill>
            </p:spPr>
            <p:txBody>
              <a:bodyPr/>
              <a:lstStyle/>
              <a:p>
                <a:r>
                  <a:rPr lang="zh-CN" altLang="en-US">
                    <a:noFill/>
                  </a:rPr>
                  <a:t> </a:t>
                </a:r>
              </a:p>
            </p:txBody>
          </p:sp>
        </mc:Fallback>
      </mc:AlternateContent>
      <p:sp>
        <p:nvSpPr>
          <p:cNvPr id="19" name="矩形 18"/>
          <p:cNvSpPr/>
          <p:nvPr/>
        </p:nvSpPr>
        <p:spPr>
          <a:xfrm>
            <a:off x="4269615" y="3165742"/>
            <a:ext cx="1261884" cy="307777"/>
          </a:xfrm>
          <a:prstGeom prst="rect">
            <a:avLst/>
          </a:prstGeom>
        </p:spPr>
        <p:txBody>
          <a:bodyPr wrap="none">
            <a:spAutoFit/>
          </a:bodyPr>
          <a:lstStyle/>
          <a:p>
            <a:r>
              <a:rPr lang="zh-CN" altLang="zh-CN" sz="1400" dirty="0">
                <a:cs typeface="MV Boli" panose="02000500030200090000" pitchFamily="2" charset="0"/>
              </a:rPr>
              <a:t>一阶欧拉迭代</a:t>
            </a:r>
            <a:endParaRPr lang="zh-CN" altLang="en-US" sz="1400" dirty="0"/>
          </a:p>
        </p:txBody>
      </p:sp>
      <mc:AlternateContent xmlns:mc="http://schemas.openxmlformats.org/markup-compatibility/2006" xmlns:a14="http://schemas.microsoft.com/office/drawing/2010/main">
        <mc:Choice Requires="a14">
          <p:sp>
            <p:nvSpPr>
              <p:cNvPr id="20" name="矩形 19"/>
              <p:cNvSpPr/>
              <p:nvPr/>
            </p:nvSpPr>
            <p:spPr>
              <a:xfrm>
                <a:off x="3035949" y="3535815"/>
                <a:ext cx="259776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𝑞</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r>
                            <a:rPr lang="zh-CN" altLang="en-US" sz="1400" i="0">
                              <a:latin typeface="Cambria Math" panose="02040503050406030204" pitchFamily="18" charset="0"/>
                            </a:rPr>
                            <m:t>+</m:t>
                          </m:r>
                          <m:r>
                            <a:rPr lang="zh-CN" altLang="en-US" sz="1400" i="1">
                              <a:latin typeface="Cambria Math" panose="02040503050406030204" pitchFamily="18" charset="0"/>
                            </a:rPr>
                            <m:t>𝛿</m:t>
                          </m:r>
                          <m:r>
                            <a:rPr lang="zh-CN" altLang="en-US" sz="1400" i="1">
                              <a:latin typeface="Cambria Math" panose="02040503050406030204" pitchFamily="18" charset="0"/>
                            </a:rPr>
                            <m:t>𝑡</m:t>
                          </m:r>
                        </m:e>
                      </m:d>
                      <m:r>
                        <a:rPr lang="zh-CN" altLang="en-US" sz="1400" i="0">
                          <a:latin typeface="Cambria Math" panose="02040503050406030204" pitchFamily="18" charset="0"/>
                        </a:rPr>
                        <m:t>=</m:t>
                      </m:r>
                      <m:r>
                        <a:rPr lang="zh-CN" altLang="en-US" sz="1400" i="1">
                          <a:latin typeface="Cambria Math" panose="02040503050406030204" pitchFamily="18" charset="0"/>
                        </a:rPr>
                        <m:t>𝑞</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e>
                      </m:d>
                      <m:r>
                        <a:rPr lang="zh-CN" altLang="en-US" sz="1400" i="0">
                          <a:latin typeface="Cambria Math" panose="02040503050406030204" pitchFamily="18" charset="0"/>
                        </a:rPr>
                        <m:t>+</m:t>
                      </m:r>
                      <m:r>
                        <a:rPr lang="zh-CN" altLang="en-US" sz="1400" i="1">
                          <a:latin typeface="Cambria Math" panose="02040503050406030204" pitchFamily="18" charset="0"/>
                        </a:rPr>
                        <m:t>𝛿</m:t>
                      </m:r>
                      <m:r>
                        <a:rPr lang="zh-CN" altLang="en-US" sz="1400" i="1">
                          <a:latin typeface="Cambria Math" panose="02040503050406030204" pitchFamily="18" charset="0"/>
                        </a:rPr>
                        <m:t>𝑡𝑓</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𝑞</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𝑡</m:t>
                              </m:r>
                            </m:e>
                          </m:d>
                          <m:r>
                            <a:rPr lang="zh-CN" altLang="en-US" sz="1400" i="0">
                              <a:latin typeface="Cambria Math" panose="02040503050406030204" pitchFamily="18" charset="0"/>
                            </a:rPr>
                            <m:t>,</m:t>
                          </m:r>
                          <m:r>
                            <a:rPr lang="zh-CN" altLang="en-US" sz="1400" i="1">
                              <a:latin typeface="Cambria Math" panose="02040503050406030204" pitchFamily="18" charset="0"/>
                            </a:rPr>
                            <m:t>𝑡</m:t>
                          </m:r>
                        </m:e>
                      </m:d>
                    </m:oMath>
                  </m:oMathPara>
                </a14:m>
                <a:endParaRPr lang="zh-CN"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3035949" y="3535815"/>
                <a:ext cx="2597762" cy="307777"/>
              </a:xfrm>
              <a:prstGeom prst="rect">
                <a:avLst/>
              </a:prstGeom>
              <a:blipFill>
                <a:blip r:embed="rId8"/>
                <a:stretch>
                  <a:fillRect b="-5882"/>
                </a:stretch>
              </a:blipFill>
            </p:spPr>
            <p:txBody>
              <a:bodyPr/>
              <a:lstStyle/>
              <a:p>
                <a:r>
                  <a:rPr lang="zh-CN" altLang="en-US">
                    <a:noFill/>
                  </a:rPr>
                  <a:t> </a:t>
                </a:r>
              </a:p>
            </p:txBody>
          </p:sp>
        </mc:Fallback>
      </mc:AlternateContent>
      <p:sp>
        <p:nvSpPr>
          <p:cNvPr id="21" name="矩形 20"/>
          <p:cNvSpPr/>
          <p:nvPr/>
        </p:nvSpPr>
        <p:spPr>
          <a:xfrm>
            <a:off x="1501616" y="3943921"/>
            <a:ext cx="1980029" cy="307777"/>
          </a:xfrm>
          <a:prstGeom prst="rect">
            <a:avLst/>
          </a:prstGeom>
        </p:spPr>
        <p:txBody>
          <a:bodyPr wrap="none">
            <a:spAutoFit/>
          </a:bodyPr>
          <a:lstStyle/>
          <a:p>
            <a:r>
              <a:rPr lang="zh-CN" altLang="zh-CN" sz="1400" dirty="0">
                <a:solidFill>
                  <a:srgbClr val="002060"/>
                </a:solidFill>
                <a:cs typeface="MV Boli" panose="02000500030200090000" pitchFamily="2" charset="0"/>
              </a:rPr>
              <a:t>正动力学的欧拉积分为</a:t>
            </a:r>
            <a:endParaRPr lang="zh-CN" altLang="en-US" sz="1400" dirty="0">
              <a:solidFill>
                <a:srgbClr val="002060"/>
              </a:solidFill>
            </a:endParaRPr>
          </a:p>
        </p:txBody>
      </p:sp>
      <mc:AlternateContent xmlns:mc="http://schemas.openxmlformats.org/markup-compatibility/2006" xmlns:a14="http://schemas.microsoft.com/office/drawing/2010/main">
        <mc:Choice Requires="a14">
          <p:sp>
            <p:nvSpPr>
              <p:cNvPr id="22" name="矩形 21"/>
              <p:cNvSpPr/>
              <p:nvPr/>
            </p:nvSpPr>
            <p:spPr>
              <a:xfrm>
                <a:off x="3456384" y="4029940"/>
                <a:ext cx="4572000" cy="693716"/>
              </a:xfrm>
              <a:prstGeom prst="rect">
                <a:avLst/>
              </a:prstGeom>
            </p:spPr>
            <p:txBody>
              <a:bodyPr>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1</m:t>
                          </m:r>
                        </m:sub>
                      </m:sSub>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1</m:t>
                          </m:r>
                        </m:sub>
                      </m:sSub>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oMath>
                  </m:oMathPara>
                </a14:m>
                <a:endParaRPr lang="zh-CN" altLang="zh-CN" sz="14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d>
                        <m:d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dPr>
                        <m:e>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Times New Roman" panose="02020603050405020304" pitchFamily="18" charset="0"/>
                        </a:rPr>
                        <m:t>𝐹𝑜𝑟𝑤𝑎𝑟𝑑𝐷𝑦𝑛𝑎𝑚𝑖𝑐𝑠</m:t>
                      </m:r>
                      <m:r>
                        <a:rPr lang="en-US" altLang="zh-CN" sz="1400" i="1">
                          <a:latin typeface="Cambria Math" panose="02040503050406030204" pitchFamily="18" charset="0"/>
                          <a:cs typeface="Times New Roman" panose="02020603050405020304" pitchFamily="18"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1</m:t>
                          </m:r>
                        </m:sub>
                      </m:sSub>
                      <m:r>
                        <a:rPr lang="en-US" altLang="zh-CN" sz="1400" i="1">
                          <a:latin typeface="Cambria Math" panose="02040503050406030204" pitchFamily="18" charset="0"/>
                          <a:cs typeface="宋体" panose="02010600030101010101" pitchFamily="2" charset="-122"/>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𝑞</m:t>
                          </m:r>
                        </m:e>
                        <m:sub>
                          <m:r>
                            <a:rPr lang="en-US" altLang="zh-CN" sz="1400" i="1">
                              <a:latin typeface="Cambria Math" panose="02040503050406030204" pitchFamily="18" charset="0"/>
                              <a:cs typeface="MV Boli" panose="02000500030200090000" pitchFamily="2" charset="0"/>
                            </a:rPr>
                            <m:t>2</m:t>
                          </m:r>
                        </m:sub>
                      </m:sSub>
                      <m:r>
                        <a:rPr lang="en-US" altLang="zh-CN" sz="1400" i="1">
                          <a:latin typeface="Cambria Math" panose="02040503050406030204" pitchFamily="18" charset="0"/>
                          <a:cs typeface="宋体" panose="02010600030101010101" pitchFamily="2" charset="-122"/>
                        </a:rPr>
                        <m:t>, </m:t>
                      </m:r>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宋体" panose="02010600030101010101" pitchFamily="2" charset="-122"/>
                        </a:rPr>
                        <m:t>, </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r>
                        <a:rPr lang="en-US" altLang="zh-CN" sz="1400" i="1">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oMath>
                  </m:oMathPara>
                </a14:m>
                <a:endParaRPr lang="zh-CN" altLang="zh-CN" sz="1400" dirty="0">
                  <a:latin typeface="宋体" panose="02010600030101010101" pitchFamily="2" charset="-122"/>
                  <a:cs typeface="宋体" panose="02010600030101010101" pitchFamily="2" charset="-122"/>
                </a:endParaRPr>
              </a:p>
            </p:txBody>
          </p:sp>
        </mc:Choice>
        <mc:Fallback xmlns="">
          <p:sp>
            <p:nvSpPr>
              <p:cNvPr id="22" name="矩形 21"/>
              <p:cNvSpPr>
                <a:spLocks noRot="1" noChangeAspect="1" noMove="1" noResize="1" noEditPoints="1" noAdjustHandles="1" noChangeArrowheads="1" noChangeShapeType="1" noTextEdit="1"/>
              </p:cNvSpPr>
              <p:nvPr/>
            </p:nvSpPr>
            <p:spPr>
              <a:xfrm>
                <a:off x="3456384" y="4029940"/>
                <a:ext cx="4572000" cy="693716"/>
              </a:xfrm>
              <a:prstGeom prst="rect">
                <a:avLst/>
              </a:prstGeom>
              <a:blipFill>
                <a:blip r:embed="rId9"/>
                <a:stretch>
                  <a:fillRect/>
                </a:stretch>
              </a:blipFill>
            </p:spPr>
            <p:txBody>
              <a:bodyPr/>
              <a:lstStyle/>
              <a:p>
                <a:r>
                  <a:rPr lang="zh-CN" altLang="en-US">
                    <a:noFill/>
                  </a:rPr>
                  <a:t> </a:t>
                </a:r>
              </a:p>
            </p:txBody>
          </p:sp>
        </mc:Fallback>
      </mc:AlternateContent>
      <p:sp>
        <p:nvSpPr>
          <p:cNvPr id="23" name="圆角矩形 22"/>
          <p:cNvSpPr/>
          <p:nvPr/>
        </p:nvSpPr>
        <p:spPr>
          <a:xfrm>
            <a:off x="3481644" y="4029940"/>
            <a:ext cx="4546739" cy="77405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线形标注 3(无边框) 24"/>
              <p:cNvSpPr/>
              <p:nvPr/>
            </p:nvSpPr>
            <p:spPr>
              <a:xfrm>
                <a:off x="6022433" y="3261810"/>
                <a:ext cx="2942055" cy="548009"/>
              </a:xfrm>
              <a:prstGeom prst="callout3">
                <a:avLst>
                  <a:gd name="adj1" fmla="val 18750"/>
                  <a:gd name="adj2" fmla="val -465"/>
                  <a:gd name="adj3" fmla="val 18750"/>
                  <a:gd name="adj4" fmla="val -4864"/>
                  <a:gd name="adj5" fmla="val 100000"/>
                  <a:gd name="adj6" fmla="val -4864"/>
                  <a:gd name="adj7" fmla="val 143143"/>
                  <a:gd name="adj8" fmla="val 18439"/>
                </a:avLst>
              </a:prstGeom>
              <a:solidFill>
                <a:srgbClr val="FFFF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200" dirty="0">
                    <a:solidFill>
                      <a:srgbClr val="FF0000"/>
                    </a:solidFill>
                    <a:cs typeface="MV Boli" panose="02000500030200090000" pitchFamily="2" charset="0"/>
                  </a:rPr>
                  <a:t>给定</a:t>
                </a:r>
                <a14:m>
                  <m:oMath xmlns:m="http://schemas.openxmlformats.org/officeDocument/2006/math">
                    <m:sSub>
                      <m:sSubPr>
                        <m:ctrlPr>
                          <a:rPr lang="zh-CN" altLang="zh-CN" sz="12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solidFill>
                              <a:srgbClr val="FF0000"/>
                            </a:solidFill>
                            <a:latin typeface="Cambria Math" panose="02040503050406030204" pitchFamily="18" charset="0"/>
                            <a:cs typeface="MV Boli" panose="02000500030200090000" pitchFamily="2" charset="0"/>
                          </a:rPr>
                          <m:t>𝑞</m:t>
                        </m:r>
                      </m:e>
                      <m:sub>
                        <m:r>
                          <a:rPr lang="en-US" altLang="zh-CN" sz="1200" i="1">
                            <a:solidFill>
                              <a:srgbClr val="FF0000"/>
                            </a:solidFill>
                            <a:latin typeface="Cambria Math" panose="02040503050406030204" pitchFamily="18" charset="0"/>
                            <a:cs typeface="MV Boli" panose="02000500030200090000" pitchFamily="2" charset="0"/>
                          </a:rPr>
                          <m:t>1</m:t>
                        </m:r>
                      </m:sub>
                    </m:sSub>
                    <m:d>
                      <m:dPr>
                        <m:ctrlPr>
                          <a:rPr lang="zh-CN" altLang="zh-CN" sz="12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solidFill>
                              <a:srgbClr val="FF0000"/>
                            </a:solidFill>
                            <a:latin typeface="Cambria Math" panose="02040503050406030204" pitchFamily="18" charset="0"/>
                            <a:cs typeface="MV Boli" panose="02000500030200090000" pitchFamily="2" charset="0"/>
                          </a:rPr>
                          <m:t>0</m:t>
                        </m:r>
                      </m:e>
                    </m:d>
                    <m:r>
                      <a:rPr lang="en-US" altLang="zh-CN" sz="1200" i="1">
                        <a:solidFill>
                          <a:srgbClr val="FF0000"/>
                        </a:solidFill>
                        <a:latin typeface="Cambria Math" panose="02040503050406030204" pitchFamily="18" charset="0"/>
                        <a:cs typeface="MV Boli" panose="02000500030200090000" pitchFamily="2" charset="0"/>
                      </a:rPr>
                      <m:t>=</m:t>
                    </m:r>
                    <m:r>
                      <a:rPr lang="en-US" altLang="zh-CN" sz="1200" i="1">
                        <a:solidFill>
                          <a:srgbClr val="FF0000"/>
                        </a:solidFill>
                        <a:latin typeface="Cambria Math" panose="02040503050406030204" pitchFamily="18" charset="0"/>
                        <a:cs typeface="Times New Roman" panose="02020603050405020304" pitchFamily="18" charset="0"/>
                      </a:rPr>
                      <m:t>𝜃</m:t>
                    </m:r>
                    <m:r>
                      <a:rPr lang="en-US" altLang="zh-CN" sz="1200" i="1">
                        <a:solidFill>
                          <a:srgbClr val="FF0000"/>
                        </a:solidFill>
                        <a:latin typeface="Cambria Math" panose="02040503050406030204" pitchFamily="18" charset="0"/>
                        <a:cs typeface="Times New Roman" panose="02020603050405020304" pitchFamily="18" charset="0"/>
                      </a:rPr>
                      <m:t>(</m:t>
                    </m:r>
                    <m:r>
                      <a:rPr lang="en-US" altLang="zh-CN" sz="1200" i="1">
                        <a:solidFill>
                          <a:srgbClr val="FF0000"/>
                        </a:solidFill>
                        <a:latin typeface="Cambria Math" panose="02040503050406030204" pitchFamily="18" charset="0"/>
                        <a:cs typeface="Times New Roman" panose="02020603050405020304" pitchFamily="18" charset="0"/>
                      </a:rPr>
                      <m:t>0</m:t>
                    </m:r>
                    <m:r>
                      <a:rPr lang="en-US" altLang="zh-CN" sz="1200" i="1">
                        <a:solidFill>
                          <a:srgbClr val="FF0000"/>
                        </a:solidFill>
                        <a:latin typeface="Cambria Math" panose="02040503050406030204" pitchFamily="18" charset="0"/>
                        <a:cs typeface="Times New Roman" panose="02020603050405020304" pitchFamily="18" charset="0"/>
                      </a:rPr>
                      <m:t>)</m:t>
                    </m:r>
                  </m:oMath>
                </a14:m>
                <a:r>
                  <a:rPr lang="zh-CN" altLang="zh-CN" sz="1200" dirty="0">
                    <a:solidFill>
                      <a:srgbClr val="FF0000"/>
                    </a:solidFill>
                    <a:cs typeface="MV Boli" panose="02000500030200090000" pitchFamily="2" charset="0"/>
                  </a:rPr>
                  <a:t>，</a:t>
                </a:r>
                <a14:m>
                  <m:oMath xmlns:m="http://schemas.openxmlformats.org/officeDocument/2006/math">
                    <m:sSub>
                      <m:sSubPr>
                        <m:ctrlPr>
                          <a:rPr lang="zh-CN" altLang="zh-CN" sz="12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sSubPr>
                      <m:e>
                        <m:r>
                          <a:rPr lang="en-US" altLang="zh-CN" sz="1200" i="1">
                            <a:solidFill>
                              <a:srgbClr val="FF0000"/>
                            </a:solidFill>
                            <a:latin typeface="Cambria Math" panose="02040503050406030204" pitchFamily="18" charset="0"/>
                            <a:cs typeface="MV Boli" panose="02000500030200090000" pitchFamily="2" charset="0"/>
                          </a:rPr>
                          <m:t>𝑞</m:t>
                        </m:r>
                      </m:e>
                      <m:sub>
                        <m:r>
                          <a:rPr lang="en-US" altLang="zh-CN" sz="1200" i="1">
                            <a:solidFill>
                              <a:srgbClr val="FF0000"/>
                            </a:solidFill>
                            <a:latin typeface="Cambria Math" panose="02040503050406030204" pitchFamily="18" charset="0"/>
                            <a:cs typeface="MV Boli" panose="02000500030200090000" pitchFamily="2" charset="0"/>
                          </a:rPr>
                          <m:t>2</m:t>
                        </m:r>
                      </m:sub>
                    </m:sSub>
                    <m:d>
                      <m:dPr>
                        <m:ctrlPr>
                          <a:rPr lang="zh-CN" altLang="zh-CN" sz="1200" i="1">
                            <a:solidFill>
                              <a:srgbClr val="FF0000"/>
                            </a:solidFill>
                            <a:latin typeface="Cambria Math" panose="02040503050406030204" pitchFamily="18" charset="0"/>
                            <a:ea typeface="Cambria Math" panose="02040503050406030204" pitchFamily="18" charset="0"/>
                            <a:cs typeface="MV Boli" panose="02000500030200090000" pitchFamily="2" charset="0"/>
                          </a:rPr>
                        </m:ctrlPr>
                      </m:dPr>
                      <m:e>
                        <m:r>
                          <a:rPr lang="en-US" altLang="zh-CN" sz="1200" i="1">
                            <a:solidFill>
                              <a:srgbClr val="FF0000"/>
                            </a:solidFill>
                            <a:latin typeface="Cambria Math" panose="02040503050406030204" pitchFamily="18" charset="0"/>
                            <a:cs typeface="MV Boli" panose="02000500030200090000" pitchFamily="2" charset="0"/>
                          </a:rPr>
                          <m:t>0</m:t>
                        </m:r>
                      </m:e>
                    </m:d>
                    <m:r>
                      <a:rPr lang="en-US" altLang="zh-CN" sz="1200" i="1">
                        <a:solidFill>
                          <a:srgbClr val="FF0000"/>
                        </a:solidFill>
                        <a:latin typeface="Cambria Math" panose="02040503050406030204" pitchFamily="18" charset="0"/>
                        <a:cs typeface="MV Boli" panose="02000500030200090000" pitchFamily="2" charset="0"/>
                      </a:rPr>
                      <m:t>=</m:t>
                    </m:r>
                    <m:acc>
                      <m:accPr>
                        <m:chr m:val="̇"/>
                        <m:ctrlPr>
                          <a:rPr lang="zh-CN" altLang="zh-CN" sz="1200" i="1">
                            <a:solidFill>
                              <a:srgbClr val="FF0000"/>
                            </a:solidFill>
                            <a:latin typeface="Cambria Math" panose="02040503050406030204" pitchFamily="18" charset="0"/>
                            <a:ea typeface="Cambria Math" panose="02040503050406030204" pitchFamily="18" charset="0"/>
                          </a:rPr>
                        </m:ctrlPr>
                      </m:accPr>
                      <m:e>
                        <m:r>
                          <a:rPr lang="en-US" altLang="zh-CN" sz="1200" i="1">
                            <a:solidFill>
                              <a:srgbClr val="FF0000"/>
                            </a:solidFill>
                            <a:latin typeface="Cambria Math" panose="02040503050406030204" pitchFamily="18" charset="0"/>
                            <a:cs typeface="Times New Roman" panose="02020603050405020304" pitchFamily="18" charset="0"/>
                          </a:rPr>
                          <m:t>𝜃</m:t>
                        </m:r>
                      </m:e>
                    </m:acc>
                    <m:r>
                      <a:rPr lang="en-US" altLang="zh-CN" sz="1200" i="1">
                        <a:solidFill>
                          <a:srgbClr val="FF0000"/>
                        </a:solidFill>
                        <a:latin typeface="Cambria Math" panose="02040503050406030204" pitchFamily="18" charset="0"/>
                        <a:cs typeface="Times New Roman" panose="02020603050405020304" pitchFamily="18" charset="0"/>
                      </a:rPr>
                      <m:t>(</m:t>
                    </m:r>
                    <m:r>
                      <a:rPr lang="en-US" altLang="zh-CN" sz="1200" i="1">
                        <a:solidFill>
                          <a:srgbClr val="FF0000"/>
                        </a:solidFill>
                        <a:latin typeface="Cambria Math" panose="02040503050406030204" pitchFamily="18" charset="0"/>
                        <a:cs typeface="Times New Roman" panose="02020603050405020304" pitchFamily="18" charset="0"/>
                      </a:rPr>
                      <m:t>0</m:t>
                    </m:r>
                    <m:r>
                      <a:rPr lang="en-US" altLang="zh-CN" sz="1200" i="1">
                        <a:solidFill>
                          <a:srgbClr val="FF0000"/>
                        </a:solidFill>
                        <a:latin typeface="Cambria Math" panose="02040503050406030204" pitchFamily="18" charset="0"/>
                        <a:cs typeface="Times New Roman" panose="02020603050405020304" pitchFamily="18" charset="0"/>
                      </a:rPr>
                      <m:t>)</m:t>
                    </m:r>
                  </m:oMath>
                </a14:m>
                <a:r>
                  <a:rPr lang="zh-CN" altLang="zh-CN" sz="1200" dirty="0">
                    <a:solidFill>
                      <a:srgbClr val="FF0000"/>
                    </a:solidFill>
                    <a:cs typeface="MV Boli" panose="02000500030200090000" pitchFamily="2" charset="0"/>
                  </a:rPr>
                  <a:t>的一组初始值，可以在时间上按</a:t>
                </a:r>
                <a:r>
                  <a:rPr lang="zh-CN" altLang="en-US" sz="1200" dirty="0">
                    <a:solidFill>
                      <a:srgbClr val="FF0000"/>
                    </a:solidFill>
                    <a:cs typeface="MV Boli" panose="02000500030200090000" pitchFamily="2" charset="0"/>
                  </a:rPr>
                  <a:t>欧拉积分</a:t>
                </a:r>
                <a:r>
                  <a:rPr lang="zh-CN" altLang="zh-CN" sz="1200" dirty="0">
                    <a:solidFill>
                      <a:srgbClr val="FF0000"/>
                    </a:solidFill>
                    <a:cs typeface="MV Boli" panose="02000500030200090000" pitchFamily="2" charset="0"/>
                  </a:rPr>
                  <a:t>方程向前迭代，进行数值解的求解。</a:t>
                </a:r>
                <a:endParaRPr lang="zh-CN" altLang="en-US" sz="1200" dirty="0">
                  <a:solidFill>
                    <a:srgbClr val="FF0000"/>
                  </a:solidFill>
                </a:endParaRPr>
              </a:p>
            </p:txBody>
          </p:sp>
        </mc:Choice>
        <mc:Fallback xmlns="">
          <p:sp>
            <p:nvSpPr>
              <p:cNvPr id="25" name="线形标注 3(无边框) 24"/>
              <p:cNvSpPr>
                <a:spLocks noRot="1" noChangeAspect="1" noMove="1" noResize="1" noEditPoints="1" noAdjustHandles="1" noChangeArrowheads="1" noChangeShapeType="1" noTextEdit="1"/>
              </p:cNvSpPr>
              <p:nvPr/>
            </p:nvSpPr>
            <p:spPr>
              <a:xfrm>
                <a:off x="6022433" y="3261810"/>
                <a:ext cx="2942055" cy="548009"/>
              </a:xfrm>
              <a:prstGeom prst="callout3">
                <a:avLst>
                  <a:gd name="adj1" fmla="val 18750"/>
                  <a:gd name="adj2" fmla="val -465"/>
                  <a:gd name="adj3" fmla="val 18750"/>
                  <a:gd name="adj4" fmla="val -4864"/>
                  <a:gd name="adj5" fmla="val 100000"/>
                  <a:gd name="adj6" fmla="val -4864"/>
                  <a:gd name="adj7" fmla="val 143143"/>
                  <a:gd name="adj8" fmla="val 18439"/>
                </a:avLst>
              </a:prstGeom>
              <a:blipFill>
                <a:blip r:embed="rId10"/>
                <a:stretch>
                  <a:fillRect t="-6107"/>
                </a:stretch>
              </a:blipFill>
              <a:ln>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24239257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Forward Dynamics of Open Chains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串联机器人的正动力学数值解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147973" y="661263"/>
            <a:ext cx="3671198" cy="369332"/>
          </a:xfrm>
          <a:prstGeom prst="rect">
            <a:avLst/>
          </a:prstGeom>
        </p:spPr>
        <p:txBody>
          <a:bodyPr wrap="none">
            <a:spAutoFit/>
          </a:bodyPr>
          <a:lstStyle/>
          <a:p>
            <a:r>
              <a:rPr lang="zh-CN" altLang="en-US" b="1" dirty="0">
                <a:solidFill>
                  <a:srgbClr val="002060"/>
                </a:solidFill>
                <a:latin typeface="Calibri" panose="020F0502020204030204" pitchFamily="34" charset="0"/>
                <a:cs typeface="Times New Roman" panose="02020603050405020304" pitchFamily="18" charset="0"/>
              </a:rPr>
              <a:t>串联机器人的正</a:t>
            </a:r>
            <a:r>
              <a:rPr lang="zh-CN" altLang="en-US" b="1" dirty="0" smtClean="0">
                <a:solidFill>
                  <a:srgbClr val="002060"/>
                </a:solidFill>
                <a:latin typeface="Calibri" panose="020F0502020204030204" pitchFamily="34" charset="0"/>
                <a:cs typeface="Times New Roman" panose="02020603050405020304" pitchFamily="18" charset="0"/>
              </a:rPr>
              <a:t>动力学迭代法算法</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835696" y="1635646"/>
                <a:ext cx="5958408" cy="2537811"/>
              </a:xfrm>
              <a:prstGeom prst="rect">
                <a:avLst/>
              </a:prstGeom>
            </p:spPr>
            <p:txBody>
              <a:bodyPr wrap="square">
                <a:spAutoFit/>
              </a:bodyPr>
              <a:lstStyle/>
              <a:p>
                <a:pPr marL="342900" lvl="0" indent="-342900">
                  <a:spcBef>
                    <a:spcPts val="600"/>
                  </a:spcBef>
                  <a:spcAft>
                    <a:spcPts val="600"/>
                  </a:spcAft>
                  <a:buFont typeface="Wingdings" panose="05000000000000000000" pitchFamily="2" charset="2"/>
                  <a:buChar char="Ø"/>
                </a:pPr>
                <a:r>
                  <a:rPr lang="zh-CN" altLang="zh-CN" sz="1400" b="1" dirty="0">
                    <a:latin typeface="宋体" panose="02010600030101010101" pitchFamily="2" charset="-122"/>
                    <a:cs typeface="MV Boli" panose="02000500030200090000" pitchFamily="2" charset="0"/>
                  </a:rPr>
                  <a:t>输入</a:t>
                </a:r>
                <a:r>
                  <a:rPr lang="zh-CN" altLang="zh-CN" sz="1400" dirty="0">
                    <a:latin typeface="宋体" panose="02010600030101010101" pitchFamily="2" charset="-122"/>
                    <a:cs typeface="MV Boli" panose="02000500030200090000" pitchFamily="2" charset="0"/>
                  </a:rPr>
                  <a:t>：初始条件</a:t>
                </a:r>
                <a14:m>
                  <m:oMath xmlns:m="http://schemas.openxmlformats.org/officeDocument/2006/math">
                    <m:r>
                      <a:rPr lang="en-US" altLang="zh-CN" sz="1400" i="1">
                        <a:latin typeface="Cambria Math" panose="02040503050406030204" pitchFamily="18" charset="0"/>
                        <a:cs typeface="宋体" panose="02010600030101010101" pitchFamily="2" charset="-122"/>
                      </a:rPr>
                      <m:t>𝜃</m:t>
                    </m:r>
                    <m:r>
                      <a:rPr lang="en-US" altLang="zh-CN" sz="1400" i="1">
                        <a:latin typeface="Cambria Math" panose="02040503050406030204" pitchFamily="18" charset="0"/>
                        <a:cs typeface="宋体" panose="02010600030101010101" pitchFamily="2" charset="-122"/>
                      </a:rPr>
                      <m:t>(0)</m:t>
                    </m:r>
                  </m:oMath>
                </a14:m>
                <a:r>
                  <a:rPr lang="zh-CN" altLang="zh-CN" sz="1400" dirty="0">
                    <a:latin typeface="宋体" panose="02010600030101010101" pitchFamily="2" charset="-122"/>
                    <a:cs typeface="MV Boli" panose="02000500030200090000" pitchFamily="2" charset="0"/>
                  </a:rPr>
                  <a:t>和</a:t>
                </a: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r>
                      <a:rPr lang="en-US" altLang="zh-CN" sz="1400" i="1">
                        <a:latin typeface="Cambria Math" panose="02040503050406030204" pitchFamily="18" charset="0"/>
                        <a:cs typeface="宋体" panose="02010600030101010101" pitchFamily="2" charset="-122"/>
                      </a:rPr>
                      <m:t>(0)</m:t>
                    </m:r>
                  </m:oMath>
                </a14:m>
                <a:r>
                  <a:rPr lang="zh-CN" altLang="zh-CN" sz="1400" dirty="0">
                    <a:latin typeface="宋体" panose="02010600030101010101" pitchFamily="2" charset="-122"/>
                    <a:cs typeface="MV Boli" panose="02000500030200090000" pitchFamily="2" charset="0"/>
                  </a:rPr>
                  <a:t>，输入力矩</a:t>
                </a:r>
                <a14:m>
                  <m:oMath xmlns:m="http://schemas.openxmlformats.org/officeDocument/2006/math">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宋体" panose="02010600030101010101" pitchFamily="2" charset="-122"/>
                      </a:rPr>
                      <m:t>𝑡</m:t>
                    </m:r>
                    <m:r>
                      <a:rPr lang="en-US" altLang="zh-CN" sz="1400" i="1">
                        <a:latin typeface="Cambria Math" panose="02040503050406030204" pitchFamily="18" charset="0"/>
                        <a:cs typeface="宋体" panose="02010600030101010101" pitchFamily="2" charset="-122"/>
                      </a:rPr>
                      <m:t>)</m:t>
                    </m:r>
                  </m:oMath>
                </a14:m>
                <a:r>
                  <a:rPr lang="zh-CN" altLang="zh-CN" sz="1400" dirty="0">
                    <a:latin typeface="宋体" panose="02010600030101010101" pitchFamily="2" charset="-122"/>
                    <a:cs typeface="MV Boli" panose="02000500030200090000" pitchFamily="2" charset="0"/>
                  </a:rPr>
                  <a:t>以及末端执行器的力旋量</a:t>
                </a:r>
                <a14:m>
                  <m:oMath xmlns:m="http://schemas.openxmlformats.org/officeDocument/2006/math">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r>
                      <a:rPr lang="en-US" altLang="zh-CN" sz="1400">
                        <a:latin typeface="Cambria Math" panose="02040503050406030204" pitchFamily="18" charset="0"/>
                        <a:cs typeface="MV Boli" panose="02000500030200090000" pitchFamily="2" charset="0"/>
                      </a:rPr>
                      <m:t>(</m:t>
                    </m:r>
                    <m:r>
                      <m:rPr>
                        <m:sty m:val="p"/>
                      </m:rPr>
                      <a:rPr lang="en-US" altLang="zh-CN" sz="1400">
                        <a:latin typeface="Cambria Math" panose="02040503050406030204" pitchFamily="18" charset="0"/>
                        <a:cs typeface="MV Boli" panose="02000500030200090000" pitchFamily="2" charset="0"/>
                      </a:rPr>
                      <m:t>t</m:t>
                    </m:r>
                    <m:r>
                      <a:rPr lang="en-US" altLang="zh-CN" sz="1400">
                        <a:latin typeface="Cambria Math" panose="02040503050406030204" pitchFamily="18" charset="0"/>
                        <a:cs typeface="MV Boli" panose="02000500030200090000" pitchFamily="2" charset="0"/>
                      </a:rPr>
                      <m:t>)</m:t>
                    </m:r>
                  </m:oMath>
                </a14:m>
                <a:r>
                  <a:rPr lang="zh-CN" altLang="zh-CN" sz="1400" dirty="0">
                    <a:latin typeface="宋体" panose="02010600030101010101" pitchFamily="2" charset="-122"/>
                    <a:cs typeface="MV Boli" panose="02000500030200090000" pitchFamily="2" charset="0"/>
                  </a:rPr>
                  <a:t>，</a:t>
                </a:r>
                <a14:m>
                  <m:oMath xmlns:m="http://schemas.openxmlformats.org/officeDocument/2006/math">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∈[0,</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𝑡</m:t>
                        </m:r>
                      </m:e>
                      <m:sub>
                        <m:r>
                          <a:rPr lang="en-US" altLang="zh-CN" sz="1400" i="1">
                            <a:latin typeface="Cambria Math" panose="02040503050406030204" pitchFamily="18" charset="0"/>
                            <a:cs typeface="MV Boli" panose="02000500030200090000" pitchFamily="2" charset="0"/>
                          </a:rPr>
                          <m:t>𝑓</m:t>
                        </m:r>
                      </m:sub>
                    </m:sSub>
                    <m:r>
                      <a:rPr lang="en-US" altLang="zh-CN" sz="1400" i="1">
                        <a:latin typeface="Cambria Math" panose="02040503050406030204" pitchFamily="18" charset="0"/>
                        <a:cs typeface="MV Boli" panose="02000500030200090000" pitchFamily="2" charset="0"/>
                      </a:rPr>
                      <m:t>]</m:t>
                    </m:r>
                  </m:oMath>
                </a14:m>
                <a:r>
                  <a:rPr lang="zh-CN" altLang="zh-CN" sz="1400" dirty="0">
                    <a:latin typeface="宋体" panose="02010600030101010101" pitchFamily="2" charset="-122"/>
                    <a:cs typeface="MV Boli" panose="02000500030200090000" pitchFamily="2" charset="0"/>
                  </a:rPr>
                  <a:t>，以及积分步数</a:t>
                </a:r>
                <a14:m>
                  <m:oMath xmlns:m="http://schemas.openxmlformats.org/officeDocument/2006/math">
                    <m:r>
                      <a:rPr lang="en-US" altLang="zh-CN" sz="1400" i="1">
                        <a:latin typeface="Cambria Math" panose="02040503050406030204" pitchFamily="18" charset="0"/>
                        <a:cs typeface="MV Boli" panose="02000500030200090000" pitchFamily="2" charset="0"/>
                      </a:rPr>
                      <m:t>𝑁</m:t>
                    </m:r>
                  </m:oMath>
                </a14:m>
                <a:r>
                  <a:rPr lang="zh-CN" altLang="zh-CN" sz="1400" dirty="0">
                    <a:latin typeface="宋体" panose="02010600030101010101" pitchFamily="2" charset="-122"/>
                    <a:cs typeface="MV Boli" panose="02000500030200090000" pitchFamily="2" charset="0"/>
                  </a:rPr>
                  <a:t>。</a:t>
                </a:r>
                <a:endParaRPr lang="zh-CN" altLang="zh-CN" sz="1400" dirty="0">
                  <a:latin typeface="宋体" panose="02010600030101010101" pitchFamily="2" charset="-122"/>
                  <a:cs typeface="宋体" panose="02010600030101010101" pitchFamily="2" charset="-122"/>
                </a:endParaRPr>
              </a:p>
              <a:p>
                <a:pPr marL="342900" lvl="0" indent="-342900">
                  <a:spcBef>
                    <a:spcPts val="600"/>
                  </a:spcBef>
                  <a:spcAft>
                    <a:spcPts val="600"/>
                  </a:spcAft>
                  <a:buFont typeface="Wingdings" panose="05000000000000000000" pitchFamily="2" charset="2"/>
                  <a:buChar char="Ø"/>
                </a:pPr>
                <a:r>
                  <a:rPr lang="zh-CN" altLang="zh-CN" sz="1400" b="1" dirty="0">
                    <a:latin typeface="宋体" panose="02010600030101010101" pitchFamily="2" charset="-122"/>
                    <a:cs typeface="MV Boli" panose="02000500030200090000" pitchFamily="2" charset="0"/>
                  </a:rPr>
                  <a:t>初始化</a:t>
                </a:r>
                <a:r>
                  <a:rPr lang="zh-CN" altLang="zh-CN" sz="1400" dirty="0">
                    <a:latin typeface="宋体" panose="02010600030101010101" pitchFamily="2" charset="-122"/>
                    <a:cs typeface="MV Boli" panose="02000500030200090000" pitchFamily="2" charset="0"/>
                  </a:rPr>
                  <a:t>：设置时间步长</a:t>
                </a:r>
                <a14:m>
                  <m:oMath xmlns:m="http://schemas.openxmlformats.org/officeDocument/2006/math">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sSub>
                      <m:sSubPr>
                        <m:ctrlPr>
                          <a:rPr lang="zh-CN" altLang="zh-CN" sz="1400" i="1">
                            <a:latin typeface="Cambria Math" panose="02040503050406030204" pitchFamily="18" charset="0"/>
                            <a:ea typeface="Cambria Math" panose="02040503050406030204" pitchFamily="18" charset="0"/>
                            <a:cs typeface="MV Boli" panose="02000500030200090000" pitchFamily="2" charset="0"/>
                          </a:rPr>
                        </m:ctrlPr>
                      </m:sSubPr>
                      <m:e>
                        <m:r>
                          <a:rPr lang="en-US" altLang="zh-CN" sz="1400" i="1">
                            <a:latin typeface="Cambria Math" panose="02040503050406030204" pitchFamily="18" charset="0"/>
                            <a:cs typeface="MV Boli" panose="02000500030200090000" pitchFamily="2" charset="0"/>
                          </a:rPr>
                          <m:t>𝑡</m:t>
                        </m:r>
                      </m:e>
                      <m:sub>
                        <m:r>
                          <a:rPr lang="en-US" altLang="zh-CN" sz="1400" i="1">
                            <a:latin typeface="Cambria Math" panose="02040503050406030204" pitchFamily="18" charset="0"/>
                            <a:cs typeface="MV Boli" panose="02000500030200090000" pitchFamily="2" charset="0"/>
                          </a:rPr>
                          <m:t>𝑓</m:t>
                        </m:r>
                      </m:sub>
                    </m:sSub>
                    <m:r>
                      <a:rPr lang="en-US" altLang="zh-CN" sz="1400" i="1">
                        <a:latin typeface="Cambria Math" panose="02040503050406030204" pitchFamily="18" charset="0"/>
                        <a:cs typeface="MV Boli" panose="02000500030200090000" pitchFamily="2" charset="0"/>
                      </a:rPr>
                      <m:t>/</m:t>
                    </m:r>
                    <m:r>
                      <a:rPr lang="en-US" altLang="zh-CN" sz="1400" i="1">
                        <a:latin typeface="Cambria Math" panose="02040503050406030204" pitchFamily="18" charset="0"/>
                        <a:cs typeface="MV Boli" panose="02000500030200090000" pitchFamily="2" charset="0"/>
                      </a:rPr>
                      <m:t>𝑁</m:t>
                    </m:r>
                  </m:oMath>
                </a14:m>
                <a:r>
                  <a:rPr lang="zh-CN" altLang="zh-CN" sz="1400" dirty="0">
                    <a:latin typeface="宋体" panose="02010600030101010101" pitchFamily="2" charset="-122"/>
                    <a:cs typeface="MV Boli" panose="02000500030200090000" pitchFamily="2" charset="0"/>
                  </a:rPr>
                  <a:t>，并置</a:t>
                </a:r>
                <a14:m>
                  <m:oMath xmlns:m="http://schemas.openxmlformats.org/officeDocument/2006/math">
                    <m:r>
                      <a:rPr lang="en-US" altLang="zh-CN" sz="1400" i="1">
                        <a:latin typeface="Cambria Math" panose="02040503050406030204" pitchFamily="18" charset="0"/>
                        <a:cs typeface="宋体" panose="02010600030101010101" pitchFamily="2" charset="-122"/>
                      </a:rPr>
                      <m:t>𝜃</m:t>
                    </m:r>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0</m:t>
                        </m:r>
                      </m:e>
                    </m:d>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宋体" panose="02010600030101010101" pitchFamily="2" charset="-122"/>
                      </a:rPr>
                      <m:t>𝜃</m:t>
                    </m:r>
                    <m:r>
                      <a:rPr lang="en-US" altLang="zh-CN" sz="1400" i="1">
                        <a:latin typeface="Cambria Math" panose="02040503050406030204" pitchFamily="18" charset="0"/>
                        <a:cs typeface="宋体" panose="02010600030101010101" pitchFamily="2" charset="-122"/>
                      </a:rPr>
                      <m:t>(0)</m:t>
                    </m:r>
                  </m:oMath>
                </a14:m>
                <a:r>
                  <a:rPr lang="zh-CN" altLang="zh-CN" sz="1400" dirty="0">
                    <a:latin typeface="宋体" panose="02010600030101010101" pitchFamily="2" charset="-122"/>
                    <a:cs typeface="MV Boli" panose="02000500030200090000" pitchFamily="2" charset="0"/>
                  </a:rPr>
                  <a:t>，</a:t>
                </a:r>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0</m:t>
                        </m:r>
                      </m:e>
                    </m:d>
                    <m:r>
                      <a:rPr lang="en-US" altLang="zh-CN" sz="1400" i="1">
                        <a:latin typeface="Cambria Math" panose="02040503050406030204" pitchFamily="18" charset="0"/>
                        <a:cs typeface="宋体" panose="02010600030101010101" pitchFamily="2" charset="-122"/>
                      </a:rPr>
                      <m:t>=</m:t>
                    </m:r>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r>
                      <a:rPr lang="en-US" altLang="zh-CN" sz="1400" i="1">
                        <a:latin typeface="Cambria Math" panose="02040503050406030204" pitchFamily="18" charset="0"/>
                        <a:cs typeface="宋体" panose="02010600030101010101" pitchFamily="2" charset="-122"/>
                      </a:rPr>
                      <m:t>(0)</m:t>
                    </m:r>
                  </m:oMath>
                </a14:m>
                <a:r>
                  <a:rPr lang="zh-CN" altLang="zh-CN" sz="1400" dirty="0">
                    <a:latin typeface="宋体" panose="02010600030101010101" pitchFamily="2" charset="-122"/>
                    <a:cs typeface="MV Boli" panose="02000500030200090000" pitchFamily="2" charset="0"/>
                  </a:rPr>
                  <a:t>。</a:t>
                </a:r>
                <a:endParaRPr lang="zh-CN" altLang="zh-CN" sz="1400" dirty="0">
                  <a:latin typeface="宋体" panose="02010600030101010101" pitchFamily="2" charset="-122"/>
                  <a:cs typeface="宋体" panose="02010600030101010101" pitchFamily="2" charset="-122"/>
                </a:endParaRPr>
              </a:p>
              <a:p>
                <a:pPr marL="342900" lvl="0" indent="-342900">
                  <a:spcBef>
                    <a:spcPts val="600"/>
                  </a:spcBef>
                  <a:spcAft>
                    <a:spcPts val="600"/>
                  </a:spcAft>
                  <a:buFont typeface="Wingdings" panose="05000000000000000000" pitchFamily="2" charset="2"/>
                  <a:buChar char="Ø"/>
                </a:pPr>
                <a:r>
                  <a:rPr lang="zh-CN" altLang="zh-CN" sz="1400" b="1" dirty="0">
                    <a:latin typeface="宋体" panose="02010600030101010101" pitchFamily="2" charset="-122"/>
                    <a:cs typeface="MV Boli" panose="02000500030200090000" pitchFamily="2" charset="0"/>
                  </a:rPr>
                  <a:t>迭代： </a:t>
                </a:r>
                <a:r>
                  <a:rPr lang="en-US" altLang="zh-CN" sz="1400" i="1" dirty="0">
                    <a:latin typeface="Times New Roman" panose="02020603050405020304" pitchFamily="18" charset="0"/>
                    <a:cs typeface="宋体" panose="02010600030101010101" pitchFamily="2" charset="-122"/>
                  </a:rPr>
                  <a:t>For</a:t>
                </a:r>
                <a:r>
                  <a:rPr lang="en-US" altLang="zh-CN" sz="1400" dirty="0">
                    <a:latin typeface="宋体" panose="02010600030101010101" pitchFamily="2" charset="-122"/>
                    <a:cs typeface="MV Boli" panose="02000500030200090000" pitchFamily="2" charset="0"/>
                  </a:rPr>
                  <a:t> </a:t>
                </a:r>
                <a14:m>
                  <m:oMath xmlns:m="http://schemas.openxmlformats.org/officeDocument/2006/math">
                    <m:r>
                      <a:rPr lang="en-US" altLang="zh-CN" sz="1400" i="1">
                        <a:latin typeface="Cambria Math" panose="02040503050406030204" pitchFamily="18" charset="0"/>
                        <a:cs typeface="MV Boli" panose="02000500030200090000" pitchFamily="2" charset="0"/>
                      </a:rPr>
                      <m:t>𝑘</m:t>
                    </m:r>
                    <m:r>
                      <a:rPr lang="en-US" altLang="zh-CN" sz="1400" i="1">
                        <a:latin typeface="Cambria Math" panose="02040503050406030204" pitchFamily="18" charset="0"/>
                        <a:cs typeface="MV Boli" panose="02000500030200090000" pitchFamily="2" charset="0"/>
                      </a:rPr>
                      <m:t>=</m:t>
                    </m:r>
                    <m:r>
                      <a:rPr lang="en-US" altLang="zh-CN" sz="1400">
                        <a:latin typeface="Cambria Math" panose="02040503050406030204" pitchFamily="18" charset="0"/>
                        <a:cs typeface="MV Boli" panose="02000500030200090000" pitchFamily="2" charset="0"/>
                      </a:rPr>
                      <m:t>0</m:t>
                    </m:r>
                  </m:oMath>
                </a14:m>
                <a:r>
                  <a:rPr lang="en-US" altLang="zh-CN" sz="1400" dirty="0">
                    <a:latin typeface="宋体" panose="02010600030101010101" pitchFamily="2" charset="-122"/>
                    <a:cs typeface="MV Boli" panose="02000500030200090000" pitchFamily="2" charset="0"/>
                  </a:rPr>
                  <a:t> </a:t>
                </a:r>
                <a:r>
                  <a:rPr lang="en-US" altLang="zh-CN" sz="1400" i="1" dirty="0">
                    <a:latin typeface="宋体" panose="02010600030101010101" pitchFamily="2" charset="-122"/>
                    <a:cs typeface="MV Boli" panose="02000500030200090000" pitchFamily="2" charset="0"/>
                  </a:rPr>
                  <a:t>to</a:t>
                </a:r>
                <a:r>
                  <a:rPr lang="en-US" altLang="zh-CN" sz="1400" dirty="0">
                    <a:latin typeface="宋体" panose="02010600030101010101" pitchFamily="2" charset="-122"/>
                    <a:cs typeface="MV Boli" panose="02000500030200090000" pitchFamily="2" charset="0"/>
                  </a:rPr>
                  <a:t> </a:t>
                </a:r>
                <a:r>
                  <a:rPr lang="en-US" altLang="zh-CN" sz="1400" i="1" dirty="0">
                    <a:latin typeface="宋体" panose="02010600030101010101" pitchFamily="2" charset="-122"/>
                    <a:cs typeface="MV Boli" panose="02000500030200090000" pitchFamily="2" charset="0"/>
                  </a:rPr>
                  <a:t>N-1</a:t>
                </a:r>
                <a:r>
                  <a:rPr lang="zh-CN" altLang="zh-CN" sz="1400" dirty="0">
                    <a:latin typeface="宋体" panose="02010600030101010101" pitchFamily="2" charset="-122"/>
                    <a:cs typeface="MV Boli" panose="02000500030200090000" pitchFamily="2" charset="0"/>
                  </a:rPr>
                  <a:t>，</a:t>
                </a:r>
                <a:r>
                  <a:rPr lang="en-US" altLang="zh-CN" sz="1400" i="1" dirty="0">
                    <a:latin typeface="宋体" panose="02010600030101010101" pitchFamily="2" charset="-122"/>
                    <a:cs typeface="MV Boli" panose="02000500030200090000" pitchFamily="2" charset="0"/>
                  </a:rPr>
                  <a:t>Do</a:t>
                </a:r>
                <a:endParaRPr lang="zh-CN" altLang="zh-CN" sz="1400" dirty="0">
                  <a:latin typeface="宋体" panose="02010600030101010101" pitchFamily="2" charset="-122"/>
                  <a:cs typeface="宋体" panose="02010600030101010101" pitchFamily="2" charset="-122"/>
                </a:endParaRPr>
              </a:p>
              <a:p>
                <a:pPr marL="533400">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Times New Roman" panose="02020603050405020304" pitchFamily="18" charset="0"/>
                        </a:rPr>
                        <m:t>𝐹𝑜𝑟𝑤𝑎𝑟𝑑𝐷𝑦𝑛𝑎𝑚𝑖𝑐𝑠</m:t>
                      </m:r>
                      <m:r>
                        <a:rPr lang="en-US" altLang="zh-CN" sz="1400" i="1">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宋体" panose="02010600030101010101" pitchFamily="2" charset="-122"/>
                        </a:rPr>
                        <m:t>𝜃</m:t>
                      </m:r>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宋体" panose="02010600030101010101" pitchFamily="2" charset="-122"/>
                        </a:rPr>
                        <m:t>,</m:t>
                      </m:r>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宋体" panose="02010600030101010101" pitchFamily="2" charset="-122"/>
                        </a:rPr>
                        <m:t>, </m:t>
                      </m:r>
                      <m:r>
                        <a:rPr lang="en-US" altLang="zh-CN" sz="1400" i="1">
                          <a:latin typeface="Cambria Math" panose="02040503050406030204" pitchFamily="18" charset="0"/>
                          <a:cs typeface="宋体" panose="02010600030101010101" pitchFamily="2" charset="-122"/>
                        </a:rPr>
                        <m:t>𝜏</m:t>
                      </m:r>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宋体" panose="02010600030101010101" pitchFamily="2" charset="-122"/>
                        </a:rPr>
                        <m:t>𝑘</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 </m:t>
                      </m:r>
                      <m:sSub>
                        <m:sSubPr>
                          <m:ctrlPr>
                            <a:rPr lang="zh-CN" altLang="zh-CN"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cs typeface="Times New Roman" panose="02020603050405020304" pitchFamily="18" charset="0"/>
                            </a:rPr>
                            <m:t>ℱ</m:t>
                          </m:r>
                        </m:e>
                        <m:sub>
                          <m:r>
                            <a:rPr lang="en-US" altLang="zh-CN" sz="1400" i="1">
                              <a:latin typeface="Cambria Math" panose="02040503050406030204" pitchFamily="18" charset="0"/>
                              <a:cs typeface="Times New Roman" panose="02020603050405020304" pitchFamily="18" charset="0"/>
                            </a:rPr>
                            <m:t>𝑡𝑖𝑝</m:t>
                          </m:r>
                        </m:sub>
                      </m:sSub>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宋体" panose="02010600030101010101" pitchFamily="2" charset="-122"/>
                        </a:rPr>
                        <m:t>𝑘</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r>
                        <a:rPr lang="en-US" altLang="zh-CN" sz="1400" i="1">
                          <a:latin typeface="Cambria Math" panose="02040503050406030204" pitchFamily="18" charset="0"/>
                          <a:cs typeface="MV Boli" panose="02000500030200090000" pitchFamily="2" charset="0"/>
                        </a:rPr>
                        <m:t>))</m:t>
                      </m:r>
                    </m:oMath>
                  </m:oMathPara>
                </a14:m>
                <a:endParaRPr lang="zh-CN" altLang="zh-CN" sz="1400" dirty="0">
                  <a:latin typeface="宋体" panose="02010600030101010101" pitchFamily="2" charset="-122"/>
                  <a:cs typeface="宋体" panose="02010600030101010101" pitchFamily="2" charset="-122"/>
                </a:endParaRPr>
              </a:p>
              <a:p>
                <a:pPr marL="5334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宋体" panose="02010600030101010101" pitchFamily="2" charset="-122"/>
                        </a:rPr>
                        <m:t>𝜃</m:t>
                      </m:r>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r>
                            <a:rPr lang="en-US" altLang="zh-CN" sz="1400" i="1">
                              <a:latin typeface="Cambria Math" panose="02040503050406030204" pitchFamily="18" charset="0"/>
                              <a:cs typeface="宋体" panose="02010600030101010101" pitchFamily="2" charset="-122"/>
                            </a:rPr>
                            <m:t>+1</m:t>
                          </m:r>
                        </m:e>
                      </m:d>
                      <m:r>
                        <a:rPr lang="en-US" altLang="zh-CN" sz="1400" i="1">
                          <a:latin typeface="Cambria Math" panose="02040503050406030204" pitchFamily="18" charset="0"/>
                          <a:cs typeface="宋体" panose="02010600030101010101" pitchFamily="2" charset="-122"/>
                        </a:rPr>
                        <m:t>=</m:t>
                      </m:r>
                      <m:r>
                        <a:rPr lang="en-US" altLang="zh-CN" sz="1400" i="1">
                          <a:latin typeface="Cambria Math" panose="02040503050406030204" pitchFamily="18" charset="0"/>
                          <a:cs typeface="宋体" panose="02010600030101010101" pitchFamily="2" charset="-122"/>
                        </a:rPr>
                        <m:t>𝜃</m:t>
                      </m:r>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宋体" panose="02010600030101010101" pitchFamily="2" charset="-122"/>
                        </a:rPr>
                        <m:t>+</m:t>
                      </m:r>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oMath>
                  </m:oMathPara>
                </a14:m>
                <a:endParaRPr lang="zh-CN" altLang="zh-CN" sz="1400" dirty="0">
                  <a:latin typeface="宋体" panose="02010600030101010101" pitchFamily="2" charset="-122"/>
                  <a:cs typeface="宋体" panose="02010600030101010101" pitchFamily="2" charset="-122"/>
                </a:endParaRPr>
              </a:p>
              <a:p>
                <a:pPr marL="533400">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r>
                            <a:rPr lang="en-US" altLang="zh-CN" sz="1400" i="1">
                              <a:latin typeface="Cambria Math" panose="02040503050406030204" pitchFamily="18" charset="0"/>
                              <a:cs typeface="宋体" panose="02010600030101010101" pitchFamily="2" charset="-122"/>
                            </a:rPr>
                            <m:t>+1</m:t>
                          </m:r>
                        </m:e>
                      </m:d>
                      <m:r>
                        <a:rPr lang="en-US" altLang="zh-CN" sz="1400" i="1">
                          <a:latin typeface="Cambria Math" panose="02040503050406030204" pitchFamily="18" charset="0"/>
                          <a:cs typeface="宋体" panose="02010600030101010101" pitchFamily="2" charset="-122"/>
                        </a:rPr>
                        <m:t>=</m:t>
                      </m:r>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宋体" panose="02010600030101010101" pitchFamily="2" charset="-122"/>
                        </a:rPr>
                        <m:t>+</m:t>
                      </m:r>
                      <m:acc>
                        <m:accPr>
                          <m: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accPr>
                        <m:e>
                          <m:r>
                            <a:rPr lang="en-US" altLang="zh-CN" sz="1400" i="1">
                              <a:latin typeface="Cambria Math" panose="02040503050406030204" pitchFamily="18" charset="0"/>
                              <a:cs typeface="宋体" panose="02010600030101010101" pitchFamily="2" charset="-122"/>
                            </a:rPr>
                            <m:t>𝜃</m:t>
                          </m:r>
                        </m:e>
                      </m:acc>
                      <m:d>
                        <m:dPr>
                          <m:begChr m:val="["/>
                          <m:endChr m:val="]"/>
                          <m:ctrlPr>
                            <a:rPr lang="zh-CN" altLang="zh-CN" sz="14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400" i="1">
                              <a:latin typeface="Cambria Math" panose="02040503050406030204" pitchFamily="18" charset="0"/>
                              <a:cs typeface="宋体" panose="02010600030101010101" pitchFamily="2" charset="-122"/>
                            </a:rPr>
                            <m:t>𝑘</m:t>
                          </m:r>
                        </m:e>
                      </m:d>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oMath>
                  </m:oMathPara>
                </a14:m>
                <a:endParaRPr lang="zh-CN" altLang="zh-CN" sz="1400" dirty="0">
                  <a:latin typeface="宋体" panose="02010600030101010101" pitchFamily="2" charset="-122"/>
                  <a:cs typeface="宋体" panose="02010600030101010101" pitchFamily="2" charset="-122"/>
                </a:endParaRPr>
              </a:p>
              <a:p>
                <a:pPr marL="285750" indent="-285750">
                  <a:buFont typeface="Wingdings" panose="05000000000000000000" pitchFamily="2" charset="2"/>
                  <a:buChar char="Ø"/>
                </a:pPr>
                <a:r>
                  <a:rPr lang="zh-CN" altLang="zh-CN" sz="1400" b="1" dirty="0">
                    <a:cs typeface="MV Boli" panose="02000500030200090000" pitchFamily="2" charset="0"/>
                  </a:rPr>
                  <a:t>输出</a:t>
                </a:r>
                <a:r>
                  <a:rPr lang="zh-CN" altLang="zh-CN" sz="1400" dirty="0">
                    <a:cs typeface="MV Boli" panose="02000500030200090000" pitchFamily="2" charset="0"/>
                  </a:rPr>
                  <a:t>：关节轨迹</a:t>
                </a:r>
                <a14:m>
                  <m:oMath xmlns:m="http://schemas.openxmlformats.org/officeDocument/2006/math">
                    <m:r>
                      <a:rPr lang="en-US" altLang="zh-CN" sz="1400" i="1">
                        <a:latin typeface="Cambria Math" panose="02040503050406030204" pitchFamily="18" charset="0"/>
                        <a:cs typeface="Times New Roman" panose="02020603050405020304" pitchFamily="18" charset="0"/>
                      </a:rPr>
                      <m:t>𝜃</m:t>
                    </m:r>
                    <m:d>
                      <m:dPr>
                        <m:begChr m:val="["/>
                        <m:endChr m:val="]"/>
                        <m:ctrlPr>
                          <a:rPr lang="zh-CN" altLang="zh-CN" sz="1400" i="1">
                            <a:effectLst/>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cs typeface="Times New Roman" panose="02020603050405020304" pitchFamily="18" charset="0"/>
                          </a:rPr>
                          <m:t>𝑘</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Times New Roman" panose="02020603050405020304" pitchFamily="18" charset="0"/>
                      </a:rPr>
                      <m:t>𝜃</m:t>
                    </m:r>
                    <m:d>
                      <m:dPr>
                        <m:begChr m:val="["/>
                        <m:endChr m:val="]"/>
                        <m:ctrlPr>
                          <a:rPr lang="zh-CN" altLang="zh-CN" sz="1400" i="1">
                            <a:effectLst/>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cs typeface="Times New Roman" panose="02020603050405020304" pitchFamily="18" charset="0"/>
                          </a:rPr>
                          <m:t>𝑘</m:t>
                        </m:r>
                      </m:e>
                    </m:d>
                  </m:oMath>
                </a14:m>
                <a:r>
                  <a:rPr lang="zh-CN" altLang="zh-CN" sz="1400" dirty="0">
                    <a:cs typeface="MV Boli" panose="02000500030200090000" pitchFamily="2" charset="0"/>
                  </a:rPr>
                  <a:t>，</a:t>
                </a:r>
                <a14:m>
                  <m:oMath xmlns:m="http://schemas.openxmlformats.org/officeDocument/2006/math">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cs typeface="Times New Roman" panose="02020603050405020304" pitchFamily="18" charset="0"/>
                          </a:rPr>
                          <m:t>𝜃</m:t>
                        </m:r>
                      </m:e>
                    </m:acc>
                    <m:d>
                      <m:dPr>
                        <m:begChr m:val="["/>
                        <m:endChr m:val="]"/>
                        <m:ctrlPr>
                          <a:rPr lang="zh-CN" altLang="zh-CN" sz="1400" i="1">
                            <a:effectLst/>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cs typeface="Times New Roman" panose="02020603050405020304" pitchFamily="18" charset="0"/>
                          </a:rPr>
                          <m:t>𝑘</m:t>
                        </m:r>
                        <m:r>
                          <a:rPr lang="en-US" altLang="zh-CN" sz="1400" i="1">
                            <a:latin typeface="Cambria Math" panose="02040503050406030204" pitchFamily="18" charset="0"/>
                            <a:cs typeface="MV Boli" panose="02000500030200090000" pitchFamily="2" charset="0"/>
                          </a:rPr>
                          <m:t>𝛿</m:t>
                        </m:r>
                        <m:r>
                          <a:rPr lang="en-US" altLang="zh-CN" sz="1400" i="1">
                            <a:latin typeface="Cambria Math" panose="02040503050406030204" pitchFamily="18" charset="0"/>
                            <a:cs typeface="MV Boli" panose="02000500030200090000" pitchFamily="2" charset="0"/>
                          </a:rPr>
                          <m:t>𝑡</m:t>
                        </m:r>
                      </m:e>
                    </m:d>
                    <m:r>
                      <a:rPr lang="en-US" altLang="zh-CN" sz="1400" i="1">
                        <a:latin typeface="Cambria Math" panose="02040503050406030204" pitchFamily="18" charset="0"/>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cs typeface="Times New Roman" panose="02020603050405020304" pitchFamily="18" charset="0"/>
                          </a:rPr>
                          <m:t>𝜃</m:t>
                        </m:r>
                      </m:e>
                    </m:acc>
                    <m:d>
                      <m:dPr>
                        <m:begChr m:val="["/>
                        <m:endChr m:val="]"/>
                        <m:ctrlPr>
                          <a:rPr lang="zh-CN" altLang="zh-CN" sz="1400" i="1">
                            <a:effectLst/>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cs typeface="Times New Roman" panose="02020603050405020304" pitchFamily="18" charset="0"/>
                          </a:rPr>
                          <m:t>𝑘</m:t>
                        </m:r>
                      </m:e>
                    </m:d>
                  </m:oMath>
                </a14:m>
                <a:r>
                  <a:rPr lang="zh-CN" altLang="zh-CN" sz="1400" dirty="0">
                    <a:cs typeface="MV Boli" panose="02000500030200090000" pitchFamily="2" charset="0"/>
                  </a:rPr>
                  <a:t>，</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𝑘</m:t>
                    </m:r>
                    <m:r>
                      <a:rPr lang="en-US" altLang="zh-CN" sz="1400" i="1">
                        <a:latin typeface="Cambria Math" panose="02040503050406030204" pitchFamily="18" charset="0"/>
                        <a:cs typeface="Times New Roman" panose="02020603050405020304" pitchFamily="18" charset="0"/>
                      </a:rPr>
                      <m:t>=0,…, </m:t>
                    </m:r>
                    <m:r>
                      <a:rPr lang="en-US" altLang="zh-CN" sz="1400" i="1">
                        <a:latin typeface="Cambria Math" panose="02040503050406030204" pitchFamily="18" charset="0"/>
                        <a:cs typeface="Times New Roman" panose="02020603050405020304" pitchFamily="18" charset="0"/>
                      </a:rPr>
                      <m:t>𝑁</m:t>
                    </m:r>
                  </m:oMath>
                </a14:m>
                <a:r>
                  <a:rPr lang="zh-CN" altLang="zh-CN" sz="1400" dirty="0">
                    <a:cs typeface="MV Boli" panose="02000500030200090000" pitchFamily="2" charset="0"/>
                  </a:rPr>
                  <a:t>。</a:t>
                </a:r>
                <a:endParaRPr lang="zh-CN" altLang="en-US" sz="1400" dirty="0"/>
              </a:p>
            </p:txBody>
          </p:sp>
        </mc:Choice>
        <mc:Fallback xmlns="">
          <p:sp>
            <p:nvSpPr>
              <p:cNvPr id="2" name="矩形 1"/>
              <p:cNvSpPr>
                <a:spLocks noRot="1" noChangeAspect="1" noMove="1" noResize="1" noEditPoints="1" noAdjustHandles="1" noChangeArrowheads="1" noChangeShapeType="1" noTextEdit="1"/>
              </p:cNvSpPr>
              <p:nvPr/>
            </p:nvSpPr>
            <p:spPr>
              <a:xfrm>
                <a:off x="1835696" y="1635646"/>
                <a:ext cx="5958408" cy="2537811"/>
              </a:xfrm>
              <a:prstGeom prst="rect">
                <a:avLst/>
              </a:prstGeom>
              <a:blipFill>
                <a:blip r:embed="rId3"/>
                <a:stretch>
                  <a:fillRect l="-102" t="-240" b="-959"/>
                </a:stretch>
              </a:blipFill>
            </p:spPr>
            <p:txBody>
              <a:bodyPr/>
              <a:lstStyle/>
              <a:p>
                <a:r>
                  <a:rPr lang="zh-CN" altLang="en-US">
                    <a:noFill/>
                  </a:rPr>
                  <a:t> </a:t>
                </a:r>
              </a:p>
            </p:txBody>
          </p:sp>
        </mc:Fallback>
      </mc:AlternateContent>
      <p:sp>
        <p:nvSpPr>
          <p:cNvPr id="3" name="文本框 2"/>
          <p:cNvSpPr txBox="1"/>
          <p:nvPr/>
        </p:nvSpPr>
        <p:spPr>
          <a:xfrm>
            <a:off x="3851920" y="1168359"/>
            <a:ext cx="1415772" cy="338554"/>
          </a:xfrm>
          <a:prstGeom prst="rect">
            <a:avLst/>
          </a:prstGeom>
          <a:noFill/>
        </p:spPr>
        <p:txBody>
          <a:bodyPr wrap="none" rtlCol="0">
            <a:spAutoFit/>
          </a:bodyPr>
          <a:lstStyle/>
          <a:p>
            <a:r>
              <a:rPr lang="zh-CN" altLang="en-US" sz="1600" b="1" dirty="0" smtClean="0">
                <a:solidFill>
                  <a:srgbClr val="002060"/>
                </a:solidFill>
              </a:rPr>
              <a:t>欧拉一阶迭代</a:t>
            </a:r>
            <a:endParaRPr lang="zh-CN" altLang="en-US" sz="1600" b="1" dirty="0">
              <a:solidFill>
                <a:srgbClr val="002060"/>
              </a:solidFill>
            </a:endParaRPr>
          </a:p>
        </p:txBody>
      </p:sp>
      <p:sp>
        <p:nvSpPr>
          <p:cNvPr id="24" name="文本框 23"/>
          <p:cNvSpPr txBox="1"/>
          <p:nvPr/>
        </p:nvSpPr>
        <p:spPr>
          <a:xfrm>
            <a:off x="3995936" y="4410966"/>
            <a:ext cx="1632178" cy="338554"/>
          </a:xfrm>
          <a:prstGeom prst="rect">
            <a:avLst/>
          </a:prstGeom>
          <a:noFill/>
        </p:spPr>
        <p:txBody>
          <a:bodyPr wrap="none" rtlCol="0">
            <a:spAutoFit/>
          </a:bodyPr>
          <a:lstStyle/>
          <a:p>
            <a:r>
              <a:rPr lang="zh-CN" altLang="en-US" sz="1600" b="1" dirty="0" smtClean="0">
                <a:solidFill>
                  <a:srgbClr val="FF0000"/>
                </a:solidFill>
              </a:rPr>
              <a:t>高阶迭代算法？</a:t>
            </a:r>
            <a:endParaRPr lang="zh-CN" altLang="en-US" sz="1600" b="1" dirty="0">
              <a:solidFill>
                <a:srgbClr val="FF0000"/>
              </a:solidFill>
            </a:endParaRPr>
          </a:p>
        </p:txBody>
      </p:sp>
    </p:spTree>
    <p:extLst>
      <p:ext uri="{BB962C8B-B14F-4D97-AF65-F5344CB8AC3E}">
        <p14:creationId xmlns:p14="http://schemas.microsoft.com/office/powerpoint/2010/main" val="6983635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123728" y="677970"/>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2" name="图片 1"/>
          <p:cNvPicPr>
            <a:picLocks noChangeAspect="1"/>
          </p:cNvPicPr>
          <p:nvPr/>
        </p:nvPicPr>
        <p:blipFill>
          <a:blip r:embed="rId3"/>
          <a:stretch>
            <a:fillRect/>
          </a:stretch>
        </p:blipFill>
        <p:spPr>
          <a:xfrm>
            <a:off x="492858" y="1108456"/>
            <a:ext cx="4190168" cy="4016974"/>
          </a:xfrm>
          <a:prstGeom prst="rect">
            <a:avLst/>
          </a:prstGeom>
        </p:spPr>
      </p:pic>
      <p:pic>
        <p:nvPicPr>
          <p:cNvPr id="3" name="图片 2"/>
          <p:cNvPicPr>
            <a:picLocks noChangeAspect="1"/>
          </p:cNvPicPr>
          <p:nvPr/>
        </p:nvPicPr>
        <p:blipFill>
          <a:blip r:embed="rId4"/>
          <a:stretch>
            <a:fillRect/>
          </a:stretch>
        </p:blipFill>
        <p:spPr>
          <a:xfrm>
            <a:off x="4788024" y="1116404"/>
            <a:ext cx="3810330" cy="3255546"/>
          </a:xfrm>
          <a:prstGeom prst="rect">
            <a:avLst/>
          </a:prstGeom>
        </p:spPr>
      </p:pic>
      <p:sp>
        <p:nvSpPr>
          <p:cNvPr id="5" name="矩形 4"/>
          <p:cNvSpPr/>
          <p:nvPr/>
        </p:nvSpPr>
        <p:spPr>
          <a:xfrm>
            <a:off x="4955331" y="4315128"/>
            <a:ext cx="4088427" cy="307777"/>
          </a:xfrm>
          <a:prstGeom prst="rect">
            <a:avLst/>
          </a:prstGeom>
        </p:spPr>
        <p:txBody>
          <a:bodyPr wrap="none">
            <a:spAutoFit/>
          </a:bodyPr>
          <a:lstStyle/>
          <a:p>
            <a:r>
              <a:rPr lang="en-US" altLang="zh-CN" sz="1400" dirty="0" smtClean="0">
                <a:solidFill>
                  <a:srgbClr val="002060"/>
                </a:solidFill>
                <a:latin typeface="Calibri" panose="020F0502020204030204" pitchFamily="34" charset="0"/>
                <a:cs typeface="Times New Roman" panose="02020603050405020304" pitchFamily="18" charset="0"/>
              </a:rPr>
              <a:t>Peter </a:t>
            </a:r>
            <a:r>
              <a:rPr lang="en-US" altLang="zh-CN" sz="1400" dirty="0" err="1" smtClean="0">
                <a:solidFill>
                  <a:srgbClr val="002060"/>
                </a:solidFill>
                <a:latin typeface="Calibri" panose="020F0502020204030204" pitchFamily="34" charset="0"/>
                <a:cs typeface="Times New Roman" panose="02020603050405020304" pitchFamily="18" charset="0"/>
              </a:rPr>
              <a:t>Corke</a:t>
            </a:r>
            <a:r>
              <a:rPr lang="en-US" altLang="zh-CN" sz="1400" dirty="0" smtClean="0">
                <a:solidFill>
                  <a:srgbClr val="002060"/>
                </a:solidFill>
                <a:latin typeface="Calibri" panose="020F0502020204030204" pitchFamily="34" charset="0"/>
                <a:cs typeface="Times New Roman" panose="02020603050405020304" pitchFamily="18" charset="0"/>
              </a:rPr>
              <a:t>: robot </a:t>
            </a:r>
            <a:r>
              <a:rPr lang="en-US" altLang="zh-CN" sz="1400" dirty="0">
                <a:solidFill>
                  <a:srgbClr val="002060"/>
                </a:solidFill>
                <a:latin typeface="Calibri" panose="020F0502020204030204" pitchFamily="34" charset="0"/>
                <a:cs typeface="Times New Roman" panose="02020603050405020304" pitchFamily="18" charset="0"/>
              </a:rPr>
              <a:t>toolbox</a:t>
            </a:r>
            <a:r>
              <a:rPr lang="zh-CN" altLang="zh-CN" sz="1400" dirty="0">
                <a:solidFill>
                  <a:srgbClr val="002060"/>
                </a:solidFill>
                <a:latin typeface="Calibri" panose="020F0502020204030204" pitchFamily="34" charset="0"/>
                <a:cs typeface="Times New Roman" panose="02020603050405020304" pitchFamily="18" charset="0"/>
              </a:rPr>
              <a:t>加载</a:t>
            </a:r>
            <a:r>
              <a:rPr lang="en-US" altLang="zh-CN" sz="1400" dirty="0">
                <a:solidFill>
                  <a:srgbClr val="002060"/>
                </a:solidFill>
                <a:latin typeface="Calibri" panose="020F0502020204030204" pitchFamily="34" charset="0"/>
                <a:cs typeface="Times New Roman" panose="02020603050405020304" pitchFamily="18" charset="0"/>
              </a:rPr>
              <a:t>aubo-i5</a:t>
            </a:r>
            <a:r>
              <a:rPr lang="zh-CN" altLang="zh-CN" sz="1400" dirty="0">
                <a:solidFill>
                  <a:srgbClr val="002060"/>
                </a:solidFill>
                <a:latin typeface="Calibri" panose="020F0502020204030204" pitchFamily="34" charset="0"/>
                <a:cs typeface="Times New Roman" panose="02020603050405020304" pitchFamily="18" charset="0"/>
              </a:rPr>
              <a:t>动力学模型图</a:t>
            </a:r>
            <a:endParaRPr lang="zh-CN" altLang="en-US" sz="1400" dirty="0">
              <a:solidFill>
                <a:srgbClr val="002060"/>
              </a:solidFill>
            </a:endParaRPr>
          </a:p>
        </p:txBody>
      </p:sp>
      <p:sp>
        <p:nvSpPr>
          <p:cNvPr id="6" name="矩形 5"/>
          <p:cNvSpPr/>
          <p:nvPr/>
        </p:nvSpPr>
        <p:spPr>
          <a:xfrm>
            <a:off x="4990949" y="4622905"/>
            <a:ext cx="4572000" cy="276999"/>
          </a:xfrm>
          <a:prstGeom prst="rect">
            <a:avLst/>
          </a:prstGeom>
        </p:spPr>
        <p:txBody>
          <a:bodyPr>
            <a:spAutoFit/>
          </a:bodyPr>
          <a:lstStyle/>
          <a:p>
            <a:r>
              <a:rPr lang="zh-CN" altLang="en-US" sz="1200" dirty="0"/>
              <a:t>https://github.com/petercorke/robotics-toolbox-matlab</a:t>
            </a:r>
          </a:p>
        </p:txBody>
      </p:sp>
      <p:sp>
        <p:nvSpPr>
          <p:cNvPr id="7" name="矩形 6"/>
          <p:cNvSpPr/>
          <p:nvPr/>
        </p:nvSpPr>
        <p:spPr>
          <a:xfrm>
            <a:off x="6236142" y="1313350"/>
            <a:ext cx="2800170" cy="461665"/>
          </a:xfrm>
          <a:prstGeom prst="rect">
            <a:avLst/>
          </a:prstGeom>
        </p:spPr>
        <p:txBody>
          <a:bodyPr wrap="square">
            <a:spAutoFit/>
          </a:bodyPr>
          <a:lstStyle/>
          <a:p>
            <a:r>
              <a:rPr lang="en-US" altLang="zh-CN" sz="1200" b="1" dirty="0" err="1" smtClean="0">
                <a:solidFill>
                  <a:srgbClr val="3366BB"/>
                </a:solidFill>
                <a:latin typeface="Arial" panose="020B0604020202020204" pitchFamily="34" charset="0"/>
                <a:hlinkClick r:id="rId5"/>
              </a:rPr>
              <a:t>Matlab+CoppeliaSim</a:t>
            </a:r>
            <a:r>
              <a:rPr lang="zh-CN" altLang="en-US" sz="1200" b="1" dirty="0" smtClean="0">
                <a:solidFill>
                  <a:srgbClr val="3366BB"/>
                </a:solidFill>
                <a:latin typeface="Arial" panose="020B0604020202020204" pitchFamily="34" charset="0"/>
              </a:rPr>
              <a:t>可以加载</a:t>
            </a:r>
            <a:r>
              <a:rPr lang="en-US" altLang="zh-CN" sz="1200" b="1" dirty="0" smtClean="0">
                <a:solidFill>
                  <a:srgbClr val="3366BB"/>
                </a:solidFill>
                <a:latin typeface="Arial" panose="020B0604020202020204" pitchFamily="34" charset="0"/>
              </a:rPr>
              <a:t>URDF</a:t>
            </a:r>
            <a:r>
              <a:rPr lang="zh-CN" altLang="en-US" sz="1200" b="1" dirty="0" smtClean="0">
                <a:solidFill>
                  <a:srgbClr val="3366BB"/>
                </a:solidFill>
                <a:latin typeface="Arial" panose="020B0604020202020204" pitchFamily="34" charset="0"/>
              </a:rPr>
              <a:t>可视化要好一些</a:t>
            </a:r>
            <a:endParaRPr lang="zh-CN" altLang="en-US" sz="1200" dirty="0"/>
          </a:p>
        </p:txBody>
      </p:sp>
      <p:sp>
        <p:nvSpPr>
          <p:cNvPr id="8" name="矩形 7"/>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4" name="爆炸形 2 3"/>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22900719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039908" y="690250"/>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4" name="图片 3"/>
          <p:cNvPicPr>
            <a:picLocks noChangeAspect="1"/>
          </p:cNvPicPr>
          <p:nvPr/>
        </p:nvPicPr>
        <p:blipFill>
          <a:blip r:embed="rId3"/>
          <a:stretch>
            <a:fillRect/>
          </a:stretch>
        </p:blipFill>
        <p:spPr>
          <a:xfrm>
            <a:off x="295805" y="1369416"/>
            <a:ext cx="4950197" cy="3136547"/>
          </a:xfrm>
          <a:prstGeom prst="rect">
            <a:avLst/>
          </a:prstGeom>
        </p:spPr>
      </p:pic>
      <p:pic>
        <p:nvPicPr>
          <p:cNvPr id="12" name="图片 11"/>
          <p:cNvPicPr/>
          <p:nvPr/>
        </p:nvPicPr>
        <p:blipFill>
          <a:blip r:embed="rId4"/>
          <a:stretch>
            <a:fillRect/>
          </a:stretch>
        </p:blipFill>
        <p:spPr>
          <a:xfrm>
            <a:off x="5364088" y="1369416"/>
            <a:ext cx="3382119" cy="2673653"/>
          </a:xfrm>
          <a:prstGeom prst="rect">
            <a:avLst/>
          </a:prstGeom>
        </p:spPr>
      </p:pic>
      <p:sp>
        <p:nvSpPr>
          <p:cNvPr id="13" name="矩形 12"/>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11" name="爆炸形 2 10"/>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15581282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051720" y="656626"/>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2" name="图片 1"/>
          <p:cNvPicPr>
            <a:picLocks noChangeAspect="1"/>
          </p:cNvPicPr>
          <p:nvPr/>
        </p:nvPicPr>
        <p:blipFill>
          <a:blip r:embed="rId3"/>
          <a:stretch>
            <a:fillRect/>
          </a:stretch>
        </p:blipFill>
        <p:spPr>
          <a:xfrm>
            <a:off x="269985" y="1370141"/>
            <a:ext cx="5310127" cy="2891069"/>
          </a:xfrm>
          <a:prstGeom prst="rect">
            <a:avLst/>
          </a:prstGeom>
        </p:spPr>
      </p:pic>
      <p:pic>
        <p:nvPicPr>
          <p:cNvPr id="3" name="图片 2"/>
          <p:cNvPicPr>
            <a:picLocks noChangeAspect="1"/>
          </p:cNvPicPr>
          <p:nvPr/>
        </p:nvPicPr>
        <p:blipFill>
          <a:blip r:embed="rId4"/>
          <a:stretch>
            <a:fillRect/>
          </a:stretch>
        </p:blipFill>
        <p:spPr>
          <a:xfrm>
            <a:off x="5580112" y="1334664"/>
            <a:ext cx="3572852" cy="2676541"/>
          </a:xfrm>
          <a:prstGeom prst="rect">
            <a:avLst/>
          </a:prstGeom>
        </p:spPr>
      </p:pic>
      <p:sp>
        <p:nvSpPr>
          <p:cNvPr id="5" name="矩形 4"/>
          <p:cNvSpPr/>
          <p:nvPr/>
        </p:nvSpPr>
        <p:spPr>
          <a:xfrm>
            <a:off x="6012160" y="4042980"/>
            <a:ext cx="2417650" cy="276999"/>
          </a:xfrm>
          <a:prstGeom prst="rect">
            <a:avLst/>
          </a:prstGeom>
        </p:spPr>
        <p:txBody>
          <a:bodyPr wrap="none">
            <a:spAutoFit/>
          </a:bodyPr>
          <a:lstStyle/>
          <a:p>
            <a:r>
              <a:rPr lang="en-US" altLang="zh-CN" sz="1200" dirty="0">
                <a:solidFill>
                  <a:srgbClr val="002060"/>
                </a:solidFill>
                <a:latin typeface="Calibri" panose="020F0502020204030204" pitchFamily="34" charset="0"/>
                <a:cs typeface="Times New Roman" panose="02020603050405020304" pitchFamily="18" charset="0"/>
              </a:rPr>
              <a:t>5</a:t>
            </a:r>
            <a:r>
              <a:rPr lang="zh-CN" altLang="zh-CN" sz="1200" dirty="0">
                <a:solidFill>
                  <a:srgbClr val="002060"/>
                </a:solidFill>
                <a:latin typeface="Calibri" panose="020F0502020204030204" pitchFamily="34" charset="0"/>
                <a:cs typeface="Times New Roman" panose="02020603050405020304" pitchFamily="18" charset="0"/>
              </a:rPr>
              <a:t>次多项式圆弧作业的关节角规划</a:t>
            </a:r>
            <a:endParaRPr lang="zh-CN" altLang="en-US" sz="1200" dirty="0">
              <a:solidFill>
                <a:srgbClr val="002060"/>
              </a:solidFill>
            </a:endParaRPr>
          </a:p>
        </p:txBody>
      </p:sp>
      <p:sp>
        <p:nvSpPr>
          <p:cNvPr id="13" name="矩形 12"/>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12" name="爆炸形 2 11"/>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34676322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79712" y="655860"/>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4" name="图片 3"/>
          <p:cNvPicPr>
            <a:picLocks noChangeAspect="1"/>
          </p:cNvPicPr>
          <p:nvPr/>
        </p:nvPicPr>
        <p:blipFill>
          <a:blip r:embed="rId3"/>
          <a:stretch>
            <a:fillRect/>
          </a:stretch>
        </p:blipFill>
        <p:spPr>
          <a:xfrm>
            <a:off x="611560" y="1491630"/>
            <a:ext cx="3886528" cy="2909964"/>
          </a:xfrm>
          <a:prstGeom prst="rect">
            <a:avLst/>
          </a:prstGeom>
        </p:spPr>
      </p:pic>
      <p:pic>
        <p:nvPicPr>
          <p:cNvPr id="6" name="图片 5"/>
          <p:cNvPicPr>
            <a:picLocks noChangeAspect="1"/>
          </p:cNvPicPr>
          <p:nvPr/>
        </p:nvPicPr>
        <p:blipFill>
          <a:blip r:embed="rId4"/>
          <a:stretch>
            <a:fillRect/>
          </a:stretch>
        </p:blipFill>
        <p:spPr>
          <a:xfrm>
            <a:off x="4498088" y="1497695"/>
            <a:ext cx="3873490" cy="2903899"/>
          </a:xfrm>
          <a:prstGeom prst="rect">
            <a:avLst/>
          </a:prstGeom>
        </p:spPr>
      </p:pic>
      <p:sp>
        <p:nvSpPr>
          <p:cNvPr id="13" name="矩形 12"/>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11" name="爆炸形 2 10"/>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42108100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07704" y="632412"/>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4" name="图片 3"/>
          <p:cNvPicPr>
            <a:picLocks noChangeAspect="1"/>
          </p:cNvPicPr>
          <p:nvPr/>
        </p:nvPicPr>
        <p:blipFill>
          <a:blip r:embed="rId3"/>
          <a:stretch>
            <a:fillRect/>
          </a:stretch>
        </p:blipFill>
        <p:spPr>
          <a:xfrm>
            <a:off x="273750" y="1140571"/>
            <a:ext cx="8540234" cy="2427768"/>
          </a:xfrm>
          <a:prstGeom prst="rect">
            <a:avLst/>
          </a:prstGeom>
        </p:spPr>
      </p:pic>
      <p:pic>
        <p:nvPicPr>
          <p:cNvPr id="6" name="图片 5"/>
          <p:cNvPicPr>
            <a:picLocks noChangeAspect="1"/>
          </p:cNvPicPr>
          <p:nvPr/>
        </p:nvPicPr>
        <p:blipFill>
          <a:blip r:embed="rId4"/>
          <a:stretch>
            <a:fillRect/>
          </a:stretch>
        </p:blipFill>
        <p:spPr>
          <a:xfrm>
            <a:off x="4418506" y="3190879"/>
            <a:ext cx="3571025" cy="1940326"/>
          </a:xfrm>
          <a:prstGeom prst="rect">
            <a:avLst/>
          </a:prstGeom>
        </p:spPr>
      </p:pic>
      <p:sp>
        <p:nvSpPr>
          <p:cNvPr id="13" name="矩形 12"/>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11" name="爆炸形 2 10"/>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475038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07704" y="666942"/>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pic>
        <p:nvPicPr>
          <p:cNvPr id="2" name="图片 1"/>
          <p:cNvPicPr>
            <a:picLocks noChangeAspect="1"/>
          </p:cNvPicPr>
          <p:nvPr/>
        </p:nvPicPr>
        <p:blipFill>
          <a:blip r:embed="rId3"/>
          <a:stretch>
            <a:fillRect/>
          </a:stretch>
        </p:blipFill>
        <p:spPr>
          <a:xfrm>
            <a:off x="323528" y="1188457"/>
            <a:ext cx="4099481" cy="3851027"/>
          </a:xfrm>
          <a:prstGeom prst="rect">
            <a:avLst/>
          </a:prstGeom>
        </p:spPr>
      </p:pic>
      <p:pic>
        <p:nvPicPr>
          <p:cNvPr id="11" name="图片 10"/>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3009" y="1889834"/>
            <a:ext cx="4446726" cy="2448272"/>
          </a:xfrm>
          <a:prstGeom prst="rect">
            <a:avLst/>
          </a:prstGeom>
          <a:noFill/>
          <a:ln>
            <a:noFill/>
          </a:ln>
        </p:spPr>
      </p:pic>
      <p:sp>
        <p:nvSpPr>
          <p:cNvPr id="12" name="矩形 11"/>
          <p:cNvSpPr/>
          <p:nvPr/>
        </p:nvSpPr>
        <p:spPr>
          <a:xfrm>
            <a:off x="5231884" y="724535"/>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sp>
        <p:nvSpPr>
          <p:cNvPr id="13" name="爆炸形 2 12"/>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3977969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907704" y="666942"/>
            <a:ext cx="3324180"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机器人动力学实验实例</a:t>
            </a:r>
            <a:r>
              <a:rPr lang="en-US" altLang="zh-CN" b="1" dirty="0" smtClean="0">
                <a:solidFill>
                  <a:srgbClr val="002060"/>
                </a:solidFill>
                <a:latin typeface="Calibri" panose="020F0502020204030204" pitchFamily="34" charset="0"/>
                <a:cs typeface="Times New Roman" panose="02020603050405020304" pitchFamily="18" charset="0"/>
              </a:rPr>
              <a:t>AUBO-i5</a:t>
            </a:r>
            <a:endParaRPr lang="zh-CN" altLang="en-US" b="1" dirty="0">
              <a:solidFill>
                <a:srgbClr val="002060"/>
              </a:solidFill>
            </a:endParaRPr>
          </a:p>
        </p:txBody>
      </p:sp>
      <p:sp>
        <p:nvSpPr>
          <p:cNvPr id="3" name="矩形 2"/>
          <p:cNvSpPr/>
          <p:nvPr/>
        </p:nvSpPr>
        <p:spPr>
          <a:xfrm>
            <a:off x="4541929" y="1697391"/>
            <a:ext cx="3473515" cy="307777"/>
          </a:xfrm>
          <a:prstGeom prst="rect">
            <a:avLst/>
          </a:prstGeom>
        </p:spPr>
        <p:txBody>
          <a:bodyPr wrap="none">
            <a:spAutoFit/>
          </a:bodyPr>
          <a:lstStyle/>
          <a:p>
            <a:r>
              <a:rPr lang="zh-CN" altLang="en-US" sz="1400" dirty="0">
                <a:solidFill>
                  <a:srgbClr val="002060"/>
                </a:solidFill>
              </a:rPr>
              <a:t>https://github.com/NxRLab/ModernRobotics</a:t>
            </a:r>
          </a:p>
        </p:txBody>
      </p:sp>
      <p:sp>
        <p:nvSpPr>
          <p:cNvPr id="4" name="文本框 3"/>
          <p:cNvSpPr txBox="1"/>
          <p:nvPr/>
        </p:nvSpPr>
        <p:spPr>
          <a:xfrm>
            <a:off x="4278630" y="1237377"/>
            <a:ext cx="4480278" cy="523220"/>
          </a:xfrm>
          <a:prstGeom prst="rect">
            <a:avLst/>
          </a:prstGeom>
          <a:noFill/>
        </p:spPr>
        <p:txBody>
          <a:bodyPr wrap="square" rtlCol="0">
            <a:spAutoFit/>
          </a:bodyPr>
          <a:lstStyle/>
          <a:p>
            <a:r>
              <a:rPr lang="zh-CN" altLang="en-US" sz="1400" dirty="0" smtClean="0">
                <a:solidFill>
                  <a:srgbClr val="002060"/>
                </a:solidFill>
              </a:rPr>
              <a:t>旋量法、封闭解、数值法代码参见</a:t>
            </a:r>
            <a:r>
              <a:rPr lang="en-US" altLang="zh-CN" sz="1400" dirty="0" smtClean="0">
                <a:solidFill>
                  <a:srgbClr val="002060"/>
                </a:solidFill>
              </a:rPr>
              <a:t>《Modern Robotics》</a:t>
            </a:r>
            <a:r>
              <a:rPr lang="zh-CN" altLang="en-US" sz="1400" dirty="0" smtClean="0">
                <a:solidFill>
                  <a:srgbClr val="002060"/>
                </a:solidFill>
              </a:rPr>
              <a:t>一书的开源代码：</a:t>
            </a:r>
            <a:endParaRPr lang="zh-CN" altLang="en-US" sz="1400" dirty="0">
              <a:solidFill>
                <a:srgbClr val="002060"/>
              </a:solidFill>
            </a:endParaRPr>
          </a:p>
        </p:txBody>
      </p:sp>
      <p:pic>
        <p:nvPicPr>
          <p:cNvPr id="5" name="UR5-falling-720p">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979004" y="2187197"/>
            <a:ext cx="4599364" cy="2587142"/>
          </a:xfrm>
          <a:prstGeom prst="rect">
            <a:avLst/>
          </a:prstGeom>
        </p:spPr>
      </p:pic>
      <p:sp>
        <p:nvSpPr>
          <p:cNvPr id="14" name="矩形 13"/>
          <p:cNvSpPr/>
          <p:nvPr/>
        </p:nvSpPr>
        <p:spPr>
          <a:xfrm>
            <a:off x="5350227" y="712522"/>
            <a:ext cx="3463757" cy="276999"/>
          </a:xfrm>
          <a:prstGeom prst="rect">
            <a:avLst/>
          </a:prstGeom>
        </p:spPr>
        <p:txBody>
          <a:bodyPr wrap="square">
            <a:spAutoFit/>
          </a:bodyPr>
          <a:lstStyle/>
          <a:p>
            <a:r>
              <a:rPr lang="zh-CN" altLang="en-US" sz="1200" dirty="0">
                <a:solidFill>
                  <a:srgbClr val="002060"/>
                </a:solidFill>
              </a:rPr>
              <a:t>https://github.com/mhuasong/AUBO-Robot-on-ROS</a:t>
            </a:r>
          </a:p>
        </p:txBody>
      </p:sp>
      <p:pic>
        <p:nvPicPr>
          <p:cNvPr id="16" name="图片 15"/>
          <p:cNvPicPr>
            <a:picLocks noChangeAspect="1"/>
          </p:cNvPicPr>
          <p:nvPr/>
        </p:nvPicPr>
        <p:blipFill>
          <a:blip r:embed="rId6"/>
          <a:stretch>
            <a:fillRect/>
          </a:stretch>
        </p:blipFill>
        <p:spPr>
          <a:xfrm>
            <a:off x="475259" y="2005168"/>
            <a:ext cx="3323206" cy="2839347"/>
          </a:xfrm>
          <a:prstGeom prst="rect">
            <a:avLst/>
          </a:prstGeom>
        </p:spPr>
      </p:pic>
      <p:sp>
        <p:nvSpPr>
          <p:cNvPr id="17" name="矩形 16"/>
          <p:cNvSpPr/>
          <p:nvPr/>
        </p:nvSpPr>
        <p:spPr>
          <a:xfrm>
            <a:off x="438950" y="1124760"/>
            <a:ext cx="2307491" cy="307777"/>
          </a:xfrm>
          <a:prstGeom prst="rect">
            <a:avLst/>
          </a:prstGeom>
        </p:spPr>
        <p:txBody>
          <a:bodyPr wrap="none">
            <a:spAutoFit/>
          </a:bodyPr>
          <a:lstStyle/>
          <a:p>
            <a:r>
              <a:rPr lang="en-US" altLang="zh-CN" sz="1400" dirty="0" smtClean="0">
                <a:solidFill>
                  <a:srgbClr val="002060"/>
                </a:solidFill>
                <a:latin typeface="Calibri" panose="020F0502020204030204" pitchFamily="34" charset="0"/>
                <a:cs typeface="Times New Roman" panose="02020603050405020304" pitchFamily="18" charset="0"/>
              </a:rPr>
              <a:t>Peter </a:t>
            </a:r>
            <a:r>
              <a:rPr lang="en-US" altLang="zh-CN" sz="1400" dirty="0" err="1" smtClean="0">
                <a:solidFill>
                  <a:srgbClr val="002060"/>
                </a:solidFill>
                <a:latin typeface="Calibri" panose="020F0502020204030204" pitchFamily="34" charset="0"/>
                <a:cs typeface="Times New Roman" panose="02020603050405020304" pitchFamily="18" charset="0"/>
              </a:rPr>
              <a:t>Corke</a:t>
            </a:r>
            <a:r>
              <a:rPr lang="en-US" altLang="zh-CN" sz="1400" dirty="0" smtClean="0">
                <a:solidFill>
                  <a:srgbClr val="002060"/>
                </a:solidFill>
                <a:latin typeface="Calibri" panose="020F0502020204030204" pitchFamily="34" charset="0"/>
                <a:cs typeface="Times New Roman" panose="02020603050405020304" pitchFamily="18" charset="0"/>
              </a:rPr>
              <a:t>: robotics toolbox</a:t>
            </a:r>
            <a:endParaRPr lang="zh-CN" altLang="en-US" sz="1400" dirty="0">
              <a:solidFill>
                <a:srgbClr val="002060"/>
              </a:solidFill>
            </a:endParaRPr>
          </a:p>
        </p:txBody>
      </p:sp>
      <p:sp>
        <p:nvSpPr>
          <p:cNvPr id="19" name="矩形 18"/>
          <p:cNvSpPr/>
          <p:nvPr/>
        </p:nvSpPr>
        <p:spPr>
          <a:xfrm>
            <a:off x="441951" y="1486183"/>
            <a:ext cx="4572000" cy="276999"/>
          </a:xfrm>
          <a:prstGeom prst="rect">
            <a:avLst/>
          </a:prstGeom>
        </p:spPr>
        <p:txBody>
          <a:bodyPr>
            <a:spAutoFit/>
          </a:bodyPr>
          <a:lstStyle/>
          <a:p>
            <a:r>
              <a:rPr lang="zh-CN" altLang="en-US" sz="1200" dirty="0">
                <a:solidFill>
                  <a:srgbClr val="002060"/>
                </a:solidFill>
              </a:rPr>
              <a:t>https://github.com/petercorke/robotics-toolbox-matlab</a:t>
            </a:r>
          </a:p>
        </p:txBody>
      </p:sp>
      <p:sp>
        <p:nvSpPr>
          <p:cNvPr id="20" name="爆炸形 2 19"/>
          <p:cNvSpPr/>
          <p:nvPr/>
        </p:nvSpPr>
        <p:spPr>
          <a:xfrm>
            <a:off x="6186745" y="119835"/>
            <a:ext cx="1115015" cy="642790"/>
          </a:xfrm>
          <a:prstGeom prst="irregularSeal2">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rgbClr val="FF0000"/>
                </a:solidFill>
              </a:rPr>
              <a:t>Old</a:t>
            </a:r>
            <a:endParaRPr lang="zh-CN" altLang="en-US" sz="1600" dirty="0">
              <a:solidFill>
                <a:srgbClr val="FF0000"/>
              </a:solidFill>
            </a:endParaRPr>
          </a:p>
        </p:txBody>
      </p:sp>
    </p:spTree>
    <p:extLst>
      <p:ext uri="{BB962C8B-B14F-4D97-AF65-F5344CB8AC3E}">
        <p14:creationId xmlns:p14="http://schemas.microsoft.com/office/powerpoint/2010/main" val="32875457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41119" y="2174899"/>
            <a:ext cx="3849370" cy="1160959"/>
          </a:xfrm>
          <a:prstGeom prst="rect">
            <a:avLst/>
          </a:prstGeom>
        </p:spPr>
        <p:txBody>
          <a:bodyPr wrap="square">
            <a:spAutoFit/>
          </a:bodyPr>
          <a:lstStyle/>
          <a:p>
            <a:pPr>
              <a:lnSpc>
                <a:spcPct val="150000"/>
              </a:lnSpc>
            </a:pPr>
            <a:r>
              <a:rPr lang="zh-CN" altLang="en-US" sz="1600" dirty="0">
                <a:latin typeface="Arial" panose="020B0604020202020204" pitchFamily="34" charset="0"/>
                <a:ea typeface="微软雅黑" panose="020B0503020204020204" charset="-122"/>
                <a:sym typeface="+mn-ea"/>
              </a:rPr>
              <a:t>以</a:t>
            </a:r>
            <a:r>
              <a:rPr lang="en-US" altLang="zh-CN" sz="1600" dirty="0">
                <a:latin typeface="Arial" panose="020B0604020202020204" pitchFamily="34" charset="0"/>
                <a:ea typeface="微软雅黑" panose="020B0503020204020204" charset="-122"/>
                <a:sym typeface="+mn-ea"/>
              </a:rPr>
              <a:t>AUBO_i5</a:t>
            </a:r>
            <a:r>
              <a:rPr lang="zh-CN" altLang="en-US" sz="1600" dirty="0">
                <a:latin typeface="Arial" panose="020B0604020202020204" pitchFamily="34" charset="0"/>
                <a:ea typeface="微软雅黑" panose="020B0503020204020204" charset="-122"/>
                <a:sym typeface="+mn-ea"/>
              </a:rPr>
              <a:t>为例讲解</a:t>
            </a:r>
            <a:r>
              <a:rPr lang="zh-CN" altLang="en-US" sz="1600" dirty="0">
                <a:solidFill>
                  <a:srgbClr val="FF0000"/>
                </a:solidFill>
                <a:latin typeface="Arial" panose="020B0604020202020204" pitchFamily="34" charset="0"/>
                <a:ea typeface="微软雅黑" panose="020B0503020204020204" charset="-122"/>
                <a:sym typeface="+mn-ea"/>
              </a:rPr>
              <a:t>基于空间向量法的</a:t>
            </a:r>
            <a:r>
              <a:rPr lang="en-US" altLang="zh-CN" sz="1600" dirty="0">
                <a:solidFill>
                  <a:srgbClr val="FF0000"/>
                </a:solidFill>
                <a:latin typeface="Arial" panose="020B0604020202020204" pitchFamily="34" charset="0"/>
                <a:ea typeface="微软雅黑" panose="020B0503020204020204" charset="-122"/>
                <a:sym typeface="+mn-ea"/>
              </a:rPr>
              <a:t>RNEA</a:t>
            </a:r>
            <a:r>
              <a:rPr lang="zh-CN" altLang="en-US" sz="1600" dirty="0">
                <a:solidFill>
                  <a:srgbClr val="FF0000"/>
                </a:solidFill>
                <a:latin typeface="Arial" panose="020B0604020202020204" pitchFamily="34" charset="0"/>
                <a:ea typeface="微软雅黑" panose="020B0503020204020204" charset="-122"/>
                <a:sym typeface="+mn-ea"/>
              </a:rPr>
              <a:t>算法</a:t>
            </a:r>
            <a:r>
              <a:rPr lang="zh-CN" altLang="en-US" sz="1600" dirty="0">
                <a:latin typeface="Arial" panose="020B0604020202020204" pitchFamily="34" charset="0"/>
                <a:ea typeface="微软雅黑" panose="020B0503020204020204" charset="-122"/>
                <a:sym typeface="+mn-ea"/>
              </a:rPr>
              <a:t>步骤计算实例，以及</a:t>
            </a:r>
            <a:r>
              <a:rPr lang="en-US" altLang="zh-CN" sz="1600" dirty="0">
                <a:solidFill>
                  <a:srgbClr val="FF0000"/>
                </a:solidFill>
                <a:latin typeface="Arial" panose="020B0604020202020204" pitchFamily="34" charset="0"/>
                <a:ea typeface="微软雅黑" panose="020B0503020204020204" charset="-122"/>
                <a:sym typeface="+mn-ea"/>
              </a:rPr>
              <a:t>ABA</a:t>
            </a:r>
            <a:r>
              <a:rPr lang="zh-CN" altLang="en-US" sz="1600" dirty="0">
                <a:solidFill>
                  <a:srgbClr val="FF0000"/>
                </a:solidFill>
                <a:latin typeface="Arial" panose="020B0604020202020204" pitchFamily="34" charset="0"/>
                <a:ea typeface="微软雅黑" panose="020B0503020204020204" charset="-122"/>
                <a:sym typeface="+mn-ea"/>
              </a:rPr>
              <a:t>算法</a:t>
            </a:r>
            <a:r>
              <a:rPr lang="zh-CN" altLang="en-US" sz="1600" dirty="0">
                <a:latin typeface="Arial" panose="020B0604020202020204" pitchFamily="34" charset="0"/>
                <a:ea typeface="微软雅黑" panose="020B0503020204020204" charset="-122"/>
                <a:sym typeface="+mn-ea"/>
              </a:rPr>
              <a:t>结合</a:t>
            </a:r>
            <a:r>
              <a:rPr lang="zh-CN" altLang="en-US" sz="1600" dirty="0">
                <a:solidFill>
                  <a:srgbClr val="FF0000"/>
                </a:solidFill>
                <a:latin typeface="Arial" panose="020B0604020202020204" pitchFamily="34" charset="0"/>
                <a:ea typeface="微软雅黑" panose="020B0503020204020204" charset="-122"/>
                <a:sym typeface="+mn-ea"/>
              </a:rPr>
              <a:t>欧拉积分法模拟仿真</a:t>
            </a:r>
            <a:r>
              <a:rPr lang="zh-CN" altLang="en-US" sz="1600" dirty="0">
                <a:latin typeface="Arial" panose="020B0604020202020204" pitchFamily="34" charset="0"/>
                <a:ea typeface="微软雅黑" panose="020B0503020204020204" charset="-122"/>
                <a:sym typeface="+mn-ea"/>
              </a:rPr>
              <a:t>实例</a:t>
            </a:r>
            <a:endParaRPr lang="en-US" altLang="zh-CN" sz="1600" i="1" dirty="0" smtClean="0"/>
          </a:p>
        </p:txBody>
      </p:sp>
      <p:sp>
        <p:nvSpPr>
          <p:cNvPr id="7" name="文本框 6"/>
          <p:cNvSpPr txBox="1"/>
          <p:nvPr/>
        </p:nvSpPr>
        <p:spPr>
          <a:xfrm>
            <a:off x="4241118" y="1311938"/>
            <a:ext cx="4651362" cy="461665"/>
          </a:xfrm>
          <a:prstGeom prst="rect">
            <a:avLst/>
          </a:prstGeom>
          <a:noFill/>
        </p:spPr>
        <p:txBody>
          <a:bodyPr wrap="square" rtlCol="0" anchor="t">
            <a:spAutoFit/>
          </a:bodyPr>
          <a:lstStyle/>
          <a:p>
            <a:r>
              <a:rPr lang="zh-CN" altLang="en-US" sz="2400" b="1" dirty="0">
                <a:latin typeface="Arial" panose="020B0604020202020204" pitchFamily="34" charset="0"/>
                <a:ea typeface="微软雅黑" panose="020B0503020204020204" charset="-122"/>
                <a:sym typeface="+mn-ea"/>
              </a:rPr>
              <a:t>六轴协作机器人动力学分析实例</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11</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5608472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051568527"/>
                  </p:ext>
                </p:extLst>
              </p:nvPr>
            </p:nvGraphicFramePr>
            <p:xfrm>
              <a:off x="899592" y="1419622"/>
              <a:ext cx="7056783" cy="3024334"/>
            </p:xfrm>
            <a:graphic>
              <a:graphicData uri="http://schemas.openxmlformats.org/drawingml/2006/table">
                <a:tbl>
                  <a:tblPr firstRow="1" firstCol="1" bandRow="1">
                    <a:tableStyleId>{5C22544A-7EE6-4342-B048-85BDC9FD1C3A}</a:tableStyleId>
                  </a:tblPr>
                  <a:tblGrid>
                    <a:gridCol w="1057412">
                      <a:extLst>
                        <a:ext uri="{9D8B030D-6E8A-4147-A177-3AD203B41FA5}">
                          <a16:colId xmlns:a16="http://schemas.microsoft.com/office/drawing/2014/main" val="3760595972"/>
                        </a:ext>
                      </a:extLst>
                    </a:gridCol>
                    <a:gridCol w="1107563">
                      <a:extLst>
                        <a:ext uri="{9D8B030D-6E8A-4147-A177-3AD203B41FA5}">
                          <a16:colId xmlns:a16="http://schemas.microsoft.com/office/drawing/2014/main" val="482139762"/>
                        </a:ext>
                      </a:extLst>
                    </a:gridCol>
                    <a:gridCol w="1084612">
                      <a:extLst>
                        <a:ext uri="{9D8B030D-6E8A-4147-A177-3AD203B41FA5}">
                          <a16:colId xmlns:a16="http://schemas.microsoft.com/office/drawing/2014/main" val="2787780798"/>
                        </a:ext>
                      </a:extLst>
                    </a:gridCol>
                    <a:gridCol w="969012">
                      <a:extLst>
                        <a:ext uri="{9D8B030D-6E8A-4147-A177-3AD203B41FA5}">
                          <a16:colId xmlns:a16="http://schemas.microsoft.com/office/drawing/2014/main" val="2499927622"/>
                        </a:ext>
                      </a:extLst>
                    </a:gridCol>
                    <a:gridCol w="1651570">
                      <a:extLst>
                        <a:ext uri="{9D8B030D-6E8A-4147-A177-3AD203B41FA5}">
                          <a16:colId xmlns:a16="http://schemas.microsoft.com/office/drawing/2014/main" val="1371768689"/>
                        </a:ext>
                      </a:extLst>
                    </a:gridCol>
                    <a:gridCol w="1186614">
                      <a:extLst>
                        <a:ext uri="{9D8B030D-6E8A-4147-A177-3AD203B41FA5}">
                          <a16:colId xmlns:a16="http://schemas.microsoft.com/office/drawing/2014/main" val="2265226328"/>
                        </a:ext>
                      </a:extLst>
                    </a:gridCol>
                  </a:tblGrid>
                  <a:tr h="672075">
                    <a:tc>
                      <a:txBody>
                        <a:bodyPr/>
                        <a:lstStyle/>
                        <a:p>
                          <a:pPr algn="ctr">
                            <a:spcAft>
                              <a:spcPts val="0"/>
                            </a:spcAft>
                          </a:pPr>
                          <a:r>
                            <a:rPr lang="zh-CN" sz="1600" kern="100">
                              <a:effectLst/>
                            </a:rPr>
                            <a:t>连杆坐标系</a:t>
                          </a:r>
                          <a:r>
                            <a:rPr lang="en-US" sz="1600" kern="100">
                              <a:effectLst/>
                            </a:rPr>
                            <a:t>{i}</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m:rPr>
                                        <m:sty m:val="p"/>
                                      </m:rPr>
                                      <a:rPr lang="en-US" sz="1600" kern="100">
                                        <a:effectLst/>
                                        <a:latin typeface="Cambria Math" panose="02040503050406030204" pitchFamily="18" charset="0"/>
                                      </a:rPr>
                                      <m:t>α</m:t>
                                    </m:r>
                                  </m:e>
                                  <m:sub>
                                    <m:r>
                                      <a:rPr lang="en-US" sz="1600" kern="100">
                                        <a:effectLst/>
                                        <a:latin typeface="Cambria Math" panose="02040503050406030204" pitchFamily="18" charset="0"/>
                                      </a:rPr>
                                      <m:t>𝑛</m:t>
                                    </m:r>
                                    <m:r>
                                      <a:rPr lang="en-US" sz="1600" kern="100">
                                        <a:effectLst/>
                                        <a:latin typeface="Cambria Math" panose="02040503050406030204" pitchFamily="18" charset="0"/>
                                      </a:rPr>
                                      <m:t>−1</m:t>
                                    </m:r>
                                  </m:sub>
                                </m:sSub>
                                <m:r>
                                  <a:rPr lang="en-US" sz="1600" kern="100">
                                    <a:effectLst/>
                                    <a:latin typeface="Cambria Math" panose="02040503050406030204" pitchFamily="18" charset="0"/>
                                  </a:rPr>
                                  <m:t>(</m:t>
                                </m:r>
                                <m:r>
                                  <a:rPr lang="en-US" sz="1600" kern="100">
                                    <a:effectLst/>
                                    <a:latin typeface="Cambria Math" panose="02040503050406030204" pitchFamily="18" charset="0"/>
                                  </a:rPr>
                                  <m:t>𝑟𝑎𝑑</m:t>
                                </m:r>
                                <m:r>
                                  <a:rPr lang="en-US" sz="1600" kern="100">
                                    <a:effectLst/>
                                    <a:latin typeface="Cambria Math" panose="02040503050406030204" pitchFamily="18" charset="0"/>
                                  </a:rPr>
                                  <m:t>)</m:t>
                                </m:r>
                              </m:oMath>
                            </m:oMathPara>
                          </a14:m>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600" i="1" kern="100" baseline="-25000">
                                        <a:effectLst/>
                                        <a:latin typeface="Cambria Math" panose="02040503050406030204" pitchFamily="18" charset="0"/>
                                      </a:rPr>
                                    </m:ctrlPr>
                                  </m:sSubPr>
                                  <m:e>
                                    <m:r>
                                      <a:rPr lang="en-US" sz="1600" kern="100" baseline="-25000">
                                        <a:effectLst/>
                                        <a:latin typeface="Cambria Math" panose="02040503050406030204" pitchFamily="18" charset="0"/>
                                      </a:rPr>
                                      <m:t>𝑎</m:t>
                                    </m:r>
                                  </m:e>
                                  <m:sub>
                                    <m:r>
                                      <a:rPr lang="en-US" sz="1600" kern="100" baseline="-25000">
                                        <a:effectLst/>
                                        <a:latin typeface="Cambria Math" panose="02040503050406030204" pitchFamily="18" charset="0"/>
                                      </a:rPr>
                                      <m:t>𝑛</m:t>
                                    </m:r>
                                    <m:r>
                                      <a:rPr lang="en-US" sz="1600" kern="100" baseline="-25000">
                                        <a:effectLst/>
                                        <a:latin typeface="Cambria Math" panose="02040503050406030204" pitchFamily="18" charset="0"/>
                                      </a:rPr>
                                      <m:t>−1</m:t>
                                    </m:r>
                                  </m:sub>
                                </m:sSub>
                                <m:r>
                                  <a:rPr lang="en-US" sz="1600" kern="100" baseline="-25000">
                                    <a:effectLst/>
                                    <a:latin typeface="Cambria Math" panose="02040503050406030204" pitchFamily="18" charset="0"/>
                                  </a:rPr>
                                  <m:t>(</m:t>
                                </m:r>
                                <m:r>
                                  <a:rPr lang="en-US" sz="1600" kern="100" baseline="-25000">
                                    <a:effectLst/>
                                    <a:latin typeface="Cambria Math" panose="02040503050406030204" pitchFamily="18" charset="0"/>
                                  </a:rPr>
                                  <m:t>𝑚</m:t>
                                </m:r>
                                <m:r>
                                  <a:rPr lang="en-US" sz="1600" kern="100" baseline="-25000">
                                    <a:effectLst/>
                                    <a:latin typeface="Cambria Math" panose="02040503050406030204" pitchFamily="18" charset="0"/>
                                  </a:rPr>
                                  <m:t>)</m:t>
                                </m:r>
                              </m:oMath>
                            </m:oMathPara>
                          </a14:m>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CN" sz="1600" i="1" kern="100" baseline="-25000">
                                        <a:effectLst/>
                                        <a:latin typeface="Cambria Math" panose="02040503050406030204" pitchFamily="18" charset="0"/>
                                      </a:rPr>
                                    </m:ctrlPr>
                                  </m:sSubPr>
                                  <m:e>
                                    <m:r>
                                      <a:rPr lang="en-US" sz="1600" kern="100" baseline="-25000">
                                        <a:effectLst/>
                                        <a:latin typeface="Cambria Math" panose="02040503050406030204" pitchFamily="18" charset="0"/>
                                      </a:rPr>
                                      <m:t>𝑑</m:t>
                                    </m:r>
                                  </m:e>
                                  <m:sub>
                                    <m:r>
                                      <a:rPr lang="en-US" sz="1600" kern="100" baseline="-25000">
                                        <a:effectLst/>
                                        <a:latin typeface="Cambria Math" panose="02040503050406030204" pitchFamily="18" charset="0"/>
                                      </a:rPr>
                                      <m:t>𝑛</m:t>
                                    </m:r>
                                  </m:sub>
                                </m:sSub>
                                <m:r>
                                  <a:rPr lang="en-US" sz="1600" kern="100" baseline="-25000">
                                    <a:effectLst/>
                                    <a:latin typeface="Cambria Math" panose="02040503050406030204" pitchFamily="18" charset="0"/>
                                  </a:rPr>
                                  <m:t>(</m:t>
                                </m:r>
                                <m:r>
                                  <a:rPr lang="en-US" sz="1600" kern="100" baseline="-25000">
                                    <a:effectLst/>
                                    <a:latin typeface="Cambria Math" panose="02040503050406030204" pitchFamily="18" charset="0"/>
                                  </a:rPr>
                                  <m:t>𝑚</m:t>
                                </m:r>
                                <m:r>
                                  <a:rPr lang="en-US" sz="1600" kern="100" baseline="-25000">
                                    <a:effectLst/>
                                    <a:latin typeface="Cambria Math" panose="02040503050406030204" pitchFamily="18" charset="0"/>
                                  </a:rPr>
                                  <m:t>)</m:t>
                                </m:r>
                              </m:oMath>
                            </m:oMathPara>
                          </a14:m>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14:m>
                            <m:oMath xmlns:m="http://schemas.openxmlformats.org/officeDocument/2006/math">
                              <m:sSub>
                                <m:sSubPr>
                                  <m:ctrlPr>
                                    <a:rPr lang="zh-CN" sz="1600" i="1" kern="100">
                                      <a:effectLst/>
                                      <a:latin typeface="Cambria Math" panose="02040503050406030204" pitchFamily="18" charset="0"/>
                                    </a:rPr>
                                  </m:ctrlPr>
                                </m:sSubPr>
                                <m:e>
                                  <m:r>
                                    <m:rPr>
                                      <m:sty m:val="p"/>
                                    </m:rPr>
                                    <a:rPr lang="en-US" sz="1600" kern="100">
                                      <a:effectLst/>
                                      <a:latin typeface="Cambria Math" panose="02040503050406030204" pitchFamily="18" charset="0"/>
                                    </a:rPr>
                                    <m:t>θ</m:t>
                                  </m:r>
                                </m:e>
                                <m:sub>
                                  <m:r>
                                    <a:rPr lang="en-US" sz="1600" kern="100">
                                      <a:effectLst/>
                                      <a:latin typeface="Cambria Math" panose="02040503050406030204" pitchFamily="18" charset="0"/>
                                    </a:rPr>
                                    <m:t>𝑛</m:t>
                                  </m:r>
                                </m:sub>
                              </m:sSub>
                            </m:oMath>
                          </a14:m>
                          <a:r>
                            <a:rPr lang="zh-CN" sz="1600" kern="100">
                              <a:effectLst/>
                            </a:rPr>
                            <a:t>限制</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偏置</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52773515"/>
                      </a:ext>
                    </a:extLst>
                  </a:tr>
                  <a:tr h="336037">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91876198"/>
                      </a:ext>
                    </a:extLst>
                  </a:tr>
                  <a:tr h="336037">
                    <a:tc>
                      <a:txBody>
                        <a:bodyPr/>
                        <a:lstStyle/>
                        <a:p>
                          <a:pPr algn="ctr">
                            <a:spcAft>
                              <a:spcPts val="0"/>
                            </a:spcAft>
                          </a:pPr>
                          <a:r>
                            <a:rPr lang="en-US" sz="1600" kern="100">
                              <a:effectLst/>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0.0985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1</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67596563"/>
                      </a:ext>
                    </a:extLst>
                  </a:tr>
                  <a:tr h="336037">
                    <a:tc>
                      <a:txBody>
                        <a:bodyPr/>
                        <a:lstStyle/>
                        <a:p>
                          <a:pPr algn="ctr">
                            <a:spcAft>
                              <a:spcPts val="0"/>
                            </a:spcAft>
                          </a:pPr>
                          <a:r>
                            <a:rPr lang="en-US" sz="1600" kern="100">
                              <a:effectLst/>
                            </a:rPr>
                            <a:t>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-0.408</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2</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90</a:t>
                          </a:r>
                          <a:r>
                            <a:rPr lang="zh-CN"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97398857"/>
                      </a:ext>
                    </a:extLst>
                  </a:tr>
                  <a:tr h="336037">
                    <a:tc>
                      <a:txBody>
                        <a:bodyPr/>
                        <a:lstStyle/>
                        <a:p>
                          <a:pPr algn="ctr">
                            <a:spcAft>
                              <a:spcPts val="0"/>
                            </a:spcAft>
                          </a:pPr>
                          <a:r>
                            <a:rPr lang="en-US" sz="1600" kern="100">
                              <a:effectLst/>
                            </a:rPr>
                            <a:t>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-0.376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3</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14738068"/>
                      </a:ext>
                    </a:extLst>
                  </a:tr>
                  <a:tr h="336037">
                    <a:tc>
                      <a:txBody>
                        <a:bodyPr/>
                        <a:lstStyle/>
                        <a:p>
                          <a:pPr algn="ctr">
                            <a:spcAft>
                              <a:spcPts val="0"/>
                            </a:spcAft>
                          </a:pPr>
                          <a:r>
                            <a:rPr lang="en-US" sz="1600" kern="100">
                              <a:effectLst/>
                            </a:rPr>
                            <a:t>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0.1215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4</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90</a:t>
                          </a:r>
                          <a:r>
                            <a:rPr lang="zh-CN"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16837650"/>
                      </a:ext>
                    </a:extLst>
                  </a:tr>
                  <a:tr h="336037">
                    <a:tc>
                      <a:txBody>
                        <a:bodyPr/>
                        <a:lstStyle/>
                        <a:p>
                          <a:pPr algn="ctr">
                            <a:spcAft>
                              <a:spcPts val="0"/>
                            </a:spcAft>
                          </a:pPr>
                          <a:r>
                            <a:rPr lang="en-US" sz="1600" kern="100">
                              <a:effectLst/>
                            </a:rPr>
                            <a:t>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0.1025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5</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2141271"/>
                      </a:ext>
                    </a:extLst>
                  </a:tr>
                  <a:tr h="336037">
                    <a:tc>
                      <a:txBody>
                        <a:bodyPr/>
                        <a:lstStyle/>
                        <a:p>
                          <a:pPr algn="ctr">
                            <a:spcAft>
                              <a:spcPts val="0"/>
                            </a:spcAft>
                          </a:pPr>
                          <a:r>
                            <a:rPr lang="en-US" sz="1600" kern="100">
                              <a:effectLst/>
                            </a:rPr>
                            <a:t>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0.094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6</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dirty="0">
                              <a:effectLst/>
                            </a:rPr>
                            <a:t>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74419975"/>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051568527"/>
                  </p:ext>
                </p:extLst>
              </p:nvPr>
            </p:nvGraphicFramePr>
            <p:xfrm>
              <a:off x="899592" y="1419622"/>
              <a:ext cx="7056783" cy="3024334"/>
            </p:xfrm>
            <a:graphic>
              <a:graphicData uri="http://schemas.openxmlformats.org/drawingml/2006/table">
                <a:tbl>
                  <a:tblPr firstRow="1" firstCol="1" bandRow="1">
                    <a:tableStyleId>{5C22544A-7EE6-4342-B048-85BDC9FD1C3A}</a:tableStyleId>
                  </a:tblPr>
                  <a:tblGrid>
                    <a:gridCol w="1057412">
                      <a:extLst>
                        <a:ext uri="{9D8B030D-6E8A-4147-A177-3AD203B41FA5}">
                          <a16:colId xmlns:a16="http://schemas.microsoft.com/office/drawing/2014/main" val="3760595972"/>
                        </a:ext>
                      </a:extLst>
                    </a:gridCol>
                    <a:gridCol w="1107563">
                      <a:extLst>
                        <a:ext uri="{9D8B030D-6E8A-4147-A177-3AD203B41FA5}">
                          <a16:colId xmlns:a16="http://schemas.microsoft.com/office/drawing/2014/main" val="482139762"/>
                        </a:ext>
                      </a:extLst>
                    </a:gridCol>
                    <a:gridCol w="1084612">
                      <a:extLst>
                        <a:ext uri="{9D8B030D-6E8A-4147-A177-3AD203B41FA5}">
                          <a16:colId xmlns:a16="http://schemas.microsoft.com/office/drawing/2014/main" val="2787780798"/>
                        </a:ext>
                      </a:extLst>
                    </a:gridCol>
                    <a:gridCol w="969012">
                      <a:extLst>
                        <a:ext uri="{9D8B030D-6E8A-4147-A177-3AD203B41FA5}">
                          <a16:colId xmlns:a16="http://schemas.microsoft.com/office/drawing/2014/main" val="2499927622"/>
                        </a:ext>
                      </a:extLst>
                    </a:gridCol>
                    <a:gridCol w="1651570">
                      <a:extLst>
                        <a:ext uri="{9D8B030D-6E8A-4147-A177-3AD203B41FA5}">
                          <a16:colId xmlns:a16="http://schemas.microsoft.com/office/drawing/2014/main" val="1371768689"/>
                        </a:ext>
                      </a:extLst>
                    </a:gridCol>
                    <a:gridCol w="1186614">
                      <a:extLst>
                        <a:ext uri="{9D8B030D-6E8A-4147-A177-3AD203B41FA5}">
                          <a16:colId xmlns:a16="http://schemas.microsoft.com/office/drawing/2014/main" val="2265226328"/>
                        </a:ext>
                      </a:extLst>
                    </a:gridCol>
                  </a:tblGrid>
                  <a:tr h="672075">
                    <a:tc>
                      <a:txBody>
                        <a:bodyPr/>
                        <a:lstStyle/>
                        <a:p>
                          <a:pPr algn="ctr">
                            <a:spcAft>
                              <a:spcPts val="0"/>
                            </a:spcAft>
                          </a:pPr>
                          <a:r>
                            <a:rPr lang="zh-CN" sz="1600" kern="100">
                              <a:effectLst/>
                            </a:rPr>
                            <a:t>连杆坐标系</a:t>
                          </a:r>
                          <a:r>
                            <a:rPr lang="en-US" sz="1600" kern="100">
                              <a:effectLst/>
                            </a:rPr>
                            <a:t>{i}</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3"/>
                          <a:stretch>
                            <a:fillRect l="-96154" t="-10909" r="-443407" b="-357273"/>
                          </a:stretch>
                        </a:blipFill>
                      </a:tcPr>
                    </a:tc>
                    <a:tc>
                      <a:txBody>
                        <a:bodyPr/>
                        <a:lstStyle/>
                        <a:p>
                          <a:endParaRPr lang="zh-CN"/>
                        </a:p>
                      </a:txBody>
                      <a:tcPr marL="68580" marR="68580" marT="0" marB="0">
                        <a:blipFill>
                          <a:blip r:embed="rId3"/>
                          <a:stretch>
                            <a:fillRect l="-200562" t="-10909" r="-353371" b="-357273"/>
                          </a:stretch>
                        </a:blipFill>
                      </a:tcPr>
                    </a:tc>
                    <a:tc>
                      <a:txBody>
                        <a:bodyPr/>
                        <a:lstStyle/>
                        <a:p>
                          <a:endParaRPr lang="zh-CN"/>
                        </a:p>
                      </a:txBody>
                      <a:tcPr marL="68580" marR="68580" marT="0" marB="0">
                        <a:blipFill>
                          <a:blip r:embed="rId3"/>
                          <a:stretch>
                            <a:fillRect l="-336478" t="-10909" r="-295597" b="-357273"/>
                          </a:stretch>
                        </a:blipFill>
                      </a:tcPr>
                    </a:tc>
                    <a:tc>
                      <a:txBody>
                        <a:bodyPr/>
                        <a:lstStyle/>
                        <a:p>
                          <a:endParaRPr lang="zh-CN"/>
                        </a:p>
                      </a:txBody>
                      <a:tcPr marL="68580" marR="68580" marT="0" marB="0">
                        <a:blipFill>
                          <a:blip r:embed="rId3"/>
                          <a:stretch>
                            <a:fillRect l="-256089" t="-10909" r="-73432" b="-357273"/>
                          </a:stretch>
                        </a:blipFill>
                      </a:tcPr>
                    </a:tc>
                    <a:tc>
                      <a:txBody>
                        <a:bodyPr/>
                        <a:lstStyle/>
                        <a:p>
                          <a:pPr algn="ctr">
                            <a:spcAft>
                              <a:spcPts val="0"/>
                            </a:spcAft>
                          </a:pPr>
                          <a:r>
                            <a:rPr lang="zh-CN" sz="1600" kern="100">
                              <a:effectLst/>
                            </a:rPr>
                            <a:t>偏置</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52773515"/>
                      </a:ext>
                    </a:extLst>
                  </a:tr>
                  <a:tr h="336037">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91876198"/>
                      </a:ext>
                    </a:extLst>
                  </a:tr>
                  <a:tr h="336037">
                    <a:tc>
                      <a:txBody>
                        <a:bodyPr/>
                        <a:lstStyle/>
                        <a:p>
                          <a:pPr algn="ctr">
                            <a:spcAft>
                              <a:spcPts val="0"/>
                            </a:spcAft>
                          </a:pPr>
                          <a:r>
                            <a:rPr lang="en-US" sz="1600" kern="100">
                              <a:effectLst/>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0.0985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1</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67596563"/>
                      </a:ext>
                    </a:extLst>
                  </a:tr>
                  <a:tr h="336037">
                    <a:tc>
                      <a:txBody>
                        <a:bodyPr/>
                        <a:lstStyle/>
                        <a:p>
                          <a:pPr algn="ctr">
                            <a:spcAft>
                              <a:spcPts val="0"/>
                            </a:spcAft>
                          </a:pPr>
                          <a:r>
                            <a:rPr lang="en-US" sz="1600" kern="100">
                              <a:effectLst/>
                            </a:rPr>
                            <a:t>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-0.408</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2</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90</a:t>
                          </a:r>
                          <a:r>
                            <a:rPr lang="zh-CN"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97398857"/>
                      </a:ext>
                    </a:extLst>
                  </a:tr>
                  <a:tr h="336037">
                    <a:tc>
                      <a:txBody>
                        <a:bodyPr/>
                        <a:lstStyle/>
                        <a:p>
                          <a:pPr algn="ctr">
                            <a:spcAft>
                              <a:spcPts val="0"/>
                            </a:spcAft>
                          </a:pPr>
                          <a:r>
                            <a:rPr lang="en-US" sz="1600" kern="100">
                              <a:effectLst/>
                            </a:rPr>
                            <a:t>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-0.376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3</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14738068"/>
                      </a:ext>
                    </a:extLst>
                  </a:tr>
                  <a:tr h="336037">
                    <a:tc>
                      <a:txBody>
                        <a:bodyPr/>
                        <a:lstStyle/>
                        <a:p>
                          <a:pPr algn="ctr">
                            <a:spcAft>
                              <a:spcPts val="0"/>
                            </a:spcAft>
                          </a:pPr>
                          <a:r>
                            <a:rPr lang="en-US" sz="1600" kern="100">
                              <a:effectLst/>
                            </a:rPr>
                            <a:t>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0.1215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4</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90</a:t>
                          </a:r>
                          <a:r>
                            <a:rPr lang="zh-CN" sz="1600" kern="100">
                              <a:effectLst/>
                            </a:rPr>
                            <a:t>°</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16837650"/>
                      </a:ext>
                    </a:extLst>
                  </a:tr>
                  <a:tr h="336037">
                    <a:tc>
                      <a:txBody>
                        <a:bodyPr/>
                        <a:lstStyle/>
                        <a:p>
                          <a:pPr algn="ctr">
                            <a:spcAft>
                              <a:spcPts val="0"/>
                            </a:spcAft>
                          </a:pPr>
                          <a:r>
                            <a:rPr lang="en-US" sz="1600" kern="100">
                              <a:effectLst/>
                            </a:rPr>
                            <a:t>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-π/2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0.1025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5</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52141271"/>
                      </a:ext>
                    </a:extLst>
                  </a:tr>
                  <a:tr h="336037">
                    <a:tc>
                      <a:txBody>
                        <a:bodyPr/>
                        <a:lstStyle/>
                        <a:p>
                          <a:pPr algn="ctr">
                            <a:spcAft>
                              <a:spcPts val="0"/>
                            </a:spcAft>
                          </a:pPr>
                          <a:r>
                            <a:rPr lang="en-US" sz="1600" kern="100">
                              <a:effectLst/>
                            </a:rPr>
                            <a:t>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0.094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a:effectLst/>
                            </a:rPr>
                            <a:t>θ</a:t>
                          </a:r>
                          <a:r>
                            <a:rPr lang="en-US" sz="1600" kern="100" baseline="-25000">
                              <a:effectLst/>
                            </a:rPr>
                            <a:t>6</a:t>
                          </a:r>
                          <a:r>
                            <a:rPr lang="en-US" sz="1600" kern="100">
                              <a:effectLst/>
                            </a:rPr>
                            <a:t>: -175</a:t>
                          </a:r>
                          <a:r>
                            <a:rPr lang="en-US" sz="1600" kern="100" baseline="30000">
                              <a:effectLst/>
                            </a:rPr>
                            <a:t>o</a:t>
                          </a:r>
                          <a:r>
                            <a:rPr lang="zh-CN" sz="1600" kern="100">
                              <a:effectLst/>
                            </a:rPr>
                            <a:t>至</a:t>
                          </a:r>
                          <a:r>
                            <a:rPr lang="en-US" sz="1600" kern="100">
                              <a:effectLst/>
                            </a:rPr>
                            <a:t>175</a:t>
                          </a:r>
                          <a:r>
                            <a:rPr lang="en-US" sz="1600" kern="100" baseline="30000">
                              <a:effectLst/>
                            </a:rPr>
                            <a:t> o</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600" kern="100" dirty="0">
                              <a:effectLst/>
                            </a:rPr>
                            <a:t>0</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74419975"/>
                      </a:ext>
                    </a:extLst>
                  </a:tr>
                </a:tbl>
              </a:graphicData>
            </a:graphic>
          </p:graphicFrame>
        </mc:Fallback>
      </mc:AlternateContent>
      <p:sp>
        <p:nvSpPr>
          <p:cNvPr id="3" name="矩形 2"/>
          <p:cNvSpPr/>
          <p:nvPr/>
        </p:nvSpPr>
        <p:spPr>
          <a:xfrm>
            <a:off x="3635896" y="843558"/>
            <a:ext cx="2075825" cy="369332"/>
          </a:xfrm>
          <a:prstGeom prst="rect">
            <a:avLst/>
          </a:prstGeom>
        </p:spPr>
        <p:txBody>
          <a:bodyPr wrap="none">
            <a:spAutoFit/>
          </a:bodyPr>
          <a:lstStyle/>
          <a:p>
            <a:r>
              <a:rPr lang="en-US" altLang="zh-CN" dirty="0" smtClean="0"/>
              <a:t>AUBO_i5  MDH</a:t>
            </a:r>
            <a:r>
              <a:rPr lang="zh-CN" altLang="zh-CN" dirty="0"/>
              <a:t>参数</a:t>
            </a:r>
            <a:endParaRPr lang="zh-CN" altLang="en-US" dirty="0"/>
          </a:p>
        </p:txBody>
      </p:sp>
    </p:spTree>
    <p:extLst>
      <p:ext uri="{BB962C8B-B14F-4D97-AF65-F5344CB8AC3E}">
        <p14:creationId xmlns:p14="http://schemas.microsoft.com/office/powerpoint/2010/main" val="41333351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836750807"/>
              </p:ext>
            </p:extLst>
          </p:nvPr>
        </p:nvGraphicFramePr>
        <p:xfrm>
          <a:off x="1619673" y="2067694"/>
          <a:ext cx="6264694" cy="2736303"/>
        </p:xfrm>
        <a:graphic>
          <a:graphicData uri="http://schemas.openxmlformats.org/drawingml/2006/table">
            <a:tbl>
              <a:tblPr firstRow="1" firstCol="1" bandRow="1">
                <a:tableStyleId>{5C22544A-7EE6-4342-B048-85BDC9FD1C3A}</a:tableStyleId>
              </a:tblPr>
              <a:tblGrid>
                <a:gridCol w="368511">
                  <a:extLst>
                    <a:ext uri="{9D8B030D-6E8A-4147-A177-3AD203B41FA5}">
                      <a16:colId xmlns:a16="http://schemas.microsoft.com/office/drawing/2014/main" val="1604410194"/>
                    </a:ext>
                  </a:extLst>
                </a:gridCol>
                <a:gridCol w="805742">
                  <a:extLst>
                    <a:ext uri="{9D8B030D-6E8A-4147-A177-3AD203B41FA5}">
                      <a16:colId xmlns:a16="http://schemas.microsoft.com/office/drawing/2014/main" val="3883798764"/>
                    </a:ext>
                  </a:extLst>
                </a:gridCol>
                <a:gridCol w="962811">
                  <a:extLst>
                    <a:ext uri="{9D8B030D-6E8A-4147-A177-3AD203B41FA5}">
                      <a16:colId xmlns:a16="http://schemas.microsoft.com/office/drawing/2014/main" val="682232065"/>
                    </a:ext>
                  </a:extLst>
                </a:gridCol>
                <a:gridCol w="1070798">
                  <a:extLst>
                    <a:ext uri="{9D8B030D-6E8A-4147-A177-3AD203B41FA5}">
                      <a16:colId xmlns:a16="http://schemas.microsoft.com/office/drawing/2014/main" val="2144070885"/>
                    </a:ext>
                  </a:extLst>
                </a:gridCol>
                <a:gridCol w="963567">
                  <a:extLst>
                    <a:ext uri="{9D8B030D-6E8A-4147-A177-3AD203B41FA5}">
                      <a16:colId xmlns:a16="http://schemas.microsoft.com/office/drawing/2014/main" val="2494125937"/>
                    </a:ext>
                  </a:extLst>
                </a:gridCol>
                <a:gridCol w="1070042">
                  <a:extLst>
                    <a:ext uri="{9D8B030D-6E8A-4147-A177-3AD203B41FA5}">
                      <a16:colId xmlns:a16="http://schemas.microsoft.com/office/drawing/2014/main" val="2653828270"/>
                    </a:ext>
                  </a:extLst>
                </a:gridCol>
                <a:gridCol w="1023223">
                  <a:extLst>
                    <a:ext uri="{9D8B030D-6E8A-4147-A177-3AD203B41FA5}">
                      <a16:colId xmlns:a16="http://schemas.microsoft.com/office/drawing/2014/main" val="414731827"/>
                    </a:ext>
                  </a:extLst>
                </a:gridCol>
              </a:tblGrid>
              <a:tr h="228025">
                <a:tc>
                  <a:txBody>
                    <a:bodyPr/>
                    <a:lstStyle/>
                    <a:p>
                      <a:pPr algn="just">
                        <a:spcAft>
                          <a:spcPts val="0"/>
                        </a:spcAft>
                      </a:pPr>
                      <a:r>
                        <a:rPr lang="en-US" sz="1400" kern="100">
                          <a:effectLst/>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Link5</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Link6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42866727"/>
                  </a:ext>
                </a:extLst>
              </a:tr>
              <a:tr h="912101">
                <a:tc>
                  <a:txBody>
                    <a:bodyPr/>
                    <a:lstStyle/>
                    <a:p>
                      <a:pPr algn="ctr">
                        <a:spcAft>
                          <a:spcPts val="0"/>
                        </a:spcAft>
                      </a:pPr>
                      <a:r>
                        <a:rPr lang="zh-CN" sz="1400" kern="100">
                          <a:effectLst/>
                        </a:rPr>
                        <a:t>质量</a:t>
                      </a:r>
                      <a:r>
                        <a:rPr lang="en-US" sz="1400" kern="100">
                          <a:effectLst/>
                        </a:rPr>
                        <a:t>(kg)</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1.57</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4.04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2.2714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0.5004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0.5004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a:effectLst/>
                        </a:rPr>
                        <a:t>0.1583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63203727"/>
                  </a:ext>
                </a:extLst>
              </a:tr>
              <a:tr h="1596177">
                <a:tc>
                  <a:txBody>
                    <a:bodyPr/>
                    <a:lstStyle/>
                    <a:p>
                      <a:pPr algn="ctr">
                        <a:spcAft>
                          <a:spcPts val="0"/>
                        </a:spcAft>
                      </a:pPr>
                      <a:r>
                        <a:rPr lang="zh-CN" sz="1400" kern="100">
                          <a:effectLst/>
                        </a:rPr>
                        <a:t>质心坐标</a:t>
                      </a:r>
                      <a:r>
                        <a:rPr lang="en-US" sz="1400" kern="100">
                          <a:effectLst/>
                        </a:rPr>
                        <a:t>(m)</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a:effectLst/>
                        </a:rPr>
                        <a:t>[0,</a:t>
                      </a:r>
                      <a:endParaRPr lang="zh-CN" sz="1400" kern="100">
                        <a:effectLst/>
                      </a:endParaRPr>
                    </a:p>
                    <a:p>
                      <a:pPr algn="just">
                        <a:spcAft>
                          <a:spcPts val="0"/>
                        </a:spcAft>
                      </a:pPr>
                      <a:r>
                        <a:rPr lang="en-US" sz="1400" kern="100">
                          <a:effectLst/>
                        </a:rPr>
                        <a:t>0.00534,</a:t>
                      </a:r>
                      <a:endParaRPr lang="zh-CN" sz="1400" kern="100">
                        <a:effectLst/>
                      </a:endParaRPr>
                    </a:p>
                    <a:p>
                      <a:pPr algn="just">
                        <a:spcAft>
                          <a:spcPts val="0"/>
                        </a:spcAft>
                      </a:pPr>
                      <a:r>
                        <a:rPr lang="en-US" sz="1400" kern="100">
                          <a:effectLst/>
                        </a:rPr>
                        <a:t>-0.00884]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a:effectLst/>
                        </a:rPr>
                        <a:t>[0.20399,</a:t>
                      </a:r>
                      <a:endParaRPr lang="zh-CN" sz="1400" kern="100">
                        <a:effectLst/>
                      </a:endParaRPr>
                    </a:p>
                    <a:p>
                      <a:pPr algn="just">
                        <a:spcAft>
                          <a:spcPts val="0"/>
                        </a:spcAft>
                      </a:pPr>
                      <a:r>
                        <a:rPr lang="en-US" sz="1400" kern="100">
                          <a:effectLst/>
                        </a:rPr>
                        <a:t>0,</a:t>
                      </a:r>
                      <a:endParaRPr lang="zh-CN" sz="1400" kern="100">
                        <a:effectLst/>
                      </a:endParaRPr>
                    </a:p>
                    <a:p>
                      <a:pPr algn="just">
                        <a:spcAft>
                          <a:spcPts val="0"/>
                        </a:spcAft>
                      </a:pPr>
                      <a:r>
                        <a:rPr lang="en-US" sz="1400" kern="100">
                          <a:effectLst/>
                        </a:rPr>
                        <a:t>0.01276]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a:effectLst/>
                        </a:rPr>
                        <a:t>[0.18892,</a:t>
                      </a:r>
                      <a:endParaRPr lang="zh-CN" sz="1400" kern="100">
                        <a:effectLst/>
                      </a:endParaRPr>
                    </a:p>
                    <a:p>
                      <a:pPr algn="just">
                        <a:spcAft>
                          <a:spcPts val="0"/>
                        </a:spcAft>
                      </a:pPr>
                      <a:r>
                        <a:rPr lang="en-US" sz="1400" kern="100">
                          <a:effectLst/>
                        </a:rPr>
                        <a:t>0,</a:t>
                      </a:r>
                      <a:endParaRPr lang="zh-CN" sz="1400" kern="100">
                        <a:effectLst/>
                      </a:endParaRPr>
                    </a:p>
                    <a:p>
                      <a:pPr algn="just">
                        <a:spcAft>
                          <a:spcPts val="0"/>
                        </a:spcAft>
                      </a:pPr>
                      <a:r>
                        <a:rPr lang="en-US" sz="1400" kern="100">
                          <a:effectLst/>
                        </a:rPr>
                        <a:t>0.0981]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a:effectLst/>
                        </a:rPr>
                        <a:t>[0,</a:t>
                      </a:r>
                      <a:endParaRPr lang="zh-CN" sz="1400" kern="100">
                        <a:effectLst/>
                      </a:endParaRPr>
                    </a:p>
                    <a:p>
                      <a:pPr algn="just">
                        <a:spcAft>
                          <a:spcPts val="0"/>
                        </a:spcAft>
                      </a:pPr>
                      <a:r>
                        <a:rPr lang="en-US" sz="1400" kern="100">
                          <a:effectLst/>
                        </a:rPr>
                        <a:t>0.006248,</a:t>
                      </a:r>
                      <a:endParaRPr lang="zh-CN" sz="1400" kern="100">
                        <a:effectLst/>
                      </a:endParaRPr>
                    </a:p>
                    <a:p>
                      <a:pPr algn="just">
                        <a:spcAft>
                          <a:spcPts val="0"/>
                        </a:spcAft>
                      </a:pPr>
                      <a:r>
                        <a:rPr lang="en-US" sz="1400" kern="100">
                          <a:effectLst/>
                        </a:rPr>
                        <a:t>-0.003923]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a:effectLst/>
                        </a:rPr>
                        <a:t>[0,</a:t>
                      </a:r>
                      <a:endParaRPr lang="zh-CN" sz="1400" kern="100">
                        <a:effectLst/>
                      </a:endParaRPr>
                    </a:p>
                    <a:p>
                      <a:pPr algn="just">
                        <a:spcAft>
                          <a:spcPts val="0"/>
                        </a:spcAft>
                      </a:pPr>
                      <a:r>
                        <a:rPr lang="en-US" sz="1400" kern="100">
                          <a:effectLst/>
                        </a:rPr>
                        <a:t>-0.006248,</a:t>
                      </a:r>
                      <a:endParaRPr lang="zh-CN" sz="1400" kern="100">
                        <a:effectLst/>
                      </a:endParaRPr>
                    </a:p>
                    <a:p>
                      <a:pPr algn="just">
                        <a:spcAft>
                          <a:spcPts val="0"/>
                        </a:spcAft>
                      </a:pPr>
                      <a:r>
                        <a:rPr lang="en-US" sz="1400" kern="100">
                          <a:effectLst/>
                        </a:rPr>
                        <a:t>-0.003923]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400" kern="100" dirty="0">
                          <a:effectLst/>
                        </a:rPr>
                        <a:t>[0,</a:t>
                      </a:r>
                      <a:endParaRPr lang="zh-CN" sz="1400" kern="100" dirty="0">
                        <a:effectLst/>
                      </a:endParaRPr>
                    </a:p>
                    <a:p>
                      <a:pPr algn="just">
                        <a:spcAft>
                          <a:spcPts val="0"/>
                        </a:spcAft>
                      </a:pPr>
                      <a:r>
                        <a:rPr lang="en-US" sz="1400" kern="100" dirty="0">
                          <a:effectLst/>
                        </a:rPr>
                        <a:t>0.0001757,</a:t>
                      </a:r>
                      <a:endParaRPr lang="zh-CN" sz="1400" kern="100" dirty="0">
                        <a:effectLst/>
                      </a:endParaRPr>
                    </a:p>
                    <a:p>
                      <a:pPr algn="just">
                        <a:spcAft>
                          <a:spcPts val="0"/>
                        </a:spcAft>
                      </a:pPr>
                      <a:r>
                        <a:rPr lang="en-US" sz="1400" kern="100" dirty="0">
                          <a:effectLst/>
                        </a:rPr>
                        <a:t>-0.02133]</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6536054"/>
                  </a:ext>
                </a:extLst>
              </a:tr>
            </a:tbl>
          </a:graphicData>
        </a:graphic>
      </p:graphicFrame>
      <p:sp>
        <p:nvSpPr>
          <p:cNvPr id="3" name="矩形 2"/>
          <p:cNvSpPr/>
          <p:nvPr/>
        </p:nvSpPr>
        <p:spPr>
          <a:xfrm>
            <a:off x="3563888" y="1419622"/>
            <a:ext cx="2262158" cy="369332"/>
          </a:xfrm>
          <a:prstGeom prst="rect">
            <a:avLst/>
          </a:prstGeom>
        </p:spPr>
        <p:txBody>
          <a:bodyPr wrap="none">
            <a:spAutoFit/>
          </a:bodyPr>
          <a:lstStyle/>
          <a:p>
            <a:r>
              <a:rPr lang="zh-CN" altLang="zh-CN" dirty="0" smtClean="0">
                <a:latin typeface="Times" panose="02020603050405020304" pitchFamily="18" charset="0"/>
                <a:cs typeface="Times" panose="02020603050405020304" pitchFamily="18" charset="0"/>
              </a:rPr>
              <a:t>连杆</a:t>
            </a:r>
            <a:r>
              <a:rPr lang="zh-CN" altLang="zh-CN" dirty="0">
                <a:latin typeface="Times" panose="02020603050405020304" pitchFamily="18" charset="0"/>
                <a:cs typeface="Times" panose="02020603050405020304" pitchFamily="18" charset="0"/>
              </a:rPr>
              <a:t>质量和质心参数</a:t>
            </a:r>
            <a:endParaRPr lang="zh-CN" altLang="en-US" dirty="0"/>
          </a:p>
        </p:txBody>
      </p:sp>
    </p:spTree>
    <p:extLst>
      <p:ext uri="{BB962C8B-B14F-4D97-AF65-F5344CB8AC3E}">
        <p14:creationId xmlns:p14="http://schemas.microsoft.com/office/powerpoint/2010/main" val="17484839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14022195"/>
              </p:ext>
            </p:extLst>
          </p:nvPr>
        </p:nvGraphicFramePr>
        <p:xfrm>
          <a:off x="1276350" y="908223"/>
          <a:ext cx="2228850" cy="714375"/>
        </p:xfrm>
        <a:graphic>
          <a:graphicData uri="http://schemas.openxmlformats.org/presentationml/2006/ole">
            <mc:AlternateContent xmlns:mc="http://schemas.openxmlformats.org/markup-compatibility/2006">
              <mc:Choice xmlns:v="urn:schemas-microsoft-com:vml" Requires="v">
                <p:oleObj spid="_x0000_s13421" r:id="rId4" imgW="2222500" imgH="711200" progId="Equation.DSMT4">
                  <p:embed/>
                </p:oleObj>
              </mc:Choice>
              <mc:Fallback>
                <p:oleObj r:id="rId4" imgW="2222500" imgH="7112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6350" y="908223"/>
                        <a:ext cx="222885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37378093"/>
              </p:ext>
            </p:extLst>
          </p:nvPr>
        </p:nvGraphicFramePr>
        <p:xfrm>
          <a:off x="5076056" y="1015799"/>
          <a:ext cx="2247900" cy="714375"/>
        </p:xfrm>
        <a:graphic>
          <a:graphicData uri="http://schemas.openxmlformats.org/presentationml/2006/ole">
            <mc:AlternateContent xmlns:mc="http://schemas.openxmlformats.org/markup-compatibility/2006">
              <mc:Choice xmlns:v="urn:schemas-microsoft-com:vml" Requires="v">
                <p:oleObj spid="_x0000_s13422" r:id="rId6" imgW="2247900" imgH="711200" progId="Equation.DSMT4">
                  <p:embed/>
                </p:oleObj>
              </mc:Choice>
              <mc:Fallback>
                <p:oleObj r:id="rId6" imgW="2247900" imgH="7112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056" y="1015799"/>
                        <a:ext cx="224790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04501066"/>
              </p:ext>
            </p:extLst>
          </p:nvPr>
        </p:nvGraphicFramePr>
        <p:xfrm>
          <a:off x="1193609" y="2425219"/>
          <a:ext cx="2247900" cy="714375"/>
        </p:xfrm>
        <a:graphic>
          <a:graphicData uri="http://schemas.openxmlformats.org/presentationml/2006/ole">
            <mc:AlternateContent xmlns:mc="http://schemas.openxmlformats.org/markup-compatibility/2006">
              <mc:Choice xmlns:v="urn:schemas-microsoft-com:vml" Requires="v">
                <p:oleObj spid="_x0000_s13423" r:id="rId8" imgW="2247900" imgH="711200" progId="Equation.DSMT4">
                  <p:embed/>
                </p:oleObj>
              </mc:Choice>
              <mc:Fallback>
                <p:oleObj r:id="rId8" imgW="2247900" imgH="7112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3609" y="2425219"/>
                        <a:ext cx="224790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114206229"/>
              </p:ext>
            </p:extLst>
          </p:nvPr>
        </p:nvGraphicFramePr>
        <p:xfrm>
          <a:off x="4916555" y="2337813"/>
          <a:ext cx="2390775" cy="714375"/>
        </p:xfrm>
        <a:graphic>
          <a:graphicData uri="http://schemas.openxmlformats.org/presentationml/2006/ole">
            <mc:AlternateContent xmlns:mc="http://schemas.openxmlformats.org/markup-compatibility/2006">
              <mc:Choice xmlns:v="urn:schemas-microsoft-com:vml" Requires="v">
                <p:oleObj spid="_x0000_s13424" r:id="rId10" imgW="2387600" imgH="711200" progId="Equation.DSMT4">
                  <p:embed/>
                </p:oleObj>
              </mc:Choice>
              <mc:Fallback>
                <p:oleObj r:id="rId10" imgW="2387600" imgH="711200" progId="Equation.DSMT4">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16555" y="2337813"/>
                        <a:ext cx="2390775"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778374186"/>
              </p:ext>
            </p:extLst>
          </p:nvPr>
        </p:nvGraphicFramePr>
        <p:xfrm>
          <a:off x="1050734" y="3729583"/>
          <a:ext cx="2390775" cy="714375"/>
        </p:xfrm>
        <a:graphic>
          <a:graphicData uri="http://schemas.openxmlformats.org/presentationml/2006/ole">
            <mc:AlternateContent xmlns:mc="http://schemas.openxmlformats.org/markup-compatibility/2006">
              <mc:Choice xmlns:v="urn:schemas-microsoft-com:vml" Requires="v">
                <p:oleObj spid="_x0000_s13425" r:id="rId12" imgW="2387600" imgH="711200" progId="Equation.DSMT4">
                  <p:embed/>
                </p:oleObj>
              </mc:Choice>
              <mc:Fallback>
                <p:oleObj r:id="rId12" imgW="2387600" imgH="711200" progId="Equation.DSMT4">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0734" y="3729583"/>
                        <a:ext cx="2390775"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5208459"/>
              </p:ext>
            </p:extLst>
          </p:nvPr>
        </p:nvGraphicFramePr>
        <p:xfrm>
          <a:off x="4861646" y="3616124"/>
          <a:ext cx="2343150" cy="714375"/>
        </p:xfrm>
        <a:graphic>
          <a:graphicData uri="http://schemas.openxmlformats.org/presentationml/2006/ole">
            <mc:AlternateContent xmlns:mc="http://schemas.openxmlformats.org/markup-compatibility/2006">
              <mc:Choice xmlns:v="urn:schemas-microsoft-com:vml" Requires="v">
                <p:oleObj spid="_x0000_s13426" r:id="rId14" imgW="2349500" imgH="711200" progId="Equation.DSMT4">
                  <p:embed/>
                </p:oleObj>
              </mc:Choice>
              <mc:Fallback>
                <p:oleObj r:id="rId14" imgW="2349500" imgH="711200" progId="Equation.DSMT4">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61646" y="3616124"/>
                        <a:ext cx="234315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a:spLocks noChangeArrowheads="1"/>
          </p:cNvSpPr>
          <p:nvPr/>
        </p:nvSpPr>
        <p:spPr bwMode="auto">
          <a:xfrm>
            <a:off x="0" y="5857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矩形 13"/>
          <p:cNvSpPr/>
          <p:nvPr/>
        </p:nvSpPr>
        <p:spPr>
          <a:xfrm>
            <a:off x="3827346" y="181998"/>
            <a:ext cx="2206886" cy="369332"/>
          </a:xfrm>
          <a:prstGeom prst="rect">
            <a:avLst/>
          </a:prstGeom>
        </p:spPr>
        <p:txBody>
          <a:bodyPr wrap="none">
            <a:spAutoFit/>
          </a:bodyPr>
          <a:lstStyle/>
          <a:p>
            <a:pPr lvl="0" eaLnBrk="0" fontAlgn="base" hangingPunct="0">
              <a:spcBef>
                <a:spcPct val="0"/>
              </a:spcBef>
              <a:spcAft>
                <a:spcPct val="0"/>
              </a:spcAft>
            </a:pPr>
            <a:r>
              <a:rPr lang="en-US" altLang="zh-CN" b="1" dirty="0">
                <a:latin typeface="Calibri" panose="020F0502020204030204" pitchFamily="34" charset="0"/>
                <a:cs typeface="Times New Roman" panose="02020603050405020304" pitchFamily="18" charset="0"/>
              </a:rPr>
              <a:t>AUBO_i5</a:t>
            </a:r>
            <a:r>
              <a:rPr lang="zh-CN" altLang="en-US" b="1" dirty="0">
                <a:latin typeface="Calibri" panose="020F0502020204030204" pitchFamily="34" charset="0"/>
                <a:cs typeface="Times New Roman" panose="02020603050405020304" pitchFamily="18" charset="0"/>
              </a:rPr>
              <a:t>惯性矩阵：</a:t>
            </a:r>
            <a:endParaRPr lang="zh-CN" altLang="en-US" sz="1050" b="1" dirty="0"/>
          </a:p>
        </p:txBody>
      </p:sp>
      <p:cxnSp>
        <p:nvCxnSpPr>
          <p:cNvPr id="16" name="直接连接符 15"/>
          <p:cNvCxnSpPr/>
          <p:nvPr/>
        </p:nvCxnSpPr>
        <p:spPr>
          <a:xfrm>
            <a:off x="0" y="699542"/>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4975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a:stretch>
            <a:fillRect/>
          </a:stretch>
        </p:blipFill>
        <p:spPr>
          <a:xfrm>
            <a:off x="2466975" y="992822"/>
            <a:ext cx="4210050" cy="3157855"/>
          </a:xfrm>
          <a:prstGeom prst="rect">
            <a:avLst/>
          </a:prstGeom>
        </p:spPr>
      </p:pic>
      <p:sp>
        <p:nvSpPr>
          <p:cNvPr id="3" name="文本框 2"/>
          <p:cNvSpPr txBox="1"/>
          <p:nvPr/>
        </p:nvSpPr>
        <p:spPr>
          <a:xfrm>
            <a:off x="2499059" y="4515966"/>
            <a:ext cx="3906519" cy="369332"/>
          </a:xfrm>
          <a:prstGeom prst="rect">
            <a:avLst/>
          </a:prstGeom>
          <a:noFill/>
        </p:spPr>
        <p:txBody>
          <a:bodyPr wrap="none" rtlCol="0">
            <a:spAutoFit/>
          </a:bodyPr>
          <a:lstStyle/>
          <a:p>
            <a:r>
              <a:rPr lang="zh-CN" altLang="en-US" dirty="0" smtClean="0"/>
              <a:t>请参照教材进行正逆动力学仿真测试</a:t>
            </a:r>
            <a:endParaRPr lang="zh-CN" altLang="en-US" dirty="0"/>
          </a:p>
        </p:txBody>
      </p:sp>
    </p:spTree>
    <p:extLst>
      <p:ext uri="{BB962C8B-B14F-4D97-AF65-F5344CB8AC3E}">
        <p14:creationId xmlns:p14="http://schemas.microsoft.com/office/powerpoint/2010/main" val="10341888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47650" y="207010"/>
            <a:ext cx="5153660" cy="598805"/>
            <a:chOff x="-372" y="345"/>
            <a:chExt cx="8116" cy="943"/>
          </a:xfrm>
        </p:grpSpPr>
        <p:sp>
          <p:nvSpPr>
            <p:cNvPr id="53" name="矩形 5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Dynamics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54" name="文本框 5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动力学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5" name="椭圆 5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8" name="直接连接符 17"/>
          <p:cNvCxnSpPr/>
          <p:nvPr/>
        </p:nvCxnSpPr>
        <p:spPr>
          <a:xfrm>
            <a:off x="269875" y="1059582"/>
            <a:ext cx="854410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688414" y="640088"/>
            <a:ext cx="1579278" cy="369332"/>
          </a:xfrm>
          <a:prstGeom prst="rect">
            <a:avLst/>
          </a:prstGeom>
        </p:spPr>
        <p:txBody>
          <a:bodyPr wrap="none">
            <a:spAutoFit/>
          </a:bodyPr>
          <a:lstStyle/>
          <a:p>
            <a:r>
              <a:rPr lang="zh-CN" altLang="en-US" b="1" dirty="0" smtClean="0">
                <a:solidFill>
                  <a:srgbClr val="002060"/>
                </a:solidFill>
                <a:latin typeface="Calibri" panose="020F0502020204030204" pitchFamily="34" charset="0"/>
                <a:cs typeface="Times New Roman" panose="02020603050405020304" pitchFamily="18" charset="0"/>
              </a:rPr>
              <a:t>机器人动力学</a:t>
            </a:r>
            <a:endParaRPr lang="zh-CN" altLang="en-US" b="1" dirty="0">
              <a:solidFill>
                <a:srgbClr val="002060"/>
              </a:solidFill>
            </a:endParaRPr>
          </a:p>
        </p:txBody>
      </p:sp>
      <p:sp>
        <p:nvSpPr>
          <p:cNvPr id="4" name="矩形 3"/>
          <p:cNvSpPr/>
          <p:nvPr/>
        </p:nvSpPr>
        <p:spPr>
          <a:xfrm>
            <a:off x="1121549" y="2139702"/>
            <a:ext cx="6840760" cy="1323439"/>
          </a:xfrm>
          <a:prstGeom prst="rect">
            <a:avLst/>
          </a:prstGeom>
        </p:spPr>
        <p:txBody>
          <a:bodyPr wrap="square">
            <a:spAutoFit/>
          </a:bodyPr>
          <a:lstStyle/>
          <a:p>
            <a:r>
              <a:rPr lang="zh-CN" altLang="en-US" sz="1600" dirty="0">
                <a:solidFill>
                  <a:srgbClr val="002060"/>
                </a:solidFill>
              </a:rPr>
              <a:t> 参照《机器人学、机器视觉与控制-Matlab算法基础》以及《现代机器人学》两本书的开源代码，结合本讲义内容进行Aubo-i5机器人的正逆动力学求解与仿真（要求用拉格朗日逆动力学公式、牛顿-欧拉逆动力学公式（分别</a:t>
            </a:r>
            <a:r>
              <a:rPr lang="zh-CN" altLang="en-US" sz="1600" dirty="0" smtClean="0">
                <a:solidFill>
                  <a:srgbClr val="002060"/>
                </a:solidFill>
              </a:rPr>
              <a:t>采用旋量法、封闭形式）</a:t>
            </a:r>
            <a:r>
              <a:rPr lang="zh-CN" altLang="en-US" sz="1600" dirty="0">
                <a:solidFill>
                  <a:srgbClr val="002060"/>
                </a:solidFill>
              </a:rPr>
              <a:t>以及欧拉积分法-正动力学迭代数值解法），并将仿真结果曲线进行对比。</a:t>
            </a:r>
          </a:p>
        </p:txBody>
      </p:sp>
      <p:sp>
        <p:nvSpPr>
          <p:cNvPr id="2" name="文本框 1"/>
          <p:cNvSpPr txBox="1"/>
          <p:nvPr/>
        </p:nvSpPr>
        <p:spPr>
          <a:xfrm>
            <a:off x="353023" y="3723878"/>
            <a:ext cx="8576130" cy="646331"/>
          </a:xfrm>
          <a:prstGeom prst="rect">
            <a:avLst/>
          </a:prstGeom>
          <a:noFill/>
        </p:spPr>
        <p:txBody>
          <a:bodyPr wrap="none" rtlCol="0">
            <a:spAutoFit/>
          </a:bodyPr>
          <a:lstStyle/>
          <a:p>
            <a:r>
              <a:rPr lang="zh-CN" altLang="en-US" dirty="0" smtClean="0"/>
              <a:t>本教材参考实验代码：</a:t>
            </a:r>
            <a:endParaRPr lang="en-US" altLang="zh-CN" dirty="0" smtClean="0"/>
          </a:p>
          <a:p>
            <a:r>
              <a:rPr lang="en-US" altLang="zh-CN" dirty="0" smtClean="0"/>
              <a:t>https</a:t>
            </a:r>
            <a:r>
              <a:rPr lang="en-US" altLang="zh-CN" dirty="0"/>
              <a:t>://github.com/mhuasong/Basics-of-Robotics-Theory-and-Technology/tree/main/ch4</a:t>
            </a:r>
            <a:endParaRPr lang="zh-CN" altLang="en-US" dirty="0"/>
          </a:p>
        </p:txBody>
      </p:sp>
    </p:spTree>
    <p:extLst>
      <p:ext uri="{BB962C8B-B14F-4D97-AF65-F5344CB8AC3E}">
        <p14:creationId xmlns:p14="http://schemas.microsoft.com/office/powerpoint/2010/main" val="264058986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64114" y="56079"/>
            <a:ext cx="1415772" cy="461665"/>
          </a:xfrm>
          <a:prstGeom prst="rect">
            <a:avLst/>
          </a:prstGeom>
        </p:spPr>
        <p:txBody>
          <a:bodyPr wrap="none">
            <a:spAutoFit/>
          </a:bodyPr>
          <a:lstStyle/>
          <a:p>
            <a:r>
              <a:rPr lang="zh-CN" altLang="zh-CN" sz="2400" b="1" dirty="0">
                <a:latin typeface="Calibri" panose="020F0502020204030204" pitchFamily="34" charset="0"/>
                <a:cs typeface="Times New Roman" panose="02020603050405020304" pitchFamily="18" charset="0"/>
              </a:rPr>
              <a:t>扩展阅读</a:t>
            </a:r>
            <a:endParaRPr lang="zh-CN" altLang="en-US" sz="2400" b="1" dirty="0"/>
          </a:p>
        </p:txBody>
      </p:sp>
      <p:graphicFrame>
        <p:nvGraphicFramePr>
          <p:cNvPr id="4" name="对象 3"/>
          <p:cNvGraphicFramePr>
            <a:graphicFrameLocks noChangeAspect="1"/>
          </p:cNvGraphicFramePr>
          <p:nvPr>
            <p:extLst>
              <p:ext uri="{D42A27DB-BD31-4B8C-83A1-F6EECF244321}">
                <p14:modId xmlns:p14="http://schemas.microsoft.com/office/powerpoint/2010/main" val="2569143183"/>
              </p:ext>
            </p:extLst>
          </p:nvPr>
        </p:nvGraphicFramePr>
        <p:xfrm>
          <a:off x="570038" y="2170719"/>
          <a:ext cx="4239471" cy="2160240"/>
        </p:xfrm>
        <a:graphic>
          <a:graphicData uri="http://schemas.openxmlformats.org/presentationml/2006/ole">
            <mc:AlternateContent xmlns:mc="http://schemas.openxmlformats.org/markup-compatibility/2006">
              <mc:Choice xmlns:v="urn:schemas-microsoft-com:vml" Requires="v">
                <p:oleObj spid="_x0000_s14369" name="Visio" r:id="rId4" imgW="7499435" imgH="3848041" progId="Visio.Drawing.15">
                  <p:embed/>
                </p:oleObj>
              </mc:Choice>
              <mc:Fallback>
                <p:oleObj name="Visio" r:id="rId4" imgW="7499435" imgH="3848041"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038" y="2170719"/>
                        <a:ext cx="4239471" cy="216024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85474946"/>
              </p:ext>
            </p:extLst>
          </p:nvPr>
        </p:nvGraphicFramePr>
        <p:xfrm>
          <a:off x="4283968" y="2370097"/>
          <a:ext cx="4476374" cy="1956420"/>
        </p:xfrm>
        <a:graphic>
          <a:graphicData uri="http://schemas.openxmlformats.org/presentationml/2006/ole">
            <mc:AlternateContent xmlns:mc="http://schemas.openxmlformats.org/markup-compatibility/2006">
              <mc:Choice xmlns:v="urn:schemas-microsoft-com:vml" Requires="v">
                <p:oleObj spid="_x0000_s14370" name="Visio" r:id="rId6" imgW="8585053" imgH="3752584" progId="Visio.Drawing.15">
                  <p:embed/>
                </p:oleObj>
              </mc:Choice>
              <mc:Fallback>
                <p:oleObj name="Visio" r:id="rId6" imgW="8585053" imgH="3752584" progId="Visio.Drawing.15">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3968" y="2370097"/>
                        <a:ext cx="4476374" cy="1956420"/>
                      </a:xfrm>
                      <a:prstGeom prst="rect">
                        <a:avLst/>
                      </a:prstGeom>
                      <a:noFill/>
                    </p:spPr>
                  </p:pic>
                </p:oleObj>
              </mc:Fallback>
            </mc:AlternateContent>
          </a:graphicData>
        </a:graphic>
      </p:graphicFrame>
      <p:sp>
        <p:nvSpPr>
          <p:cNvPr id="7" name="矩形 6"/>
          <p:cNvSpPr/>
          <p:nvPr/>
        </p:nvSpPr>
        <p:spPr>
          <a:xfrm>
            <a:off x="1715632" y="4443958"/>
            <a:ext cx="2031325" cy="369332"/>
          </a:xfrm>
          <a:prstGeom prst="rect">
            <a:avLst/>
          </a:prstGeom>
        </p:spPr>
        <p:txBody>
          <a:bodyPr wrap="none">
            <a:spAutoFit/>
          </a:bodyPr>
          <a:lstStyle/>
          <a:p>
            <a:r>
              <a:rPr lang="zh-CN" altLang="zh-CN">
                <a:latin typeface="Times" panose="02020603050405020304" pitchFamily="18" charset="0"/>
                <a:cs typeface="Times New Roman" panose="02020603050405020304" pitchFamily="18" charset="0"/>
              </a:rPr>
              <a:t>逆动力学前馈控制</a:t>
            </a:r>
            <a:endParaRPr lang="zh-CN" altLang="en-US"/>
          </a:p>
        </p:txBody>
      </p:sp>
      <p:sp>
        <p:nvSpPr>
          <p:cNvPr id="8" name="矩形 7"/>
          <p:cNvSpPr/>
          <p:nvPr/>
        </p:nvSpPr>
        <p:spPr>
          <a:xfrm>
            <a:off x="5868144" y="4443958"/>
            <a:ext cx="1800493" cy="369332"/>
          </a:xfrm>
          <a:prstGeom prst="rect">
            <a:avLst/>
          </a:prstGeom>
        </p:spPr>
        <p:txBody>
          <a:bodyPr wrap="none">
            <a:spAutoFit/>
          </a:bodyPr>
          <a:lstStyle/>
          <a:p>
            <a:r>
              <a:rPr lang="zh-CN" altLang="zh-CN" dirty="0">
                <a:latin typeface="Times" panose="02020603050405020304" pitchFamily="18" charset="0"/>
                <a:cs typeface="Times New Roman" panose="02020603050405020304" pitchFamily="18" charset="0"/>
              </a:rPr>
              <a:t>自适应控制策略</a:t>
            </a:r>
            <a:endParaRPr lang="zh-CN" altLang="en-US" dirty="0"/>
          </a:p>
        </p:txBody>
      </p:sp>
      <p:sp>
        <p:nvSpPr>
          <p:cNvPr id="9" name="矩形 8"/>
          <p:cNvSpPr/>
          <p:nvPr/>
        </p:nvSpPr>
        <p:spPr>
          <a:xfrm>
            <a:off x="683568" y="1284898"/>
            <a:ext cx="3985450" cy="369332"/>
          </a:xfrm>
          <a:prstGeom prst="rect">
            <a:avLst/>
          </a:prstGeom>
        </p:spPr>
        <p:txBody>
          <a:bodyPr wrap="none">
            <a:spAutoFit/>
          </a:bodyPr>
          <a:lstStyle/>
          <a:p>
            <a:r>
              <a:rPr lang="en-US" altLang="zh-CN" dirty="0"/>
              <a:t>CRBA</a:t>
            </a:r>
            <a:r>
              <a:rPr lang="zh-CN" altLang="zh-CN" dirty="0"/>
              <a:t>：</a:t>
            </a:r>
            <a:r>
              <a:rPr lang="en-US" altLang="zh-CN" dirty="0"/>
              <a:t>Composite-Rigid-Body Algorithm</a:t>
            </a:r>
            <a:endParaRPr lang="zh-CN" altLang="en-US" dirty="0"/>
          </a:p>
        </p:txBody>
      </p:sp>
      <p:sp>
        <p:nvSpPr>
          <p:cNvPr id="10" name="矩形 9"/>
          <p:cNvSpPr/>
          <p:nvPr/>
        </p:nvSpPr>
        <p:spPr>
          <a:xfrm>
            <a:off x="708720" y="1688388"/>
            <a:ext cx="2465740" cy="369332"/>
          </a:xfrm>
          <a:prstGeom prst="rect">
            <a:avLst/>
          </a:prstGeom>
        </p:spPr>
        <p:txBody>
          <a:bodyPr wrap="none">
            <a:spAutoFit/>
          </a:bodyPr>
          <a:lstStyle/>
          <a:p>
            <a:r>
              <a:rPr lang="zh-CN" altLang="zh-CN" dirty="0"/>
              <a:t>关节空间惯性矩阵</a:t>
            </a:r>
            <a:r>
              <a:rPr lang="en-US" altLang="zh-CN" dirty="0"/>
              <a:t>JSIM</a:t>
            </a:r>
            <a:endParaRPr lang="zh-CN" altLang="en-US" dirty="0"/>
          </a:p>
        </p:txBody>
      </p:sp>
      <p:sp>
        <p:nvSpPr>
          <p:cNvPr id="11" name="矩形 10"/>
          <p:cNvSpPr/>
          <p:nvPr/>
        </p:nvSpPr>
        <p:spPr>
          <a:xfrm>
            <a:off x="3174460" y="1688388"/>
            <a:ext cx="2544286" cy="369332"/>
          </a:xfrm>
          <a:prstGeom prst="rect">
            <a:avLst/>
          </a:prstGeom>
        </p:spPr>
        <p:txBody>
          <a:bodyPr wrap="none">
            <a:spAutoFit/>
          </a:bodyPr>
          <a:lstStyle/>
          <a:p>
            <a:r>
              <a:rPr lang="zh-CN" altLang="zh-CN" dirty="0"/>
              <a:t>操作空间惯性矩阵</a:t>
            </a:r>
            <a:r>
              <a:rPr lang="en-US" altLang="zh-CN" dirty="0"/>
              <a:t>OSIM</a:t>
            </a:r>
            <a:endParaRPr lang="zh-CN" altLang="en-US" dirty="0"/>
          </a:p>
        </p:txBody>
      </p:sp>
      <p:sp>
        <p:nvSpPr>
          <p:cNvPr id="12" name="圆角矩形 11"/>
          <p:cNvSpPr/>
          <p:nvPr/>
        </p:nvSpPr>
        <p:spPr>
          <a:xfrm>
            <a:off x="570038" y="1284898"/>
            <a:ext cx="5298106" cy="77282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013794" y="1331064"/>
            <a:ext cx="2731114" cy="646331"/>
          </a:xfrm>
          <a:prstGeom prst="rect">
            <a:avLst/>
          </a:prstGeom>
        </p:spPr>
        <p:txBody>
          <a:bodyPr wrap="square">
            <a:spAutoFit/>
          </a:bodyPr>
          <a:lstStyle/>
          <a:p>
            <a:r>
              <a:rPr lang="en-US" altLang="zh-CN" b="1" dirty="0">
                <a:solidFill>
                  <a:schemeClr val="tx2"/>
                </a:solidFill>
                <a:latin typeface="-apple-system"/>
              </a:rPr>
              <a:t>Multibody System Dynamics (MSD) </a:t>
            </a:r>
            <a:endParaRPr lang="zh-CN" altLang="en-US" b="1" dirty="0">
              <a:solidFill>
                <a:schemeClr val="tx2"/>
              </a:solidFill>
            </a:endParaRPr>
          </a:p>
        </p:txBody>
      </p:sp>
      <p:cxnSp>
        <p:nvCxnSpPr>
          <p:cNvPr id="5" name="直接连接符 4"/>
          <p:cNvCxnSpPr/>
          <p:nvPr/>
        </p:nvCxnSpPr>
        <p:spPr>
          <a:xfrm>
            <a:off x="0" y="483518"/>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91580" y="638041"/>
            <a:ext cx="7560840" cy="584775"/>
          </a:xfrm>
          <a:prstGeom prst="rect">
            <a:avLst/>
          </a:prstGeom>
        </p:spPr>
        <p:txBody>
          <a:bodyPr wrap="square">
            <a:spAutoFit/>
          </a:bodyPr>
          <a:lstStyle/>
          <a:p>
            <a:r>
              <a:rPr lang="zh-CN" altLang="zh-CN" sz="1600" dirty="0" smtClean="0"/>
              <a:t>本章</a:t>
            </a:r>
            <a:r>
              <a:rPr lang="zh-CN" altLang="en-US" sz="1600" dirty="0"/>
              <a:t>仅</a:t>
            </a:r>
            <a:r>
              <a:rPr lang="zh-CN" altLang="zh-CN" sz="1600" dirty="0" smtClean="0"/>
              <a:t>介绍</a:t>
            </a:r>
            <a:r>
              <a:rPr lang="zh-CN" altLang="zh-CN" sz="1600" dirty="0"/>
              <a:t>了应用</a:t>
            </a:r>
            <a:r>
              <a:rPr lang="zh-CN" altLang="zh-CN" sz="1600" dirty="0" smtClean="0"/>
              <a:t>于</a:t>
            </a:r>
            <a:r>
              <a:rPr lang="zh-CN" altLang="en-US" sz="1600" dirty="0" smtClean="0"/>
              <a:t>串联</a:t>
            </a:r>
            <a:r>
              <a:rPr lang="zh-CN" altLang="zh-CN" sz="1600" dirty="0" smtClean="0"/>
              <a:t>机器人</a:t>
            </a:r>
            <a:r>
              <a:rPr lang="zh-CN" altLang="zh-CN" sz="1600" dirty="0"/>
              <a:t>的刚体动力学</a:t>
            </a:r>
            <a:r>
              <a:rPr lang="zh-CN" altLang="zh-CN" sz="1600" dirty="0" smtClean="0"/>
              <a:t>基本原理</a:t>
            </a:r>
            <a:r>
              <a:rPr lang="zh-CN" altLang="en-US" sz="1600" dirty="0" smtClean="0"/>
              <a:t>，实际上目前在机器人动力学方面，无论是哪种形式的机器人，最新的研究很多都是集中到了</a:t>
            </a:r>
            <a:r>
              <a:rPr lang="en-US" altLang="zh-CN" sz="1600" dirty="0" smtClean="0"/>
              <a:t>MSD</a:t>
            </a:r>
            <a:r>
              <a:rPr lang="zh-CN" altLang="en-US" sz="1600" dirty="0" smtClean="0"/>
              <a:t>方面的研究</a:t>
            </a:r>
            <a:endParaRPr lang="zh-CN" altLang="en-US" sz="1600" dirty="0"/>
          </a:p>
        </p:txBody>
      </p:sp>
    </p:spTree>
    <p:extLst>
      <p:ext uri="{BB962C8B-B14F-4D97-AF65-F5344CB8AC3E}">
        <p14:creationId xmlns:p14="http://schemas.microsoft.com/office/powerpoint/2010/main" val="18783871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46221"/>
          </a:xfrm>
          <a:prstGeom prst="rect">
            <a:avLst/>
          </a:prstGeom>
        </p:spPr>
        <p:txBody>
          <a:bodyPr wrap="square">
            <a:spAutoFit/>
          </a:bodyPr>
          <a:lstStyle/>
          <a:p>
            <a:pPr algn="ctr">
              <a:lnSpc>
                <a:spcPct val="100000"/>
              </a:lnSpc>
            </a:pPr>
            <a:r>
              <a:rPr lang="zh-CN" altLang="en-US" sz="1000" dirty="0" smtClean="0">
                <a:solidFill>
                  <a:schemeClr val="tx1"/>
                </a:solidFill>
                <a:latin typeface="Arial" panose="020B0604020202020204" pitchFamily="34" charset="0"/>
                <a:ea typeface="微软雅黑" panose="020B0503020204020204" charset="-122"/>
              </a:rPr>
              <a:t>机器人学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718466" cy="246221"/>
          </a:xfrm>
          <a:prstGeom prst="rect">
            <a:avLst/>
          </a:prstGeom>
          <a:noFill/>
        </p:spPr>
        <p:txBody>
          <a:bodyPr wrap="none" rtlCol="0">
            <a:spAutoFit/>
          </a:bodyPr>
          <a:lstStyle/>
          <a:p>
            <a:r>
              <a:rPr lang="en-US" altLang="zh-CN" sz="1000" dirty="0" smtClean="0">
                <a:latin typeface="微软雅黑" panose="020B0503020204020204" charset="-122"/>
                <a:ea typeface="微软雅黑" panose="020B0503020204020204" charset="-122"/>
              </a:rPr>
              <a:t>Robotics</a:t>
            </a:r>
            <a:endParaRPr lang="zh-CN" altLang="en-US" sz="10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2_3"/>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2_3"/>
  <p:tag name="KSO_WM_UNIT_FILL_FORE_SCHEMECOLOR_INDEX" val="14"/>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1_3"/>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1_3"/>
  <p:tag name="KSO_WM_UNIT_FILL_FORE_SCHEMECOLOR_INDEX" val="14"/>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4_3"/>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4_3"/>
  <p:tag name="KSO_WM_UNIT_FILL_FORE_SCHEMECOLOR_INDEX" val="14"/>
  <p:tag name="KSO_WM_UNIT_FILL_TYPE" val="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3_3"/>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3_3"/>
  <p:tag name="KSO_WM_UNIT_FILL_FORE_SCHEMECOLOR_INDEX" val="14"/>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2_2"/>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2_2"/>
  <p:tag name="KSO_WM_UNIT_FILL_FORE_SCHEMECOLOR_INDEX" val="14"/>
  <p:tag name="KSO_WM_UNIT_FILL_TYPE" val="1"/>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1_2"/>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1_2"/>
  <p:tag name="KSO_WM_UNIT_FILL_FORE_SCHEMECOLOR_INDEX" val="14"/>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3_2"/>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3_2"/>
  <p:tag name="KSO_WM_UNIT_FILL_FORE_SCHEMECOLOR_INDEX" val="14"/>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4_2"/>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4_2"/>
  <p:tag name="KSO_WM_UNIT_FILL_FORE_SCHEMECOLOR_INDEX" val="14"/>
  <p:tag name="KSO_WM_UNIT_FILL_TYPE" val="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a*1_1_1"/>
  <p:tag name="KSO_WM_TEMPLATE_CATEGORY" val="diagram"/>
  <p:tag name="KSO_WM_TEMPLATE_INDEX" val="20200132"/>
  <p:tag name="KSO_WM_UNIT_LAYERLEVEL" val="1_1_1"/>
  <p:tag name="KSO_WM_TAG_VERSION" val="1.0"/>
  <p:tag name="KSO_WM_BEAUTIFY_FLAG" val="#wm#"/>
  <p:tag name="KSO_WM_UNIT_ISCONTENTSTITLE" val="0"/>
  <p:tag name="KSO_WM_UNIT_PRESET_TEXT" val="添加标题"/>
  <p:tag name="KSO_WM_UNIT_NOCLEAR" val="0"/>
  <p:tag name="KSO_WM_UNIT_VALUE" val="6"/>
  <p:tag name="KSO_WM_DIAGRAM_GROUP_CODE" val="n1-1"/>
  <p:tag name="KSO_WM_UNIT_TYPE" val="n_h_a"/>
  <p:tag name="KSO_WM_UNIT_INDEX" val="1_1_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f*1_1_1"/>
  <p:tag name="KSO_WM_TEMPLATE_CATEGORY" val="diagram"/>
  <p:tag name="KSO_WM_TEMPLATE_INDEX" val="20200132"/>
  <p:tag name="KSO_WM_UNIT_LAYERLEVEL" val="1_1_1"/>
  <p:tag name="KSO_WM_TAG_VERSION" val="1.0"/>
  <p:tag name="KSO_WM_BEAUTIFY_FLAG" val="#wm#"/>
  <p:tag name="KSO_WM_UNIT_PRESET_TEXT" val="单击此处添加文本"/>
  <p:tag name="KSO_WM_UNIT_NOCLEAR" val="0"/>
  <p:tag name="KSO_WM_UNIT_VALUE" val="9"/>
  <p:tag name="KSO_WM_DIAGRAM_GROUP_CODE" val="n1-1"/>
  <p:tag name="KSO_WM_UNIT_TYPE" val="n_h_f"/>
  <p:tag name="KSO_WM_UNIT_INDEX" val="1_1_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i*1_1_1"/>
  <p:tag name="KSO_WM_TEMPLATE_CATEGORY" val="diagram"/>
  <p:tag name="KSO_WM_TEMPLATE_INDEX" val="20200132"/>
  <p:tag name="KSO_WM_UNIT_LAYERLEVEL" val="1_1_1"/>
  <p:tag name="KSO_WM_TAG_VERSION" val="1.0"/>
  <p:tag name="KSO_WM_BEAUTIFY_FLAG" val="#wm#"/>
  <p:tag name="KSO_WM_DIAGRAM_GROUP_CODE" val="n1-1"/>
  <p:tag name="KSO_WM_UNIT_TYPE" val="n_h_i"/>
  <p:tag name="KSO_WM_UNIT_INDEX" val="1_1_1"/>
  <p:tag name="KSO_WM_UNIT_LINE_FORE_SCHEMECOLOR_INDEX" val="14"/>
  <p:tag name="KSO_WM_UNIT_LINE_FILL_TYPE" val="2"/>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a*1_1_1_1"/>
  <p:tag name="KSO_WM_TEMPLATE_CATEGORY" val="diagram"/>
  <p:tag name="KSO_WM_TEMPLATE_INDEX" val="20200132"/>
  <p:tag name="KSO_WM_UNIT_LAYERLEVEL" val="1_1_1_1"/>
  <p:tag name="KSO_WM_TAG_VERSION" val="1.0"/>
  <p:tag name="KSO_WM_BEAUTIFY_FLAG" val="#wm#"/>
  <p:tag name="KSO_WM_UNIT_ISCONTENTSTITLE" val="0"/>
  <p:tag name="KSO_WM_UNIT_PRESET_TEXT" val="添加标题"/>
  <p:tag name="KSO_WM_UNIT_NOCLEAR" val="0"/>
  <p:tag name="KSO_WM_DIAGRAM_GROUP_CODE" val="n1-1"/>
  <p:tag name="KSO_WM_UNIT_TYPE" val="n_h_h_a"/>
  <p:tag name="KSO_WM_UNIT_INDEX" val="1_1_1_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a*1_1_3_1"/>
  <p:tag name="KSO_WM_TEMPLATE_CATEGORY" val="diagram"/>
  <p:tag name="KSO_WM_TEMPLATE_INDEX" val="20200132"/>
  <p:tag name="KSO_WM_UNIT_LAYERLEVEL" val="1_1_1_1"/>
  <p:tag name="KSO_WM_TAG_VERSION" val="1.0"/>
  <p:tag name="KSO_WM_BEAUTIFY_FLAG" val="#wm#"/>
  <p:tag name="KSO_WM_UNIT_ISCONTENTSTITLE" val="0"/>
  <p:tag name="KSO_WM_UNIT_PRESET_TEXT" val="添加标题"/>
  <p:tag name="KSO_WM_UNIT_NOCLEAR" val="0"/>
  <p:tag name="KSO_WM_DIAGRAM_GROUP_CODE" val="n1-1"/>
  <p:tag name="KSO_WM_UNIT_TYPE" val="n_h_h_a"/>
  <p:tag name="KSO_WM_UNIT_INDEX" val="1_1_3_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3_1"/>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3_1"/>
  <p:tag name="KSO_WM_UNIT_FILL_FORE_SCHEMECOLOR_INDEX" val="7"/>
  <p:tag name="KSO_WM_UNIT_FILL_TYPE" val="1"/>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a*1_1_4_1"/>
  <p:tag name="KSO_WM_TEMPLATE_CATEGORY" val="diagram"/>
  <p:tag name="KSO_WM_TEMPLATE_INDEX" val="20200132"/>
  <p:tag name="KSO_WM_UNIT_LAYERLEVEL" val="1_1_1_1"/>
  <p:tag name="KSO_WM_TAG_VERSION" val="1.0"/>
  <p:tag name="KSO_WM_BEAUTIFY_FLAG" val="#wm#"/>
  <p:tag name="KSO_WM_UNIT_ISCONTENTSTITLE" val="0"/>
  <p:tag name="KSO_WM_UNIT_PRESET_TEXT" val="添加标题"/>
  <p:tag name="KSO_WM_UNIT_NOCLEAR" val="0"/>
  <p:tag name="KSO_WM_DIAGRAM_GROUP_CODE" val="n1-1"/>
  <p:tag name="KSO_WM_UNIT_TYPE" val="n_h_h_a"/>
  <p:tag name="KSO_WM_UNIT_INDEX" val="1_1_4_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i*1_1_4_1"/>
  <p:tag name="KSO_WM_TEMPLATE_CATEGORY" val="diagram"/>
  <p:tag name="KSO_WM_TEMPLATE_INDEX" val="20200132"/>
  <p:tag name="KSO_WM_UNIT_LAYERLEVEL" val="1_1_1_1"/>
  <p:tag name="KSO_WM_TAG_VERSION" val="1.0"/>
  <p:tag name="KSO_WM_BEAUTIFY_FLAG" val="#wm#"/>
  <p:tag name="KSO_WM_DIAGRAM_GROUP_CODE" val="n1-1"/>
  <p:tag name="KSO_WM_UNIT_TYPE" val="n_h_h_i"/>
  <p:tag name="KSO_WM_UNIT_INDEX" val="1_1_4_1"/>
  <p:tag name="KSO_WM_UNIT_FILL_FORE_SCHEMECOLOR_INDEX" val="8"/>
  <p:tag name="KSO_WM_UNIT_FILL_TYPE" val="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00132_3*n_h_h_a*1_1_1_1"/>
  <p:tag name="KSO_WM_TEMPLATE_CATEGORY" val="diagram"/>
  <p:tag name="KSO_WM_TEMPLATE_INDEX" val="20200132"/>
  <p:tag name="KSO_WM_UNIT_LAYERLEVEL" val="1_1_1_1"/>
  <p:tag name="KSO_WM_TAG_VERSION" val="1.0"/>
  <p:tag name="KSO_WM_BEAUTIFY_FLAG" val="#wm#"/>
  <p:tag name="KSO_WM_UNIT_ISCONTENTSTITLE" val="0"/>
  <p:tag name="KSO_WM_UNIT_PRESET_TEXT" val="添加标题"/>
  <p:tag name="KSO_WM_UNIT_NOCLEAR" val="0"/>
  <p:tag name="KSO_WM_DIAGRAM_GROUP_CODE" val="n1-1"/>
  <p:tag name="KSO_WM_UNIT_TYPE" val="n_h_h_a"/>
  <p:tag name="KSO_WM_UNIT_INDEX" val="1_1_1_1"/>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25281</Words>
  <Application>Microsoft Office PowerPoint</Application>
  <PresentationFormat>全屏显示(16:9)</PresentationFormat>
  <Paragraphs>1166</Paragraphs>
  <Slides>76</Slides>
  <Notes>76</Notes>
  <HiddenSlides>0</HiddenSlides>
  <MMClips>1</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76</vt:i4>
      </vt:variant>
    </vt:vector>
  </HeadingPairs>
  <TitlesOfParts>
    <vt:vector size="95" baseType="lpstr">
      <vt:lpstr>-apple-system</vt:lpstr>
      <vt:lpstr>MS Gothic</vt:lpstr>
      <vt:lpstr>黑体</vt:lpstr>
      <vt:lpstr>楷体</vt:lpstr>
      <vt:lpstr>楷体_GB2312</vt:lpstr>
      <vt:lpstr>宋体</vt:lpstr>
      <vt:lpstr>宋体-简</vt:lpstr>
      <vt:lpstr>微软雅黑</vt:lpstr>
      <vt:lpstr>Arial</vt:lpstr>
      <vt:lpstr>Calibri</vt:lpstr>
      <vt:lpstr>Cambria Math</vt:lpstr>
      <vt:lpstr>MV Boli</vt:lpstr>
      <vt:lpstr>Times</vt:lpstr>
      <vt:lpstr>Times New Roman</vt:lpstr>
      <vt:lpstr>Wingdings</vt:lpstr>
      <vt:lpstr>Office 主题​​</vt:lpstr>
      <vt:lpstr>自定义设计方案</vt:lpstr>
      <vt:lpstr>Visio</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created xsi:type="dcterms:W3CDTF">2017-03-24T14:39:00Z</dcterms:created>
  <dcterms:modified xsi:type="dcterms:W3CDTF">2026-05-25T11:51:36Z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